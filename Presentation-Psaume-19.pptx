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66F0144-039D-1BCF-95D1-14271162672D}">
          <p14:sldIdLst>
            <p14:sldId id="271"/>
            <p14:sldId id="256"/>
            <p14:sldId id="257"/>
            <p14:sldId id="258"/>
            <p14:sldId id="259"/>
          </p14:sldIdLst>
        </p14:section>
        <p14:section name="I. Le ciel qui parle" id="{81AA19BE-6936-D2FC-58B6-312CD571F370}">
          <p14:sldIdLst>
            <p14:sldId id="260"/>
            <p14:sldId id="261"/>
          </p14:sldIdLst>
        </p14:section>
        <p14:section name="II. La Parole qui suffit" id="{61D4B678-63A3-960D-6247-119EEE4E0CC9}">
          <p14:sldIdLst>
            <p14:sldId id="262"/>
            <p14:sldId id="263"/>
            <p14:sldId id="264"/>
            <p14:sldId id="265"/>
          </p14:sldIdLst>
        </p14:section>
        <p14:section name="III. La Parole qu'on désire" id="{7CCCDE40-1B1F-2CE1-8E0E-E1D771B4DEC3}">
          <p14:sldIdLst>
            <p14:sldId id="266"/>
          </p14:sldIdLst>
        </p14:section>
        <p14:section name="IV. Le cœur qui s'offre" id="{9E85DA4D-50F5-0B46-C666-0361A90248B3}">
          <p14:sldIdLst>
            <p14:sldId id="267"/>
            <p14:sldId id="268"/>
          </p14:sldIdLst>
        </p14:section>
        <p14:section name="Conclusion" id="{967B904A-BEC9-EF97-26F3-54DD02B3853F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5CB43-97EA-4B56-A31A-9CE15F88A54A}" v="1" dt="2026-10-02T14:42:50.7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0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custSel addSld modSld sldOrd modSection">
      <pc:chgData name="André-Guy Bruneau" userId="c9f3b82d5570fc32" providerId="LiveId" clId="{C4496A7D-9A64-4B82-9835-F710A7718518}" dt="2026-10-02T14:44:34.180" v="6"/>
      <pc:docMkLst>
        <pc:docMk/>
      </pc:docMkLst>
      <pc:sldChg chg="addSp delSp modSp add mod ord">
        <pc:chgData name="André-Guy Bruneau" userId="c9f3b82d5570fc32" providerId="LiveId" clId="{C4496A7D-9A64-4B82-9835-F710A7718518}" dt="2026-10-02T14:44:34.180" v="6"/>
        <pc:sldMkLst>
          <pc:docMk/>
          <pc:sldMk cId="1415528338" sldId="271"/>
        </pc:sldMkLst>
        <pc:spChg chg="del">
          <ac:chgData name="André-Guy Bruneau" userId="c9f3b82d5570fc32" providerId="LiveId" clId="{C4496A7D-9A64-4B82-9835-F710A7718518}" dt="2026-10-02T14:43:02.468" v="1" actId="478"/>
          <ac:spMkLst>
            <pc:docMk/>
            <pc:sldMk cId="1415528338" sldId="271"/>
            <ac:spMk id="3" creationId="{C655F68E-B64A-34CF-750D-47B6A71A8F5F}"/>
          </ac:spMkLst>
        </pc:spChg>
        <pc:spChg chg="del">
          <ac:chgData name="André-Guy Bruneau" userId="c9f3b82d5570fc32" providerId="LiveId" clId="{C4496A7D-9A64-4B82-9835-F710A7718518}" dt="2026-10-02T14:43:02.468" v="1" actId="478"/>
          <ac:spMkLst>
            <pc:docMk/>
            <pc:sldMk cId="1415528338" sldId="271"/>
            <ac:spMk id="4" creationId="{820AD61E-F993-980D-D1B6-FB91BC0C2ADA}"/>
          </ac:spMkLst>
        </pc:spChg>
        <pc:spChg chg="del">
          <ac:chgData name="André-Guy Bruneau" userId="c9f3b82d5570fc32" providerId="LiveId" clId="{C4496A7D-9A64-4B82-9835-F710A7718518}" dt="2026-10-02T14:43:02.468" v="1" actId="478"/>
          <ac:spMkLst>
            <pc:docMk/>
            <pc:sldMk cId="1415528338" sldId="271"/>
            <ac:spMk id="5" creationId="{AFE10F8C-382D-3E33-E955-978B514AE180}"/>
          </ac:spMkLst>
        </pc:spChg>
        <pc:spChg chg="del">
          <ac:chgData name="André-Guy Bruneau" userId="c9f3b82d5570fc32" providerId="LiveId" clId="{C4496A7D-9A64-4B82-9835-F710A7718518}" dt="2026-10-02T14:43:02.468" v="1" actId="478"/>
          <ac:spMkLst>
            <pc:docMk/>
            <pc:sldMk cId="1415528338" sldId="271"/>
            <ac:spMk id="6" creationId="{A670E143-02CD-F381-15D1-3247535B7600}"/>
          </ac:spMkLst>
        </pc:spChg>
        <pc:spChg chg="del">
          <ac:chgData name="André-Guy Bruneau" userId="c9f3b82d5570fc32" providerId="LiveId" clId="{C4496A7D-9A64-4B82-9835-F710A7718518}" dt="2026-10-02T14:43:02.468" v="1" actId="478"/>
          <ac:spMkLst>
            <pc:docMk/>
            <pc:sldMk cId="1415528338" sldId="271"/>
            <ac:spMk id="7" creationId="{BC44D324-1878-0B29-C986-040511238810}"/>
          </ac:spMkLst>
        </pc:spChg>
        <pc:grpChg chg="del">
          <ac:chgData name="André-Guy Bruneau" userId="c9f3b82d5570fc32" providerId="LiveId" clId="{C4496A7D-9A64-4B82-9835-F710A7718518}" dt="2026-10-02T14:43:02.468" v="1" actId="478"/>
          <ac:grpSpMkLst>
            <pc:docMk/>
            <pc:sldMk cId="1415528338" sldId="271"/>
            <ac:grpSpMk id="1000" creationId="{92762E52-0FBD-DDE8-2D0D-967D3289BD60}"/>
          </ac:grpSpMkLst>
        </pc:grpChg>
        <pc:picChg chg="del">
          <ac:chgData name="André-Guy Bruneau" userId="c9f3b82d5570fc32" providerId="LiveId" clId="{C4496A7D-9A64-4B82-9835-F710A7718518}" dt="2026-10-02T14:43:02.468" v="1" actId="478"/>
          <ac:picMkLst>
            <pc:docMk/>
            <pc:sldMk cId="1415528338" sldId="271"/>
            <ac:picMk id="2" creationId="{067C558C-5CB3-5D57-5188-77670120DFFC}"/>
          </ac:picMkLst>
        </pc:picChg>
        <pc:picChg chg="add mod">
          <ac:chgData name="André-Guy Bruneau" userId="c9f3b82d5570fc32" providerId="LiveId" clId="{C4496A7D-9A64-4B82-9835-F710A7718518}" dt="2026-10-02T14:44:04.025" v="4" actId="14100"/>
          <ac:picMkLst>
            <pc:docMk/>
            <pc:sldMk cId="1415528338" sldId="271"/>
            <ac:picMk id="24" creationId="{AB98C521-0530-DFBE-B1BC-A064E1646B7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6931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C49FC-10A6-234E-A33D-3FBD4E9A0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39C4C-7E18-A130-C969-E616F624E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690457-6382-EEE4-B742-672D57A162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Psaume 19 (en entier), avec à l'écran ses trois mouvements (diapositive 2) : le cosmos (19.2-7), l'Écriture (19.8-12), le cœur (19.13-15).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Les cieux suffisent à condamner; la Parole suffit à sauver.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comprenne que la création le rend inexcusable sans pouvoir le sauver, et qu'il écoute la Parole qui convertit l'âme; que le croyant cesse de chercher ailleurs ce que la Parole lui donne, la désire plus que l'or, la laisse sonder son cœur et offre à Dieu ses paroles et ses pensées.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NEG79. Les sermons de MacArthur comptent la suscription hors des versets : leurs « versets 7 à 9 »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Attribuer à MacArthur les propos de Street : les citer sous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Numérotation : les « versets 7 à 9 » des sermons de MacArthur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monter en chaire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Relire à voix haute les citations bibliques dans votre Bible NEG79.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citations de MacArthur sont des traductions de passages relus dans les transcriptions de gty.org. Avant de les prononcer, réécouter ou relire au moins 80-420, 80-308 et TM19-6.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tableau du point II affiche les mots de la NEG79; MacArthur lit « claire » et « nette » : le dire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Préparer à l'écran le tableau des six lignes (diapositive 7) et, pour l'accroche, la photo de la stèle de Hammurabi (diapositive 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Chronométrer une répétition : le point II est le plus long; les sous-points I.A et III sont les plus faciles à raccourcir.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Imprimer la version PDF de ce plan.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Sur les diapositives : </a:t>
            </a:r>
            <a:r>
              <a:rPr lang="fr-CA" sz="1400" dirty="0"/>
              <a:t>aucun code de sermon; les sources sont dans ces notes.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599C8-FF87-D100-72DB-BD3758DDCC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6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Psaume 19 (en entier), avec à l'écran ses trois mouvements (diapositive 2) : le cosmos (19.2-7), l'Écriture (19.8-12), le cœur (19.13-15).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Les cieux suffisent à condamner; la Parole suffit à sauver.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comprenne que la création le rend inexcusable sans pouvoir le sauver, et qu'il écoute la Parole qui convertit l'âme; que le croyant cesse de chercher ailleurs ce que la Parole lui donne, la désire plus que l'or, la laisse sonder son cœur et offre à Dieu ses paroles et ses pensées.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NEG79. Les sermons de MacArthur comptent la suscription hors des versets : leurs « versets 7 à 9 »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Attribuer à MacArthur les propos de Street : les citer sous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Numérotation : les « versets 7 à 9 » des sermons de MacArthur sont les versets 8 à 10 de la NEG79.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monter en chaire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Relire à voix haute les citations bibliques dans votre Bible NEG79.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citations de MacArthur sont des traductions de passages relus dans les transcriptions de gty.org. Avant de les prononcer, réécouter ou relire au moins 80-420, 80-308 et TM19-6.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tableau du point II affiche les mots de la NEG79; MacArthur lit « claire » et « nette » : le dire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Préparer à l'écran le tableau des six lignes (diapositive 7) et, pour l'accroche, la photo de la stèle de Hammurabi (diapositive 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Chronométrer une répétition : le point II est le plus long; les sous-points I.A et III sont les plus faciles à raccourcir.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Imprimer la version PDF de ce plan.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Sur les diapositives : </a:t>
            </a:r>
            <a:r>
              <a:rPr lang="fr-CA" sz="1400" dirty="0"/>
              <a:t>aucun code de sermon; les sources sont dans ces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Rappel : 2 Timothée 3.16-17 (sans diapositive)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justice; pour 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Pont : </a:t>
            </a:r>
            <a:r>
              <a:rPr lang="fr-CA" sz="1400" dirty="0"/>
              <a:t>un psaume de David dit la même chose dix siècles plus tôt; c'est le texte que MacArthur tient pour le plus grand sur la suffisance de l'Écriture.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Introduction au counseling biblique (Éditions Impact, 2021), chapitre de John Street sur le Psaume 19.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Vue d'ensemble · lecture publique du Psaume 19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laisser à l'écran </a:t>
            </a:r>
            <a:r>
              <a:rPr lang="fr-CA" sz="1400" dirty="0"/>
              <a:t>pendant la lecture publique du Psaume 19 (en entier) : l'assemblée voit d'avance les trois mouvements du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cosmos (19.2-7) : </a:t>
            </a:r>
            <a:r>
              <a:rPr lang="fr-CA" sz="1400" dirty="0"/>
              <a:t>la révélation générale; le nom court El, la puissance du Créateur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L'Écriture (19.8-12) : </a:t>
            </a:r>
            <a:r>
              <a:rPr lang="fr-CA" sz="1400" dirty="0"/>
              <a:t>la révélation spéciale; l'Éternel, le Dieu de l'alliance.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 (19.13-15) : </a:t>
            </a:r>
            <a:r>
              <a:rPr lang="fr-CA" sz="1400" dirty="0"/>
              <a:t>l'application; le cœur sondé, gardé, offert à l'Éternel, son rocher et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Les quatre points du message </a:t>
            </a:r>
            <a:r>
              <a:rPr lang="fr-CA" sz="1400" dirty="0"/>
              <a:t>s'y logent : I au premier mouvement, II et III au deuxième, IV au troisième. Plan de la BEM : I. Révélation générale (19.2-7); II. Révélation spéciale (19.8-15) : attributs, appréciation,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Psaume 19.5, 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 Louvre, la stèle du code de Hammurabi montre le roi debout devant Shamash, le dieu-soleil et dieu de la justice, qui lui remet les insignes du pouvoir : la loi du roi se réclame du soleil.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Psaume 19 parle lui aussi du soleil et de la loi; mais il loge le soleil sous une tente que Dieu a dressée (19.5), et il ne place la loi qu'entre les mains de l'Éternel (19.8).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allez-vous chercher la vérité qui gouverne votre vie, quand l'angoisse monte ou qu'une décision presse?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texte et le 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Je pense que c'est le plus grand passage, à lui seul, sur la suffisance de l'Écriture dans toute la Bible »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hymne, deux révélations : </a:t>
            </a:r>
            <a:r>
              <a:rPr lang="fr-CA" sz="1400" dirty="0"/>
              <a:t>le nom court El, la puissance du Créateur (19.2); puis l'Éternel, le Dieu de l'alliance (19.8-15) (BEM, 19.1-15).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Six fois, nous avons le nom de l'alliance, l'Éternel, comme source de la Parole de Dieu » (TM19-6); une septième fois en 19.15.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Plan de la BEM : </a:t>
            </a:r>
            <a:r>
              <a:rPr lang="fr-CA" sz="1400" dirty="0"/>
              <a:t>I. Révélation générale (19.2-7) : proclamation des cieux, importance du soleil. II. Révélation spéciale (19.8-15) : attributs, appréciation, application.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Parcours : </a:t>
            </a:r>
            <a:r>
              <a:rPr lang="fr-CA" sz="1400" dirty="0"/>
              <a:t>le ciel qui parle, la Parole qui suffit, la Parole qu'on désire, le cœur qui s'offre.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9 min (avec la diapositive suivante) · Psaume 19.2-7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création vous a parlé de Dieu chaque jour de votre vie.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Une proclamation incessante (19.2-5b)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cieux et l'étendue, deux éléments décisifs de la création de Genèse 1 (BEM, 19.2). « Racontent », « manifeste » : la révélation ne s'interrompt jamais (BEM, 19.2); Street y voit une action en cours.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Kavod : </a:t>
            </a:r>
            <a:r>
              <a:rPr lang="fr-CA" sz="1400" dirty="0"/>
              <a:t>la « gloire », c'est d'abord le poids; le ciel nocturne fait sentir le poids de Dieu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Bouillonner : </a:t>
            </a:r>
            <a:r>
              <a:rPr lang="fr-CA" sz="1400" dirty="0"/>
              <a:t>le jour « en instruit » un autre; le verbe veut dire bouillonner, la révélation jaillit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Sans paroles, et pourtant partout (19.4-5) : </a:t>
            </a:r>
            <a:r>
              <a:rPr lang="fr-CA" sz="1400" dirty="0"/>
              <a:t>la contradiction n'est qu'apparente, le message ne passe pas par des mots au sens littéral (BEM, 19.3-4). Paul cite le verset 5 en Romains 10.18.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Un soleil qui n'est pas un dieu (19.5c-7)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L'époux qui sort de sa chambre, le héros qui court sa carrière : régularité, puissance, détermination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Ni le soleil ni les cieux ne sont divinisés, comme dans les religions païennes : Dieu est le créateur et le chef de toute la création (BEM, 19.5c-7). Retour à l'accroche.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Rien ne se dérobe à sa chaleur » (19.7) : nul ne peut fuir ce message (Street).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I.C · Assez pour condamner, jamais pour sauver (Romains 1.18-20)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témoignage est clair et cohérent, mais l'humanité pécheresse lui résiste; il ne peut donc pas convertir, mais il rend entièrement responsable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Quand ils étouffent la vérité de Dieu, ils sont sans excuse, et cette révélation suffit à condamner le monde à l'enfer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Selon Romains 1, on peut connaître sa divinité et sa puissance en regardant la création. Ce qu'on ne peut pas connaître, c'est la sagesse qui sauve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révélation de Dieu dans le monde : assez pour condamner, assez pour damner. La révélation dans la Parole : suffisante pour sauver, suffisante pour sauver » (80-420).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n'est un incroyant innocent : les cieux ont parlé à chacun. « Je trouve Dieu dans la nature » ne suffit pas, car le cœur retient la vérité captive (Romains 1.18).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croyant adore devant le ciel étoilé, mais ne lui demande ni le salut ni la direction de son 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 psalmiste passe du monde à la Parole au verset 7 » (80-420; verset 8 de la NEG79), et El devient l'Éternel. Où entendre la sagesse qui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Traiter les versets 2 à 7 comme une simple introduction poétique, ou, à l'inverse, comme une révélation qui sauve : elle rend inexcusable, sans convertir (BEM, 19.2-7).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Oublier la résistance du cœur pécheur : le problème n'est pas que la création soit obscure, mais que l'homme retient la vérité captive.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13 min (avec les trois diapositives suivantes) · Psaume 19.8-10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il ne manque rien à la Parole, et il ne manque rien à celui qu'elle instruit.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cadre : </a:t>
            </a:r>
            <a:r>
              <a:rPr lang="fr-CA" sz="1400" dirty="0"/>
              <a:t>six titres, six qualités, six bienfaits (80-19; 80-308); « six fois, nous avons le nom de l'alliance, l'Éternel, comme source de la Parole de Dieu » (TM19-6).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Ce que désigne chaque titre : </a:t>
            </a:r>
            <a:r>
              <a:rPr lang="fr-CA" sz="1400" dirty="0"/>
              <a:t>la loi, l'enseignement (BEM, 19.8); le témoignage, qui témoigne de son auteur divin (BEM, 19.8); les ordonnances, moyens par lesquels Dieu gouverne (BEM, 19.9); les commandements, qui lient; la crainte, l'Écriture comme guide pour l'adoration (BEM, 19.10); les jugements, verdicts de Dieu (BEM, 19.10).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de MacArthur : </a:t>
            </a:r>
            <a:r>
              <a:rPr lang="fr-CA" sz="1400" dirty="0"/>
              <a:t>parfaite, sûre, droite, claire, nette, vraie (80-308). Le tableau affiche les mots de la NEG79; dire à voix haute « claire » et « nette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Montrer </a:t>
            </a:r>
            <a:r>
              <a:rPr lang="fr-CA" sz="1400" dirty="0"/>
              <a:t>que le bienfait découle chaque fois de la qualité : parce qu'elle est complète, elle restaure; parce qu'elle est sûre, elle rend sage; et ainsi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II.A · Restaure l'âme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« une instruction divine si complète qu'elle peut transformer totalement l'homme intérieur tout entier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« une déclaration d'une portée immense sur le pouvoir de la Bible de convertir, de transformer, de régénérer par l'œuvre de l'Esprit de Dieu au moyen de son propre témoignage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Meshivat nephesh : </a:t>
            </a:r>
            <a:r>
              <a:rPr lang="fr-CA" sz="1400" dirty="0"/>
              <a:t>le verbe shouv, à la forme causative, veut dire faire revenir, ramener; il couvre ranimer, restaurer, convertir. MacArthur comprend nephesh comme la personne entière, l'être intérieur (80-19; 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montrer : </a:t>
            </a:r>
            <a:r>
              <a:rPr lang="fr-CA" sz="1400" dirty="0"/>
              <a:t>la S21 dit « donne du réconfort »; la Parole fait bien plus que consoler.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</a:t>
            </a:r>
            <a:r>
              <a:rPr lang="fr-CA" sz="1400" dirty="0"/>
              <a:t>rapproche Hébreux 4.12 : la Parole juge les pensées et les intentions du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Affaiblir « restaure l'âme » en simple réconfort : c'est la conversion et la transformation de la personne entière (80-308).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Elle est complète et transforme (19.8a)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loi » serait mieux rendue par « enseignement » (BEM, 19.8; cf. Psaume 1.2).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Parfaite » (tamim) : « non pas au sens d'irréprochable, bien que ce soit absolument vrai, mais au sens de complétude » (80-308). « On ne peut rien lui retrancher; on ne peut rien lui ajouter » (80-420).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La Bible est complète, elle est parfaite en ce qu'elle fournit tout ce qu'il faut pour connaître la loi de Dieu, ce qui produit le bienfait de transformer totalement l'âme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Restaure l'âme » : voir la diapositive précédente (80-420; 80-308; S21; Hébreux 4.12).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Elle est sûre et claire (19.8b-9)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« témoignage » témoigne de son auteur divin (BEM, 19.8). « Il est fiable, digne de confiance. Et il y a beaucoup de livres dans le monde auxquels on ne peut pas se fier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Pierre, témoin de la transfiguration, tient la Parole pour plus sûre que ce qu'il a vu (2 Pierre 1.16-19; 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L'Écriture prend le naïf, l'inexpérimenté, l'homme sans discernement, le mal informé, et lui apporte la sagesse » (80-19). « Sage » (chakam) : « maîtriser l'art de vivre, vivre en parfait accord avec la connaissance de Dieu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ordonnances », moyens par lesquels Dieu gouverne (BEM, 19.9) : « La Parole n'est pas seulement une lampe à nos pieds qui éclaire le sentier, la Parole est le sentier » (80-250).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commandements » lient; MacArthur les lit « clairs » (S21 : « clairs »; NEG79 : « purs ») (80-308; TM19-6).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Elle est pure et vraie (19.10)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« crainte » : l'Écriture comme « guide pour l'adoration de Dieu » (BEM, 19.10); « La Bible est un manuel du culte; elle vous dit comment adorer le Seigneur en esprit et en vérité »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Nette, « sans tache, sans défaut » (80-308), elle « subsiste à toujours » : jamais besoin de mise à jour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« jugements », verdicts de Dieu (BEM, 19.10) : « Il est vrai. Je ne saurais trop insister. Dans un monde de mensonges, dans un monde de tromperie, il est vrai; il est absolument, sans équivoque, vrai » (80-308).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Synthèse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« fournit tout ce qu'il faut » (80-250) : toute l'Écriture rend l'homme de Dieu accompli (2 Timothée 3.16-17). Retour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« parfaite » à « sans défaut » : MacArthur y entend d'abord la complétude (80-308).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Isoler la « crainte » de la liste : c'est l'Écriture comme guide de l'adoration.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En 1985, MacArthur passait en revue ce qui tient lieu de Parole dans l'Église : techniques de gestion, divertissement, mysticisme, psychologie, visualisation, confession positive (80-18).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Street : </a:t>
            </a:r>
            <a:r>
              <a:rPr lang="fr-CA" sz="1400" dirty="0"/>
              <a:t>la révélation générale n'autorise pas à chercher hors de l'Écriture l'autorité sur les problèmes de l'âme; ce serait ajouter à la Parole (Proverbes 30.5-6).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Question : </a:t>
            </a:r>
            <a:r>
              <a:rPr lang="fr-CA" sz="1400" dirty="0"/>
              <a:t>vers quoi vous tournez-vous en premier quand votre âme est troublée?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suffisance un mépris des sciences : Street reconnaît les bienfaits de la révélation naturelle en sciences et en médecine; la suffisance vise le domaine de l'âme.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la Parole est tout cela, que vaut-elle à nos yeux?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Psaume 19.11-12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 que vous désirez le plus révèle ce que vous estimez le plus.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Plus précieuse que l'or affiné (paz), plus douce que le miel des rayons (nopheth tsouphim, le miel qui s'égoutte du rayon) (19.11) : </a:t>
            </a:r>
            <a:r>
              <a:rPr lang="fr-CA" sz="1400" dirty="0"/>
              <a:t>« L'or, dans l'Antiquité, était le bien suprême d'ici-bas »; « le délice des délices, en ce temps-là, c'était le miel » (80-251). Le plus grand bien qu'on puisse posséder, le plus grand plaisir qu'on puisse goûter (80-19; TM19-6).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Elle avertit (19.12) : </a:t>
            </a:r>
            <a:r>
              <a:rPr lang="fr-CA" sz="1400" dirty="0"/>
              <a:t>« La Parole de Dieu est pleine d'avertissements. Et celui qui la connaît est dûment averti » (80-251). La KJF dit « est averti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Une récompense grande : </a:t>
            </a:r>
            <a:r>
              <a:rPr lang="fr-CA" sz="1400" dirty="0"/>
              <a:t>« La vraie récompense n'est pas ici et maintenant », ni la confession positive ni la visualisation de ce qu'on veut tout de suite (80-19). « L'hébreu se lit littéralement ainsi : en les gardant, il y a la fin. La fin »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douceur se goûte dans le respect : </a:t>
            </a:r>
            <a:r>
              <a:rPr lang="fr-CA" sz="1400" dirty="0"/>
              <a:t>les noms mêmes de la Parole commandent de l'aborder avec le plus grand respect, non avec désinvolture (Street).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Votre agenda dit ce qui est votre or. Si la Parole vous paraît fade, le diagnostic porte sur le cœur, non sur la Bible : demandez à Dieu de vous la rendre douce.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la récompense est grande » comme une prospérité terrestre (80-19; 80-251).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Parole qui éclaire les yeux tourne alors sa lumière vers le cœur du psalmiste.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(avec la diapositive suivante) · Psaume 19.13-15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Parole qui me montre mon péché me conduit à mon Rédempteur.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Les fautes que je ne vois pas (19.13)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Qui connaît ses égarements? » Réponse : personne, sans la Parole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Égarements : </a:t>
            </a:r>
            <a:r>
              <a:rPr lang="fr-CA" sz="1400" dirty="0"/>
              <a:t>péchés d'ignorance (TM19-6), non intentionnels, ceux pour lesquels la loi prévoyait un sacrifice (BEM, 19.13-14; Lévitique 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MacArthur lit « acquitte-moi des fautes cachées » (80-251; 80-308); la NEG79 dit « pardonne-moi », la KJF « nettoie-moi ».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Les fautes que je vois (19.14)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Les égarements sont des péchés d'ignorance. Les péchés présomptueux sont des péchés délibérés. La grande transgression est la rébellion ouverte » (TM19-6). David prie de ne jamais aller jusqu'à se détourner du Seigneur (80-251).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NEG79 dit « des orgueilleux »; la KJF, « des péchés présomptueux » : ceux que je vois, prémédite et planifie (80-19).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loi distinguait le péché par inadvertance, qui avait son sacrifice, et le péché commis par défi, qui n'en avait pas (Nombres 15.30-31); la BEM renvoie à Nombres 15.22ss (19.13-14).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Qu'ils ne dominent point sur moi! » : les péchés connus asservissent celui qui les commet en sachant que ce sont des péchés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n'est pas du scrupule : c'est l'attitude d'un disciple mûr que la grâce et les ressources de Dieu amènent à reconnaître et à combattre ses péchés (BEM, 19.13-14).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Lire « des orgueilleux » (NEG79) comme des ennemis extérieurs, au détriment des péchés présomptueux.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Les paroles et le cœur offerts (19.15)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Reçois favorablement (leratson) : </a:t>
            </a:r>
            <a:r>
              <a:rPr lang="fr-CA" sz="1400" dirty="0"/>
              <a:t>un terme souvent associé à l'acceptation des sacrifices; David dépose sur l'autel le sacrifice de ses lèvres et de sa vie (BEM, 19.15). Il ne promet pas de se corriger par ses propres forces : il demande à Dieu la grâce et les capacités nécessaires (BEM, 19.15).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Bouche et méditation : </a:t>
            </a:r>
            <a:r>
              <a:rPr lang="fr-CA" sz="1400" dirty="0"/>
              <a:t>l'écho de Josué 1.8, la loi méditée jour et nuit (BEM, 19.15; TM19-6; 80-251).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Mon rocher et mon rédempteur : </a:t>
            </a:r>
            <a:r>
              <a:rPr lang="fr-CA" sz="1400" dirty="0"/>
              <a:t>le goel, le parent proche qui paie pour racheter (Lévitique 25.25). Il conduit à Christ, qui s'est donné pour nous racheter de toute iniquité (Tite 2.14); par lui, nous offrons à Dieu le sacrifice de louange, le fruit de nos lèvres (Hébreux 13.15).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Demandez à Dieu de vous sonder (Psaume 139.23-24), confessez les fautes qu'il vous montre et nommez le péché qui vous domine.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péché est le problème principal, non le seul : les faiblesses du corps et le péché des autres pèsent aussi (Street).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Quand la Parole fait son œuvre, on marche sans culpabilité, « intègre » (19.14).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les versets 13 et 14 comme un appel à l'introspection anxieuse ou à l'effort moral : c'est la grâce qui rend le disciple lucide et combatif.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Finir sur le péché sans le Rédempteur : le psaume s'achève sur la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4 min · Romains 10.17;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Récapitulation : </a:t>
            </a:r>
            <a:r>
              <a:rPr lang="fr-CA" sz="1400" dirty="0"/>
              <a:t>le ciel qui parle, assez pour condamner; la Parole qui suffit, assez pour sauver; la Parole qu'on désire plus que l'or; le cœur qui s'offre à son Rédempteur.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Rédempteur a un nom : </a:t>
            </a:r>
            <a:r>
              <a:rPr lang="fr-CA" sz="1400" dirty="0"/>
              <a:t>Dieu qui a parlé autrefois par les prophètes nous a parlé en son Fils (Hébreux 1.1-2). « Personne ne peut être sauvé, régénéré, né de nouveau sans comprendre la Parole de Dieu, en particulier la Parole de Dieu concernant la personne de Jésus-Christ » (GTY143; Romains 10.17).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les cieux vous ont parlé toute votre vie, et vous êtes sans excuse. Aujourd'hui, la Parole vous parle du Rédempteur : repentez-vous, croyez en Christ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ne cherchez pas ailleurs ce que la Parole vous donne. Désirez-la, laissez-la vous sonder, offrez-vous à Dieu. « Dans votre cœur, en ce moment, pouvez-vous prendre devant le Seigneur un engagement renouvelé à vous vouer à sa Parole? » (80-19).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Psaume 19.15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Prier ensemble le verset 15, lentement, à voix haute.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 </a:t>
            </a:r>
            <a:r>
              <a:rPr lang="fr-CA" sz="1400" dirty="0"/>
              <a:t>les paroles de la bouche et les sentiments du cœur offerts comme un sacrifice (IV); l'Éternel, rocher et rédempteur, que le Nouveau Testament nomme en Christ (Tite 2.14).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3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FA28-AB9D-C187-6F27-649D4CAF2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 23">
            <a:extLst>
              <a:ext uri="{FF2B5EF4-FFF2-40B4-BE49-F238E27FC236}">
                <a16:creationId xmlns:a16="http://schemas.microsoft.com/office/drawing/2014/main" id="{AB98C521-0530-DFBE-B1BC-A064E1646B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528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Médaillon rayonnant : le ciel étoilé et le soleil au-dessus d'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2344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PSAUME 19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645920"/>
            <a:ext cx="6035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ciel qui parle</a:t>
            </a:r>
            <a:endParaRPr lang="fr-CA" sz="48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la Parole</a:t>
            </a:r>
            <a:endParaRPr lang="fr-CA" sz="48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altLang="en-US" sz="4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suffit</a:t>
            </a:r>
            <a:endParaRPr lang="fr-CA" sz="48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9776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la suffisance de l'Écriture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altLang="en-US" sz="18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l'âme; le témoignage de l'Éternel est véritable, il rend sage l'ignorant. »</a:t>
            </a:r>
            <a:endParaRPr lang="fr-CA" sz="18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</a:t>
            </a:r>
            <a:endParaRPr lang="fr-CA" sz="18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00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9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0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1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2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3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4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5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6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7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8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9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0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1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2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mouvements, un seul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Dieu qui parle dans le ciel parle dans sa Parole, et conduit le cœur à s'offrir</a:t>
            </a:r>
            <a:endParaRPr lang="fr-CA" sz="1900" dirty="0"/>
          </a:p>
        </p:txBody>
      </p:sp>
      <p:sp>
        <p:nvSpPr>
          <p:cNvPr id="5" name="Fil des mouvements"/>
          <p:cNvSpPr/>
          <p:nvPr/>
        </p:nvSpPr>
        <p:spPr>
          <a:xfrm>
            <a:off x="548640" y="2990088"/>
            <a:ext cx="11091672" cy="0"/>
          </a:xfrm>
          <a:prstGeom prst="line">
            <a:avLst/>
          </a:prstGeom>
          <a:noFill/>
          <a:ln w="19050">
            <a:solidFill>
              <a:srgbClr val="7A331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6" name="Mouvement 1" descr="Médaillon : une étoile rayonnante dans le ciel étoil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892808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cosmos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 : la puissance du Créateur</a:t>
            </a:r>
            <a:endParaRPr lang="fr-CA" sz="1600" dirty="0"/>
          </a:p>
        </p:txBody>
      </p:sp>
      <p:sp>
        <p:nvSpPr>
          <p:cNvPr id="10" name="Shape 7"/>
          <p:cNvSpPr/>
          <p:nvPr/>
        </p:nvSpPr>
        <p:spPr>
          <a:xfrm>
            <a:off x="1005840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8"/>
          <p:cNvSpPr txBox="1"/>
          <p:nvPr/>
        </p:nvSpPr>
        <p:spPr>
          <a:xfrm>
            <a:off x="1005840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Le ciel qui parle</a:t>
            </a:r>
            <a:endParaRPr lang="fr-CA" sz="1300" dirty="0"/>
          </a:p>
        </p:txBody>
      </p:sp>
      <p:pic>
        <p:nvPicPr>
          <p:cNvPr id="12" name="Mouvement 2" descr="Médaillon : un rouleau de l'Écriture déployé et rayonna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196" y="1892808"/>
            <a:ext cx="2194560" cy="21945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31436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4311396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L'Écriture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19.8‑12</a:t>
            </a:r>
            <a:endParaRPr lang="fr-CA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311396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 : le Dieu de l'alliance</a:t>
            </a:r>
            <a:endParaRPr lang="fr-CA" sz="1600" dirty="0"/>
          </a:p>
        </p:txBody>
      </p:sp>
      <p:sp>
        <p:nvSpPr>
          <p:cNvPr id="16" name="Shape 12"/>
          <p:cNvSpPr/>
          <p:nvPr/>
        </p:nvSpPr>
        <p:spPr>
          <a:xfrm>
            <a:off x="4768596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3"/>
          <p:cNvSpPr txBox="1"/>
          <p:nvPr/>
        </p:nvSpPr>
        <p:spPr>
          <a:xfrm>
            <a:off x="4768596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La Parole qui suffit</a:t>
            </a:r>
            <a:endParaRPr lang="fr-CA" sz="1300" dirty="0"/>
          </a:p>
        </p:txBody>
      </p:sp>
      <p:sp>
        <p:nvSpPr>
          <p:cNvPr id="18" name="Shape 14"/>
          <p:cNvSpPr/>
          <p:nvPr/>
        </p:nvSpPr>
        <p:spPr>
          <a:xfrm>
            <a:off x="4768596" y="605332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5"/>
          <p:cNvSpPr txBox="1"/>
          <p:nvPr/>
        </p:nvSpPr>
        <p:spPr>
          <a:xfrm>
            <a:off x="4768596" y="60533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La Parole qu'on désire</a:t>
            </a:r>
            <a:endParaRPr lang="fr-CA" sz="1300" dirty="0"/>
          </a:p>
        </p:txBody>
      </p:sp>
      <p:pic>
        <p:nvPicPr>
          <p:cNvPr id="20" name="Mouvement 3" descr="Médaillon : un cœur au-dessus de la flamme de l'aute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952" y="1892808"/>
            <a:ext cx="2194560" cy="21945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94192" y="19202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4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8074152" y="4206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074152" y="4983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sondé, gardé, offert au Rédempteur</a:t>
            </a:r>
            <a:endParaRPr lang="fr-CA" sz="1600" dirty="0"/>
          </a:p>
        </p:txBody>
      </p:sp>
      <p:sp>
        <p:nvSpPr>
          <p:cNvPr id="24" name="Shape 19"/>
          <p:cNvSpPr/>
          <p:nvPr/>
        </p:nvSpPr>
        <p:spPr>
          <a:xfrm>
            <a:off x="8531352" y="5687568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9525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0"/>
          <p:cNvSpPr txBox="1"/>
          <p:nvPr/>
        </p:nvSpPr>
        <p:spPr>
          <a:xfrm>
            <a:off x="8531352" y="568756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Le cœur qui s'offre</a:t>
            </a:r>
            <a:endParaRPr lang="fr-CA" sz="1300" dirty="0"/>
          </a:p>
        </p:txBody>
      </p:sp>
      <p:grpSp>
        <p:nvGrpSpPr>
          <p:cNvPr id="100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6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PSAUME 19.5, 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D'où vient la loi?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Babylone la fait se réclamer du dieu-soleil; le Psaume 19 la remet entre les mains de l'Éternel</a:t>
            </a:r>
            <a:endParaRPr lang="fr-CA" sz="1900" dirty="0"/>
          </a:p>
        </p:txBody>
      </p:sp>
      <p:pic>
        <p:nvPicPr>
          <p:cNvPr id="5" name="Photo de la stèle" descr="Photo : partie supérieure de la stèle de Hammurabi (Louvre), le roi debout devant Shamash assis sur son trô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1920240"/>
            <a:ext cx="2185416" cy="29169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74320" y="4956048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Stèle de Hammurabi (Louvre)</a:t>
            </a:r>
            <a:endParaRPr lang="fr-CA" sz="1500" dirty="0"/>
          </a:p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roi devant Shamash, dieu-soleil et dieu de la justice</a:t>
            </a:r>
            <a:endParaRPr lang="fr-CA" sz="1500" dirty="0"/>
          </a:p>
          <a:p>
            <a:pPr marL="0" indent="0" algn="ctr">
              <a:buNone/>
            </a:pPr>
            <a:r>
              <a:rPr lang="fr-CA" altLang="en-US" sz="1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 : Sailko, CC BY 2.5, Wikimedia Commons</a:t>
            </a:r>
            <a:endParaRPr lang="fr-CA" sz="1500" dirty="0"/>
          </a:p>
        </p:txBody>
      </p:sp>
      <p:sp>
        <p:nvSpPr>
          <p:cNvPr id="7" name="Shape 4"/>
          <p:cNvSpPr/>
          <p:nvPr/>
        </p:nvSpPr>
        <p:spPr>
          <a:xfrm>
            <a:off x="4343400" y="22402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8" name="Image 1" descr="Icône : sole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6786" y="2353666"/>
            <a:ext cx="340157" cy="34015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93208" y="22128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Shamash, dieu-soleil et dieu de la justice : la loi du roi se réclame de lui.</a:t>
            </a:r>
            <a:endParaRPr lang="fr-CA" sz="1500" dirty="0"/>
          </a:p>
        </p:txBody>
      </p:sp>
      <p:sp>
        <p:nvSpPr>
          <p:cNvPr id="10" name="Shape 6"/>
          <p:cNvSpPr/>
          <p:nvPr/>
        </p:nvSpPr>
        <p:spPr>
          <a:xfrm>
            <a:off x="4343400" y="36118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6786" y="3725266"/>
            <a:ext cx="340157" cy="340157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093208" y="3584448"/>
            <a:ext cx="29077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 19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loge sous une tente que Dieu a dressée (19.5); la loi est celle de l'Éternel (19.8).</a:t>
            </a:r>
            <a:endParaRPr lang="fr-CA" sz="1500" dirty="0"/>
          </a:p>
        </p:txBody>
      </p:sp>
      <p:pic>
        <p:nvPicPr>
          <p:cNvPr id="13" name="Image 3" descr="Médaillon : le soleil sous une tente, et au-dessus un livre ouvert rayonna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1920240"/>
            <a:ext cx="3108960" cy="3108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83880" y="52303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soleil brûle, mais ne légifère pas</a:t>
            </a:r>
            <a:endParaRPr lang="fr-CA" sz="1500" dirty="0"/>
          </a:p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créature sous la tente; la loi est à l'Éternel</a:t>
            </a:r>
            <a:endParaRPr lang="fr-CA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allez-vous chercher la vérité qui gouverne votre vie?</a:t>
            </a:r>
            <a:endParaRPr lang="fr-CA" sz="2100" dirty="0"/>
          </a:p>
        </p:txBody>
      </p:sp>
      <p:grpSp>
        <p:nvGrpSpPr>
          <p:cNvPr id="100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16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7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8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9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0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1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2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3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4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5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6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· PSAUME 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seul hymne, deux révélations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même Dieu parle sans paroles, puis par des paroles qui suffisent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Text 4"/>
          <p:cNvSpPr txBox="1"/>
          <p:nvPr/>
        </p:nvSpPr>
        <p:spPr>
          <a:xfrm>
            <a:off x="82296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2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95728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 · El, Dieu de puissance</a:t>
            </a:r>
            <a:endParaRPr lang="fr-CA" sz="1500" dirty="0"/>
          </a:p>
        </p:txBody>
      </p:sp>
      <p:sp>
        <p:nvSpPr>
          <p:cNvPr id="8" name="El 1"/>
          <p:cNvSpPr/>
          <p:nvPr/>
        </p:nvSpPr>
        <p:spPr>
          <a:xfrm>
            <a:off x="4343400" y="2514600"/>
            <a:ext cx="164592" cy="164592"/>
          </a:xfrm>
          <a:prstGeom prst="ellipse">
            <a:avLst/>
          </a:prstGeom>
          <a:solidFill>
            <a:srgbClr val="6E5A4C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9" name="Text 7"/>
          <p:cNvSpPr txBox="1"/>
          <p:nvPr/>
        </p:nvSpPr>
        <p:spPr>
          <a:xfrm>
            <a:off x="2834640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5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× 1</a:t>
            </a:r>
            <a:endParaRPr lang="fr-CA" sz="1500" dirty="0"/>
          </a:p>
        </p:txBody>
      </p:sp>
      <p:sp>
        <p:nvSpPr>
          <p:cNvPr id="10" name="Shape 8"/>
          <p:cNvSpPr/>
          <p:nvPr/>
        </p:nvSpPr>
        <p:spPr>
          <a:xfrm>
            <a:off x="4983480" y="1920240"/>
            <a:ext cx="6656832" cy="1600200"/>
          </a:xfrm>
          <a:prstGeom prst="roundRect">
            <a:avLst>
              <a:gd name="adj" fmla="val 6857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5257800" y="2084832"/>
            <a:ext cx="6108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2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19.8‑15</a:t>
            </a:r>
            <a:endParaRPr lang="fr-CA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395728"/>
            <a:ext cx="4462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· l'Éternel, le Dieu de l'alliance</a:t>
            </a:r>
            <a:endParaRPr lang="fr-CA" sz="1500" dirty="0"/>
          </a:p>
        </p:txBody>
      </p:sp>
      <p:sp>
        <p:nvSpPr>
          <p:cNvPr id="13" name="l'Éternel 1"/>
          <p:cNvSpPr/>
          <p:nvPr/>
        </p:nvSpPr>
        <p:spPr>
          <a:xfrm>
            <a:off x="974750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14" name="l'Éternel 2"/>
          <p:cNvSpPr/>
          <p:nvPr/>
        </p:nvSpPr>
        <p:spPr>
          <a:xfrm>
            <a:off x="999439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15" name="l'Éternel 3"/>
          <p:cNvSpPr/>
          <p:nvPr/>
        </p:nvSpPr>
        <p:spPr>
          <a:xfrm>
            <a:off x="10241280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16" name="l'Éternel 4"/>
          <p:cNvSpPr/>
          <p:nvPr/>
        </p:nvSpPr>
        <p:spPr>
          <a:xfrm>
            <a:off x="10488168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17" name="l'Éternel 5"/>
          <p:cNvSpPr/>
          <p:nvPr/>
        </p:nvSpPr>
        <p:spPr>
          <a:xfrm>
            <a:off x="10735056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18" name="l'Éternel 6"/>
          <p:cNvSpPr/>
          <p:nvPr/>
        </p:nvSpPr>
        <p:spPr>
          <a:xfrm>
            <a:off x="10981944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19" name="l'Éternel 7"/>
          <p:cNvSpPr/>
          <p:nvPr/>
        </p:nvSpPr>
        <p:spPr>
          <a:xfrm>
            <a:off x="11228832" y="2514600"/>
            <a:ext cx="164592" cy="164592"/>
          </a:xfrm>
          <a:prstGeom prst="ellipse">
            <a:avLst/>
          </a:prstGeom>
          <a:solidFill>
            <a:srgbClr val="E8742A"/>
          </a:solidFill>
          <a:ln/>
        </p:spPr>
        <p:txBody>
          <a:bodyPr/>
          <a:lstStyle/>
          <a:p>
            <a:endParaRPr lang="fr-CA"/>
          </a:p>
        </p:txBody>
      </p:sp>
      <p:sp>
        <p:nvSpPr>
          <p:cNvPr id="20" name="Text 18"/>
          <p:cNvSpPr txBox="1"/>
          <p:nvPr/>
        </p:nvSpPr>
        <p:spPr>
          <a:xfrm>
            <a:off x="9720072" y="27889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5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 × 7</a:t>
            </a:r>
            <a:endParaRPr lang="fr-CA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749040"/>
            <a:ext cx="42062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20"/>
          <p:cNvSpPr/>
          <p:nvPr/>
        </p:nvSpPr>
        <p:spPr>
          <a:xfrm>
            <a:off x="77724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0" descr="Icône : sole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626" y="4045306"/>
            <a:ext cx="340157" cy="34015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481328" y="40050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4617720"/>
            <a:ext cx="3794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19.2‑7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Proclamation des cieux (19.2‑5b), importance du soleil (19.5c-7)</a:t>
            </a:r>
            <a:endParaRPr lang="fr-CA" sz="1500" dirty="0"/>
          </a:p>
        </p:txBody>
      </p:sp>
      <p:sp>
        <p:nvSpPr>
          <p:cNvPr id="26" name="Shape 23"/>
          <p:cNvSpPr/>
          <p:nvPr/>
        </p:nvSpPr>
        <p:spPr>
          <a:xfrm>
            <a:off x="4983480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4"/>
          <p:cNvSpPr/>
          <p:nvPr/>
        </p:nvSpPr>
        <p:spPr>
          <a:xfrm>
            <a:off x="5212080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1" descr="Icône : livre ouve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5466" y="4045306"/>
            <a:ext cx="340157" cy="340157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916168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212080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19.8‑10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Attributs de la Parole</a:t>
            </a:r>
            <a:endParaRPr lang="fr-CA" sz="1500" dirty="0"/>
          </a:p>
        </p:txBody>
      </p:sp>
      <p:sp>
        <p:nvSpPr>
          <p:cNvPr id="31" name="Shape 27"/>
          <p:cNvSpPr/>
          <p:nvPr/>
        </p:nvSpPr>
        <p:spPr>
          <a:xfrm>
            <a:off x="7274052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8"/>
          <p:cNvSpPr/>
          <p:nvPr/>
        </p:nvSpPr>
        <p:spPr>
          <a:xfrm>
            <a:off x="7502652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2" descr="Icône : lingots d'o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6038" y="4045306"/>
            <a:ext cx="340157" cy="34015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206740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7502652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19.11‑12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Appréciation</a:t>
            </a:r>
            <a:endParaRPr lang="fr-CA" sz="1500" dirty="0"/>
          </a:p>
        </p:txBody>
      </p:sp>
      <p:sp>
        <p:nvSpPr>
          <p:cNvPr id="36" name="Shape 31"/>
          <p:cNvSpPr/>
          <p:nvPr/>
        </p:nvSpPr>
        <p:spPr>
          <a:xfrm>
            <a:off x="9564624" y="3749040"/>
            <a:ext cx="2075688" cy="2148840"/>
          </a:xfrm>
          <a:prstGeom prst="roundRect">
            <a:avLst>
              <a:gd name="adj" fmla="val 528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7" name="Shape 32"/>
          <p:cNvSpPr/>
          <p:nvPr/>
        </p:nvSpPr>
        <p:spPr>
          <a:xfrm>
            <a:off x="9793224" y="39319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8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610" y="4045306"/>
            <a:ext cx="340157" cy="34015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0497312" y="4005072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600" dirty="0"/>
          </a:p>
        </p:txBody>
      </p:sp>
      <p:sp>
        <p:nvSpPr>
          <p:cNvPr id="40" name="Text 34"/>
          <p:cNvSpPr txBox="1"/>
          <p:nvPr/>
        </p:nvSpPr>
        <p:spPr>
          <a:xfrm>
            <a:off x="9793224" y="4617720"/>
            <a:ext cx="16642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19.13‑15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fr-CA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548640" y="6035040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pense que c'est le plus grand passage, à lui seul, sur la suffisance de l'Écriture dans toute la Bible »  (MacArthur)</a:t>
            </a:r>
            <a:endParaRPr lang="fr-CA" sz="1400" dirty="0"/>
          </a:p>
        </p:txBody>
      </p:sp>
      <p:grpSp>
        <p:nvGrpSpPr>
          <p:cNvPr id="100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2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3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4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5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6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7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8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9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0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1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2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3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4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5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6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ciel qui parle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création vous a parlé de Dieu chaque jour de votre vie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a course du soleil dans le ciel étoilé, d'une tente à l'horizon jusqu'à l'autre extrémité des cieu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74520"/>
            <a:ext cx="6400800" cy="3602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5577840"/>
            <a:ext cx="18288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8"/>
          <p:cNvSpPr txBox="1"/>
          <p:nvPr/>
        </p:nvSpPr>
        <p:spPr>
          <a:xfrm>
            <a:off x="640080" y="55778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L'époux et le héros</a:t>
            </a:r>
            <a:endParaRPr lang="fr-CA" sz="1400" dirty="0"/>
          </a:p>
          <a:p>
            <a:pPr marL="0" indent="0" algn="ctr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19.6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2468880" y="5577840"/>
            <a:ext cx="192024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2560320" y="55778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dieu ni législateur</a:t>
            </a:r>
            <a:endParaRPr lang="fr-CA" sz="1400" dirty="0"/>
          </a:p>
          <a:p>
            <a:pPr marL="0" indent="0" algn="ctr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19.5c-7</a:t>
            </a:r>
            <a:endParaRPr lang="fr-CA" sz="1400" dirty="0"/>
          </a:p>
        </p:txBody>
      </p:sp>
      <p:sp>
        <p:nvSpPr>
          <p:cNvPr id="14" name="Shape 11"/>
          <p:cNvSpPr/>
          <p:nvPr/>
        </p:nvSpPr>
        <p:spPr>
          <a:xfrm>
            <a:off x="4480560" y="5577840"/>
            <a:ext cx="2514600" cy="731520"/>
          </a:xfrm>
          <a:prstGeom prst="roundRect">
            <a:avLst>
              <a:gd name="adj" fmla="val 25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4572000" y="557784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se dérobe à sa chaleur</a:t>
            </a:r>
            <a:endParaRPr lang="fr-CA" sz="1400" dirty="0"/>
          </a:p>
          <a:p>
            <a:pPr marL="0" indent="0" algn="ctr">
              <a:buNone/>
            </a:pPr>
            <a:r>
              <a:rPr lang="fr-CA" altLang="en-US" sz="1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19.7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713232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7" name="Image 1" descr="Icône : étoil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5706" y="2079346"/>
            <a:ext cx="340157" cy="34015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882128" y="193852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proclamation incessante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Racontent », « manifeste » : la révélation ne s'interrompt jamais.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30632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2" descr="Icône : poid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5706" y="3176626"/>
            <a:ext cx="340157" cy="34015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882128" y="303580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gloire, c'est le poids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Kavod : le ciel nocturne fait sentir le poids de Dieu (Street).</a:t>
            </a:r>
            <a:endParaRPr lang="fr-CA" sz="1500" dirty="0"/>
          </a:p>
        </p:txBody>
      </p:sp>
      <p:sp>
        <p:nvSpPr>
          <p:cNvPr id="22" name="Shape 17"/>
          <p:cNvSpPr/>
          <p:nvPr/>
        </p:nvSpPr>
        <p:spPr>
          <a:xfrm>
            <a:off x="7132320" y="41605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3" descr="Icône : disque moitié clair, moitié sombre : le jour et la nui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5706" y="4273906"/>
            <a:ext cx="340157" cy="34015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882128" y="4133088"/>
            <a:ext cx="37581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jour en instruit un autre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veut dire bouillonner : la révélation jaillit (Street).</a:t>
            </a:r>
            <a:endParaRPr lang="fr-CA" sz="1500" dirty="0"/>
          </a:p>
        </p:txBody>
      </p:sp>
      <p:sp>
        <p:nvSpPr>
          <p:cNvPr id="25" name="Shape 19"/>
          <p:cNvSpPr/>
          <p:nvPr/>
        </p:nvSpPr>
        <p:spPr>
          <a:xfrm>
            <a:off x="7132320" y="5257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4" descr="Icône : globe terrestr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5706" y="5371186"/>
            <a:ext cx="340157" cy="34015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882128" y="5230368"/>
            <a:ext cx="3758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paroles, et partout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mots au sens littéral, mais un message qui atteint toute la terre (Romains 10.18).</a:t>
            </a:r>
            <a:endParaRPr lang="fr-CA" sz="1500" dirty="0"/>
          </a:p>
        </p:txBody>
      </p:sp>
      <p:grpSp>
        <p:nvGrpSpPr>
          <p:cNvPr id="100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1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2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PSAUME 19.2‑7 / ROMAINS 1.18‑20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Assez pour condamner, jamais pour sauver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qu'on ne peut pas connaître, c'est la sagesse qui sauve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394960" cy="2852928"/>
          </a:xfrm>
          <a:prstGeom prst="roundRect">
            <a:avLst>
              <a:gd name="adj" fmla="val 3846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868680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1" name="Image 0" descr="Icône : sole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9164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2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monde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générale · sans paroles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DIVIN</a:t>
            </a:r>
            <a:endParaRPr lang="fr-CA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El, Dieu de puissance</a:t>
            </a:r>
            <a:endParaRPr lang="fr-CA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3355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puissance et sa divinité</a:t>
            </a:r>
            <a:endParaRPr lang="fr-CA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831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2743200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l'homme inexcusable</a:t>
            </a:r>
            <a:endParaRPr lang="fr-CA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2611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fr-CA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743200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retient la vérité captive</a:t>
            </a:r>
            <a:endParaRPr lang="fr-CA" sz="1700" dirty="0"/>
          </a:p>
        </p:txBody>
      </p:sp>
      <p:sp>
        <p:nvSpPr>
          <p:cNvPr id="21" name="Shape 18"/>
          <p:cNvSpPr/>
          <p:nvPr/>
        </p:nvSpPr>
        <p:spPr>
          <a:xfrm>
            <a:off x="6245352" y="1920240"/>
            <a:ext cx="5394960" cy="2852928"/>
          </a:xfrm>
          <a:prstGeom prst="roundRect">
            <a:avLst>
              <a:gd name="adj" fmla="val 3846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9"/>
          <p:cNvSpPr/>
          <p:nvPr/>
        </p:nvSpPr>
        <p:spPr>
          <a:xfrm>
            <a:off x="6565392" y="212140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1" descr="Icône : livre ouve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2249424"/>
            <a:ext cx="384048" cy="384048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388352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2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 spéciale · des paroles</a:t>
            </a:r>
            <a:endParaRPr lang="fr-CA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6565392" y="297180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 DIVIN</a:t>
            </a:r>
            <a:endParaRPr lang="fr-CA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439912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l'Éternel, Dieu de l'alliance</a:t>
            </a:r>
            <a:endParaRPr lang="fr-CA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6565392" y="34015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CONNAÎTRE</a:t>
            </a:r>
            <a:endParaRPr lang="fr-CA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8439912" y="335584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sagesse qui sauve</a:t>
            </a:r>
            <a:endParaRPr lang="fr-CA" sz="1700" dirty="0"/>
          </a:p>
        </p:txBody>
      </p:sp>
      <p:sp>
        <p:nvSpPr>
          <p:cNvPr id="29" name="Text 25"/>
          <p:cNvSpPr txBox="1"/>
          <p:nvPr/>
        </p:nvSpPr>
        <p:spPr>
          <a:xfrm>
            <a:off x="6565392" y="383133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</a:t>
            </a:r>
            <a:endParaRPr lang="fr-CA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8439912" y="37856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 et transforme</a:t>
            </a:r>
            <a:endParaRPr lang="fr-CA" sz="1700" dirty="0"/>
          </a:p>
        </p:txBody>
      </p:sp>
      <p:sp>
        <p:nvSpPr>
          <p:cNvPr id="31" name="Text 27"/>
          <p:cNvSpPr txBox="1"/>
          <p:nvPr/>
        </p:nvSpPr>
        <p:spPr>
          <a:xfrm>
            <a:off x="6565392" y="42611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fr-CA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8439912" y="42153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l'Esprit applique la Parole</a:t>
            </a:r>
            <a:endParaRPr lang="fr-CA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937760"/>
            <a:ext cx="11091672" cy="1417320"/>
          </a:xfrm>
          <a:prstGeom prst="roundRect">
            <a:avLst>
              <a:gd name="adj" fmla="val 7742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4" name="Text 30"/>
          <p:cNvSpPr txBox="1"/>
          <p:nvPr/>
        </p:nvSpPr>
        <p:spPr>
          <a:xfrm>
            <a:off x="822960" y="4937760"/>
            <a:ext cx="105430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fr-CA" altLang="en-US" sz="28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cieux suffisent à condamner; la Parole suffit à sauver.</a:t>
            </a:r>
            <a:endParaRPr lang="fr-CA" sz="16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révélation de Dieu dans le monde : assez pour condamner, assez pour damner. La révélation dans la Parole : suffisante pour sauver, suffisante pour sauver » (MacArthur)</a:t>
            </a:r>
            <a:endParaRPr lang="fr-CA" sz="1600" dirty="0"/>
          </a:p>
        </p:txBody>
      </p:sp>
      <p:grpSp>
        <p:nvGrpSpPr>
          <p:cNvPr id="100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5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1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2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3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4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5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6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7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8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9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suffit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titres, six qualités, six bienfaits : six fois « l'Éternel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TITRE · CE QU'IL DÉSIGNE</a:t>
            </a:r>
            <a:endParaRPr lang="fr-CA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16052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· NEG79 / MACARTHUR</a:t>
            </a:r>
            <a:endParaRPr lang="fr-CA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1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BIENFAIT</a:t>
            </a:r>
            <a:endParaRPr lang="fr-CA" sz="1300" dirty="0"/>
          </a:p>
        </p:txBody>
      </p:sp>
      <p:sp>
        <p:nvSpPr>
          <p:cNvPr id="12" name="Ligne 1"/>
          <p:cNvSpPr/>
          <p:nvPr/>
        </p:nvSpPr>
        <p:spPr>
          <a:xfrm>
            <a:off x="548640" y="219456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77724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marL="0" indent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l'enseignement</a:t>
            </a:r>
            <a:endParaRPr lang="fr-CA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19456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complète</a:t>
            </a:r>
            <a:endParaRPr lang="fr-CA" sz="1600" dirty="0"/>
          </a:p>
        </p:txBody>
      </p:sp>
      <p:sp>
        <p:nvSpPr>
          <p:cNvPr id="15" name="Shape 13"/>
          <p:cNvSpPr/>
          <p:nvPr/>
        </p:nvSpPr>
        <p:spPr>
          <a:xfrm>
            <a:off x="6949440" y="248716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6" name="Shape 14"/>
          <p:cNvSpPr/>
          <p:nvPr/>
        </p:nvSpPr>
        <p:spPr>
          <a:xfrm>
            <a:off x="7635240" y="226771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7" name="Image 0" descr="Icône : cœ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022" y="2355494"/>
            <a:ext cx="263347" cy="263347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229600" y="219456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restaure l'âme</a:t>
            </a:r>
            <a:endParaRPr lang="fr-CA" sz="1800" dirty="0"/>
          </a:p>
        </p:txBody>
      </p:sp>
      <p:sp>
        <p:nvSpPr>
          <p:cNvPr id="19" name="Ligne 2"/>
          <p:cNvSpPr/>
          <p:nvPr/>
        </p:nvSpPr>
        <p:spPr>
          <a:xfrm>
            <a:off x="548640" y="2871216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Text 17"/>
          <p:cNvSpPr txBox="1"/>
          <p:nvPr/>
        </p:nvSpPr>
        <p:spPr>
          <a:xfrm>
            <a:off x="77724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témoignage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marL="0" indent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témoin de son auteur divin</a:t>
            </a:r>
            <a:endParaRPr lang="fr-C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160520" y="287121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véritable</a:t>
            </a: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sûr</a:t>
            </a:r>
            <a:endParaRPr lang="fr-CA" sz="1600" dirty="0"/>
          </a:p>
        </p:txBody>
      </p:sp>
      <p:sp>
        <p:nvSpPr>
          <p:cNvPr id="22" name="Shape 19"/>
          <p:cNvSpPr/>
          <p:nvPr/>
        </p:nvSpPr>
        <p:spPr>
          <a:xfrm>
            <a:off x="6949440" y="3163824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20"/>
          <p:cNvSpPr/>
          <p:nvPr/>
        </p:nvSpPr>
        <p:spPr>
          <a:xfrm>
            <a:off x="7635240" y="2944368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4" name="Image 1" descr="Icône : ampou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3022" y="3032150"/>
            <a:ext cx="263347" cy="263347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229600" y="2871216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 sage l'ignorant</a:t>
            </a:r>
            <a:endParaRPr lang="fr-CA" sz="1800" dirty="0"/>
          </a:p>
        </p:txBody>
      </p:sp>
      <p:sp>
        <p:nvSpPr>
          <p:cNvPr id="26" name="Ligne 3"/>
          <p:cNvSpPr/>
          <p:nvPr/>
        </p:nvSpPr>
        <p:spPr>
          <a:xfrm>
            <a:off x="548640" y="3547872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3"/>
          <p:cNvSpPr txBox="1"/>
          <p:nvPr/>
        </p:nvSpPr>
        <p:spPr>
          <a:xfrm>
            <a:off x="77724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ordonnances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marL="0" indent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gouverne par elles</a:t>
            </a:r>
            <a:endParaRPr lang="fr-CA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4160520" y="354787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droites</a:t>
            </a: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le droit chemin</a:t>
            </a:r>
            <a:endParaRPr lang="fr-CA" sz="1600" dirty="0"/>
          </a:p>
        </p:txBody>
      </p:sp>
      <p:sp>
        <p:nvSpPr>
          <p:cNvPr id="29" name="Shape 25"/>
          <p:cNvSpPr/>
          <p:nvPr/>
        </p:nvSpPr>
        <p:spPr>
          <a:xfrm>
            <a:off x="6949440" y="3840480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30" name="Shape 26"/>
          <p:cNvSpPr/>
          <p:nvPr/>
        </p:nvSpPr>
        <p:spPr>
          <a:xfrm>
            <a:off x="7635240" y="3621024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1" name="Image 2" descr="Icône : étincell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3022" y="3708806"/>
            <a:ext cx="263347" cy="263347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229600" y="354787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réjouissent le cœur</a:t>
            </a:r>
            <a:endParaRPr lang="fr-CA" sz="1800" dirty="0"/>
          </a:p>
        </p:txBody>
      </p:sp>
      <p:sp>
        <p:nvSpPr>
          <p:cNvPr id="33" name="Ligne 4"/>
          <p:cNvSpPr/>
          <p:nvPr/>
        </p:nvSpPr>
        <p:spPr>
          <a:xfrm>
            <a:off x="548640" y="4224528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4" name="Text 29"/>
          <p:cNvSpPr txBox="1"/>
          <p:nvPr/>
        </p:nvSpPr>
        <p:spPr>
          <a:xfrm>
            <a:off x="77724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commandements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marL="0" indent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ordres qui lient</a:t>
            </a:r>
            <a:endParaRPr lang="fr-CA" sz="1600" dirty="0"/>
          </a:p>
        </p:txBody>
      </p:sp>
      <p:sp>
        <p:nvSpPr>
          <p:cNvPr id="35" name="Text 30"/>
          <p:cNvSpPr txBox="1"/>
          <p:nvPr/>
        </p:nvSpPr>
        <p:spPr>
          <a:xfrm>
            <a:off x="4160520" y="422452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purs</a:t>
            </a: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clairs</a:t>
            </a:r>
            <a:endParaRPr lang="fr-CA" sz="1600" dirty="0"/>
          </a:p>
        </p:txBody>
      </p:sp>
      <p:sp>
        <p:nvSpPr>
          <p:cNvPr id="36" name="Shape 31"/>
          <p:cNvSpPr/>
          <p:nvPr/>
        </p:nvSpPr>
        <p:spPr>
          <a:xfrm>
            <a:off x="6949440" y="4517136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37" name="Shape 32"/>
          <p:cNvSpPr/>
          <p:nvPr/>
        </p:nvSpPr>
        <p:spPr>
          <a:xfrm>
            <a:off x="7635240" y="4297680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8" name="Image 3" descr="Icône : œi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3022" y="4385462"/>
            <a:ext cx="263347" cy="263347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229600" y="422452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éclairent les yeux</a:t>
            </a:r>
            <a:endParaRPr lang="fr-CA" sz="1800" dirty="0"/>
          </a:p>
        </p:txBody>
      </p:sp>
      <p:sp>
        <p:nvSpPr>
          <p:cNvPr id="40" name="Ligne 5"/>
          <p:cNvSpPr/>
          <p:nvPr/>
        </p:nvSpPr>
        <p:spPr>
          <a:xfrm>
            <a:off x="548640" y="4901184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41" name="Text 35"/>
          <p:cNvSpPr txBox="1"/>
          <p:nvPr/>
        </p:nvSpPr>
        <p:spPr>
          <a:xfrm>
            <a:off x="77724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crainte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marL="0" indent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guide de l'adoration</a:t>
            </a:r>
            <a:endParaRPr lang="fr-CA" sz="1600" dirty="0"/>
          </a:p>
        </p:txBody>
      </p:sp>
      <p:sp>
        <p:nvSpPr>
          <p:cNvPr id="42" name="Text 36"/>
          <p:cNvSpPr txBox="1"/>
          <p:nvPr/>
        </p:nvSpPr>
        <p:spPr>
          <a:xfrm>
            <a:off x="4160520" y="490118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</a:t>
            </a: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nette</a:t>
            </a:r>
            <a:endParaRPr lang="fr-CA" sz="1600" dirty="0"/>
          </a:p>
        </p:txBody>
      </p:sp>
      <p:sp>
        <p:nvSpPr>
          <p:cNvPr id="43" name="Shape 37"/>
          <p:cNvSpPr/>
          <p:nvPr/>
        </p:nvSpPr>
        <p:spPr>
          <a:xfrm>
            <a:off x="6949440" y="5193792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44" name="Shape 38"/>
          <p:cNvSpPr/>
          <p:nvPr/>
        </p:nvSpPr>
        <p:spPr>
          <a:xfrm>
            <a:off x="7635240" y="4974336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45" name="Image 4" descr="Icône : infini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3022" y="5062118"/>
            <a:ext cx="263347" cy="263347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229600" y="490118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subsiste à toujours</a:t>
            </a:r>
            <a:endParaRPr lang="fr-CA" sz="1800" dirty="0"/>
          </a:p>
        </p:txBody>
      </p:sp>
      <p:sp>
        <p:nvSpPr>
          <p:cNvPr id="47" name="Ligne 6"/>
          <p:cNvSpPr/>
          <p:nvPr/>
        </p:nvSpPr>
        <p:spPr>
          <a:xfrm>
            <a:off x="548640" y="5577840"/>
            <a:ext cx="11091672" cy="585216"/>
          </a:xfrm>
          <a:prstGeom prst="roundRect">
            <a:avLst>
              <a:gd name="adj" fmla="val 1875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48" name="Text 41"/>
          <p:cNvSpPr txBox="1"/>
          <p:nvPr/>
        </p:nvSpPr>
        <p:spPr>
          <a:xfrm>
            <a:off x="77724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0000"/>
              </a:lnSpc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jugements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l'Éternel</a:t>
            </a:r>
            <a:endParaRPr lang="fr-CA" sz="1600" dirty="0"/>
          </a:p>
          <a:p>
            <a:pPr marL="0" indent="0">
              <a:lnSpc>
                <a:spcPct val="90000"/>
              </a:lnSpc>
              <a:buNone/>
            </a:pPr>
            <a:r>
              <a:rPr lang="fr-CA" altLang="en-US" sz="13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verdicts de Dieu</a:t>
            </a:r>
            <a:endParaRPr lang="fr-CA" sz="1600" dirty="0"/>
          </a:p>
        </p:txBody>
      </p:sp>
      <p:sp>
        <p:nvSpPr>
          <p:cNvPr id="49" name="Text 42"/>
          <p:cNvSpPr txBox="1"/>
          <p:nvPr/>
        </p:nvSpPr>
        <p:spPr>
          <a:xfrm>
            <a:off x="4160520" y="557784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absolument vrais</a:t>
            </a:r>
            <a:endParaRPr lang="fr-CA" sz="1600" dirty="0"/>
          </a:p>
        </p:txBody>
      </p:sp>
      <p:sp>
        <p:nvSpPr>
          <p:cNvPr id="50" name="Shape 43"/>
          <p:cNvSpPr/>
          <p:nvPr/>
        </p:nvSpPr>
        <p:spPr>
          <a:xfrm>
            <a:off x="6949440" y="5870448"/>
            <a:ext cx="502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51" name="Shape 44"/>
          <p:cNvSpPr/>
          <p:nvPr/>
        </p:nvSpPr>
        <p:spPr>
          <a:xfrm>
            <a:off x="7635240" y="5650992"/>
            <a:ext cx="438912" cy="438912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52" name="Image 5" descr="Icône : balanc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3022" y="5738774"/>
            <a:ext cx="263347" cy="263347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8229600" y="5577840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justes</a:t>
            </a:r>
            <a:endParaRPr lang="fr-CA" sz="1800" dirty="0"/>
          </a:p>
        </p:txBody>
      </p:sp>
      <p:grpSp>
        <p:nvGrpSpPr>
          <p:cNvPr id="1006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54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5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6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7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8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9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0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1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2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3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4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5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6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7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68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19.8a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Réconfort ou conversion?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loi de l'Éternel est parfaite, elle restaure l'âme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65960"/>
            <a:ext cx="5120640" cy="2240280"/>
          </a:xfrm>
          <a:prstGeom prst="roundRect">
            <a:avLst>
              <a:gd name="adj" fmla="val 4898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1" name="Image 0" descr="Icône : panseme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322576"/>
            <a:ext cx="384048" cy="38404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45920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2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S21</a:t>
            </a:r>
            <a:endParaRPr lang="fr-CA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5328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400" i="1" dirty="0">
                <a:solidFill>
                  <a:srgbClr val="A89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Elle donne du réconfort »</a:t>
            </a:r>
            <a:endParaRPr lang="fr-CA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108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baume : la Parole réduite à la consolation.</a:t>
            </a:r>
            <a:endParaRPr lang="fr-CA" sz="1600" dirty="0"/>
          </a:p>
          <a:p>
            <a:pPr marL="0" indent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elle fait bien plus que consoler.</a:t>
            </a:r>
            <a:endParaRPr lang="fr-CA" sz="1600" dirty="0"/>
          </a:p>
        </p:txBody>
      </p:sp>
      <p:sp>
        <p:nvSpPr>
          <p:cNvPr id="15" name="Shape 12"/>
          <p:cNvSpPr/>
          <p:nvPr/>
        </p:nvSpPr>
        <p:spPr>
          <a:xfrm>
            <a:off x="6519672" y="1965960"/>
            <a:ext cx="5120640" cy="2240280"/>
          </a:xfrm>
          <a:prstGeom prst="roundRect">
            <a:avLst>
              <a:gd name="adj" fmla="val 4898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Shape 13"/>
          <p:cNvSpPr/>
          <p:nvPr/>
        </p:nvSpPr>
        <p:spPr>
          <a:xfrm>
            <a:off x="6793992" y="219456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7" name="Image 1" descr="Icône : flèche de retou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2322576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16952" y="22585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300" b="1" kern="0" spc="2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NEG79 · L'HÉBREU</a:t>
            </a:r>
            <a:endParaRPr lang="fr-CA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7616952" y="25328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4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Elle restaure l'âme »</a:t>
            </a:r>
            <a:endParaRPr lang="fr-CA" sz="2400" dirty="0"/>
          </a:p>
        </p:txBody>
      </p:sp>
      <p:sp>
        <p:nvSpPr>
          <p:cNvPr id="20" name="Text 16"/>
          <p:cNvSpPr txBox="1"/>
          <p:nvPr/>
        </p:nvSpPr>
        <p:spPr>
          <a:xfrm>
            <a:off x="6793992" y="310896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altLang="en-US" sz="16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meshivat nephesh</a:t>
            </a: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faire revenir, ramener (</a:t>
            </a:r>
            <a:r>
              <a:rPr lang="fr-CA" altLang="en-US" sz="16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shouv</a:t>
            </a: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l'âme, la personne entière, l'être intérieur.</a:t>
            </a:r>
            <a:endParaRPr lang="fr-CA" sz="1600" dirty="0"/>
          </a:p>
          <a:p>
            <a:pPr marL="0" indent="0">
              <a:spcAft>
                <a:spcPts val="4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verbe couvre ranimer, restaurer, convertir.</a:t>
            </a:r>
            <a:endParaRPr lang="fr-CA" sz="1600" dirty="0"/>
          </a:p>
        </p:txBody>
      </p:sp>
      <p:sp>
        <p:nvSpPr>
          <p:cNvPr id="21" name="Flèche : bien plus que consoler"/>
          <p:cNvSpPr/>
          <p:nvPr/>
        </p:nvSpPr>
        <p:spPr>
          <a:xfrm>
            <a:off x="5760720" y="3081528"/>
            <a:ext cx="667512" cy="0"/>
          </a:xfrm>
          <a:prstGeom prst="line">
            <a:avLst/>
          </a:prstGeom>
          <a:noFill/>
          <a:ln w="3175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548640" y="4434840"/>
            <a:ext cx="11091672" cy="1920240"/>
          </a:xfrm>
          <a:prstGeom prst="roundRect">
            <a:avLst>
              <a:gd name="adj" fmla="val 5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19"/>
          <p:cNvSpPr txBox="1"/>
          <p:nvPr/>
        </p:nvSpPr>
        <p:spPr>
          <a:xfrm>
            <a:off x="822960" y="4434840"/>
            <a:ext cx="10543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2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 Une instruction divine si complète qu'elle peut transformer totalement l'homme intérieur tout entier »  (MacArthur)</a:t>
            </a:r>
            <a:endParaRPr lang="fr-CA" sz="1600" dirty="0"/>
          </a:p>
          <a:p>
            <a:pPr marL="0" indent="0">
              <a:spcBef>
                <a:spcPts val="8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Convertir, transformer, régénérer par l'œuvre de l'Esprit. Street rapproche Hébreux 4.12 : la Parole juge les pensées et les intentions du cœur.</a:t>
            </a:r>
            <a:endParaRPr lang="fr-CA" sz="1600" dirty="0"/>
          </a:p>
        </p:txBody>
      </p:sp>
      <p:grpSp>
        <p:nvGrpSpPr>
          <p:cNvPr id="1007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5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6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PSAUME 19.8‑10 / 2 PIERRE 1.16‑19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Complète, sûre, pure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On ne peut rien lui retrancher; on ne peut rien lui ajouter »  (MacArthur)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8046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1" name="Image 0" descr="Icône :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224210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5727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Complète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19.8a</a:t>
            </a:r>
            <a:endParaRPr lang="fr-CA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Loi » : mieux rendue par « enseignement » (Bible d'étude).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Parfaite » : au sens de complétude, non seulement d'irréprochable.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Restaure l'âme » : convertir, transformer, régénérer par l'œuvre de l'Esprit.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Fournit tout ce qu'il faut » (MacArthur).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43205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5765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bouss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273" y="2242109"/>
            <a:ext cx="362102" cy="36210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3446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Sûre et claire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19.8b-9</a:t>
            </a:r>
            <a:endParaRPr lang="fr-CA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5765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sûre que l'expérience : Pierre, témoin de la transfiguration (2 Pierre 1.16‑19).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L'« ignorant » : le naïf, sans discernement; l'Écriture lui apporte la sagesse.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Sage » : maîtriser l'art de vivre.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est le sentier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Purs » : clairs, ils éclairent les yeux.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8092440" y="1920240"/>
            <a:ext cx="3547872" cy="4434840"/>
          </a:xfrm>
          <a:prstGeom prst="roundRect">
            <a:avLst>
              <a:gd name="adj" fmla="val 309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8348472" y="212140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mains joint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9173" y="2242109"/>
            <a:ext cx="362102" cy="36210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116568" y="2103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et vraie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19.10</a:t>
            </a:r>
            <a:endParaRPr lang="fr-CA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3017520"/>
            <a:ext cx="3063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Crainte » : l'Écriture, guide pour l'adoration; « un manuel du culte » (MacArthur).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Nette, « sans tache, sans défaut » (MacArthur) : jamais de mise à jour.</a:t>
            </a:r>
            <a:endParaRPr lang="fr-CA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Absolument, sans équivoque, vrai » (MacArthur).</a:t>
            </a:r>
            <a:endParaRPr lang="fr-CA" sz="1500" dirty="0"/>
          </a:p>
        </p:txBody>
      </p:sp>
      <p:grpSp>
        <p:nvGrpSpPr>
          <p:cNvPr id="1008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4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5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6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APPLICATION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qui tient lieu de Parole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quoi vous tournez-vous en premier quand votre âme est troublée?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Livre ouvert rayonnant au centre : la Parole qui suffi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1874520"/>
            <a:ext cx="2834640" cy="28346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48640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Shape 8"/>
          <p:cNvSpPr/>
          <p:nvPr/>
        </p:nvSpPr>
        <p:spPr>
          <a:xfrm>
            <a:off x="704088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2" name="Image 1" descr="Icône : graphiq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217627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17320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Techniques de gestion</a:t>
            </a:r>
            <a:endParaRPr lang="fr-CA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1"/>
          <p:cNvSpPr/>
          <p:nvPr/>
        </p:nvSpPr>
        <p:spPr>
          <a:xfrm>
            <a:off x="704088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2" descr="Icône : masques de théâtr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09067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Divertissement</a:t>
            </a:r>
            <a:endParaRPr lang="fr-CA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Shape 14"/>
          <p:cNvSpPr/>
          <p:nvPr/>
        </p:nvSpPr>
        <p:spPr>
          <a:xfrm>
            <a:off x="704088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3" descr="Icône : boule de cristal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" y="4005072"/>
            <a:ext cx="329184" cy="32918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Mysticisme</a:t>
            </a:r>
            <a:endParaRPr lang="fr-CA" sz="1800" dirty="0"/>
          </a:p>
        </p:txBody>
      </p:sp>
      <p:sp>
        <p:nvSpPr>
          <p:cNvPr id="22" name="Shape 16"/>
          <p:cNvSpPr/>
          <p:nvPr/>
        </p:nvSpPr>
        <p:spPr>
          <a:xfrm>
            <a:off x="7891272" y="19659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7"/>
          <p:cNvSpPr/>
          <p:nvPr/>
        </p:nvSpPr>
        <p:spPr>
          <a:xfrm>
            <a:off x="8046720" y="20665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4" name="Image 4" descr="Icône : cerveau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6448" y="2176272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759952" y="19659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Psychologie</a:t>
            </a:r>
            <a:endParaRPr lang="fr-CA" sz="1800" dirty="0"/>
          </a:p>
        </p:txBody>
      </p:sp>
      <p:sp>
        <p:nvSpPr>
          <p:cNvPr id="26" name="Shape 19"/>
          <p:cNvSpPr/>
          <p:nvPr/>
        </p:nvSpPr>
        <p:spPr>
          <a:xfrm>
            <a:off x="7891272" y="28803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0"/>
          <p:cNvSpPr/>
          <p:nvPr/>
        </p:nvSpPr>
        <p:spPr>
          <a:xfrm>
            <a:off x="8046720" y="29809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5" descr="Icône : troisième œil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6448" y="3090672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759952" y="28803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fr-CA" sz="1800" dirty="0"/>
          </a:p>
        </p:txBody>
      </p:sp>
      <p:sp>
        <p:nvSpPr>
          <p:cNvPr id="30" name="Shape 22"/>
          <p:cNvSpPr/>
          <p:nvPr/>
        </p:nvSpPr>
        <p:spPr>
          <a:xfrm>
            <a:off x="7891272" y="3794760"/>
            <a:ext cx="3749040" cy="749808"/>
          </a:xfrm>
          <a:prstGeom prst="roundRect">
            <a:avLst>
              <a:gd name="adj" fmla="val 14634"/>
            </a:avLst>
          </a:prstGeom>
          <a:solidFill>
            <a:srgbClr val="15110E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1" name="Shape 23"/>
          <p:cNvSpPr/>
          <p:nvPr/>
        </p:nvSpPr>
        <p:spPr>
          <a:xfrm>
            <a:off x="8046720" y="3895344"/>
            <a:ext cx="548640" cy="548640"/>
          </a:xfrm>
          <a:prstGeom prst="ellipse">
            <a:avLst/>
          </a:prstGeom>
          <a:solidFill>
            <a:srgbClr val="1F1915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2" name="Image 6" descr="Icône : porte-voix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56448" y="4005072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759952" y="3794760"/>
            <a:ext cx="2743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Confession positive</a:t>
            </a:r>
            <a:endParaRPr lang="fr-CA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548640" y="477316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qui, dans l'Église, prend la place de la Parole : MacArthur, 1985</a:t>
            </a:r>
            <a:endParaRPr lang="fr-CA" sz="1400" dirty="0"/>
          </a:p>
        </p:txBody>
      </p:sp>
      <p:sp>
        <p:nvSpPr>
          <p:cNvPr id="35" name="Shape 26"/>
          <p:cNvSpPr/>
          <p:nvPr/>
        </p:nvSpPr>
        <p:spPr>
          <a:xfrm>
            <a:off x="548640" y="516636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6" name="Text 27"/>
          <p:cNvSpPr txBox="1"/>
          <p:nvPr/>
        </p:nvSpPr>
        <p:spPr>
          <a:xfrm>
            <a:off x="822960" y="516636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 : </a:t>
            </a: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révélation générale n'autorise pas à chercher hors de l'Écriture l'autorité sur les problèmes de l'âme; ce serait ajouter à la Parole (Proverbes 30.5‑6).</a:t>
            </a:r>
            <a:endParaRPr lang="fr-CA" sz="1700" dirty="0"/>
          </a:p>
          <a:p>
            <a:pPr marL="0" indent="0">
              <a:spcBef>
                <a:spcPts val="4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Sciences et médecine restent des bienfaits de Dieu; la suffisance vise le domaine de l'âme.</a:t>
            </a:r>
            <a:endParaRPr lang="fr-CA" sz="1700" dirty="0"/>
          </a:p>
        </p:txBody>
      </p:sp>
      <p:grpSp>
        <p:nvGrpSpPr>
          <p:cNvPr id="1009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7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1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2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3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4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5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6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7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8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9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0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1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PSAUME 19.11‑12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précieuse que l'or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désirez le plus révèle ce que vous estimez le plus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Balance : l'or et le miel d'un côté, plus légers que le livre ouvert de l'aut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828800"/>
            <a:ext cx="521208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0350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1" name="Image 1" descr="Icône : lingots d'o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84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84848" y="193852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précieuse que l'or affiné (paz)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bien suprême d'ici-bas : le plus grand bien qu'on puisse posséder.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6035040" y="29260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4" name="Image 2" descr="Icône : rayon de mie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8426" y="303946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84848" y="289864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douce que le miel des rayons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délice des délices : le plus grand plaisir qu'on puisse goûter.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6035040" y="38862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7" name="Image 3" descr="Icône : panneau d'avertiss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8426" y="399958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784848" y="3858768"/>
            <a:ext cx="4855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avertit (19.12)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La Parole de Dieu est pleine d'avertissements » (MacArthur).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6035040" y="484632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4" descr="Icône : drapeau d'arrivé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8426" y="495970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84848" y="4818888"/>
            <a:ext cx="4855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grande récompense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En les gardant, il y a la fin » : non ici et maintenant, mais la gloire à venir.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6035040" y="5943600"/>
            <a:ext cx="5605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0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agenda dit ce qui est votre or.</a:t>
            </a:r>
            <a:endParaRPr lang="fr-CA" sz="2000" dirty="0"/>
          </a:p>
        </p:txBody>
      </p:sp>
      <p:grpSp>
        <p:nvGrpSpPr>
          <p:cNvPr id="101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4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5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6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19.13‑14 / NOMBRES 15.22‑31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sondé et gardé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Qui connaît ses égarements? » Réponse : personne, sans la Parole (Street)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sp>
        <p:nvSpPr>
          <p:cNvPr id="9" name="Degré 1"/>
          <p:cNvSpPr/>
          <p:nvPr/>
        </p:nvSpPr>
        <p:spPr>
          <a:xfrm>
            <a:off x="548640" y="18745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804672" y="20756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1" name="Image 0" descr="Icône : œil barré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373" y="2196389"/>
            <a:ext cx="362102" cy="36210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2600" b="1" dirty="0">
                <a:solidFill>
                  <a:srgbClr val="96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fr-CA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" y="27889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Égarements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d'ignorance, non intentionnels.</a:t>
            </a:r>
            <a:endParaRPr lang="fr-CA" sz="1500" dirty="0"/>
          </a:p>
        </p:txBody>
      </p:sp>
      <p:sp>
        <p:nvSpPr>
          <p:cNvPr id="14" name="Shape 11"/>
          <p:cNvSpPr/>
          <p:nvPr/>
        </p:nvSpPr>
        <p:spPr>
          <a:xfrm>
            <a:off x="804672" y="38862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804672" y="38862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Lévitique 4 : un sacrifice prévu</a:t>
            </a:r>
            <a:endParaRPr lang="fr-CA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43251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Pardonne-moi » : acquitte-moi</a:t>
            </a:r>
            <a:endParaRPr lang="fr-CA" sz="1500" dirty="0"/>
          </a:p>
        </p:txBody>
      </p:sp>
      <p:sp>
        <p:nvSpPr>
          <p:cNvPr id="17" name="Shape 14"/>
          <p:cNvSpPr/>
          <p:nvPr/>
        </p:nvSpPr>
        <p:spPr>
          <a:xfrm>
            <a:off x="4078224" y="3246120"/>
            <a:ext cx="219456" cy="22860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8" name="Degré 2"/>
          <p:cNvSpPr/>
          <p:nvPr/>
        </p:nvSpPr>
        <p:spPr>
          <a:xfrm>
            <a:off x="4320540" y="21031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22150F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Shape 16"/>
          <p:cNvSpPr/>
          <p:nvPr/>
        </p:nvSpPr>
        <p:spPr>
          <a:xfrm>
            <a:off x="4576572" y="23042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1" descr="Icône : cib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273" y="2424989"/>
            <a:ext cx="362102" cy="3621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551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2600" b="1" dirty="0">
                <a:solidFill>
                  <a:srgbClr val="CC55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fr-CA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4576572" y="30175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Péchés présomptueux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Délibérés : ceux que je vois, prémédite et planifie.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4576572" y="41148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4576572" y="41148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Nombres 15.30‑31 : aucun sacrifice</a:t>
            </a:r>
            <a:endParaRPr lang="fr-CA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6572" y="45537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Préserve aussi ton serviteur »</a:t>
            </a:r>
            <a:endParaRPr lang="fr-CA" sz="1500" dirty="0"/>
          </a:p>
        </p:txBody>
      </p:sp>
      <p:sp>
        <p:nvSpPr>
          <p:cNvPr id="26" name="Shape 22"/>
          <p:cNvSpPr/>
          <p:nvPr/>
        </p:nvSpPr>
        <p:spPr>
          <a:xfrm>
            <a:off x="7850124" y="3474720"/>
            <a:ext cx="219456" cy="228600"/>
          </a:xfrm>
          <a:prstGeom prst="line">
            <a:avLst/>
          </a:prstGeom>
          <a:noFill/>
          <a:ln w="254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7" name="Degré 3"/>
          <p:cNvSpPr/>
          <p:nvPr/>
        </p:nvSpPr>
        <p:spPr>
          <a:xfrm>
            <a:off x="8092440" y="2331720"/>
            <a:ext cx="3502152" cy="2834640"/>
          </a:xfrm>
          <a:prstGeom prst="roundRect">
            <a:avLst>
              <a:gd name="adj" fmla="val 3871"/>
            </a:avLst>
          </a:prstGeom>
          <a:solidFill>
            <a:srgbClr val="2A1A10"/>
          </a:solidFill>
          <a:ln w="3175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Shape 24"/>
          <p:cNvSpPr/>
          <p:nvPr/>
        </p:nvSpPr>
        <p:spPr>
          <a:xfrm>
            <a:off x="8348472" y="2532888"/>
            <a:ext cx="603504" cy="60350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9" name="Image 2" descr="Icône : personne qui s'éloign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9173" y="2653589"/>
            <a:ext cx="362102" cy="362102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10927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2600" b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fr-CA" sz="2600" dirty="0"/>
          </a:p>
        </p:txBody>
      </p:sp>
      <p:sp>
        <p:nvSpPr>
          <p:cNvPr id="31" name="Text 26"/>
          <p:cNvSpPr txBox="1"/>
          <p:nvPr/>
        </p:nvSpPr>
        <p:spPr>
          <a:xfrm>
            <a:off x="8348472" y="32461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0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 transgression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rébellion ouverte : se détourner du Seigneur.</a:t>
            </a:r>
            <a:endParaRPr lang="fr-CA" sz="1500" dirty="0"/>
          </a:p>
        </p:txBody>
      </p:sp>
      <p:sp>
        <p:nvSpPr>
          <p:cNvPr id="32" name="Shape 27"/>
          <p:cNvSpPr/>
          <p:nvPr/>
        </p:nvSpPr>
        <p:spPr>
          <a:xfrm>
            <a:off x="8348472" y="4343400"/>
            <a:ext cx="2990088" cy="384048"/>
          </a:xfrm>
          <a:prstGeom prst="roundRect">
            <a:avLst>
              <a:gd name="adj" fmla="val 47619"/>
            </a:avLst>
          </a:prstGeom>
          <a:solidFill>
            <a:srgbClr val="0D0B0A"/>
          </a:solidFill>
          <a:ln w="127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3" name="Text 28"/>
          <p:cNvSpPr txBox="1"/>
          <p:nvPr/>
        </p:nvSpPr>
        <p:spPr>
          <a:xfrm>
            <a:off x="8348472" y="4343400"/>
            <a:ext cx="2990088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fr-CA" altLang="en-US" sz="13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terme de la pente</a:t>
            </a:r>
            <a:endParaRPr lang="fr-CA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8348472" y="4782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Innocent de grands péchés »</a:t>
            </a:r>
            <a:endParaRPr lang="fr-CA" sz="1500" dirty="0"/>
          </a:p>
        </p:txBody>
      </p:sp>
      <p:sp>
        <p:nvSpPr>
          <p:cNvPr id="35" name="Shape 30"/>
          <p:cNvSpPr/>
          <p:nvPr/>
        </p:nvSpPr>
        <p:spPr>
          <a:xfrm>
            <a:off x="548640" y="53035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6" name="Shape 31"/>
          <p:cNvSpPr/>
          <p:nvPr/>
        </p:nvSpPr>
        <p:spPr>
          <a:xfrm>
            <a:off x="777240" y="545896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7" name="Image 3" descr="Icône : chaî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6" y="5572354"/>
            <a:ext cx="340157" cy="340157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1527048" y="5431536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Qu'ils ne dominent point sur moi! »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péchés connus asservissent (Street).</a:t>
            </a:r>
            <a:endParaRPr lang="fr-CA" sz="1500" dirty="0"/>
          </a:p>
        </p:txBody>
      </p:sp>
      <p:sp>
        <p:nvSpPr>
          <p:cNvPr id="39" name="Shape 33"/>
          <p:cNvSpPr/>
          <p:nvPr/>
        </p:nvSpPr>
        <p:spPr>
          <a:xfrm>
            <a:off x="6199632" y="5303520"/>
            <a:ext cx="5440680" cy="1051560"/>
          </a:xfrm>
          <a:prstGeom prst="roundRect">
            <a:avLst>
              <a:gd name="adj" fmla="val 10435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40" name="Shape 34"/>
          <p:cNvSpPr/>
          <p:nvPr/>
        </p:nvSpPr>
        <p:spPr>
          <a:xfrm>
            <a:off x="6428232" y="5458968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41" name="Image 4" descr="Icône : colomb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1618" y="5572354"/>
            <a:ext cx="340157" cy="340157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178040" y="5431536"/>
            <a:ext cx="4279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disciple mûr, non un scrupuleux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la grâce et les ressources de Dieu amènent à reconnaître et à combattre ses péchés.</a:t>
            </a:r>
            <a:endParaRPr lang="fr-CA" sz="1500" dirty="0"/>
          </a:p>
        </p:txBody>
      </p:sp>
      <p:grpSp>
        <p:nvGrpSpPr>
          <p:cNvPr id="101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43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4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5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6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7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8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9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0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1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2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3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4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5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6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57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cœur qui s'offre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Reçois favorablement les paroles de ma bouche et les sentiments de mon cœur »</a:t>
            </a:r>
            <a:endParaRPr lang="fr-CA" sz="1900" dirty="0"/>
          </a:p>
        </p:txBody>
      </p:sp>
      <p:sp>
        <p:nvSpPr>
          <p:cNvPr id="5" name="Navigation : le ciel"/>
          <p:cNvSpPr txBox="1"/>
          <p:nvPr/>
        </p:nvSpPr>
        <p:spPr>
          <a:xfrm>
            <a:off x="7756855" y="38404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</a:t>
            </a:r>
            <a:endParaRPr lang="fr-CA" sz="1400" dirty="0"/>
          </a:p>
        </p:txBody>
      </p:sp>
      <p:sp>
        <p:nvSpPr>
          <p:cNvPr id="6" name="Navigation : la Parole"/>
          <p:cNvSpPr txBox="1"/>
          <p:nvPr/>
        </p:nvSpPr>
        <p:spPr>
          <a:xfrm>
            <a:off x="8671255" y="3840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</a:t>
            </a:r>
            <a:endParaRPr lang="fr-CA" sz="1400" dirty="0"/>
          </a:p>
        </p:txBody>
      </p:sp>
      <p:sp>
        <p:nvSpPr>
          <p:cNvPr id="7" name="Navigation : le désir"/>
          <p:cNvSpPr txBox="1"/>
          <p:nvPr/>
        </p:nvSpPr>
        <p:spPr>
          <a:xfrm>
            <a:off x="9814255" y="3840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désir</a:t>
            </a:r>
            <a:endParaRPr lang="fr-CA" sz="1400" dirty="0"/>
          </a:p>
        </p:txBody>
      </p:sp>
      <p:sp>
        <p:nvSpPr>
          <p:cNvPr id="8" name="Navigation : le cœur"/>
          <p:cNvSpPr txBox="1"/>
          <p:nvPr/>
        </p:nvSpPr>
        <p:spPr>
          <a:xfrm>
            <a:off x="10820095" y="38404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</a:t>
            </a:r>
            <a:endParaRPr lang="fr-CA" sz="1400" dirty="0"/>
          </a:p>
        </p:txBody>
      </p:sp>
      <p:pic>
        <p:nvPicPr>
          <p:cNvPr id="9" name="Image 0" descr="Autel de pierres où brûle une flamme; au-dessus s'élèvent un cœur et une bulle de paro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4343400" cy="4343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120640" y="196596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1" name="Image 1" descr="Icône : flam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026" y="2079346"/>
            <a:ext cx="340157" cy="34015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0448" y="193852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Reçois favorablement (leratson)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vocabulaire des sacrifices agréés : David demande la grâce de déposer sur l'autel ses lèvres et sa vie.</a:t>
            </a:r>
            <a:endParaRPr lang="fr-CA" sz="1500" dirty="0"/>
          </a:p>
        </p:txBody>
      </p:sp>
      <p:sp>
        <p:nvSpPr>
          <p:cNvPr id="13" name="Shape 9"/>
          <p:cNvSpPr/>
          <p:nvPr/>
        </p:nvSpPr>
        <p:spPr>
          <a:xfrm>
            <a:off x="5120640" y="29718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4" name="Image 2" descr="Icône : parchemi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026" y="3085186"/>
            <a:ext cx="340157" cy="34015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294436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Bouche et méditation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L'écho de Josué 1.8 : la loi méditée jour et nuit.</a:t>
            </a:r>
            <a:endParaRPr lang="fr-CA" sz="1500" dirty="0"/>
          </a:p>
        </p:txBody>
      </p:sp>
      <p:sp>
        <p:nvSpPr>
          <p:cNvPr id="16" name="Shape 11"/>
          <p:cNvSpPr/>
          <p:nvPr/>
        </p:nvSpPr>
        <p:spPr>
          <a:xfrm>
            <a:off x="5120640" y="397764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7" name="Image 3" descr="Icône : roche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4026" y="4091026"/>
            <a:ext cx="340157" cy="340157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70448" y="395020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rocher et mon rédempteur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goel : le parent proche qui paie pour racheter (Lévitique 25.25).</a:t>
            </a:r>
            <a:endParaRPr lang="fr-CA" sz="1500" dirty="0"/>
          </a:p>
        </p:txBody>
      </p:sp>
      <p:sp>
        <p:nvSpPr>
          <p:cNvPr id="19" name="Shape 13"/>
          <p:cNvSpPr/>
          <p:nvPr/>
        </p:nvSpPr>
        <p:spPr>
          <a:xfrm>
            <a:off x="5120640" y="498348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4" descr="Icône : croix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4026" y="5096866"/>
            <a:ext cx="340157" cy="34015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0448" y="4956048"/>
            <a:ext cx="5769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Bef>
                <a:spcPts val="200"/>
              </a:spcBef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500" dirty="0"/>
          </a:p>
          <a:p>
            <a:pPr marL="0" indent="0">
              <a:spcBef>
                <a:spcPts val="2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s'est donné pour nous racheter (Tite 2.14); par lui, le sacrifice de louange (Hébreux 13.15).</a:t>
            </a:r>
            <a:endParaRPr lang="fr-CA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5120640" y="5989320"/>
            <a:ext cx="6519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à Dieu de vous sonder (Psaume 139.23‑24).</a:t>
            </a:r>
            <a:endParaRPr lang="fr-CA" sz="1900" dirty="0"/>
          </a:p>
        </p:txBody>
      </p:sp>
      <p:grpSp>
        <p:nvGrpSpPr>
          <p:cNvPr id="101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4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5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6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ET APPEL · ROMAINS 10.17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Parole qui conduit au Rédempteur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suffisent à condamner; la Parole suffit à sauver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1554480" y="2331720"/>
            <a:ext cx="850392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>
            <a:off x="118872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7" name="Image 0" descr="Icône : sole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2093976"/>
            <a:ext cx="466344" cy="4663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150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ciel qui parle</a:t>
            </a:r>
            <a:endParaRPr lang="fr-CA" sz="1500" dirty="0"/>
          </a:p>
        </p:txBody>
      </p:sp>
      <p:sp>
        <p:nvSpPr>
          <p:cNvPr id="9" name="Shape 6"/>
          <p:cNvSpPr/>
          <p:nvPr/>
        </p:nvSpPr>
        <p:spPr>
          <a:xfrm>
            <a:off x="342900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0" name="Image 1" descr="Icône : livre ouver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448" y="2093976"/>
            <a:ext cx="466344" cy="4663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1178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qui suffit</a:t>
            </a:r>
            <a:endParaRPr lang="fr-CA" sz="1500" dirty="0"/>
          </a:p>
        </p:txBody>
      </p:sp>
      <p:sp>
        <p:nvSpPr>
          <p:cNvPr id="12" name="Shape 8"/>
          <p:cNvSpPr/>
          <p:nvPr/>
        </p:nvSpPr>
        <p:spPr>
          <a:xfrm>
            <a:off x="566928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3" name="Image 2" descr="Icône : lingots d'o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4728" y="2093976"/>
            <a:ext cx="466344" cy="4663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5206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Parole qu'on désire</a:t>
            </a:r>
            <a:endParaRPr lang="fr-CA" sz="1500" dirty="0"/>
          </a:p>
        </p:txBody>
      </p:sp>
      <p:sp>
        <p:nvSpPr>
          <p:cNvPr id="15" name="Shape 10"/>
          <p:cNvSpPr/>
          <p:nvPr/>
        </p:nvSpPr>
        <p:spPr>
          <a:xfrm>
            <a:off x="7909560" y="1938528"/>
            <a:ext cx="777240" cy="7772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5008" y="2093976"/>
            <a:ext cx="466344" cy="4663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292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qui s'offre</a:t>
            </a:r>
            <a:endParaRPr lang="fr-CA" sz="1500" dirty="0"/>
          </a:p>
        </p:txBody>
      </p:sp>
      <p:sp>
        <p:nvSpPr>
          <p:cNvPr id="18" name="Shape 12"/>
          <p:cNvSpPr/>
          <p:nvPr/>
        </p:nvSpPr>
        <p:spPr>
          <a:xfrm>
            <a:off x="10058400" y="1810512"/>
            <a:ext cx="1051560" cy="1051560"/>
          </a:xfrm>
          <a:prstGeom prst="ellipse">
            <a:avLst/>
          </a:prstGeom>
          <a:solidFill>
            <a:srgbClr val="CC550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9" name="Image 4" descr="Icône : croix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7000" y="2039112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578340" y="2944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</a:t>
            </a:r>
            <a:endParaRPr lang="fr-CA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5"/>
          <p:cNvSpPr txBox="1"/>
          <p:nvPr/>
        </p:nvSpPr>
        <p:spPr>
          <a:xfrm>
            <a:off x="8229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Rédempteur a un nom</a:t>
            </a:r>
            <a:endParaRPr lang="fr-CA" sz="19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nous a parlé en son Fils (Hébreux 1.1‑2).</a:t>
            </a:r>
            <a:endParaRPr lang="fr-CA" sz="1500" dirty="0"/>
          </a:p>
          <a:p>
            <a:pPr marL="0" indent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Personne ne peut être sauvé, régénéré, né de nouveau sans comprendre la Parole de Dieu, en particulier la Parole de Dieu concernant la personne de Jésus-Christ » (MacArthur).</a:t>
            </a:r>
            <a:endParaRPr lang="fr-CA" sz="1500" dirty="0"/>
          </a:p>
        </p:txBody>
      </p:sp>
      <p:sp>
        <p:nvSpPr>
          <p:cNvPr id="24" name="Shape 17"/>
          <p:cNvSpPr/>
          <p:nvPr/>
        </p:nvSpPr>
        <p:spPr>
          <a:xfrm>
            <a:off x="43205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18"/>
          <p:cNvSpPr txBox="1"/>
          <p:nvPr/>
        </p:nvSpPr>
        <p:spPr>
          <a:xfrm>
            <a:off x="45948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45948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cieux vous ont parlé toute votre vie : vous êtes sans excuse. Aujourd'hui, la Parole vous parle du Rédempteur.</a:t>
            </a:r>
            <a:endParaRPr lang="fr-CA" sz="1500" dirty="0"/>
          </a:p>
          <a:p>
            <a:pPr marL="0" indent="0">
              <a:spcBef>
                <a:spcPts val="600"/>
              </a:spcBef>
              <a:buNone/>
            </a:pPr>
            <a:r>
              <a:rPr lang="fr-CA" altLang="en-US" sz="15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Repentez-vous, croyez en Christ et soumettez-vous à lui comme Seigneur.</a:t>
            </a:r>
            <a:endParaRPr lang="fr-CA" sz="1500" dirty="0"/>
          </a:p>
        </p:txBody>
      </p:sp>
      <p:sp>
        <p:nvSpPr>
          <p:cNvPr id="27" name="Shape 20"/>
          <p:cNvSpPr/>
          <p:nvPr/>
        </p:nvSpPr>
        <p:spPr>
          <a:xfrm>
            <a:off x="8092440" y="3520440"/>
            <a:ext cx="3547872" cy="2834640"/>
          </a:xfrm>
          <a:prstGeom prst="roundRect">
            <a:avLst>
              <a:gd name="adj" fmla="val 3871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1"/>
          <p:cNvSpPr txBox="1"/>
          <p:nvPr/>
        </p:nvSpPr>
        <p:spPr>
          <a:xfrm>
            <a:off x="8366760" y="36576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900" dirty="0"/>
          </a:p>
        </p:txBody>
      </p:sp>
      <p:sp>
        <p:nvSpPr>
          <p:cNvPr id="29" name="Text 22"/>
          <p:cNvSpPr txBox="1"/>
          <p:nvPr/>
        </p:nvSpPr>
        <p:spPr>
          <a:xfrm>
            <a:off x="8366760" y="4114800"/>
            <a:ext cx="3017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cherchez pas ailleurs ce que la Parole vous donne. Désirez-la, laissez-la vous sonder, offrez-vous à Dieu.</a:t>
            </a:r>
            <a:endParaRPr lang="fr-CA" sz="1500" dirty="0"/>
          </a:p>
          <a:p>
            <a:pPr marL="0" indent="0">
              <a:spcBef>
                <a:spcPts val="600"/>
              </a:spcBef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Dans votre cœur, en ce moment, pouvez-vous prendre devant le Seigneur un engagement renouvelé à vous vouer à sa Parole? » (MacArthur)</a:t>
            </a:r>
            <a:endParaRPr lang="fr-CA" sz="1500" dirty="0"/>
          </a:p>
        </p:txBody>
      </p:sp>
      <p:grpSp>
        <p:nvGrpSpPr>
          <p:cNvPr id="101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1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2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3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4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 · PSAUME 19.15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Prions ensemble</a:t>
            </a:r>
            <a:endParaRPr lang="fr-CA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7223760" cy="4480560"/>
          </a:xfrm>
          <a:prstGeom prst="roundRect">
            <a:avLst>
              <a:gd name="adj" fmla="val 24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5" name="Prière"/>
          <p:cNvSpPr txBox="1"/>
          <p:nvPr/>
        </p:nvSpPr>
        <p:spPr>
          <a:xfrm>
            <a:off x="914400" y="1874520"/>
            <a:ext cx="64922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Reçois favorablement</a:t>
            </a:r>
            <a:endParaRPr lang="fr-CA" sz="3200" dirty="0"/>
          </a:p>
          <a:p>
            <a:pPr marL="0" indent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paroles de ma bouche</a:t>
            </a:r>
            <a:endParaRPr lang="fr-CA" sz="3200" dirty="0"/>
          </a:p>
          <a:p>
            <a:pPr marL="0" indent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les sentiments de mon cœur,</a:t>
            </a:r>
            <a:endParaRPr lang="fr-CA" sz="3200" dirty="0"/>
          </a:p>
          <a:p>
            <a:pPr marL="0" indent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Ô Éternel, mon rocher</a:t>
            </a:r>
            <a:endParaRPr lang="fr-CA" sz="3200" dirty="0"/>
          </a:p>
          <a:p>
            <a:pPr marL="0" indent="0">
              <a:lnSpc>
                <a:spcPct val="105000"/>
              </a:lnSpc>
              <a:buNone/>
            </a:pPr>
            <a:r>
              <a:rPr lang="fr-CA" altLang="en-US" sz="3200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 mon rédempteur!</a:t>
            </a:r>
            <a:endParaRPr lang="fr-CA" sz="3200" dirty="0"/>
          </a:p>
          <a:p>
            <a:pPr marL="0" indent="0">
              <a:lnSpc>
                <a:spcPct val="105000"/>
              </a:lnSpc>
              <a:spcBef>
                <a:spcPts val="1400"/>
              </a:spcBef>
              <a:buNone/>
            </a:pPr>
            <a:r>
              <a:rPr lang="fr-CA" altLang="en-US" sz="1500" i="1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Psaume 19.15</a:t>
            </a:r>
            <a:endParaRPr lang="fr-CA" sz="3200" dirty="0"/>
          </a:p>
        </p:txBody>
      </p:sp>
      <p:pic>
        <p:nvPicPr>
          <p:cNvPr id="6" name="Illustration" descr="Médaillon rayonnant : le ciel étoilé et le soleil au-dessus d'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011680"/>
            <a:ext cx="3520440" cy="3520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5596128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lumière des étoiles à l'autel du cœur, la Parole de l'Éternel suffit.</a:t>
            </a:r>
            <a:endParaRPr lang="fr-CA" sz="1500" dirty="0"/>
          </a:p>
        </p:txBody>
      </p:sp>
      <p:grpSp>
        <p:nvGrpSpPr>
          <p:cNvPr id="1014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9" name="Progression 2"/>
            <p:cNvSpPr/>
            <p:nvPr/>
          </p:nvSpPr>
          <p:spPr>
            <a:xfrm>
              <a:off x="12911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0" name="Progression 3"/>
            <p:cNvSpPr/>
            <p:nvPr/>
          </p:nvSpPr>
          <p:spPr>
            <a:xfrm>
              <a:off x="20362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1" name="Progression 4"/>
            <p:cNvSpPr/>
            <p:nvPr/>
          </p:nvSpPr>
          <p:spPr>
            <a:xfrm>
              <a:off x="27813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2" name="Progression 5"/>
            <p:cNvSpPr/>
            <p:nvPr/>
          </p:nvSpPr>
          <p:spPr>
            <a:xfrm>
              <a:off x="35263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3" name="Progression 6"/>
            <p:cNvSpPr/>
            <p:nvPr/>
          </p:nvSpPr>
          <p:spPr>
            <a:xfrm>
              <a:off x="42714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4" name="Progression 7"/>
            <p:cNvSpPr/>
            <p:nvPr/>
          </p:nvSpPr>
          <p:spPr>
            <a:xfrm>
              <a:off x="50165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5" name="Progression 8"/>
            <p:cNvSpPr/>
            <p:nvPr/>
          </p:nvSpPr>
          <p:spPr>
            <a:xfrm>
              <a:off x="57615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6" name="Progression 9"/>
            <p:cNvSpPr/>
            <p:nvPr/>
          </p:nvSpPr>
          <p:spPr>
            <a:xfrm>
              <a:off x="65066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7" name="Progression 10"/>
            <p:cNvSpPr/>
            <p:nvPr/>
          </p:nvSpPr>
          <p:spPr>
            <a:xfrm>
              <a:off x="72517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8" name="Progression 11"/>
            <p:cNvSpPr/>
            <p:nvPr/>
          </p:nvSpPr>
          <p:spPr>
            <a:xfrm>
              <a:off x="79967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9" name="Progression 12"/>
            <p:cNvSpPr/>
            <p:nvPr/>
          </p:nvSpPr>
          <p:spPr>
            <a:xfrm>
              <a:off x="87418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0" name="Progression 13"/>
            <p:cNvSpPr/>
            <p:nvPr/>
          </p:nvSpPr>
          <p:spPr>
            <a:xfrm>
              <a:off x="9486900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1" name="Progression 14"/>
            <p:cNvSpPr/>
            <p:nvPr/>
          </p:nvSpPr>
          <p:spPr>
            <a:xfrm>
              <a:off x="10231967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2" name="Progression 15"/>
            <p:cNvSpPr/>
            <p:nvPr/>
          </p:nvSpPr>
          <p:spPr>
            <a:xfrm>
              <a:off x="10977033" y="6527800"/>
              <a:ext cx="668867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Black Dark Orange Brûlée">
  <a:themeElements>
    <a:clrScheme name="Black Dark Orange Brûlée">
      <a:dk1>
        <a:srgbClr val="0D0B0A"/>
      </a:dk1>
      <a:lt1>
        <a:srgbClr val="F4EDE4"/>
      </a:lt1>
      <a:dk2>
        <a:srgbClr val="1A1411"/>
      </a:dk2>
      <a:lt2>
        <a:srgbClr val="A89A8C"/>
      </a:lt2>
      <a:accent1>
        <a:srgbClr val="CC5500"/>
      </a:accent1>
      <a:accent2>
        <a:srgbClr val="E8742A"/>
      </a:accent2>
      <a:accent3>
        <a:srgbClr val="7A3310"/>
      </a:accent3>
      <a:accent4>
        <a:srgbClr val="6E5A4C"/>
      </a:accent4>
      <a:accent5>
        <a:srgbClr val="2A1A10"/>
      </a:accent5>
      <a:accent6>
        <a:srgbClr val="968A80"/>
      </a:accent6>
      <a:hlink>
        <a:srgbClr val="E8742A"/>
      </a:hlink>
      <a:folHlink>
        <a:srgbClr val="A89A8C"/>
      </a:folHlink>
    </a:clrScheme>
    <a:fontScheme name="Black Dark Orange Brûlé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5838</Words>
  <Application>Microsoft Office PowerPoint</Application>
  <PresentationFormat>Grand écran</PresentationFormat>
  <Paragraphs>482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Black Dark Orange Brûlée</vt:lpstr>
      <vt:lpstr>Présentation PowerPoint</vt:lpstr>
      <vt:lpstr>Du ciel qui parle à la Parole qui suffit</vt:lpstr>
      <vt:lpstr>Trois mouvements, un seul Dieu</vt:lpstr>
      <vt:lpstr>D'où vient la loi?</vt:lpstr>
      <vt:lpstr>Un seul hymne, deux révélations</vt:lpstr>
      <vt:lpstr>Le ciel qui parle</vt:lpstr>
      <vt:lpstr>Assez pour condamner, jamais pour sauver</vt:lpstr>
      <vt:lpstr>La Parole qui suffit</vt:lpstr>
      <vt:lpstr>Réconfort ou conversion?</vt:lpstr>
      <vt:lpstr>Complète, sûre, pure</vt:lpstr>
      <vt:lpstr>Ce qui tient lieu de Parole</vt:lpstr>
      <vt:lpstr>Plus précieuse que l'or</vt:lpstr>
      <vt:lpstr>Le cœur sondé et gardé</vt:lpstr>
      <vt:lpstr>Le cœur qui s'offre</vt:lpstr>
      <vt:lpstr>La Parole qui conduit au Rédempteur</vt:lpstr>
      <vt:lpstr>Prions ensemble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 ciel qui parle à la Parole qui suffit</dc:title>
  <dc:subject>Prédication sur le Psaume 19</dc:subject>
  <dc:creator>André-Guy Bruneau</dc:creator>
  <cp:lastModifiedBy>André-Guy Bruneau</cp:lastModifiedBy>
  <cp:revision>1</cp:revision>
  <dcterms:created xsi:type="dcterms:W3CDTF">2026-10-02T12:57:29Z</dcterms:created>
  <dcterms:modified xsi:type="dcterms:W3CDTF">2026-10-02T14:44:42Z</dcterms:modified>
</cp:coreProperties>
</file>