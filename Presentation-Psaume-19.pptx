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04809b4-4310-43e8-cf39-6c19c89163f4}">
          <p14:sldIdLst>
            <p14:sldId id="256"/>
            <p14:sldId id="257"/>
            <p14:sldId id="258"/>
            <p14:sldId id="259"/>
          </p14:sldIdLst>
        </p14:section>
        <p14:section name="I. Le ciel qui parle" id="{0e994664-0eca-261b-f080-becfbbc4951e}">
          <p14:sldIdLst>
            <p14:sldId id="260"/>
            <p14:sldId id="261"/>
          </p14:sldIdLst>
        </p14:section>
        <p14:section name="II. La Parole qui suffit" id="{98c1f9e8-baaf-3518-899b-7eaf79406466}">
          <p14:sldIdLst>
            <p14:sldId id="262"/>
            <p14:sldId id="263"/>
            <p14:sldId id="264"/>
            <p14:sldId id="265"/>
          </p14:sldIdLst>
        </p14:section>
        <p14:section name="III. La Parole qu'on désire" id="{92526145-4157-280f-3499-91d04996938a}">
          <p14:sldIdLst>
            <p14:sldId id="266"/>
          </p14:sldIdLst>
        </p14:section>
        <p14:section name="IV. Le cœur qui s'offre" id="{6fb97dfa-42d6-aefe-55f9-17e471efc4fd}">
          <p14:sldIdLst>
            <p14:sldId id="267"/>
            <p14:sldId id="268"/>
          </p14:sldIdLst>
        </p14:section>
        <p14:section name="Conclusion" id="{421a1c06-051c-4c26-ef30-270f0bf18135}">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Avant de commencer</a:t>
            </a:r>
          </a:p>
          <a:p>
            <a:pPr marL="228600" indent="-228600">
              <a:spcBef>
                <a:spcPts val="300"/>
              </a:spcBef>
              <a:buFont typeface="Arial"/>
              <a:buChar char="•"/>
            </a:pPr>
            <a:r>
              <a:rPr lang="fr-CA" sz="1400" b="1" dirty="0"/>
              <a:t>Lecture publique : </a:t>
            </a:r>
            <a:r>
              <a:rPr lang="fr-CA" sz="1400" dirty="0"/>
              <a:t>Psaume 19 (en entier), après le Rappel et avant l'accroche, avec à l'écran ses trois mouvements (diapositive 2) : le cosmos (19.2-7), l'Écriture (19.8-12), le cœur (19.13-15).</a:t>
            </a:r>
          </a:p>
          <a:p>
            <a:pPr marL="228600" indent="-228600">
              <a:spcBef>
                <a:spcPts val="300"/>
              </a:spcBef>
              <a:buFont typeface="Arial"/>
              <a:buChar char="•"/>
            </a:pPr>
            <a:r>
              <a:rPr lang="fr-CA" sz="1400" b="1" dirty="0"/>
              <a:t>Durée visée : </a:t>
            </a:r>
            <a:r>
              <a:rPr lang="fr-CA" sz="1400" dirty="0"/>
              <a:t>45 minutes, plus la lecture publique du Psaume 19 (environ 2 min, hors tableau).</a:t>
            </a:r>
          </a:p>
          <a:p>
            <a:pPr marL="228600" indent="-228600">
              <a:spcBef>
                <a:spcPts val="300"/>
              </a:spcBef>
              <a:buFont typeface="Arial"/>
              <a:buChar char="•"/>
            </a:pPr>
            <a:r>
              <a:rPr lang="fr-CA" sz="1400" b="1" dirty="0"/>
              <a:t>Idée centrale : </a:t>
            </a:r>
            <a:r>
              <a:rPr lang="fr-CA" sz="1400" dirty="0"/>
              <a:t>Le Dieu qui parle sans paroles dans la création, assez pour rendre tout homme inexcusable, parle avec des paroles dans l'Écriture, assez pour sauver et transformer; cette Parole, plus précieuse que l'or, sonde le cœur et le conduit à s'offrir à l'Éternel, son rocher et son rédempteur.</a:t>
            </a:r>
          </a:p>
          <a:p>
            <a:pPr marL="228600" indent="-228600">
              <a:spcBef>
                <a:spcPts val="300"/>
              </a:spcBef>
              <a:buFont typeface="Arial"/>
              <a:buChar char="•"/>
            </a:pPr>
            <a:r>
              <a:rPr lang="fr-CA" sz="1400" b="1" dirty="0"/>
              <a:t>Phrase à faire retenir : </a:t>
            </a:r>
            <a:r>
              <a:rPr lang="fr-CA" sz="1400" dirty="0"/>
              <a:t>Les cieux suffisent à condamner; la Parole suffit à sauver.</a:t>
            </a:r>
          </a:p>
          <a:p>
            <a:pPr marL="228600" indent="-228600">
              <a:spcBef>
                <a:spcPts val="300"/>
              </a:spcBef>
              <a:buFont typeface="Arial"/>
              <a:buChar char="•"/>
            </a:pPr>
            <a:r>
              <a:rPr lang="fr-CA" sz="1400" b="1" dirty="0"/>
              <a:t>But : </a:t>
            </a:r>
            <a:r>
              <a:rPr lang="fr-CA" sz="1400" dirty="0"/>
              <a:t>que l'incroyant comprenne que la création le rend inexcusable sans pouvoir le sauver, et qu'il écoute la Parole qui convertit l'âme, se repente et croie au Rédempteur; que le croyant cesse de chercher ailleurs ce que la Parole lui donne, la désire plus que l'or, la laisse sonder son cœur et offre à Dieu ses paroles et ses pensées.</a:t>
            </a:r>
          </a:p>
          <a:p>
            <a:pPr marL="228600" indent="-228600">
              <a:spcBef>
                <a:spcPts val="300"/>
              </a:spcBef>
              <a:buFont typeface="Arial"/>
              <a:buChar char="•"/>
            </a:pPr>
            <a:r>
              <a:rPr lang="fr-CA" sz="1400" b="1" dirty="0"/>
              <a:t>Citations : </a:t>
            </a:r>
            <a:r>
              <a:rPr lang="fr-CA" sz="1400" dirty="0"/>
              <a:t>NEG79. Les sermons de MacArthur comptent la suscription hors des versets; leurs « versets 7 à 9 » sont les versets 8 à 10 de la NEG79.</a:t>
            </a:r>
          </a:p>
          <a:p>
            <a:pPr marL="0" indent="0">
              <a:spcBef>
                <a:spcPts val="600"/>
              </a:spcBef>
              <a:buNone/>
            </a:pPr>
            <a:r>
              <a:rPr lang="fr-CA" sz="1400" b="1" dirty="0"/>
              <a:t>À éviter</a:t>
            </a:r>
          </a:p>
          <a:p>
            <a:pPr marL="228600" indent="-228600">
              <a:spcBef>
                <a:spcPts val="300"/>
              </a:spcBef>
              <a:buFont typeface="Arial"/>
              <a:buChar char="•"/>
            </a:pPr>
            <a:r>
              <a:rPr lang="fr-CA" sz="1400" dirty="0"/>
              <a:t>Attribuer à MacArthur les propos de Street : les citer sous le nom de Street.</a:t>
            </a:r>
          </a:p>
          <a:p>
            <a:pPr marL="228600" indent="-228600">
              <a:spcBef>
                <a:spcPts val="300"/>
              </a:spcBef>
              <a:buFont typeface="Arial"/>
              <a:buChar char="•"/>
            </a:pPr>
            <a:r>
              <a:rPr lang="fr-CA" sz="1400" dirty="0"/>
              <a:t>Numérotation : les « versets 7 à 9 » des sermons de MacArthur sont les versets 8 à 10 de la NEG79.</a:t>
            </a:r>
          </a:p>
          <a:p>
            <a:pPr marL="0" indent="0">
              <a:spcBef>
                <a:spcPts val="600"/>
              </a:spcBef>
              <a:buNone/>
            </a:pPr>
            <a:r>
              <a:rPr lang="fr-CA" sz="1400" b="1" dirty="0"/>
              <a:t>Avant de monter en chaire</a:t>
            </a:r>
          </a:p>
          <a:p>
            <a:pPr marL="228600" indent="-228600">
              <a:spcBef>
                <a:spcPts val="300"/>
              </a:spcBef>
              <a:buFont typeface="Arial"/>
              <a:buChar char="•"/>
            </a:pPr>
            <a:r>
              <a:rPr lang="fr-CA" sz="1400" dirty="0"/>
              <a:t>Relire à voix haute les citations bibliques dans votre Bible NEG79.</a:t>
            </a:r>
          </a:p>
          <a:p>
            <a:pPr marL="228600" indent="-228600">
              <a:spcBef>
                <a:spcPts val="300"/>
              </a:spcBef>
              <a:buFont typeface="Arial"/>
              <a:buChar char="•"/>
            </a:pPr>
            <a:r>
              <a:rPr lang="fr-CA" sz="1400" dirty="0"/>
              <a:t>Les citations de MacArthur sont des traductions de passages relus dans les transcriptions de gty.org. Avant de les prononcer, réécouter ou relire au moins 80-420, 80-308 et TM19-6, puis 80-250 et 80-251 (points II et III), GTY143 (conclusion), 55-17 et 55-19 (Rappel).</a:t>
            </a:r>
          </a:p>
          <a:p>
            <a:pPr marL="228600" indent="-228600">
              <a:spcBef>
                <a:spcPts val="300"/>
              </a:spcBef>
              <a:buFont typeface="Arial"/>
              <a:buChar char="•"/>
            </a:pPr>
            <a:r>
              <a:rPr lang="fr-CA" sz="1400" dirty="0"/>
              <a:t>Le tableau du point II affiche les mots de la NEG79, suivis de la lecture de MacArthur : dire à voix haute que « sûr », « clairs » et « nette » sont ses mots, non ceux de la NEG79.</a:t>
            </a:r>
          </a:p>
          <a:p>
            <a:pPr marL="228600" indent="-228600">
              <a:spcBef>
                <a:spcPts val="300"/>
              </a:spcBef>
              <a:buFont typeface="Arial"/>
              <a:buChar char="•"/>
            </a:pPr>
            <a:r>
              <a:rPr lang="fr-CA" sz="1400" dirty="0"/>
              <a:t>Vérifier à l'écran le tableau des six lignes (diapositive 7) et, pour l'accroche, la photo de la stèle de Hammurabi (diapositive 3).</a:t>
            </a:r>
          </a:p>
          <a:p>
            <a:pPr marL="228600" indent="-228600">
              <a:spcBef>
                <a:spcPts val="300"/>
              </a:spcBef>
              <a:buFont typeface="Arial"/>
              <a:buChar char="•"/>
            </a:pPr>
            <a:r>
              <a:rPr lang="fr-CA" sz="1400" dirty="0"/>
              <a:t>Chronométrer une répétition : le point II est le plus long; le sous-point I.A et le point III sont les plus faciles à raccourcir.</a:t>
            </a:r>
          </a:p>
          <a:p>
            <a:pPr marL="228600" indent="-228600">
              <a:spcBef>
                <a:spcPts val="300"/>
              </a:spcBef>
              <a:buFont typeface="Arial"/>
              <a:buChar char="•"/>
            </a:pPr>
            <a:r>
              <a:rPr lang="fr-CA" sz="1400" dirty="0"/>
              <a:t>Imprimer la version PDF du plan de prédication.</a:t>
            </a:r>
          </a:p>
          <a:p>
            <a:pPr marL="228600" indent="-228600">
              <a:spcBef>
                <a:spcPts val="300"/>
              </a:spcBef>
              <a:buFont typeface="Arial"/>
              <a:buChar char="•"/>
            </a:pPr>
            <a:r>
              <a:rPr lang="fr-CA" sz="1400" b="1" dirty="0"/>
              <a:t>Sur les diapositives : </a:t>
            </a:r>
            <a:r>
              <a:rPr lang="fr-CA" sz="1400" dirty="0"/>
              <a:t>aucun code de sermon; les sources sont dans ces notes.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2 min · Rappel : 2 Timothée 3.16-17 (sans diapositive)</a:t>
            </a:r>
          </a:p>
          <a:p>
            <a:pPr marL="228600" indent="-228600">
              <a:spcBef>
                <a:spcPts val="300"/>
              </a:spcBef>
              <a:buFont typeface="Arial"/>
              <a:buChar char="•"/>
            </a:pPr>
            <a:r>
              <a:rPr lang="fr-CA" sz="1400" b="1" dirty="0"/>
              <a:t>Lire </a:t>
            </a:r>
            <a:r>
              <a:rPr lang="fr-CA" sz="1400" dirty="0"/>
              <a:t>2 Timothée 3.16-17.</a:t>
            </a:r>
          </a:p>
          <a:p>
            <a:pPr marL="228600" indent="-228600">
              <a:spcBef>
                <a:spcPts val="300"/>
              </a:spcBef>
              <a:buFont typeface="Arial"/>
              <a:buChar char="•"/>
            </a:pPr>
            <a:r>
              <a:rPr lang="fr-CA" sz="1400" b="1" dirty="0"/>
              <a:t>Theopneustos : </a:t>
            </a:r>
            <a:r>
              <a:rPr lang="fr-CA" sz="1400" dirty="0"/>
              <a:t>« soufflée par Dieu ». « Ce que l'Écriture dit, Dieu le dit » (55-17).</a:t>
            </a:r>
          </a:p>
          <a:p>
            <a:pPr marL="228600" indent="-228600">
              <a:spcBef>
                <a:spcPts val="300"/>
              </a:spcBef>
              <a:buFont typeface="Arial"/>
              <a:buChar char="•"/>
            </a:pPr>
            <a:r>
              <a:rPr lang="fr-CA" sz="1400" b="1" dirty="0"/>
              <a:t>Quatre œuvres : </a:t>
            </a:r>
            <a:r>
              <a:rPr lang="fr-CA" sz="1400" dirty="0"/>
              <a:t>enseigner, convaincre, corriger, instruire dans la justice, pour que l'homme de Dieu soit propre non à la plupart des bonnes œuvres, mais à toutes (55-19).</a:t>
            </a:r>
          </a:p>
          <a:p>
            <a:pPr marL="228600" indent="-228600">
              <a:spcBef>
                <a:spcPts val="300"/>
              </a:spcBef>
              <a:buFont typeface="Arial"/>
              <a:buChar char="•"/>
            </a:pPr>
            <a:r>
              <a:rPr lang="fr-CA" sz="1400" b="1" dirty="0"/>
              <a:t>Pont : </a:t>
            </a:r>
            <a:r>
              <a:rPr lang="fr-CA" sz="1400" dirty="0"/>
              <a:t>un psaume de David dit la même chose, dix siècles plus tôt : c'est le texte que MacArthur tient pour le plus grand sur la suffisance de l'Écriture.</a:t>
            </a:r>
          </a:p>
          <a:p>
            <a:pPr marL="228600" indent="-228600">
              <a:spcBef>
                <a:spcPts val="300"/>
              </a:spcBef>
              <a:buFont typeface="Arial"/>
              <a:buChar char="•"/>
            </a:pPr>
            <a:r>
              <a:rPr lang="fr-CA" sz="1400" b="1" dirty="0"/>
              <a:t>Lecture recommandée : </a:t>
            </a:r>
            <a:r>
              <a:rPr lang="fr-CA" sz="1400" dirty="0"/>
              <a:t>John Street, « Pourquoi parler de counseling biblique et non de psychologie? », dans Introduction au counseling biblique (Éditions Impact, 2021), p. 74-82, en particulier « Le paradigme du Psaume 19 ».</a:t>
            </a:r>
          </a:p>
          <a:p>
            <a:pPr marL="0" indent="0">
              <a:spcBef>
                <a:spcPts val="600"/>
              </a:spcBef>
              <a:buNone/>
            </a:pPr>
            <a:r>
              <a:rPr lang="fr-CA" sz="1400" b="1" dirty="0"/>
              <a:t>Vue d'ensemble · lecture publique du Psaume 19</a:t>
            </a:r>
          </a:p>
          <a:p>
            <a:pPr marL="228600" indent="-228600">
              <a:spcBef>
                <a:spcPts val="300"/>
              </a:spcBef>
              <a:buFont typeface="Arial"/>
              <a:buChar char="•"/>
            </a:pPr>
            <a:r>
              <a:rPr lang="fr-CA" sz="1400" b="1" dirty="0"/>
              <a:t>À laisser à l'écran </a:t>
            </a:r>
            <a:r>
              <a:rPr lang="fr-CA" sz="1400" dirty="0"/>
              <a:t>pendant la lecture publique du Psaume 19 (en entier) : l'assemblée voit d'avance les trois mouvements du texte.</a:t>
            </a:r>
          </a:p>
          <a:p>
            <a:pPr marL="228600" indent="-228600">
              <a:spcBef>
                <a:spcPts val="300"/>
              </a:spcBef>
              <a:buFont typeface="Arial"/>
              <a:buChar char="•"/>
            </a:pPr>
            <a:r>
              <a:rPr lang="fr-CA" sz="1400" b="1" dirty="0"/>
              <a:t>Le cosmos (19.2-7) : </a:t>
            </a:r>
            <a:r>
              <a:rPr lang="fr-CA" sz="1400" dirty="0"/>
              <a:t>la révélation générale; le nom court El, la puissance du Créateur (BEM, 19.1-15).</a:t>
            </a:r>
          </a:p>
          <a:p>
            <a:pPr marL="228600" indent="-228600">
              <a:spcBef>
                <a:spcPts val="300"/>
              </a:spcBef>
              <a:buFont typeface="Arial"/>
              <a:buChar char="•"/>
            </a:pPr>
            <a:r>
              <a:rPr lang="fr-CA" sz="1400" b="1" dirty="0"/>
              <a:t>L'Écriture (19.8-12) : </a:t>
            </a:r>
            <a:r>
              <a:rPr lang="fr-CA" sz="1400" dirty="0"/>
              <a:t>la révélation spéciale; l'Éternel, le Dieu de l'alliance. « Six fois, nous avons le nom de l'alliance, l'Éternel, comme source de la Parole de Dieu » (TM19-6).</a:t>
            </a:r>
          </a:p>
          <a:p>
            <a:pPr marL="228600" indent="-228600">
              <a:spcBef>
                <a:spcPts val="300"/>
              </a:spcBef>
              <a:buFont typeface="Arial"/>
              <a:buChar char="•"/>
            </a:pPr>
            <a:r>
              <a:rPr lang="fr-CA" sz="1400" b="1" dirty="0"/>
              <a:t>Le cœur (19.13-15) : </a:t>
            </a:r>
            <a:r>
              <a:rPr lang="fr-CA" sz="1400" dirty="0"/>
              <a:t>l'application de la Parole, dernier volet de la révélation spéciale; le cœur sondé, gardé, présenté à l'Éternel, son rocher et son rédempteur.</a:t>
            </a:r>
          </a:p>
          <a:p>
            <a:pPr marL="228600" indent="-228600">
              <a:spcBef>
                <a:spcPts val="300"/>
              </a:spcBef>
              <a:buFont typeface="Arial"/>
              <a:buChar char="•"/>
            </a:pPr>
            <a:r>
              <a:rPr lang="fr-CA" sz="1400" b="1" dirty="0"/>
              <a:t>Les quatre points du message </a:t>
            </a:r>
            <a:r>
              <a:rPr lang="fr-CA" sz="1400" dirty="0"/>
              <a:t>s'y logent : I au premier mouvement, II et III au deuxième, IV au troisième. Plan de la BEM : I. Révélation générale (19.2-7); II. Révélation spéciale (19.8-15) : attributs, appréciation, application.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4 min (avec la diapositive suivante) · Psaume 19.2, 5, 8</a:t>
            </a:r>
          </a:p>
          <a:p>
            <a:pPr marL="0" indent="0">
              <a:spcBef>
                <a:spcPts val="600"/>
              </a:spcBef>
              <a:buNone/>
            </a:pPr>
            <a:r>
              <a:rPr lang="fr-CA" sz="1400" b="1" dirty="0"/>
              <a:t>Accroche</a:t>
            </a:r>
          </a:p>
          <a:p>
            <a:pPr marL="228600" indent="-228600">
              <a:spcBef>
                <a:spcPts val="300"/>
              </a:spcBef>
              <a:buFont typeface="Arial"/>
              <a:buChar char="•"/>
            </a:pPr>
            <a:r>
              <a:rPr lang="fr-CA" sz="1400" dirty="0"/>
              <a:t>Au Louvre, la stèle du code de Hammurabi montre le roi debout devant Shamash, le dieu-soleil et dieu de la justice, qui lui remet les insignes du pouvoir : la loi du roi se réclame du soleil.</a:t>
            </a:r>
          </a:p>
          <a:p>
            <a:pPr marL="228600" indent="-228600">
              <a:spcBef>
                <a:spcPts val="300"/>
              </a:spcBef>
              <a:buFont typeface="Arial"/>
              <a:buChar char="•"/>
            </a:pPr>
            <a:r>
              <a:rPr lang="fr-CA" sz="1400" dirty="0"/>
              <a:t>Le Psaume 19 parle lui aussi du soleil et de la loi; mais il loge le soleil sous une tente que Dieu a dressée (19.5), et il ne place la loi qu'entre les mains de l'Éternel (19.8).</a:t>
            </a:r>
          </a:p>
          <a:p>
            <a:pPr marL="0" indent="0">
              <a:spcBef>
                <a:spcPts val="600"/>
              </a:spcBef>
              <a:buNone/>
            </a:pPr>
            <a:r>
              <a:rPr lang="fr-CA" sz="1400" b="1" dirty="0"/>
              <a:t>Question</a:t>
            </a:r>
          </a:p>
          <a:p>
            <a:pPr marL="228600" indent="-228600">
              <a:spcBef>
                <a:spcPts val="300"/>
              </a:spcBef>
              <a:buFont typeface="Arial"/>
              <a:buChar char="•"/>
            </a:pPr>
            <a:r>
              <a:rPr lang="fr-CA" sz="1400" dirty="0"/>
              <a:t>Où allez-vous chercher la vérité qui gouverne votre vie, quand l'angoisse monte ou qu'une décision presse?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Le texte et le parcours</a:t>
            </a:r>
          </a:p>
          <a:p>
            <a:pPr marL="228600" indent="-228600">
              <a:spcBef>
                <a:spcPts val="300"/>
              </a:spcBef>
              <a:buFont typeface="Arial"/>
              <a:buChar char="•"/>
            </a:pPr>
            <a:r>
              <a:rPr lang="fr-CA" sz="1400" dirty="0"/>
              <a:t>« Je pense que c'est le plus grand passage de toute la Bible sur la suffisance de l'Écriture » (80-18).</a:t>
            </a:r>
          </a:p>
          <a:p>
            <a:pPr marL="228600" indent="-228600">
              <a:spcBef>
                <a:spcPts val="300"/>
              </a:spcBef>
              <a:buFont typeface="Arial"/>
              <a:buChar char="•"/>
            </a:pPr>
            <a:r>
              <a:rPr lang="fr-CA" sz="1400" b="1" dirty="0"/>
              <a:t>Un seul hymne, deux révélations : </a:t>
            </a:r>
            <a:r>
              <a:rPr lang="fr-CA" sz="1400" dirty="0"/>
              <a:t>le nom court El, la puissance du Créateur (19.2); puis l'Éternel, le Dieu de l'alliance (19.8-15; BEM, 19.1-15).</a:t>
            </a:r>
          </a:p>
          <a:p>
            <a:pPr marL="228600" indent="-228600">
              <a:spcBef>
                <a:spcPts val="300"/>
              </a:spcBef>
              <a:buFont typeface="Arial"/>
              <a:buChar char="•"/>
            </a:pPr>
            <a:r>
              <a:rPr lang="fr-CA" sz="1400" dirty="0"/>
              <a:t>« Six fois, nous avons le nom de l'alliance, l'Éternel, comme source de la Parole de Dieu » (TM19-6); une septième fois en 19.15.</a:t>
            </a:r>
          </a:p>
          <a:p>
            <a:pPr marL="228600" indent="-228600">
              <a:spcBef>
                <a:spcPts val="300"/>
              </a:spcBef>
              <a:buFont typeface="Arial"/>
              <a:buChar char="•"/>
            </a:pPr>
            <a:r>
              <a:rPr lang="fr-CA" sz="1400" b="1" dirty="0"/>
              <a:t>Plan de la BEM : </a:t>
            </a:r>
            <a:r>
              <a:rPr lang="fr-CA" sz="1400" dirty="0"/>
              <a:t>I. Révélation générale (19.2-7) : proclamation des cieux, importance du soleil. II. Révélation spéciale (19.8-15) : attributs, appréciation, application.</a:t>
            </a:r>
          </a:p>
          <a:p>
            <a:pPr marL="228600" indent="-228600">
              <a:spcBef>
                <a:spcPts val="300"/>
              </a:spcBef>
              <a:buFont typeface="Arial"/>
              <a:buChar char="•"/>
            </a:pPr>
            <a:r>
              <a:rPr lang="fr-CA" sz="1400" b="1" dirty="0"/>
              <a:t>Parcours : </a:t>
            </a:r>
            <a:r>
              <a:rPr lang="fr-CA" sz="1400" dirty="0"/>
              <a:t>le ciel qui parle, la Parole qui suffit, la Parole qu'on désire, le cœur qui s'offre.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9 min (avec la diapositive suivante) · Psaume 19.2-7</a:t>
            </a:r>
          </a:p>
          <a:p>
            <a:pPr marL="228600" indent="-228600">
              <a:spcBef>
                <a:spcPts val="300"/>
              </a:spcBef>
              <a:buFont typeface="Arial"/>
              <a:buChar char="•"/>
            </a:pPr>
            <a:r>
              <a:rPr lang="fr-CA" sz="1400" b="1" dirty="0"/>
              <a:t>Phrase clé : </a:t>
            </a:r>
            <a:r>
              <a:rPr lang="fr-CA" sz="1400" dirty="0"/>
              <a:t>la création vous a parlé de Dieu chaque jour de votre vie.</a:t>
            </a:r>
          </a:p>
          <a:p>
            <a:pPr marL="0" indent="0">
              <a:spcBef>
                <a:spcPts val="600"/>
              </a:spcBef>
              <a:buNone/>
            </a:pPr>
            <a:r>
              <a:rPr lang="fr-CA" sz="1400" b="1" dirty="0"/>
              <a:t>A. Une proclamation incessante (19.2-5b)</a:t>
            </a:r>
          </a:p>
          <a:p>
            <a:pPr marL="228600" indent="-228600">
              <a:spcBef>
                <a:spcPts val="300"/>
              </a:spcBef>
              <a:buFont typeface="Arial"/>
              <a:buChar char="•"/>
            </a:pPr>
            <a:r>
              <a:rPr lang="fr-CA" sz="1400" dirty="0"/>
              <a:t>Les cieux et l'étendue, deux éléments décisifs de la création de Genèse 1 (BEM, 19.2). « Racontent », « manifeste » : la révélation ne s'interrompt jamais (BEM, 19.2); Street y voit une action en cours.</a:t>
            </a:r>
          </a:p>
          <a:p>
            <a:pPr marL="228600" indent="-228600">
              <a:spcBef>
                <a:spcPts val="300"/>
              </a:spcBef>
              <a:buFont typeface="Arial"/>
              <a:buChar char="•"/>
            </a:pPr>
            <a:r>
              <a:rPr lang="fr-CA" sz="1400" b="1" dirty="0"/>
              <a:t>Kavod : </a:t>
            </a:r>
            <a:r>
              <a:rPr lang="fr-CA" sz="1400" dirty="0"/>
              <a:t>la « gloire » désigne à l'origine le poids, d'où l'importance; le ciel nocturne fait comprendre le poids de Dieu (Street).</a:t>
            </a:r>
          </a:p>
          <a:p>
            <a:pPr marL="228600" indent="-228600">
              <a:spcBef>
                <a:spcPts val="300"/>
              </a:spcBef>
              <a:buFont typeface="Arial"/>
              <a:buChar char="•"/>
            </a:pPr>
            <a:r>
              <a:rPr lang="fr-CA" sz="1400" b="1" dirty="0"/>
              <a:t>Bouillonner : </a:t>
            </a:r>
            <a:r>
              <a:rPr lang="fr-CA" sz="1400" dirty="0"/>
              <a:t>le jour « en instruit » un autre; le verbe veut dire bouillonner, la révélation jaillit (Street).</a:t>
            </a:r>
          </a:p>
          <a:p>
            <a:pPr marL="228600" indent="-228600">
              <a:spcBef>
                <a:spcPts val="300"/>
              </a:spcBef>
              <a:buFont typeface="Arial"/>
              <a:buChar char="•"/>
            </a:pPr>
            <a:r>
              <a:rPr lang="fr-CA" sz="1400" b="1" dirty="0"/>
              <a:t>Sans paroles, et pourtant partout (19.4-5) : </a:t>
            </a:r>
            <a:r>
              <a:rPr lang="fr-CA" sz="1400" dirty="0"/>
              <a:t>la contradiction n'est qu'apparente, car le message ne passe pas par des mots au sens littéral (BEM, 19.3-4). Paul cite le verset 5 en Romains 10.18.</a:t>
            </a:r>
          </a:p>
          <a:p>
            <a:pPr marL="0" indent="0">
              <a:spcBef>
                <a:spcPts val="600"/>
              </a:spcBef>
              <a:buNone/>
            </a:pPr>
            <a:r>
              <a:rPr lang="fr-CA" sz="1400" b="1" dirty="0"/>
              <a:t>B. Un soleil qui n'est pas un dieu (19.5c-7)</a:t>
            </a:r>
          </a:p>
          <a:p>
            <a:pPr marL="228600" indent="-228600">
              <a:spcBef>
                <a:spcPts val="300"/>
              </a:spcBef>
              <a:buFont typeface="Arial"/>
              <a:buChar char="•"/>
            </a:pPr>
            <a:r>
              <a:rPr lang="fr-CA" sz="1400" dirty="0"/>
              <a:t>L'époux qui sort de sa chambre, le héros qui court sa carrière : régularité, puissance, détermination (Street).</a:t>
            </a:r>
          </a:p>
          <a:p>
            <a:pPr marL="228600" indent="-228600">
              <a:spcBef>
                <a:spcPts val="300"/>
              </a:spcBef>
              <a:buFont typeface="Arial"/>
              <a:buChar char="•"/>
            </a:pPr>
            <a:r>
              <a:rPr lang="fr-CA" sz="1400" dirty="0"/>
              <a:t>Ni le soleil ni les cieux ne sont divinisés, comme dans les religions païennes : Dieu est le créateur et le chef de toute la création (BEM, 19.5c-7). Retour à l'accroche : le soleil n'est ni dieu ni législateur; il brûle, mais ne légifère pas, car la loi est à l'Éternel.</a:t>
            </a:r>
          </a:p>
          <a:p>
            <a:pPr marL="228600" indent="-228600">
              <a:spcBef>
                <a:spcPts val="300"/>
              </a:spcBef>
              <a:buFont typeface="Arial"/>
              <a:buChar char="•"/>
            </a:pPr>
            <a:r>
              <a:rPr lang="fr-CA" sz="1400" dirty="0"/>
              <a:t>« Rien ne se dérobe à sa chaleur » (19.7) : nul ne peut fuir ce message (Street).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I.C · Assez pour condamner, jamais pour sauver (Romains 1.18-20)</a:t>
            </a:r>
          </a:p>
          <a:p>
            <a:pPr marL="228600" indent="-228600">
              <a:spcBef>
                <a:spcPts val="300"/>
              </a:spcBef>
              <a:buFont typeface="Arial"/>
              <a:buChar char="•"/>
            </a:pPr>
            <a:r>
              <a:rPr lang="fr-CA" sz="1400" dirty="0"/>
              <a:t>Le témoignage est clair et cohérent, mais l'humanité pécheresse lui résiste; il ne peut donc pas la convertir, mais il la rend entièrement responsable. Seule la révélation spéciale apporte le salut, par l'application efficace que le Saint-Esprit fait de la Parole (BEM, 19.2-7).</a:t>
            </a:r>
          </a:p>
          <a:p>
            <a:pPr marL="228600" indent="-228600">
              <a:spcBef>
                <a:spcPts val="300"/>
              </a:spcBef>
              <a:buFont typeface="Arial"/>
              <a:buChar char="•"/>
            </a:pPr>
            <a:r>
              <a:rPr lang="fr-CA" sz="1400" dirty="0"/>
              <a:t>« Quand ils étouffent la vérité de Dieu, ils sont sans excuse, et cette révélation suffit à condamner le monde à l'enfer » (80-420).</a:t>
            </a:r>
          </a:p>
          <a:p>
            <a:pPr marL="228600" indent="-228600">
              <a:spcBef>
                <a:spcPts val="300"/>
              </a:spcBef>
              <a:buFont typeface="Arial"/>
              <a:buChar char="•"/>
            </a:pPr>
            <a:r>
              <a:rPr lang="fr-CA" sz="1400" dirty="0"/>
              <a:t>« Selon Romains 1, on peut connaître sa divinité et sa puissance en regardant la création. Ce qu'on ne peut pas connaître, c'est la sagesse qui sauve » (TM19-6).</a:t>
            </a:r>
          </a:p>
          <a:p>
            <a:pPr marL="228600" indent="-228600">
              <a:spcBef>
                <a:spcPts val="300"/>
              </a:spcBef>
              <a:buFont typeface="Arial"/>
              <a:buChar char="•"/>
            </a:pPr>
            <a:r>
              <a:rPr lang="fr-CA" sz="1400" dirty="0"/>
              <a:t>« La révélation de Dieu dans le monde : assez pour condamner, assez pour damner. La révélation dans la Parole : suffisante pour sauver, suffisante pour sauver » (80-420).</a:t>
            </a:r>
          </a:p>
          <a:p>
            <a:pPr marL="0" indent="0">
              <a:spcBef>
                <a:spcPts val="600"/>
              </a:spcBef>
              <a:buNone/>
            </a:pPr>
            <a:r>
              <a:rPr lang="fr-CA" sz="1400" b="1" dirty="0"/>
              <a:t>Application</a:t>
            </a:r>
          </a:p>
          <a:p>
            <a:pPr marL="228600" indent="-228600">
              <a:spcBef>
                <a:spcPts val="300"/>
              </a:spcBef>
              <a:buFont typeface="Arial"/>
              <a:buChar char="•"/>
            </a:pPr>
            <a:r>
              <a:rPr lang="fr-CA" sz="1400" dirty="0"/>
              <a:t>Personne n'est un incroyant innocent : les cieux ont parlé à chacun. « Je trouve Dieu dans la nature » ne suffit pas, car le cœur retient la vérité captive (Romains 1.18).</a:t>
            </a:r>
          </a:p>
          <a:p>
            <a:pPr marL="228600" indent="-228600">
              <a:spcBef>
                <a:spcPts val="300"/>
              </a:spcBef>
              <a:buFont typeface="Arial"/>
              <a:buChar char="•"/>
            </a:pPr>
            <a:r>
              <a:rPr lang="fr-CA" sz="1400" dirty="0"/>
              <a:t>Le croyant, lui, adore devant le ciel étoilé, mais ne lui demande ni le salut ni la direction de son âme.</a:t>
            </a:r>
          </a:p>
          <a:p>
            <a:pPr marL="0" indent="0">
              <a:spcBef>
                <a:spcPts val="600"/>
              </a:spcBef>
              <a:buNone/>
            </a:pPr>
            <a:r>
              <a:rPr lang="fr-CA" sz="1400" b="1" dirty="0"/>
              <a:t>Transition</a:t>
            </a:r>
          </a:p>
          <a:p>
            <a:pPr marL="228600" indent="-228600">
              <a:spcBef>
                <a:spcPts val="300"/>
              </a:spcBef>
              <a:buFont typeface="Arial"/>
              <a:buChar char="•"/>
            </a:pPr>
            <a:r>
              <a:rPr lang="fr-CA" sz="1400" dirty="0"/>
              <a:t>Au verset 8, le psalmiste passe « du monde à la Parole » (80-420), et El devient l'Éternel. Où entendre la sagesse qui sauve?</a:t>
            </a:r>
          </a:p>
          <a:p>
            <a:pPr marL="0" indent="0">
              <a:spcBef>
                <a:spcPts val="600"/>
              </a:spcBef>
              <a:buNone/>
            </a:pPr>
            <a:r>
              <a:rPr lang="fr-CA" sz="1400" b="1" dirty="0"/>
              <a:t>À éviter</a:t>
            </a:r>
          </a:p>
          <a:p>
            <a:pPr marL="228600" indent="-228600">
              <a:spcBef>
                <a:spcPts val="300"/>
              </a:spcBef>
              <a:buFont typeface="Arial"/>
              <a:buChar char="•"/>
            </a:pPr>
            <a:r>
              <a:rPr lang="fr-CA" sz="1400" dirty="0"/>
              <a:t>Traiter les versets 2 à 7 comme une simple introduction poétique, ou, à l'inverse, comme une révélation qui sauve : la création rend l'homme inexcusable, sans le convertir (BEM, 19.2-7).</a:t>
            </a:r>
          </a:p>
          <a:p>
            <a:pPr marL="228600" indent="-228600">
              <a:spcBef>
                <a:spcPts val="300"/>
              </a:spcBef>
              <a:buFont typeface="Arial"/>
              <a:buChar char="•"/>
            </a:pPr>
            <a:r>
              <a:rPr lang="fr-CA" sz="1400" dirty="0"/>
              <a:t>Oublier la résistance du cœur pécheur : le problème n'est pas que la création soit obscure, mais que l'homme retient la vérité captive.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13 min (avec les trois diapositives suivantes) · Psaume 19.8-10</a:t>
            </a:r>
          </a:p>
          <a:p>
            <a:pPr marL="228600" indent="-228600">
              <a:spcBef>
                <a:spcPts val="300"/>
              </a:spcBef>
              <a:buFont typeface="Arial"/>
              <a:buChar char="•"/>
            </a:pPr>
            <a:r>
              <a:rPr lang="fr-CA" sz="1400" b="1" dirty="0"/>
              <a:t>Phrase clé : </a:t>
            </a:r>
            <a:r>
              <a:rPr lang="fr-CA" sz="1400" dirty="0"/>
              <a:t>il ne manque rien à la Parole, et il ne manque rien à celui qu'elle instruit.</a:t>
            </a:r>
          </a:p>
          <a:p>
            <a:pPr marL="228600" indent="-228600">
              <a:spcBef>
                <a:spcPts val="300"/>
              </a:spcBef>
              <a:buFont typeface="Arial"/>
              <a:buChar char="•"/>
            </a:pPr>
            <a:r>
              <a:rPr lang="fr-CA" sz="1400" b="1" dirty="0"/>
              <a:t>Le cadre : </a:t>
            </a:r>
            <a:r>
              <a:rPr lang="fr-CA" sz="1400" dirty="0"/>
              <a:t>six titres, six qualités, six bienfaits (80-19; 80-308); « six fois, nous avons le nom de l'alliance, l'Éternel, comme source de la Parole de Dieu » (TM19-6).</a:t>
            </a:r>
          </a:p>
          <a:p>
            <a:pPr marL="228600" indent="-228600">
              <a:spcBef>
                <a:spcPts val="300"/>
              </a:spcBef>
              <a:buFont typeface="Arial"/>
              <a:buChar char="•"/>
            </a:pPr>
            <a:r>
              <a:rPr lang="fr-CA" sz="1400" b="1" dirty="0"/>
              <a:t>Ce que désigne chaque titre : </a:t>
            </a:r>
            <a:r>
              <a:rPr lang="fr-CA" sz="1400" dirty="0"/>
              <a:t>la loi, l'enseignement (BEM, 19.8); le témoignage, qui témoigne de son auteur divin (BEM, 19.8); les ordonnances, moyens par lesquels Dieu gouverne (BEM, 19.9); les commandements, qui lient; la crainte, l'Écriture comme guide pour l'adoration (BEM, 19.10); les jugements, verdicts de Dieu (BEM, 19.10).</a:t>
            </a:r>
          </a:p>
          <a:p>
            <a:pPr marL="228600" indent="-228600">
              <a:spcBef>
                <a:spcPts val="300"/>
              </a:spcBef>
              <a:buFont typeface="Arial"/>
              <a:buChar char="•"/>
            </a:pPr>
            <a:r>
              <a:rPr lang="fr-CA" sz="1400" b="1" dirty="0"/>
              <a:t>Lecture de MacArthur : </a:t>
            </a:r>
            <a:r>
              <a:rPr lang="fr-CA" sz="1400" dirty="0"/>
              <a:t>parfaite, sûre, droite, claire, nette, vraie (80-308). Le tableau affiche les mots de la NEG79, puis la lecture ou le sens chez MacArthur : dire que « sûr », « clairs » et « nette » sont ses mots, non ceux de la NEG79.</a:t>
            </a:r>
          </a:p>
          <a:p>
            <a:pPr marL="228600" indent="-228600">
              <a:spcBef>
                <a:spcPts val="300"/>
              </a:spcBef>
              <a:buFont typeface="Arial"/>
              <a:buChar char="•"/>
            </a:pPr>
            <a:r>
              <a:rPr lang="fr-CA" sz="1400" b="1" dirty="0"/>
              <a:t>Montrer </a:t>
            </a:r>
            <a:r>
              <a:rPr lang="fr-CA" sz="1400" dirty="0"/>
              <a:t>que le bienfait découle chaque fois de la qualité : parce qu'elle est complète, elle restaure; parce qu'elle est sûre, elle rend sage; et ainsi de suite.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A. Elle est complète et transforme (19.8a)</a:t>
            </a:r>
          </a:p>
          <a:p>
            <a:pPr marL="228600" indent="-228600">
              <a:spcBef>
                <a:spcPts val="300"/>
              </a:spcBef>
              <a:buFont typeface="Arial"/>
              <a:buChar char="•"/>
            </a:pPr>
            <a:r>
              <a:rPr lang="fr-CA" sz="1400" dirty="0"/>
              <a:t>La « loi » serait mieux rendue par « enseignement » (BEM, 19.8; cf. Psaume 1.2).</a:t>
            </a:r>
          </a:p>
          <a:p>
            <a:pPr marL="228600" indent="-228600">
              <a:spcBef>
                <a:spcPts val="300"/>
              </a:spcBef>
              <a:buFont typeface="Arial"/>
              <a:buChar char="•"/>
            </a:pPr>
            <a:r>
              <a:rPr lang="fr-CA" sz="1400" dirty="0"/>
              <a:t>« Parfaite » (tamim) : « non pas au sens d'irréprochable, bien que ce soit absolument vrai, mais au sens de complétude » (80-308). « On ne peut rien lui retrancher; on ne peut rien lui ajouter » (80-420).</a:t>
            </a:r>
          </a:p>
          <a:p>
            <a:pPr marL="228600" indent="-228600">
              <a:spcBef>
                <a:spcPts val="300"/>
              </a:spcBef>
              <a:buFont typeface="Arial"/>
              <a:buChar char="•"/>
            </a:pPr>
            <a:r>
              <a:rPr lang="fr-CA" sz="1400" dirty="0"/>
              <a:t>« La Bible est complète, elle est parfaite en ce qu'elle fournit tout ce qu'il faut pour connaître la loi de Dieu, ce qui produit le bienfait de transformer totalement l'âme » (80-250).</a:t>
            </a:r>
          </a:p>
          <a:p>
            <a:pPr marL="0" indent="0">
              <a:spcBef>
                <a:spcPts val="600"/>
              </a:spcBef>
              <a:buNone/>
            </a:pPr>
            <a:r>
              <a:rPr lang="fr-CA" sz="1400" b="1" dirty="0"/>
              <a:t>Restaure l'âme</a:t>
            </a:r>
          </a:p>
          <a:p>
            <a:pPr marL="228600" indent="-228600">
              <a:spcBef>
                <a:spcPts val="300"/>
              </a:spcBef>
              <a:buFont typeface="Arial"/>
              <a:buChar char="•"/>
            </a:pPr>
            <a:r>
              <a:rPr lang="fr-CA" sz="1400" dirty="0"/>
              <a:t>« Restaure l'âme » : « une instruction divine si complète qu'elle peut transformer totalement l'homme intérieur tout entier » (80-420).</a:t>
            </a:r>
          </a:p>
          <a:p>
            <a:pPr marL="228600" indent="-228600">
              <a:spcBef>
                <a:spcPts val="300"/>
              </a:spcBef>
              <a:buFont typeface="Arial"/>
              <a:buChar char="•"/>
            </a:pPr>
            <a:r>
              <a:rPr lang="fr-CA" sz="1400" dirty="0"/>
              <a:t>C'est « une déclaration d'une portée immense sur le pouvoir de la Bible de convertir, de transformer, de régénérer par l'œuvre de l'Esprit de Dieu au moyen de son propre témoignage » (80-308).</a:t>
            </a:r>
          </a:p>
          <a:p>
            <a:pPr marL="228600" indent="-228600">
              <a:spcBef>
                <a:spcPts val="300"/>
              </a:spcBef>
              <a:buFont typeface="Arial"/>
              <a:buChar char="•"/>
            </a:pPr>
            <a:r>
              <a:rPr lang="fr-CA" sz="1400" b="1" dirty="0"/>
              <a:t>Meshivat nephesh : </a:t>
            </a:r>
            <a:r>
              <a:rPr lang="fr-CA" sz="1400" dirty="0"/>
              <a:t>le verbe shouv, à la forme causative, veut dire faire revenir, ramener; il couvre ranimer, restaurer, convertir. MacArthur comprend nephesh comme la personne entière, l'être intérieur (80-19; 80-420).</a:t>
            </a:r>
          </a:p>
          <a:p>
            <a:pPr marL="228600" indent="-228600">
              <a:spcBef>
                <a:spcPts val="300"/>
              </a:spcBef>
              <a:buFont typeface="Arial"/>
              <a:buChar char="•"/>
            </a:pPr>
            <a:r>
              <a:rPr lang="fr-CA" sz="1400" b="1" dirty="0"/>
              <a:t>Le montrer : </a:t>
            </a:r>
            <a:r>
              <a:rPr lang="fr-CA" sz="1400" dirty="0"/>
              <a:t>la S21 dit « donne du réconfort »; la Parole fait bien plus que consoler.</a:t>
            </a:r>
          </a:p>
          <a:p>
            <a:pPr marL="228600" indent="-228600">
              <a:spcBef>
                <a:spcPts val="300"/>
              </a:spcBef>
              <a:buFont typeface="Arial"/>
              <a:buChar char="•"/>
            </a:pPr>
            <a:r>
              <a:rPr lang="fr-CA" sz="1400" b="1" dirty="0"/>
              <a:t>Street </a:t>
            </a:r>
            <a:r>
              <a:rPr lang="fr-CA" sz="1400" dirty="0"/>
              <a:t>rapproche Hébreux 4.12 : la Parole « juge les sentiments et les pensées du cœur ».</a:t>
            </a:r>
          </a:p>
          <a:p>
            <a:pPr marL="0" indent="0">
              <a:spcBef>
                <a:spcPts val="600"/>
              </a:spcBef>
              <a:buNone/>
            </a:pPr>
            <a:r>
              <a:rPr lang="fr-CA" sz="1400" b="1" dirty="0"/>
              <a:t>À éviter</a:t>
            </a:r>
          </a:p>
          <a:p>
            <a:pPr marL="228600" indent="-228600">
              <a:spcBef>
                <a:spcPts val="300"/>
              </a:spcBef>
              <a:buFont typeface="Arial"/>
              <a:buChar char="•"/>
            </a:pPr>
            <a:r>
              <a:rPr lang="fr-CA" sz="1400" dirty="0"/>
              <a:t>Réduire « restaure l'âme » à un simple réconfort : c'est la conversion et la transformation de la personne entière (80-308).</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A. Complète (19.8a) : rappel</a:t>
            </a:r>
          </a:p>
          <a:p>
            <a:pPr marL="228600" indent="-228600">
              <a:spcBef>
                <a:spcPts val="300"/>
              </a:spcBef>
              <a:buFont typeface="Arial"/>
              <a:buChar char="•"/>
            </a:pPr>
            <a:r>
              <a:rPr lang="fr-CA" sz="1400" dirty="0"/>
              <a:t>Colonne de gauche : traitée à la diapositive précédente; la montrer d'un mot et passer à B.</a:t>
            </a:r>
          </a:p>
          <a:p>
            <a:pPr marL="0" indent="0">
              <a:spcBef>
                <a:spcPts val="600"/>
              </a:spcBef>
              <a:buNone/>
            </a:pPr>
            <a:r>
              <a:rPr lang="fr-CA" sz="1400" b="1" dirty="0"/>
              <a:t>B. Elle est sûre et claire (19.8b-9)</a:t>
            </a:r>
          </a:p>
          <a:p>
            <a:pPr marL="228600" indent="-228600">
              <a:spcBef>
                <a:spcPts val="300"/>
              </a:spcBef>
              <a:buFont typeface="Arial"/>
              <a:buChar char="•"/>
            </a:pPr>
            <a:r>
              <a:rPr lang="fr-CA" sz="1400" dirty="0"/>
              <a:t>Le « témoignage » témoigne de son auteur divin (BEM, 19.8). « Il est fiable, digne de confiance. Et il y a beaucoup de livres dans le monde auxquels on ne peut pas se fier » (80-308).</a:t>
            </a:r>
          </a:p>
          <a:p>
            <a:pPr marL="228600" indent="-228600">
              <a:spcBef>
                <a:spcPts val="300"/>
              </a:spcBef>
              <a:buFont typeface="Arial"/>
              <a:buChar char="•"/>
            </a:pPr>
            <a:r>
              <a:rPr lang="fr-CA" sz="1400" dirty="0"/>
              <a:t>Pierre, témoin de la transfiguration, tient « pour d'autant plus certaine la parole prophétique » (2 Pierre 1.19) : MacArthur y lit une Parole plus sûre que l'expérience (80-250).</a:t>
            </a:r>
          </a:p>
          <a:p>
            <a:pPr marL="228600" indent="-228600">
              <a:spcBef>
                <a:spcPts val="300"/>
              </a:spcBef>
              <a:buFont typeface="Arial"/>
              <a:buChar char="•"/>
            </a:pPr>
            <a:r>
              <a:rPr lang="fr-CA" sz="1400" dirty="0"/>
              <a:t>L'« ignorant » (peti) : « L'Écriture prend le naïf, l'inexpérimenté, l'homme sans discernement, le mal informé, et lui apporte la sagesse » (80-19). « Sage » (chakam) : « maîtriser l'art de vivre, vivre en parfait accord avec la connaissance de Dieu » (80-250).</a:t>
            </a:r>
          </a:p>
          <a:p>
            <a:pPr marL="228600" indent="-228600">
              <a:spcBef>
                <a:spcPts val="300"/>
              </a:spcBef>
              <a:buFont typeface="Arial"/>
              <a:buChar char="•"/>
            </a:pPr>
            <a:r>
              <a:rPr lang="fr-CA" sz="1400" dirty="0"/>
              <a:t>Les « ordonnances », moyens par lesquels Dieu gouverne (BEM, 19.9) : « La Parole n'est pas seulement une lampe à nos pieds qui éclaire le sentier, la Parole est le sentier » (80-250). La joie vient en le suivant (80-19).</a:t>
            </a:r>
          </a:p>
          <a:p>
            <a:pPr marL="228600" indent="-228600">
              <a:spcBef>
                <a:spcPts val="300"/>
              </a:spcBef>
              <a:buFont typeface="Arial"/>
              <a:buChar char="•"/>
            </a:pPr>
            <a:r>
              <a:rPr lang="fr-CA" sz="1400" dirty="0"/>
              <a:t>Les « commandements » lient; MacArthur les lit « clairs » (S21 : « clairs »; NEG79 : « purs ») : la Parole est limpide, elle « éclaire les yeux » (80-308; TM19-6).</a:t>
            </a:r>
          </a:p>
          <a:p>
            <a:pPr marL="0" indent="0">
              <a:spcBef>
                <a:spcPts val="600"/>
              </a:spcBef>
              <a:buNone/>
            </a:pPr>
            <a:r>
              <a:rPr lang="fr-CA" sz="1400" b="1" dirty="0"/>
              <a:t>C. Elle est pure et vraie (19.10)</a:t>
            </a:r>
          </a:p>
          <a:p>
            <a:pPr marL="228600" indent="-228600">
              <a:spcBef>
                <a:spcPts val="300"/>
              </a:spcBef>
              <a:buFont typeface="Arial"/>
              <a:buChar char="•"/>
            </a:pPr>
            <a:r>
              <a:rPr lang="fr-CA" sz="1400" dirty="0"/>
              <a:t>La « crainte » ne désigne pas techniquement la Parole, mais l'Écriture comme « guide pour l'adoration de Dieu » (BEM, 19.10); « La Bible est un manuel du culte; elle vous dit comment adorer le Seigneur en esprit et en vérité » (80-308).</a:t>
            </a:r>
          </a:p>
          <a:p>
            <a:pPr marL="228600" indent="-228600">
              <a:spcBef>
                <a:spcPts val="300"/>
              </a:spcBef>
              <a:buFont typeface="Arial"/>
              <a:buChar char="•"/>
            </a:pPr>
            <a:r>
              <a:rPr lang="fr-CA" sz="1400" dirty="0"/>
              <a:t>Nette, « sans tache, sans défaut » (80-308), elle « subsiste à toujours » : elle n'a jamais besoin de mise à jour (80-19).</a:t>
            </a:r>
          </a:p>
          <a:p>
            <a:pPr marL="228600" indent="-228600">
              <a:spcBef>
                <a:spcPts val="300"/>
              </a:spcBef>
              <a:buFont typeface="Arial"/>
              <a:buChar char="•"/>
            </a:pPr>
            <a:r>
              <a:rPr lang="fr-CA" sz="1400" dirty="0"/>
              <a:t>Les « jugements », verdicts de Dieu (BEM, 19.10) : « Elle est vraie. Je ne saurais trop insister. […] Dans un monde de mensonges, dans un monde de tromperie, elle est vraie; elle est absolument, sans équivoque, vraie » (80-308).</a:t>
            </a:r>
          </a:p>
          <a:p>
            <a:pPr marL="0" indent="0">
              <a:spcBef>
                <a:spcPts val="600"/>
              </a:spcBef>
              <a:buNone/>
            </a:pPr>
            <a:r>
              <a:rPr lang="fr-CA" sz="1400" b="1" dirty="0"/>
              <a:t>Synthèse</a:t>
            </a:r>
          </a:p>
          <a:p>
            <a:pPr marL="228600" indent="-228600">
              <a:spcBef>
                <a:spcPts val="300"/>
              </a:spcBef>
              <a:buFont typeface="Arial"/>
              <a:buChar char="•"/>
            </a:pPr>
            <a:r>
              <a:rPr lang="fr-CA" sz="1400" dirty="0"/>
              <a:t>La Parole « fournit tout ce qu'il faut » (80-250) : toute l'Écriture rend l'homme de Dieu accompli et propre à toute bonne œuvre (2 Timothée 3.16-17). Retour au Rappel.</a:t>
            </a:r>
          </a:p>
          <a:p>
            <a:pPr marL="0" indent="0">
              <a:spcBef>
                <a:spcPts val="600"/>
              </a:spcBef>
              <a:buNone/>
            </a:pPr>
            <a:r>
              <a:rPr lang="fr-CA" sz="1400" b="1" dirty="0"/>
              <a:t>À éviter</a:t>
            </a:r>
          </a:p>
          <a:p>
            <a:pPr marL="228600" indent="-228600">
              <a:spcBef>
                <a:spcPts val="300"/>
              </a:spcBef>
              <a:buFont typeface="Arial"/>
              <a:buChar char="•"/>
            </a:pPr>
            <a:r>
              <a:rPr lang="fr-CA" sz="1400" dirty="0"/>
              <a:t>Réduire « parfaite » à « sans défaut » : MacArthur y entend d'abord la complétude (80-308).</a:t>
            </a:r>
          </a:p>
          <a:p>
            <a:pPr marL="228600" indent="-228600">
              <a:spcBef>
                <a:spcPts val="300"/>
              </a:spcBef>
              <a:buFont typeface="Arial"/>
              <a:buChar char="•"/>
            </a:pPr>
            <a:r>
              <a:rPr lang="fr-CA" sz="1400" dirty="0"/>
              <a:t>Isoler la « crainte » de la liste : c'est l'Écriture comme guide de l'adoration.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Application</a:t>
            </a:r>
          </a:p>
          <a:p>
            <a:pPr marL="228600" indent="-228600">
              <a:spcBef>
                <a:spcPts val="300"/>
              </a:spcBef>
              <a:buFont typeface="Arial"/>
              <a:buChar char="•"/>
            </a:pPr>
            <a:r>
              <a:rPr lang="fr-CA" sz="1400" dirty="0"/>
              <a:t>En 1985, MacArthur passait en revue ce qui, dans l'Église, s'attaque à la suffisance de la Parole : techniques de gestion empruntées au monde, divertissement, mysticisme et occultisme (confession positive, visualisation) et, peut-être plus que tout le reste, psychologie (80-18).</a:t>
            </a:r>
          </a:p>
          <a:p>
            <a:pPr marL="228600" indent="-228600">
              <a:spcBef>
                <a:spcPts val="300"/>
              </a:spcBef>
              <a:buFont typeface="Arial"/>
              <a:buChar char="•"/>
            </a:pPr>
            <a:r>
              <a:rPr lang="fr-CA" sz="1400" b="1" dirty="0"/>
              <a:t>Street : </a:t>
            </a:r>
            <a:r>
              <a:rPr lang="fr-CA" sz="1400" dirty="0"/>
              <a:t>la révélation générale n'autorise pas à chercher hors de l'Écriture l'autorité sur les problèmes de l'âme; ce serait ajouter à la Parole (Proverbes 30.5-6).</a:t>
            </a:r>
          </a:p>
          <a:p>
            <a:pPr marL="228600" indent="-228600">
              <a:spcBef>
                <a:spcPts val="300"/>
              </a:spcBef>
              <a:buFont typeface="Arial"/>
              <a:buChar char="•"/>
            </a:pPr>
            <a:r>
              <a:rPr lang="fr-CA" sz="1400" b="1" dirty="0"/>
              <a:t>Question : </a:t>
            </a:r>
            <a:r>
              <a:rPr lang="fr-CA" sz="1400" dirty="0"/>
              <a:t>vers quoi vous tournez-vous en premier quand votre âme est troublée?</a:t>
            </a:r>
          </a:p>
          <a:p>
            <a:pPr marL="0" indent="0">
              <a:spcBef>
                <a:spcPts val="600"/>
              </a:spcBef>
              <a:buNone/>
            </a:pPr>
            <a:r>
              <a:rPr lang="fr-CA" sz="1400" b="1" dirty="0"/>
              <a:t>À éviter</a:t>
            </a:r>
          </a:p>
          <a:p>
            <a:pPr marL="228600" indent="-228600">
              <a:spcBef>
                <a:spcPts val="300"/>
              </a:spcBef>
              <a:buFont typeface="Arial"/>
              <a:buChar char="•"/>
            </a:pPr>
            <a:r>
              <a:rPr lang="fr-CA" sz="1400" dirty="0"/>
              <a:t>Faire de la suffisance un mépris des sciences : Street reconnaît les bienfaits de la révélation naturelle en sciences naturelles et en médecine; la suffisance vise le domaine de l'âme.</a:t>
            </a:r>
          </a:p>
          <a:p>
            <a:pPr marL="0" indent="0">
              <a:spcBef>
                <a:spcPts val="600"/>
              </a:spcBef>
              <a:buNone/>
            </a:pPr>
            <a:r>
              <a:rPr lang="fr-CA" sz="1400" b="1" dirty="0"/>
              <a:t>Transition</a:t>
            </a:r>
          </a:p>
          <a:p>
            <a:pPr marL="228600" indent="-228600">
              <a:spcBef>
                <a:spcPts val="300"/>
              </a:spcBef>
              <a:buFont typeface="Arial"/>
              <a:buChar char="•"/>
            </a:pPr>
            <a:r>
              <a:rPr lang="fr-CA" sz="1400" dirty="0"/>
              <a:t>Si la Parole est tout cela, que vaut-elle à nos yeux?</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5 min · Psaume 19.11-12</a:t>
            </a:r>
          </a:p>
          <a:p>
            <a:pPr marL="228600" indent="-228600">
              <a:spcBef>
                <a:spcPts val="300"/>
              </a:spcBef>
              <a:buFont typeface="Arial"/>
              <a:buChar char="•"/>
            </a:pPr>
            <a:r>
              <a:rPr lang="fr-CA" sz="1400" b="1" dirty="0"/>
              <a:t>Phrase clé : </a:t>
            </a:r>
            <a:r>
              <a:rPr lang="fr-CA" sz="1400" dirty="0"/>
              <a:t>ce que vous désirez le plus révèle ce que vous estimez le plus.</a:t>
            </a:r>
          </a:p>
          <a:p>
            <a:pPr marL="228600" indent="-228600">
              <a:spcBef>
                <a:spcPts val="300"/>
              </a:spcBef>
              <a:buFont typeface="Arial"/>
              <a:buChar char="•"/>
            </a:pPr>
            <a:r>
              <a:rPr lang="fr-CA" sz="1400" b="1" dirty="0"/>
              <a:t>Plus précieuse que l'or affiné (paz), plus douce que le miel des rayons (nopheth tsouphim, le miel qui s'égoutte du rayon) (19.11) : </a:t>
            </a:r>
            <a:r>
              <a:rPr lang="fr-CA" sz="1400" dirty="0"/>
              <a:t>« L'or, dans l'Antiquité, était le bien suprême d'ici-bas »; « le délice des délices, en ce temps-là, c'était le miel » (80-251). Le plus grand bien qu'on puisse posséder, le plus grand plaisir qu'on puisse goûter (80-19; 80-251; TM19-6).</a:t>
            </a:r>
          </a:p>
          <a:p>
            <a:pPr marL="228600" indent="-228600">
              <a:spcBef>
                <a:spcPts val="300"/>
              </a:spcBef>
              <a:buFont typeface="Arial"/>
              <a:buChar char="•"/>
            </a:pPr>
            <a:r>
              <a:rPr lang="fr-CA" sz="1400" b="1" dirty="0"/>
              <a:t>Elle avertit (19.12) : </a:t>
            </a:r>
            <a:r>
              <a:rPr lang="fr-CA" sz="1400" dirty="0"/>
              <a:t>« La Parole de Dieu est pleine d'avertissements. Et celui qui la connaît est dûment averti » (80-251). La NEG79 dit « en reçoit instruction »; la KJF, « est averti ».</a:t>
            </a:r>
          </a:p>
          <a:p>
            <a:pPr marL="228600" indent="-228600">
              <a:spcBef>
                <a:spcPts val="300"/>
              </a:spcBef>
              <a:buFont typeface="Arial"/>
              <a:buChar char="•"/>
            </a:pPr>
            <a:r>
              <a:rPr lang="fr-CA" sz="1400" b="1" dirty="0"/>
              <a:t>Une grande récompense : </a:t>
            </a:r>
            <a:r>
              <a:rPr lang="fr-CA" sz="1400" dirty="0"/>
              <a:t>« La vraie récompense n'est pas ici et maintenant », elle n'est ni la confession positive ni la visualisation de ce qu'on veut tout de suite (80-19). « L'hébreu se lit littéralement ainsi : en les gardant, il y a la fin. La fin » (80-251) : la bénédiction éternelle de celui qui obéit.</a:t>
            </a:r>
          </a:p>
          <a:p>
            <a:pPr marL="228600" indent="-228600">
              <a:spcBef>
                <a:spcPts val="300"/>
              </a:spcBef>
              <a:buFont typeface="Arial"/>
              <a:buChar char="•"/>
            </a:pPr>
            <a:r>
              <a:rPr lang="fr-CA" sz="1400" b="1" dirty="0"/>
              <a:t>La douceur se goûte dans le respect : </a:t>
            </a:r>
            <a:r>
              <a:rPr lang="fr-CA" sz="1400" dirty="0"/>
              <a:t>les noms mêmes de la Parole commandent de l'aborder avec le plus grand respect, non avec désinvolture; c'est ainsi qu'on la trouve douce (Street).</a:t>
            </a:r>
          </a:p>
          <a:p>
            <a:pPr marL="0" indent="0">
              <a:spcBef>
                <a:spcPts val="600"/>
              </a:spcBef>
              <a:buNone/>
            </a:pPr>
            <a:r>
              <a:rPr lang="fr-CA" sz="1400" b="1" dirty="0"/>
              <a:t>Application</a:t>
            </a:r>
          </a:p>
          <a:p>
            <a:pPr marL="228600" indent="-228600">
              <a:spcBef>
                <a:spcPts val="300"/>
              </a:spcBef>
              <a:buFont typeface="Arial"/>
              <a:buChar char="•"/>
            </a:pPr>
            <a:r>
              <a:rPr lang="fr-CA" sz="1400" dirty="0"/>
              <a:t>Votre agenda dit ce qui est votre or. Si la Parole vous paraît fade, le diagnostic porte sur le cœur, non sur la Bible : demandez à Dieu de vous la rendre douce.</a:t>
            </a:r>
          </a:p>
          <a:p>
            <a:pPr marL="0" indent="0">
              <a:spcBef>
                <a:spcPts val="600"/>
              </a:spcBef>
              <a:buNone/>
            </a:pPr>
            <a:r>
              <a:rPr lang="fr-CA" sz="1400" b="1" dirty="0"/>
              <a:t>À éviter</a:t>
            </a:r>
          </a:p>
          <a:p>
            <a:pPr marL="228600" indent="-228600">
              <a:spcBef>
                <a:spcPts val="300"/>
              </a:spcBef>
              <a:buFont typeface="Arial"/>
              <a:buChar char="•"/>
            </a:pPr>
            <a:r>
              <a:rPr lang="fr-CA" sz="1400" dirty="0"/>
              <a:t>Lire « la récompense est grande » comme une prospérité terrestre (80-19; 80-251).</a:t>
            </a:r>
          </a:p>
          <a:p>
            <a:pPr marL="0" indent="0">
              <a:spcBef>
                <a:spcPts val="600"/>
              </a:spcBef>
              <a:buNone/>
            </a:pPr>
            <a:r>
              <a:rPr lang="fr-CA" sz="1400" b="1" dirty="0"/>
              <a:t>Transition</a:t>
            </a:r>
          </a:p>
          <a:p>
            <a:pPr marL="228600" indent="-228600">
              <a:spcBef>
                <a:spcPts val="300"/>
              </a:spcBef>
              <a:buFont typeface="Arial"/>
              <a:buChar char="•"/>
            </a:pPr>
            <a:r>
              <a:rPr lang="fr-CA" sz="1400" dirty="0"/>
              <a:t>La Parole qui éclaire les yeux tourne alors sa lumière vers le cœur du psalmiste.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8 min (avec la diapositive suivante) · Psaume 19.13-15</a:t>
            </a:r>
          </a:p>
          <a:p>
            <a:pPr marL="228600" indent="-228600">
              <a:spcBef>
                <a:spcPts val="300"/>
              </a:spcBef>
              <a:buFont typeface="Arial"/>
              <a:buChar char="•"/>
            </a:pPr>
            <a:r>
              <a:rPr lang="fr-CA" sz="1400" b="1" dirty="0"/>
              <a:t>Phrase clé : </a:t>
            </a:r>
            <a:r>
              <a:rPr lang="fr-CA" sz="1400" dirty="0"/>
              <a:t>la Parole qui me montre mon péché me conduit à mon Rédempteur.</a:t>
            </a:r>
          </a:p>
          <a:p>
            <a:pPr marL="0" indent="0">
              <a:spcBef>
                <a:spcPts val="600"/>
              </a:spcBef>
              <a:buNone/>
            </a:pPr>
            <a:r>
              <a:rPr lang="fr-CA" sz="1400" b="1" dirty="0"/>
              <a:t>A. Les fautes que je ne vois pas (19.13)</a:t>
            </a:r>
          </a:p>
          <a:p>
            <a:pPr marL="228600" indent="-228600">
              <a:spcBef>
                <a:spcPts val="300"/>
              </a:spcBef>
              <a:buFont typeface="Arial"/>
              <a:buChar char="•"/>
            </a:pPr>
            <a:r>
              <a:rPr lang="fr-CA" sz="1400" dirty="0"/>
              <a:t>« Qui connaît ses égarements? » Réponse : personne, sans la Parole (Street).</a:t>
            </a:r>
          </a:p>
          <a:p>
            <a:pPr marL="228600" indent="-228600">
              <a:spcBef>
                <a:spcPts val="300"/>
              </a:spcBef>
              <a:buFont typeface="Arial"/>
              <a:buChar char="•"/>
            </a:pPr>
            <a:r>
              <a:rPr lang="fr-CA" sz="1400" b="1" dirty="0"/>
              <a:t>Égarements : </a:t>
            </a:r>
            <a:r>
              <a:rPr lang="fr-CA" sz="1400" dirty="0"/>
              <a:t>péchés d'ignorance (TM19-6), non intentionnels, ceux pour lesquels la loi prévoyait un sacrifice (BEM, 19.13-14; Lévitique 4).</a:t>
            </a:r>
          </a:p>
          <a:p>
            <a:pPr marL="228600" indent="-228600">
              <a:spcBef>
                <a:spcPts val="300"/>
              </a:spcBef>
              <a:buFont typeface="Arial"/>
              <a:buChar char="•"/>
            </a:pPr>
            <a:r>
              <a:rPr lang="fr-CA" sz="1400" dirty="0"/>
              <a:t>MacArthur lit « acquitte-moi des fautes cachées » (80-251; 80-308); la NEG79 dit « pardonne-moi », la KJF « nettoie-moi ».</a:t>
            </a:r>
          </a:p>
          <a:p>
            <a:pPr marL="0" indent="0">
              <a:spcBef>
                <a:spcPts val="600"/>
              </a:spcBef>
              <a:buNone/>
            </a:pPr>
            <a:r>
              <a:rPr lang="fr-CA" sz="1400" b="1" dirty="0"/>
              <a:t>B. Les fautes que je vois (19.14)</a:t>
            </a:r>
          </a:p>
          <a:p>
            <a:pPr marL="228600" indent="-228600">
              <a:spcBef>
                <a:spcPts val="300"/>
              </a:spcBef>
              <a:buFont typeface="Arial"/>
              <a:buChar char="•"/>
            </a:pPr>
            <a:r>
              <a:rPr lang="fr-CA" sz="1400" dirty="0"/>
              <a:t>« Les égarements sont des péchés d'ignorance. Les péchés présomptueux sont des péchés délibérés. La grande transgression est la rébellion ouverte » (TM19-6). David prie de ne jamais aller jusqu'à se détourner du Seigneur (80-251).</a:t>
            </a:r>
          </a:p>
          <a:p>
            <a:pPr marL="228600" indent="-228600">
              <a:spcBef>
                <a:spcPts val="300"/>
              </a:spcBef>
              <a:buFont typeface="Arial"/>
              <a:buChar char="•"/>
            </a:pPr>
            <a:r>
              <a:rPr lang="fr-CA" sz="1400" dirty="0"/>
              <a:t>La NEG79 dit « des orgueilleux »; la KJF, « des péchés présomptueux » : ceux que je vois, prémédite et planifie (80-19). En fin de verset, la NEG79 dit « innocent de grands péchés »; la KJF, « innocent de la grande transgression » : la rébellion ouverte (TM19-6).</a:t>
            </a:r>
          </a:p>
          <a:p>
            <a:pPr marL="228600" indent="-228600">
              <a:spcBef>
                <a:spcPts val="300"/>
              </a:spcBef>
              <a:buFont typeface="Arial"/>
              <a:buChar char="•"/>
            </a:pPr>
            <a:r>
              <a:rPr lang="fr-CA" sz="1400" dirty="0"/>
              <a:t>La loi distinguait le péché commis involontairement, qui avait son sacrifice (Nombres 15.27-29), et le péché commis « la main levée », qui n'en avait pas (Nombres 15.30-31); la BEM renvoie à Nombres 15.22ss pour éclairer cette distinction (19.13-14).</a:t>
            </a:r>
          </a:p>
          <a:p>
            <a:pPr marL="228600" indent="-228600">
              <a:spcBef>
                <a:spcPts val="300"/>
              </a:spcBef>
              <a:buFont typeface="Arial"/>
              <a:buChar char="•"/>
            </a:pPr>
            <a:r>
              <a:rPr lang="fr-CA" sz="1400" dirty="0"/>
              <a:t>« Qu'ils ne dominent point sur moi! » : les péchés connus asservissent celui qui les commet en sachant que ce sont des péchés (Street).</a:t>
            </a:r>
          </a:p>
          <a:p>
            <a:pPr marL="228600" indent="-228600">
              <a:spcBef>
                <a:spcPts val="300"/>
              </a:spcBef>
              <a:buFont typeface="Arial"/>
              <a:buChar char="•"/>
            </a:pPr>
            <a:r>
              <a:rPr lang="fr-CA" sz="1400" dirty="0"/>
              <a:t>Ce n'est pas du scrupule : c'est l'attitude d'un disciple mûr que la grâce et les ressources de Dieu amènent à reconnaître et à combattre ses péchés (BEM, 19.13-14).</a:t>
            </a:r>
          </a:p>
          <a:p>
            <a:pPr marL="0" indent="0">
              <a:spcBef>
                <a:spcPts val="600"/>
              </a:spcBef>
              <a:buNone/>
            </a:pPr>
            <a:r>
              <a:rPr lang="fr-CA" sz="1400" b="1" dirty="0"/>
              <a:t>À éviter</a:t>
            </a:r>
          </a:p>
          <a:p>
            <a:pPr marL="228600" indent="-228600">
              <a:spcBef>
                <a:spcPts val="300"/>
              </a:spcBef>
              <a:buFont typeface="Arial"/>
              <a:buChar char="•"/>
            </a:pPr>
            <a:r>
              <a:rPr lang="fr-CA" sz="1400" dirty="0"/>
              <a:t>Lire « des orgueilleux » (NEG79) comme des ennemis extérieurs, au détriment des péchés présomptueux.</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C. Les paroles et le cœur offerts (19.15)</a:t>
            </a:r>
          </a:p>
          <a:p>
            <a:pPr marL="228600" indent="-228600">
              <a:spcBef>
                <a:spcPts val="300"/>
              </a:spcBef>
              <a:buFont typeface="Arial"/>
              <a:buChar char="•"/>
            </a:pPr>
            <a:r>
              <a:rPr lang="fr-CA" sz="1400" b="1" dirty="0"/>
              <a:t>Reçois favorablement (leratson) : </a:t>
            </a:r>
            <a:r>
              <a:rPr lang="fr-CA" sz="1400" dirty="0"/>
              <a:t>un terme souvent associé à l'acceptation des sacrifices; David demande à Dieu la grâce et les capacités nécessaires pour déposer sur l'autel le sacrifice de ses lèvres et de sa vie (BEM, 19.15).</a:t>
            </a:r>
          </a:p>
          <a:p>
            <a:pPr marL="228600" indent="-228600">
              <a:spcBef>
                <a:spcPts val="300"/>
              </a:spcBef>
              <a:buFont typeface="Arial"/>
              <a:buChar char="•"/>
            </a:pPr>
            <a:r>
              <a:rPr lang="fr-CA" sz="1400" b="1" dirty="0"/>
              <a:t>Bouche et méditation : </a:t>
            </a:r>
            <a:r>
              <a:rPr lang="fr-CA" sz="1400" dirty="0"/>
              <a:t>les « sentiments » du cœur (hegyon, la méditation) : l'écho de Josué 1.8, la loi méditée jour et nuit (BEM, 19.15; TM19-6; 80-251).</a:t>
            </a:r>
          </a:p>
          <a:p>
            <a:pPr marL="228600" indent="-228600">
              <a:spcBef>
                <a:spcPts val="300"/>
              </a:spcBef>
              <a:buFont typeface="Arial"/>
              <a:buChar char="•"/>
            </a:pPr>
            <a:r>
              <a:rPr lang="fr-CA" sz="1400" b="1" dirty="0"/>
              <a:t>Mon rocher et mon rédempteur : </a:t>
            </a:r>
            <a:r>
              <a:rPr lang="fr-CA" sz="1400" dirty="0"/>
              <a:t>le goel, le parent proche qui paie pour racheter (Lévitique 25.25). Il conduit à Christ, qui s'est donné pour nous racheter de toute iniquité (Tite 2.14); par lui, nous offrons à Dieu le sacrifice de louange, le fruit de nos lèvres (Hébreux 13.15).</a:t>
            </a:r>
          </a:p>
          <a:p>
            <a:pPr marL="0" indent="0">
              <a:spcBef>
                <a:spcPts val="600"/>
              </a:spcBef>
              <a:buNone/>
            </a:pPr>
            <a:r>
              <a:rPr lang="fr-CA" sz="1400" b="1" dirty="0"/>
              <a:t>Application</a:t>
            </a:r>
          </a:p>
          <a:p>
            <a:pPr marL="228600" indent="-228600">
              <a:spcBef>
                <a:spcPts val="300"/>
              </a:spcBef>
              <a:buFont typeface="Arial"/>
              <a:buChar char="•"/>
            </a:pPr>
            <a:r>
              <a:rPr lang="fr-CA" sz="1400" dirty="0"/>
              <a:t>Demandez à Dieu de vous sonder (Psaume 139.23-24), confessez les fautes qu'il vous montre et nommez le péché qui vous domine.</a:t>
            </a:r>
          </a:p>
          <a:p>
            <a:pPr marL="228600" indent="-228600">
              <a:spcBef>
                <a:spcPts val="300"/>
              </a:spcBef>
              <a:buFont typeface="Arial"/>
              <a:buChar char="•"/>
            </a:pPr>
            <a:r>
              <a:rPr lang="fr-CA" sz="1400" dirty="0"/>
              <a:t>Le péché est le problème principal, non le seul : les faiblesses du corps et le péché des autres pèsent aussi (Street).</a:t>
            </a:r>
          </a:p>
          <a:p>
            <a:pPr marL="228600" indent="-228600">
              <a:spcBef>
                <a:spcPts val="300"/>
              </a:spcBef>
              <a:buFont typeface="Arial"/>
              <a:buChar char="•"/>
            </a:pPr>
            <a:r>
              <a:rPr lang="fr-CA" sz="1400" dirty="0"/>
              <a:t>Quand la Parole fait son œuvre, on marche sans culpabilité, « intègre » (19.14; Street) : non par l'effort propre, mais par la grâce du Rédempteur, qui pardonne toute faute confessée.</a:t>
            </a:r>
          </a:p>
          <a:p>
            <a:pPr marL="0" indent="0">
              <a:spcBef>
                <a:spcPts val="600"/>
              </a:spcBef>
              <a:buNone/>
            </a:pPr>
            <a:r>
              <a:rPr lang="fr-CA" sz="1400" b="1" dirty="0"/>
              <a:t>À éviter</a:t>
            </a:r>
          </a:p>
          <a:p>
            <a:pPr marL="228600" indent="-228600">
              <a:spcBef>
                <a:spcPts val="300"/>
              </a:spcBef>
              <a:buFont typeface="Arial"/>
              <a:buChar char="•"/>
            </a:pPr>
            <a:r>
              <a:rPr lang="fr-CA" sz="1400" dirty="0"/>
              <a:t>Prêcher les versets 13 et 14 comme un appel à l'introspection anxieuse ou à l'effort moral : c'est la grâce qui rend le disciple lucide et combatif.</a:t>
            </a:r>
          </a:p>
          <a:p>
            <a:pPr marL="228600" indent="-228600">
              <a:spcBef>
                <a:spcPts val="300"/>
              </a:spcBef>
              <a:buFont typeface="Arial"/>
              <a:buChar char="•"/>
            </a:pPr>
            <a:r>
              <a:rPr lang="fr-CA" sz="1400" dirty="0"/>
              <a:t>Finir sur le péché sans le Rédempteur : le psaume s'achève sur la grâce.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4 min (avec la diapositive suivante) · Romains 10.17; Psaume 19.15</a:t>
            </a:r>
          </a:p>
          <a:p>
            <a:pPr marL="228600" indent="-228600">
              <a:spcBef>
                <a:spcPts val="300"/>
              </a:spcBef>
              <a:buFont typeface="Arial"/>
              <a:buChar char="•"/>
            </a:pPr>
            <a:r>
              <a:rPr lang="fr-CA" sz="1400" b="1" dirty="0"/>
              <a:t>Récapitulation : </a:t>
            </a:r>
            <a:r>
              <a:rPr lang="fr-CA" sz="1400" dirty="0"/>
              <a:t>le ciel qui parle, assez pour condamner; la Parole qui suffit, assez pour sauver; la Parole qu'on désire plus que l'or; le cœur qui s'offre à son Rédempteur.</a:t>
            </a:r>
          </a:p>
          <a:p>
            <a:pPr marL="228600" indent="-228600">
              <a:spcBef>
                <a:spcPts val="300"/>
              </a:spcBef>
              <a:buFont typeface="Arial"/>
              <a:buChar char="•"/>
            </a:pPr>
            <a:r>
              <a:rPr lang="fr-CA" sz="1400" b="1" dirty="0"/>
              <a:t>Le Rédempteur a un nom : </a:t>
            </a:r>
            <a:r>
              <a:rPr lang="fr-CA" sz="1400" dirty="0"/>
              <a:t>Dieu, qui a parlé autrefois par les prophètes, nous a parlé par le Fils (Hébreux 1.1-2). Paul rappelle, juste avant de citer notre psaume (Romains 10.18), que la foi vient de ce qu'on entend, et que ce qu'on entend vient de la parole de Christ (Romains 10.17). « Personne ne peut être sauvé, régénéré, né de nouveau sans comprendre la Parole de Dieu, en particulier la Parole de Dieu concernant la personne de Jésus-Christ » (GTY143).</a:t>
            </a:r>
          </a:p>
          <a:p>
            <a:pPr marL="228600" indent="-228600">
              <a:spcBef>
                <a:spcPts val="300"/>
              </a:spcBef>
              <a:buFont typeface="Arial"/>
              <a:buChar char="•"/>
            </a:pPr>
            <a:r>
              <a:rPr lang="fr-CA" sz="1400" b="1" dirty="0"/>
              <a:t>À l'incroyant : </a:t>
            </a:r>
            <a:r>
              <a:rPr lang="fr-CA" sz="1400" dirty="0"/>
              <a:t>les cieux vous ont parlé toute votre vie, et vous êtes sans excuse. Aujourd'hui, la Parole vous parle du Rédempteur : Christ est mort pour nos péchés et il est ressuscité (1 Corinthiens 15.3-4); il a payé le rachat, non avec de l'or, mais par son sang précieux (1 Pierre 1.18-19). Repentez-vous, croyez en Christ et soumettez-vous à lui comme Seigneur.</a:t>
            </a:r>
          </a:p>
          <a:p>
            <a:pPr marL="228600" indent="-228600">
              <a:spcBef>
                <a:spcPts val="300"/>
              </a:spcBef>
              <a:buFont typeface="Arial"/>
              <a:buChar char="•"/>
            </a:pPr>
            <a:r>
              <a:rPr lang="fr-CA" sz="1400" b="1" dirty="0"/>
              <a:t>Au croyant : </a:t>
            </a:r>
            <a:r>
              <a:rPr lang="fr-CA" sz="1400" dirty="0"/>
              <a:t>ne cherchez pas ailleurs ce que la Parole vous donne. Ce n'est pas un effort de plus : uni à Christ, vous avez reçu son Esprit, qui se sert de cette Parole pour vous transformer. Désirez-la, laissez-la vous sonder, offrez-vous à Dieu. « Dans votre cœur, en ce moment, pouvez-vous prendre devant le Seigneur un engagement renouvelé à vous vouer à sa Parole? » (80-19).</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Prière · Psaume 19.15</a:t>
            </a:r>
          </a:p>
          <a:p>
            <a:pPr marL="228600" indent="-228600">
              <a:spcBef>
                <a:spcPts val="300"/>
              </a:spcBef>
              <a:buFont typeface="Arial"/>
              <a:buChar char="•"/>
            </a:pPr>
            <a:r>
              <a:rPr lang="fr-CA" sz="1400" dirty="0"/>
              <a:t>Prier ensemble le verset 15, lentement, à voix haute.</a:t>
            </a:r>
          </a:p>
          <a:p>
            <a:pPr marL="228600" indent="-228600">
              <a:spcBef>
                <a:spcPts val="300"/>
              </a:spcBef>
              <a:buFont typeface="Arial"/>
              <a:buChar char="•"/>
            </a:pPr>
            <a:r>
              <a:rPr lang="fr-CA" sz="1400" b="1" dirty="0"/>
              <a:t>Échos du message : </a:t>
            </a:r>
            <a:r>
              <a:rPr lang="fr-CA" sz="1400" dirty="0"/>
              <a:t>les paroles de la bouche et les sentiments du cœur offerts comme un sacrifice (IV); l'Éternel, rocher et rédempteur, que le Nouveau Testament nomme en Christ (Tite 2.14).</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R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ONCLUSION-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rgbClr val="0D0B0A"/>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CLUS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3.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4.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llustration" descr="Médaillon rayonnant : le ciel étoilé et le soleil au-dessus d'un livre ouvert">    </p:cNvPr>
          <p:cNvPicPr>
            <a:picLocks noChangeAspect="1"/>
          </p:cNvPicPr>
          <p:nvPr/>
        </p:nvPicPr>
        <p:blipFill>
          <a:blip r:embed="rId1"/>
          <a:stretch>
            <a:fillRect/>
          </a:stretch>
        </p:blipFill>
        <p:spPr>
          <a:xfrm>
            <a:off x="6720840" y="822960"/>
            <a:ext cx="5212080" cy="5212080"/>
          </a:xfrm>
          <a:prstGeom prst="rect">
            <a:avLst/>
          </a:prstGeom>
        </p:spPr>
      </p:pic>
      <p:sp>
        <p:nvSpPr>
          <p:cNvPr id="3" name="Repère"/>
          <p:cNvSpPr txBox="1"/>
          <p:nvPr/>
        </p:nvSpPr>
        <p:spPr>
          <a:xfrm>
            <a:off x="731520" y="1234440"/>
            <a:ext cx="5943600" cy="320040"/>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PRÉDICATION · PSAUME 19</a:t>
            </a:r>
            <a:endParaRPr lang="fr-CA" sz="1400" dirty="0"/>
          </a:p>
        </p:txBody>
      </p:sp>
      <p:sp>
        <p:nvSpPr>
          <p:cNvPr id="4" name="Titre"/>
          <p:cNvSpPr>
            <a:spLocks noGrp="1"/>
          </p:cNvSpPr>
          <p:nvPr>
            <p:ph type="title"/>
          </p:nvPr>
        </p:nvSpPr>
        <p:spPr>
          <a:xfrm>
            <a:off x="731520" y="1645920"/>
            <a:ext cx="6035040" cy="2240280"/>
          </a:xfrm>
          <a:prstGeom prst="rect">
            <a:avLst/>
          </a:prstGeom>
          <a:noFill/>
          <a:ln/>
        </p:spPr>
        <p:txBody>
          <a:bodyPr wrap="square" lIns="0" tIns="0" rIns="0" bIns="0" rtlCol="0" anchor="t"/>
          <a:lstStyle/>
          <a:p>
            <a:pPr algn="l" indent="0" marL="0">
              <a:lnSpc>
                <a:spcPct val="95000"/>
              </a:lnSpc>
              <a:buNone/>
            </a:pPr>
            <a:r>
              <a:rPr lang="fr-CA" altLang="en-US" sz="4800" b="1" dirty="0">
                <a:solidFill>
                  <a:srgbClr val="F4EDE4"/>
                </a:solidFill>
                <a:latin typeface="Cambria" pitchFamily="34" charset="0"/>
                <a:ea typeface="Cambria" pitchFamily="34" charset="-122"/>
                <a:cs typeface="Cambria" pitchFamily="34" charset="-120"/>
              </a:rPr>
              <a:t>Du ciel qui parle</a:t>
            </a:r>
            <a:endParaRPr lang="fr-CA" sz="4800" dirty="0"/>
          </a:p>
          <a:p>
            <a:pPr algn="l" indent="0" marL="0">
              <a:lnSpc>
                <a:spcPct val="95000"/>
              </a:lnSpc>
              <a:buNone/>
            </a:pPr>
            <a:r>
              <a:rPr lang="fr-CA" altLang="en-US" sz="4800" b="1" dirty="0">
                <a:solidFill>
                  <a:srgbClr val="F4EDE4"/>
                </a:solidFill>
                <a:latin typeface="Cambria" pitchFamily="34" charset="0"/>
                <a:ea typeface="Cambria" pitchFamily="34" charset="-122"/>
                <a:cs typeface="Cambria" pitchFamily="34" charset="-120"/>
              </a:rPr>
              <a:t>à la Parole</a:t>
            </a:r>
            <a:endParaRPr lang="fr-CA" sz="4800" dirty="0"/>
          </a:p>
          <a:p>
            <a:pPr algn="l" indent="0" marL="0">
              <a:lnSpc>
                <a:spcPct val="95000"/>
              </a:lnSpc>
              <a:buNone/>
            </a:pPr>
            <a:r>
              <a:rPr lang="fr-CA" altLang="en-US" sz="4800" b="1" dirty="0">
                <a:solidFill>
                  <a:srgbClr val="F4EDE4"/>
                </a:solidFill>
                <a:latin typeface="Cambria" pitchFamily="34" charset="0"/>
                <a:ea typeface="Cambria" pitchFamily="34" charset="-122"/>
                <a:cs typeface="Cambria" pitchFamily="34" charset="-120"/>
              </a:rPr>
              <a:t>qui suffit</a:t>
            </a:r>
            <a:endParaRPr lang="fr-CA" sz="4800" dirty="0"/>
          </a:p>
        </p:txBody>
      </p:sp>
      <p:sp>
        <p:nvSpPr>
          <p:cNvPr id="5" name="Passage"/>
          <p:cNvSpPr txBox="1"/>
          <p:nvPr/>
        </p:nvSpPr>
        <p:spPr>
          <a:xfrm>
            <a:off x="731520" y="3977640"/>
            <a:ext cx="5943600" cy="457200"/>
          </a:xfrm>
          <a:prstGeom prst="rect">
            <a:avLst/>
          </a:prstGeom>
          <a:noFill/>
          <a:ln/>
        </p:spPr>
        <p:txBody>
          <a:bodyPr wrap="square" lIns="0" tIns="0" rIns="0" bIns="0" rtlCol="0" anchor="b"/>
          <a:lstStyle/>
          <a:p>
            <a:pPr indent="0" marL="0">
              <a:buNone/>
            </a:pPr>
            <a:r>
              <a:rPr lang="fr-CA" altLang="en-US" sz="2600" dirty="0">
                <a:solidFill>
                  <a:srgbClr val="E8742A"/>
                </a:solidFill>
                <a:latin typeface="Calibri" pitchFamily="34" charset="0"/>
                <a:ea typeface="Calibri" pitchFamily="34" charset="-122"/>
                <a:cs typeface="Calibri" pitchFamily="34" charset="-120"/>
              </a:rPr>
              <a:t>Psaume 19</a:t>
            </a:r>
            <a:pPr indent="0" marL="0">
              <a:buNone/>
            </a:pPr>
            <a:r>
              <a:rPr lang="fr-CA" altLang="en-US" sz="1800" dirty="0">
                <a:solidFill>
                  <a:srgbClr val="A89A8C"/>
                </a:solidFill>
                <a:latin typeface="Calibri" pitchFamily="34" charset="0"/>
                <a:ea typeface="Calibri" pitchFamily="34" charset="-122"/>
                <a:cs typeface="Calibri" pitchFamily="34" charset="-120"/>
              </a:rPr>
              <a:t>  ·  la suffisance de l'Écriture</a:t>
            </a:r>
            <a:endParaRPr lang="fr-CA" sz="2600" dirty="0"/>
          </a:p>
        </p:txBody>
      </p:sp>
      <p:sp>
        <p:nvSpPr>
          <p:cNvPr id="6" name="Verset"/>
          <p:cNvSpPr txBox="1"/>
          <p:nvPr/>
        </p:nvSpPr>
        <p:spPr>
          <a:xfrm>
            <a:off x="731520" y="4526280"/>
            <a:ext cx="5852160" cy="1463040"/>
          </a:xfrm>
          <a:prstGeom prst="rect">
            <a:avLst/>
          </a:prstGeom>
          <a:noFill/>
          <a:ln/>
        </p:spPr>
        <p:txBody>
          <a:bodyPr wrap="square" lIns="0" tIns="0" rIns="0" bIns="0" rtlCol="0" anchor="t"/>
          <a:lstStyle/>
          <a:p>
            <a:pPr indent="0" marL="0">
              <a:spcAft>
                <a:spcPts val="400"/>
              </a:spcAft>
              <a:buNone/>
            </a:pPr>
            <a:r>
              <a:rPr lang="fr-CA" altLang="en-US" sz="1700" i="1" dirty="0">
                <a:solidFill>
                  <a:srgbClr val="C9BCAD"/>
                </a:solidFill>
                <a:latin typeface="Calibri" pitchFamily="34" charset="0"/>
                <a:ea typeface="Calibri" pitchFamily="34" charset="-122"/>
                <a:cs typeface="Calibri" pitchFamily="34" charset="-120"/>
              </a:rPr>
              <a:t>« La loi de l'Éternel est parfaite, elle restaure l'âme; </a:t>
            </a:r>
            <a:br/>
            <a:pPr indent="0" marL="0">
              <a:spcAft>
                <a:spcPts val="400"/>
              </a:spcAft>
              <a:buNone/>
            </a:pPr>
            <a:r>
              <a:rPr lang="fr-CA" altLang="en-US" sz="1700" i="1" dirty="0">
                <a:solidFill>
                  <a:srgbClr val="C9BCAD"/>
                </a:solidFill>
                <a:latin typeface="Calibri" pitchFamily="34" charset="0"/>
                <a:ea typeface="Calibri" pitchFamily="34" charset="-122"/>
                <a:cs typeface="Calibri" pitchFamily="34" charset="-120"/>
              </a:rPr>
              <a:t>le témoignage de l'Éternel est véritable, il rend sage l'ignorant. »</a:t>
            </a:r>
            <a:endParaRPr lang="fr-CA" sz="1800" dirty="0"/>
          </a:p>
          <a:p>
            <a:pPr indent="0" marL="0">
              <a:spcBef>
                <a:spcPts val="600"/>
              </a:spcBef>
              <a:spcAft>
                <a:spcPts val="400"/>
              </a:spcAft>
              <a:buNone/>
            </a:pPr>
            <a:r>
              <a:rPr lang="fr-CA" altLang="en-US" sz="1400" dirty="0">
                <a:solidFill>
                  <a:srgbClr val="968A80"/>
                </a:solidFill>
                <a:latin typeface="Calibri" pitchFamily="34" charset="0"/>
                <a:ea typeface="Calibri" pitchFamily="34" charset="-122"/>
                <a:cs typeface="Calibri" pitchFamily="34" charset="-120"/>
              </a:rPr>
              <a:t>Psaume 19.8</a:t>
            </a:r>
            <a:endParaRPr lang="fr-CA" sz="1800" dirty="0"/>
          </a:p>
        </p:txBody>
      </p:sp>
      <p:sp>
        <p:nvSpPr>
          <p:cNvPr id="7" name="Prédicateur"/>
          <p:cNvSpPr txBox="1"/>
          <p:nvPr/>
        </p:nvSpPr>
        <p:spPr>
          <a:xfrm>
            <a:off x="731520" y="6120994"/>
            <a:ext cx="4572000" cy="320040"/>
          </a:xfrm>
          <a:prstGeom prst="rect">
            <a:avLst/>
          </a:prstGeom>
          <a:noFill/>
          <a:ln/>
        </p:spPr>
        <p:txBody>
          <a:bodyPr wrap="square" lIns="0" tIns="0" rIns="0" bIns="0" rtlCol="0" anchor="t"/>
          <a:lstStyle/>
          <a:p>
            <a:pPr indent="0" marL="0">
              <a:buNone/>
            </a:pPr>
            <a:r>
              <a:rPr lang="fr-CA" altLang="en-US" sz="1600" dirty="0">
                <a:solidFill>
                  <a:srgbClr val="A89A8C"/>
                </a:solidFill>
                <a:latin typeface="Calibri" pitchFamily="34" charset="0"/>
                <a:ea typeface="Calibri" pitchFamily="34" charset="-122"/>
                <a:cs typeface="Calibri" pitchFamily="34" charset="-120"/>
              </a:rPr>
              <a:t>André‑Guy Bruneau</a:t>
            </a:r>
            <a:endParaRPr lang="fr-CA" sz="1600" dirty="0"/>
          </a:p>
        </p:txBody>
      </p:sp>
      <p:grpSp>
        <p:nvGrpSpPr>
          <p:cNvPr id="1000" name="Barre de progression"/>
          <p:cNvGrpSpPr/>
          <p:nvPr/>
        </p:nvGrpSpPr>
        <p:grpSpPr>
          <a:xfrm>
            <a:off x="546100" y="6527800"/>
            <a:ext cx="11099800" cy="63500"/>
            <a:chOff x="546100" y="6527800"/>
            <a:chExt cx="11099800" cy="63500"/>
          </a:xfrm>
        </p:grpSpPr>
        <p:sp>
          <p:nvSpPr>
            <p:cNvPr id="8" name="Progression 1"/>
            <p:cNvSpPr/>
            <p:nvPr/>
          </p:nvSpPr>
          <p:spPr>
            <a:xfrm>
              <a:off x="546100" y="6527800"/>
              <a:ext cx="668867" cy="63500"/>
            </a:xfrm>
            <a:prstGeom prst="rect">
              <a:avLst/>
            </a:prstGeom>
            <a:solidFill>
              <a:srgbClr val="E8742A"/>
            </a:solidFill>
            <a:ln/>
          </p:spPr>
        </p:sp>
        <p:sp>
          <p:nvSpPr>
            <p:cNvPr id="9" name="Progression 2"/>
            <p:cNvSpPr/>
            <p:nvPr/>
          </p:nvSpPr>
          <p:spPr>
            <a:xfrm>
              <a:off x="1291167" y="6527800"/>
              <a:ext cx="668867" cy="63500"/>
            </a:xfrm>
            <a:prstGeom prst="rect">
              <a:avLst/>
            </a:prstGeom>
            <a:solidFill>
              <a:srgbClr val="3A312C"/>
            </a:solidFill>
            <a:ln/>
          </p:spPr>
        </p:sp>
        <p:sp>
          <p:nvSpPr>
            <p:cNvPr id="10" name="Progression 3"/>
            <p:cNvSpPr/>
            <p:nvPr/>
          </p:nvSpPr>
          <p:spPr>
            <a:xfrm>
              <a:off x="2036233" y="6527800"/>
              <a:ext cx="668867" cy="63500"/>
            </a:xfrm>
            <a:prstGeom prst="rect">
              <a:avLst/>
            </a:prstGeom>
            <a:solidFill>
              <a:srgbClr val="3A312C"/>
            </a:solidFill>
            <a:ln/>
          </p:spPr>
        </p:sp>
        <p:sp>
          <p:nvSpPr>
            <p:cNvPr id="11" name="Progression 4"/>
            <p:cNvSpPr/>
            <p:nvPr/>
          </p:nvSpPr>
          <p:spPr>
            <a:xfrm>
              <a:off x="2781300" y="6527800"/>
              <a:ext cx="668867" cy="63500"/>
            </a:xfrm>
            <a:prstGeom prst="rect">
              <a:avLst/>
            </a:prstGeom>
            <a:solidFill>
              <a:srgbClr val="3A312C"/>
            </a:solidFill>
            <a:ln/>
          </p:spPr>
        </p:sp>
        <p:sp>
          <p:nvSpPr>
            <p:cNvPr id="12" name="Progression 5"/>
            <p:cNvSpPr/>
            <p:nvPr/>
          </p:nvSpPr>
          <p:spPr>
            <a:xfrm>
              <a:off x="3526367" y="6527800"/>
              <a:ext cx="668867" cy="63500"/>
            </a:xfrm>
            <a:prstGeom prst="rect">
              <a:avLst/>
            </a:prstGeom>
            <a:solidFill>
              <a:srgbClr val="3A312C"/>
            </a:solidFill>
            <a:ln/>
          </p:spPr>
        </p:sp>
        <p:sp>
          <p:nvSpPr>
            <p:cNvPr id="13" name="Progression 6"/>
            <p:cNvSpPr/>
            <p:nvPr/>
          </p:nvSpPr>
          <p:spPr>
            <a:xfrm>
              <a:off x="4271433" y="6527800"/>
              <a:ext cx="668867" cy="63500"/>
            </a:xfrm>
            <a:prstGeom prst="rect">
              <a:avLst/>
            </a:prstGeom>
            <a:solidFill>
              <a:srgbClr val="3A312C"/>
            </a:solidFill>
            <a:ln/>
          </p:spPr>
        </p:sp>
        <p:sp>
          <p:nvSpPr>
            <p:cNvPr id="14" name="Progression 7"/>
            <p:cNvSpPr/>
            <p:nvPr/>
          </p:nvSpPr>
          <p:spPr>
            <a:xfrm>
              <a:off x="5016500" y="6527800"/>
              <a:ext cx="668867" cy="63500"/>
            </a:xfrm>
            <a:prstGeom prst="rect">
              <a:avLst/>
            </a:prstGeom>
            <a:solidFill>
              <a:srgbClr val="3A312C"/>
            </a:solidFill>
            <a:ln/>
          </p:spPr>
        </p:sp>
        <p:sp>
          <p:nvSpPr>
            <p:cNvPr id="15" name="Progression 8"/>
            <p:cNvSpPr/>
            <p:nvPr/>
          </p:nvSpPr>
          <p:spPr>
            <a:xfrm>
              <a:off x="5761567" y="6527800"/>
              <a:ext cx="668867" cy="63500"/>
            </a:xfrm>
            <a:prstGeom prst="rect">
              <a:avLst/>
            </a:prstGeom>
            <a:solidFill>
              <a:srgbClr val="3A312C"/>
            </a:solidFill>
            <a:ln/>
          </p:spPr>
        </p:sp>
        <p:sp>
          <p:nvSpPr>
            <p:cNvPr id="16" name="Progression 9"/>
            <p:cNvSpPr/>
            <p:nvPr/>
          </p:nvSpPr>
          <p:spPr>
            <a:xfrm>
              <a:off x="6506633" y="6527800"/>
              <a:ext cx="668867" cy="63500"/>
            </a:xfrm>
            <a:prstGeom prst="rect">
              <a:avLst/>
            </a:prstGeom>
            <a:solidFill>
              <a:srgbClr val="3A312C"/>
            </a:solidFill>
            <a:ln/>
          </p:spPr>
        </p:sp>
        <p:sp>
          <p:nvSpPr>
            <p:cNvPr id="17" name="Progression 10"/>
            <p:cNvSpPr/>
            <p:nvPr/>
          </p:nvSpPr>
          <p:spPr>
            <a:xfrm>
              <a:off x="7251700" y="6527800"/>
              <a:ext cx="668867" cy="63500"/>
            </a:xfrm>
            <a:prstGeom prst="rect">
              <a:avLst/>
            </a:prstGeom>
            <a:solidFill>
              <a:srgbClr val="3A312C"/>
            </a:solidFill>
            <a:ln/>
          </p:spPr>
        </p:sp>
        <p:sp>
          <p:nvSpPr>
            <p:cNvPr id="18" name="Progression 11"/>
            <p:cNvSpPr/>
            <p:nvPr/>
          </p:nvSpPr>
          <p:spPr>
            <a:xfrm>
              <a:off x="7996767" y="6527800"/>
              <a:ext cx="668867" cy="63500"/>
            </a:xfrm>
            <a:prstGeom prst="rect">
              <a:avLst/>
            </a:prstGeom>
            <a:solidFill>
              <a:srgbClr val="3A312C"/>
            </a:solidFill>
            <a:ln/>
          </p:spPr>
        </p:sp>
        <p:sp>
          <p:nvSpPr>
            <p:cNvPr id="19" name="Progression 12"/>
            <p:cNvSpPr/>
            <p:nvPr/>
          </p:nvSpPr>
          <p:spPr>
            <a:xfrm>
              <a:off x="8741833" y="6527800"/>
              <a:ext cx="668867" cy="63500"/>
            </a:xfrm>
            <a:prstGeom prst="rect">
              <a:avLst/>
            </a:prstGeom>
            <a:solidFill>
              <a:srgbClr val="3A312C"/>
            </a:solidFill>
            <a:ln/>
          </p:spPr>
        </p:sp>
        <p:sp>
          <p:nvSpPr>
            <p:cNvPr id="20" name="Progression 13"/>
            <p:cNvSpPr/>
            <p:nvPr/>
          </p:nvSpPr>
          <p:spPr>
            <a:xfrm>
              <a:off x="9486900" y="6527800"/>
              <a:ext cx="668867" cy="63500"/>
            </a:xfrm>
            <a:prstGeom prst="rect">
              <a:avLst/>
            </a:prstGeom>
            <a:solidFill>
              <a:srgbClr val="3A312C"/>
            </a:solidFill>
            <a:ln/>
          </p:spPr>
        </p:sp>
        <p:sp>
          <p:nvSpPr>
            <p:cNvPr id="21" name="Progression 14"/>
            <p:cNvSpPr/>
            <p:nvPr/>
          </p:nvSpPr>
          <p:spPr>
            <a:xfrm>
              <a:off x="10231967" y="6527800"/>
              <a:ext cx="668867" cy="63500"/>
            </a:xfrm>
            <a:prstGeom prst="rect">
              <a:avLst/>
            </a:prstGeom>
            <a:solidFill>
              <a:srgbClr val="3A312C"/>
            </a:solidFill>
            <a:ln/>
          </p:spPr>
        </p:sp>
        <p:sp>
          <p:nvSpPr>
            <p:cNvPr id="22"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Repère de section"/>
          <p:cNvSpPr txBox="1"/>
          <p:nvPr/>
        </p:nvSpPr>
        <p:spPr>
          <a:xfrm>
            <a:off x="548640" y="384048"/>
            <a:ext cx="1106424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VUE D'ENSEMBLE · PSAUME 19</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Trois mouvements, un seul Dieu</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Le Dieu qui parle dans le ciel parle dans sa Parole, et conduit le cœur à s'offrir</a:t>
            </a:r>
            <a:endParaRPr lang="fr-CA" sz="1900" dirty="0"/>
          </a:p>
        </p:txBody>
      </p:sp>
      <p:sp>
        <p:nvSpPr>
          <p:cNvPr id="5" name="Fil des mouvements"/>
          <p:cNvSpPr/>
          <p:nvPr/>
        </p:nvSpPr>
        <p:spPr>
          <a:xfrm>
            <a:off x="548640" y="2990088"/>
            <a:ext cx="11091672" cy="0"/>
          </a:xfrm>
          <a:prstGeom prst="line">
            <a:avLst/>
          </a:prstGeom>
          <a:noFill/>
          <a:ln w="19050">
            <a:solidFill>
              <a:srgbClr val="7A3310"/>
            </a:solidFill>
            <a:prstDash val="solid"/>
          </a:ln>
        </p:spPr>
      </p:sp>
      <p:pic>
        <p:nvPicPr>
          <p:cNvPr id="6" name="Mouvement 1" descr="Médaillon : une étoile rayonnante dans le ciel étoilé">    </p:cNvPr>
          <p:cNvPicPr>
            <a:picLocks noChangeAspect="1"/>
          </p:cNvPicPr>
          <p:nvPr/>
        </p:nvPicPr>
        <p:blipFill>
          <a:blip r:embed="rId1"/>
          <a:stretch>
            <a:fillRect/>
          </a:stretch>
        </p:blipFill>
        <p:spPr>
          <a:xfrm>
            <a:off x="1234440" y="1892808"/>
            <a:ext cx="2194560" cy="2194560"/>
          </a:xfrm>
          <a:prstGeom prst="rect">
            <a:avLst/>
          </a:prstGeom>
        </p:spPr>
      </p:pic>
      <p:sp>
        <p:nvSpPr>
          <p:cNvPr id="7" name="Text 4"/>
          <p:cNvSpPr txBox="1"/>
          <p:nvPr/>
        </p:nvSpPr>
        <p:spPr>
          <a:xfrm>
            <a:off x="868680" y="1920240"/>
            <a:ext cx="365760" cy="457200"/>
          </a:xfrm>
          <a:prstGeom prst="rect">
            <a:avLst/>
          </a:prstGeom>
          <a:noFill/>
          <a:ln/>
        </p:spPr>
        <p:txBody>
          <a:bodyPr wrap="square" lIns="0" tIns="0" rIns="0" bIns="0" rtlCol="0" anchor="t"/>
          <a:lstStyle/>
          <a:p>
            <a:pPr indent="0" marL="0">
              <a:buNone/>
            </a:pPr>
            <a:r>
              <a:rPr lang="fr-CA" altLang="en-US" sz="2400" b="1" dirty="0">
                <a:solidFill>
                  <a:srgbClr val="968A80"/>
                </a:solidFill>
                <a:latin typeface="Cambria" pitchFamily="34" charset="0"/>
                <a:ea typeface="Cambria" pitchFamily="34" charset="-122"/>
                <a:cs typeface="Cambria" pitchFamily="34" charset="-120"/>
              </a:rPr>
              <a:t>1</a:t>
            </a:r>
            <a:endParaRPr lang="fr-CA" sz="2400" dirty="0"/>
          </a:p>
        </p:txBody>
      </p:sp>
      <p:sp>
        <p:nvSpPr>
          <p:cNvPr id="8" name="Text 5"/>
          <p:cNvSpPr txBox="1"/>
          <p:nvPr/>
        </p:nvSpPr>
        <p:spPr>
          <a:xfrm>
            <a:off x="548640" y="4206240"/>
            <a:ext cx="3566160" cy="777240"/>
          </a:xfrm>
          <a:prstGeom prst="rect">
            <a:avLst/>
          </a:prstGeom>
          <a:noFill/>
          <a:ln/>
        </p:spPr>
        <p:txBody>
          <a:bodyPr wrap="square" lIns="0" tIns="0" rIns="0" bIns="0" rtlCol="0" anchor="t"/>
          <a:lstStyle/>
          <a:p>
            <a:pPr algn="ctr" indent="0" marL="0">
              <a:buNone/>
            </a:pPr>
            <a:r>
              <a:rPr lang="fr-CA" altLang="en-US" sz="2600" b="1" dirty="0">
                <a:solidFill>
                  <a:srgbClr val="F4EDE4"/>
                </a:solidFill>
                <a:latin typeface="Cambria" pitchFamily="34" charset="0"/>
                <a:ea typeface="Cambria" pitchFamily="34" charset="-122"/>
                <a:cs typeface="Cambria" pitchFamily="34" charset="-120"/>
              </a:rPr>
              <a:t>Le cosmos</a:t>
            </a:r>
            <a:endParaRPr lang="fr-CA" sz="1600" dirty="0"/>
          </a:p>
          <a:p>
            <a:pPr algn="ctr" indent="0" marL="0">
              <a:buNone/>
            </a:pPr>
            <a:r>
              <a:rPr lang="fr-CA" altLang="en-US" sz="1600" dirty="0">
                <a:solidFill>
                  <a:srgbClr val="E8742A"/>
                </a:solidFill>
                <a:latin typeface="Calibri" pitchFamily="34" charset="0"/>
                <a:ea typeface="Calibri" pitchFamily="34" charset="-122"/>
                <a:cs typeface="Calibri" pitchFamily="34" charset="-120"/>
              </a:rPr>
              <a:t>Psaume 19.2‑7</a:t>
            </a:r>
            <a:endParaRPr lang="fr-CA" sz="1600" dirty="0"/>
          </a:p>
        </p:txBody>
      </p:sp>
      <p:sp>
        <p:nvSpPr>
          <p:cNvPr id="9" name="Text 6"/>
          <p:cNvSpPr txBox="1"/>
          <p:nvPr/>
        </p:nvSpPr>
        <p:spPr>
          <a:xfrm>
            <a:off x="548640" y="4983480"/>
            <a:ext cx="3566160" cy="640080"/>
          </a:xfrm>
          <a:prstGeom prst="rect">
            <a:avLst/>
          </a:prstGeom>
          <a:noFill/>
          <a:ln/>
        </p:spPr>
        <p:txBody>
          <a:bodyPr wrap="square" lIns="0" tIns="0" rIns="0" bIns="0" rtlCol="0" anchor="t"/>
          <a:lstStyle/>
          <a:p>
            <a:pPr algn="ctr" indent="0" marL="0">
              <a:buNone/>
            </a:pPr>
            <a:r>
              <a:rPr lang="fr-CA" altLang="en-US" sz="1600" b="1" dirty="0">
                <a:solidFill>
                  <a:srgbClr val="F4EDE4"/>
                </a:solidFill>
                <a:latin typeface="Calibri" pitchFamily="34" charset="0"/>
                <a:ea typeface="Calibri" pitchFamily="34" charset="-122"/>
                <a:cs typeface="Calibri" pitchFamily="34" charset="-120"/>
              </a:rPr>
              <a:t>Révélation générale</a:t>
            </a:r>
            <a:endParaRPr lang="fr-CA" sz="1600" dirty="0"/>
          </a:p>
          <a:p>
            <a:pPr algn="ctr" indent="0" marL="0">
              <a:buNone/>
            </a:pPr>
            <a:r>
              <a:rPr lang="fr-CA" altLang="en-US" sz="1600" i="1" dirty="0">
                <a:solidFill>
                  <a:srgbClr val="A89A8C"/>
                </a:solidFill>
                <a:latin typeface="Calibri" pitchFamily="34" charset="0"/>
                <a:ea typeface="Calibri" pitchFamily="34" charset="-122"/>
                <a:cs typeface="Calibri" pitchFamily="34" charset="-120"/>
              </a:rPr>
              <a:t>El</a:t>
            </a:r>
            <a:pPr algn="ctr" indent="0" marL="0">
              <a:buNone/>
            </a:pPr>
            <a:r>
              <a:rPr lang="fr-CA" altLang="en-US" sz="1600" dirty="0">
                <a:solidFill>
                  <a:srgbClr val="A89A8C"/>
                </a:solidFill>
                <a:latin typeface="Calibri" pitchFamily="34" charset="0"/>
                <a:ea typeface="Calibri" pitchFamily="34" charset="-122"/>
                <a:cs typeface="Calibri" pitchFamily="34" charset="-120"/>
              </a:rPr>
              <a:t> : la puissance du Créateur</a:t>
            </a:r>
            <a:endParaRPr lang="fr-CA" sz="1600" dirty="0"/>
          </a:p>
        </p:txBody>
      </p:sp>
      <p:sp>
        <p:nvSpPr>
          <p:cNvPr id="10" name="Shape 7"/>
          <p:cNvSpPr/>
          <p:nvPr/>
        </p:nvSpPr>
        <p:spPr>
          <a:xfrm>
            <a:off x="1005840" y="5687568"/>
            <a:ext cx="2651760" cy="310896"/>
          </a:xfrm>
          <a:prstGeom prst="roundRect">
            <a:avLst>
              <a:gd name="adj" fmla="val 50000"/>
            </a:avLst>
          </a:prstGeom>
          <a:solidFill>
            <a:srgbClr val="2A1A10"/>
          </a:solidFill>
          <a:ln w="9525">
            <a:solidFill>
              <a:srgbClr val="CC5500"/>
            </a:solidFill>
            <a:prstDash val="solid"/>
          </a:ln>
        </p:spPr>
      </p:sp>
      <p:sp>
        <p:nvSpPr>
          <p:cNvPr id="11" name="Text 8"/>
          <p:cNvSpPr txBox="1"/>
          <p:nvPr/>
        </p:nvSpPr>
        <p:spPr>
          <a:xfrm>
            <a:off x="1005840" y="5687568"/>
            <a:ext cx="2651760" cy="310896"/>
          </a:xfrm>
          <a:prstGeom prst="rect">
            <a:avLst/>
          </a:prstGeom>
          <a:noFill/>
          <a:ln/>
        </p:spPr>
        <p:txBody>
          <a:bodyPr wrap="square" lIns="0" tIns="0" rIns="0" bIns="0" rtlCol="0" anchor="ctr"/>
          <a:lstStyle/>
          <a:p>
            <a:pPr algn="ctr" indent="0" marL="0">
              <a:buNone/>
            </a:pPr>
            <a:r>
              <a:rPr lang="fr-CA" altLang="en-US" sz="1300" dirty="0">
                <a:solidFill>
                  <a:srgbClr val="F4EDE4"/>
                </a:solidFill>
                <a:latin typeface="Calibri" pitchFamily="34" charset="0"/>
                <a:ea typeface="Calibri" pitchFamily="34" charset="-122"/>
                <a:cs typeface="Calibri" pitchFamily="34" charset="-120"/>
              </a:rPr>
              <a:t>I. Le ciel qui parle</a:t>
            </a:r>
            <a:endParaRPr lang="fr-CA" sz="1300" dirty="0"/>
          </a:p>
        </p:txBody>
      </p:sp>
      <p:pic>
        <p:nvPicPr>
          <p:cNvPr id="12" name="Mouvement 2" descr="Médaillon : un rouleau de l'Écriture déployé et rayonnant">    </p:cNvPr>
          <p:cNvPicPr>
            <a:picLocks noChangeAspect="1"/>
          </p:cNvPicPr>
          <p:nvPr/>
        </p:nvPicPr>
        <p:blipFill>
          <a:blip r:embed="rId2"/>
          <a:stretch>
            <a:fillRect/>
          </a:stretch>
        </p:blipFill>
        <p:spPr>
          <a:xfrm>
            <a:off x="4997196" y="1892808"/>
            <a:ext cx="2194560" cy="2194560"/>
          </a:xfrm>
          <a:prstGeom prst="rect">
            <a:avLst/>
          </a:prstGeom>
        </p:spPr>
      </p:pic>
      <p:sp>
        <p:nvSpPr>
          <p:cNvPr id="13" name="Text 9"/>
          <p:cNvSpPr txBox="1"/>
          <p:nvPr/>
        </p:nvSpPr>
        <p:spPr>
          <a:xfrm>
            <a:off x="4631436" y="1920240"/>
            <a:ext cx="365760" cy="457200"/>
          </a:xfrm>
          <a:prstGeom prst="rect">
            <a:avLst/>
          </a:prstGeom>
          <a:noFill/>
          <a:ln/>
        </p:spPr>
        <p:txBody>
          <a:bodyPr wrap="square" lIns="0" tIns="0" rIns="0" bIns="0" rtlCol="0" anchor="t"/>
          <a:lstStyle/>
          <a:p>
            <a:pPr indent="0" marL="0">
              <a:buNone/>
            </a:pPr>
            <a:r>
              <a:rPr lang="fr-CA" altLang="en-US" sz="2400" b="1" dirty="0">
                <a:solidFill>
                  <a:srgbClr val="968A80"/>
                </a:solidFill>
                <a:latin typeface="Cambria" pitchFamily="34" charset="0"/>
                <a:ea typeface="Cambria" pitchFamily="34" charset="-122"/>
                <a:cs typeface="Cambria" pitchFamily="34" charset="-120"/>
              </a:rPr>
              <a:t>2</a:t>
            </a:r>
            <a:endParaRPr lang="fr-CA" sz="2400" dirty="0"/>
          </a:p>
        </p:txBody>
      </p:sp>
      <p:sp>
        <p:nvSpPr>
          <p:cNvPr id="14" name="Text 10"/>
          <p:cNvSpPr txBox="1"/>
          <p:nvPr/>
        </p:nvSpPr>
        <p:spPr>
          <a:xfrm>
            <a:off x="4311396" y="4206240"/>
            <a:ext cx="3566160" cy="777240"/>
          </a:xfrm>
          <a:prstGeom prst="rect">
            <a:avLst/>
          </a:prstGeom>
          <a:noFill/>
          <a:ln/>
        </p:spPr>
        <p:txBody>
          <a:bodyPr wrap="square" lIns="0" tIns="0" rIns="0" bIns="0" rtlCol="0" anchor="t"/>
          <a:lstStyle/>
          <a:p>
            <a:pPr algn="ctr" indent="0" marL="0">
              <a:buNone/>
            </a:pPr>
            <a:r>
              <a:rPr lang="fr-CA" altLang="en-US" sz="2600" b="1" dirty="0">
                <a:solidFill>
                  <a:srgbClr val="F4EDE4"/>
                </a:solidFill>
                <a:latin typeface="Cambria" pitchFamily="34" charset="0"/>
                <a:ea typeface="Cambria" pitchFamily="34" charset="-122"/>
                <a:cs typeface="Cambria" pitchFamily="34" charset="-120"/>
              </a:rPr>
              <a:t>L'Écriture</a:t>
            </a:r>
            <a:endParaRPr lang="fr-CA" sz="1600" dirty="0"/>
          </a:p>
          <a:p>
            <a:pPr algn="ctr" indent="0" marL="0">
              <a:buNone/>
            </a:pPr>
            <a:r>
              <a:rPr lang="fr-CA" altLang="en-US" sz="1600" dirty="0">
                <a:solidFill>
                  <a:srgbClr val="E8742A"/>
                </a:solidFill>
                <a:latin typeface="Calibri" pitchFamily="34" charset="0"/>
                <a:ea typeface="Calibri" pitchFamily="34" charset="-122"/>
                <a:cs typeface="Calibri" pitchFamily="34" charset="-120"/>
              </a:rPr>
              <a:t>Psaume 19.8‑12</a:t>
            </a:r>
            <a:endParaRPr lang="fr-CA" sz="1600" dirty="0"/>
          </a:p>
        </p:txBody>
      </p:sp>
      <p:sp>
        <p:nvSpPr>
          <p:cNvPr id="15" name="Text 11"/>
          <p:cNvSpPr txBox="1"/>
          <p:nvPr/>
        </p:nvSpPr>
        <p:spPr>
          <a:xfrm>
            <a:off x="4311396" y="4983480"/>
            <a:ext cx="3566160" cy="640080"/>
          </a:xfrm>
          <a:prstGeom prst="rect">
            <a:avLst/>
          </a:prstGeom>
          <a:noFill/>
          <a:ln/>
        </p:spPr>
        <p:txBody>
          <a:bodyPr wrap="square" lIns="0" tIns="0" rIns="0" bIns="0" rtlCol="0" anchor="t"/>
          <a:lstStyle/>
          <a:p>
            <a:pPr algn="ctr" indent="0" marL="0">
              <a:buNone/>
            </a:pPr>
            <a:r>
              <a:rPr lang="fr-CA" altLang="en-US" sz="1600" b="1" dirty="0">
                <a:solidFill>
                  <a:srgbClr val="F4EDE4"/>
                </a:solidFill>
                <a:latin typeface="Calibri" pitchFamily="34" charset="0"/>
                <a:ea typeface="Calibri" pitchFamily="34" charset="-122"/>
                <a:cs typeface="Calibri" pitchFamily="34" charset="-120"/>
              </a:rPr>
              <a:t>Révélation spéciale</a:t>
            </a:r>
            <a:endParaRPr lang="fr-CA" sz="1600" dirty="0"/>
          </a:p>
          <a:p>
            <a:pPr algn="ctr" indent="0" marL="0">
              <a:buNone/>
            </a:pPr>
            <a:r>
              <a:rPr lang="fr-CA" altLang="en-US" sz="1600" dirty="0">
                <a:solidFill>
                  <a:srgbClr val="A89A8C"/>
                </a:solidFill>
                <a:latin typeface="Calibri" pitchFamily="34" charset="0"/>
                <a:ea typeface="Calibri" pitchFamily="34" charset="-122"/>
                <a:cs typeface="Calibri" pitchFamily="34" charset="-120"/>
              </a:rPr>
              <a:t>l'Éternel : le Dieu de l'alliance</a:t>
            </a:r>
            <a:endParaRPr lang="fr-CA" sz="1600" dirty="0"/>
          </a:p>
        </p:txBody>
      </p:sp>
      <p:sp>
        <p:nvSpPr>
          <p:cNvPr id="16" name="Shape 12"/>
          <p:cNvSpPr/>
          <p:nvPr/>
        </p:nvSpPr>
        <p:spPr>
          <a:xfrm>
            <a:off x="4768596" y="5687568"/>
            <a:ext cx="2651760" cy="310896"/>
          </a:xfrm>
          <a:prstGeom prst="roundRect">
            <a:avLst>
              <a:gd name="adj" fmla="val 50000"/>
            </a:avLst>
          </a:prstGeom>
          <a:solidFill>
            <a:srgbClr val="2A1A10"/>
          </a:solidFill>
          <a:ln w="9525">
            <a:solidFill>
              <a:srgbClr val="CC5500"/>
            </a:solidFill>
            <a:prstDash val="solid"/>
          </a:ln>
        </p:spPr>
      </p:sp>
      <p:sp>
        <p:nvSpPr>
          <p:cNvPr id="17" name="Text 13"/>
          <p:cNvSpPr txBox="1"/>
          <p:nvPr/>
        </p:nvSpPr>
        <p:spPr>
          <a:xfrm>
            <a:off x="4768596" y="5687568"/>
            <a:ext cx="2651760" cy="310896"/>
          </a:xfrm>
          <a:prstGeom prst="rect">
            <a:avLst/>
          </a:prstGeom>
          <a:noFill/>
          <a:ln/>
        </p:spPr>
        <p:txBody>
          <a:bodyPr wrap="square" lIns="0" tIns="0" rIns="0" bIns="0" rtlCol="0" anchor="ctr"/>
          <a:lstStyle/>
          <a:p>
            <a:pPr algn="ctr" indent="0" marL="0">
              <a:buNone/>
            </a:pPr>
            <a:r>
              <a:rPr lang="fr-CA" altLang="en-US" sz="1300" dirty="0">
                <a:solidFill>
                  <a:srgbClr val="F4EDE4"/>
                </a:solidFill>
                <a:latin typeface="Calibri" pitchFamily="34" charset="0"/>
                <a:ea typeface="Calibri" pitchFamily="34" charset="-122"/>
                <a:cs typeface="Calibri" pitchFamily="34" charset="-120"/>
              </a:rPr>
              <a:t>II. La Parole qui suffit</a:t>
            </a:r>
            <a:endParaRPr lang="fr-CA" sz="1300" dirty="0"/>
          </a:p>
        </p:txBody>
      </p:sp>
      <p:sp>
        <p:nvSpPr>
          <p:cNvPr id="18" name="Shape 14"/>
          <p:cNvSpPr/>
          <p:nvPr/>
        </p:nvSpPr>
        <p:spPr>
          <a:xfrm>
            <a:off x="4768596" y="6053328"/>
            <a:ext cx="2651760" cy="310896"/>
          </a:xfrm>
          <a:prstGeom prst="roundRect">
            <a:avLst>
              <a:gd name="adj" fmla="val 50000"/>
            </a:avLst>
          </a:prstGeom>
          <a:solidFill>
            <a:srgbClr val="2A1A10"/>
          </a:solidFill>
          <a:ln w="9525">
            <a:solidFill>
              <a:srgbClr val="CC5500"/>
            </a:solidFill>
            <a:prstDash val="solid"/>
          </a:ln>
        </p:spPr>
      </p:sp>
      <p:sp>
        <p:nvSpPr>
          <p:cNvPr id="19" name="Text 15"/>
          <p:cNvSpPr txBox="1"/>
          <p:nvPr/>
        </p:nvSpPr>
        <p:spPr>
          <a:xfrm>
            <a:off x="4768596" y="6053328"/>
            <a:ext cx="2651760" cy="310896"/>
          </a:xfrm>
          <a:prstGeom prst="rect">
            <a:avLst/>
          </a:prstGeom>
          <a:noFill/>
          <a:ln/>
        </p:spPr>
        <p:txBody>
          <a:bodyPr wrap="square" lIns="0" tIns="0" rIns="0" bIns="0" rtlCol="0" anchor="ctr"/>
          <a:lstStyle/>
          <a:p>
            <a:pPr algn="ctr" indent="0" marL="0">
              <a:buNone/>
            </a:pPr>
            <a:r>
              <a:rPr lang="fr-CA" altLang="en-US" sz="1300" dirty="0">
                <a:solidFill>
                  <a:srgbClr val="F4EDE4"/>
                </a:solidFill>
                <a:latin typeface="Calibri" pitchFamily="34" charset="0"/>
                <a:ea typeface="Calibri" pitchFamily="34" charset="-122"/>
                <a:cs typeface="Calibri" pitchFamily="34" charset="-120"/>
              </a:rPr>
              <a:t>III. La Parole qu'on désire</a:t>
            </a:r>
            <a:endParaRPr lang="fr-CA" sz="1300" dirty="0"/>
          </a:p>
        </p:txBody>
      </p:sp>
      <p:pic>
        <p:nvPicPr>
          <p:cNvPr id="20" name="Mouvement 3" descr="Médaillon : un cœur au-dessus d'une flamme, dans le ciel étoilé">    </p:cNvPr>
          <p:cNvPicPr>
            <a:picLocks noChangeAspect="1"/>
          </p:cNvPicPr>
          <p:nvPr/>
        </p:nvPicPr>
        <p:blipFill>
          <a:blip r:embed="rId3"/>
          <a:stretch>
            <a:fillRect/>
          </a:stretch>
        </p:blipFill>
        <p:spPr>
          <a:xfrm>
            <a:off x="8759952" y="1892808"/>
            <a:ext cx="2194560" cy="2194560"/>
          </a:xfrm>
          <a:prstGeom prst="rect">
            <a:avLst/>
          </a:prstGeom>
        </p:spPr>
      </p:pic>
      <p:sp>
        <p:nvSpPr>
          <p:cNvPr id="21" name="Text 16"/>
          <p:cNvSpPr txBox="1"/>
          <p:nvPr/>
        </p:nvSpPr>
        <p:spPr>
          <a:xfrm>
            <a:off x="8394192" y="1920240"/>
            <a:ext cx="365760" cy="457200"/>
          </a:xfrm>
          <a:prstGeom prst="rect">
            <a:avLst/>
          </a:prstGeom>
          <a:noFill/>
          <a:ln/>
        </p:spPr>
        <p:txBody>
          <a:bodyPr wrap="square" lIns="0" tIns="0" rIns="0" bIns="0" rtlCol="0" anchor="t"/>
          <a:lstStyle/>
          <a:p>
            <a:pPr indent="0" marL="0">
              <a:buNone/>
            </a:pPr>
            <a:r>
              <a:rPr lang="fr-CA" altLang="en-US" sz="2400" b="1" dirty="0">
                <a:solidFill>
                  <a:srgbClr val="968A80"/>
                </a:solidFill>
                <a:latin typeface="Cambria" pitchFamily="34" charset="0"/>
                <a:ea typeface="Cambria" pitchFamily="34" charset="-122"/>
                <a:cs typeface="Cambria" pitchFamily="34" charset="-120"/>
              </a:rPr>
              <a:t>3</a:t>
            </a:r>
            <a:endParaRPr lang="fr-CA" sz="2400" dirty="0"/>
          </a:p>
        </p:txBody>
      </p:sp>
      <p:sp>
        <p:nvSpPr>
          <p:cNvPr id="22" name="Text 17"/>
          <p:cNvSpPr txBox="1"/>
          <p:nvPr/>
        </p:nvSpPr>
        <p:spPr>
          <a:xfrm>
            <a:off x="8074152" y="4206240"/>
            <a:ext cx="3566160" cy="777240"/>
          </a:xfrm>
          <a:prstGeom prst="rect">
            <a:avLst/>
          </a:prstGeom>
          <a:noFill/>
          <a:ln/>
        </p:spPr>
        <p:txBody>
          <a:bodyPr wrap="square" lIns="0" tIns="0" rIns="0" bIns="0" rtlCol="0" anchor="t"/>
          <a:lstStyle/>
          <a:p>
            <a:pPr algn="ctr" indent="0" marL="0">
              <a:buNone/>
            </a:pPr>
            <a:r>
              <a:rPr lang="fr-CA" altLang="en-US" sz="2600" b="1" dirty="0">
                <a:solidFill>
                  <a:srgbClr val="F4EDE4"/>
                </a:solidFill>
                <a:latin typeface="Cambria" pitchFamily="34" charset="0"/>
                <a:ea typeface="Cambria" pitchFamily="34" charset="-122"/>
                <a:cs typeface="Cambria" pitchFamily="34" charset="-120"/>
              </a:rPr>
              <a:t>Le cœur</a:t>
            </a:r>
            <a:endParaRPr lang="fr-CA" sz="1600" dirty="0"/>
          </a:p>
          <a:p>
            <a:pPr algn="ctr" indent="0" marL="0">
              <a:buNone/>
            </a:pPr>
            <a:r>
              <a:rPr lang="fr-CA" altLang="en-US" sz="1600" dirty="0">
                <a:solidFill>
                  <a:srgbClr val="E8742A"/>
                </a:solidFill>
                <a:latin typeface="Calibri" pitchFamily="34" charset="0"/>
                <a:ea typeface="Calibri" pitchFamily="34" charset="-122"/>
                <a:cs typeface="Calibri" pitchFamily="34" charset="-120"/>
              </a:rPr>
              <a:t>Psaume 19.13‑15</a:t>
            </a:r>
            <a:endParaRPr lang="fr-CA" sz="1600" dirty="0"/>
          </a:p>
        </p:txBody>
      </p:sp>
      <p:sp>
        <p:nvSpPr>
          <p:cNvPr id="23" name="Text 18"/>
          <p:cNvSpPr txBox="1"/>
          <p:nvPr/>
        </p:nvSpPr>
        <p:spPr>
          <a:xfrm>
            <a:off x="8074152" y="4983480"/>
            <a:ext cx="3566160" cy="640080"/>
          </a:xfrm>
          <a:prstGeom prst="rect">
            <a:avLst/>
          </a:prstGeom>
          <a:noFill/>
          <a:ln/>
        </p:spPr>
        <p:txBody>
          <a:bodyPr wrap="square" lIns="0" tIns="0" rIns="0" bIns="0" rtlCol="0" anchor="t"/>
          <a:lstStyle/>
          <a:p>
            <a:pPr algn="ctr" indent="0" marL="0">
              <a:buNone/>
            </a:pPr>
            <a:r>
              <a:rPr lang="fr-CA" altLang="en-US" sz="1600" b="1" dirty="0">
                <a:solidFill>
                  <a:srgbClr val="F4EDE4"/>
                </a:solidFill>
                <a:latin typeface="Calibri" pitchFamily="34" charset="0"/>
                <a:ea typeface="Calibri" pitchFamily="34" charset="-122"/>
                <a:cs typeface="Calibri" pitchFamily="34" charset="-120"/>
              </a:rPr>
              <a:t>Application de la Parole</a:t>
            </a:r>
            <a:endParaRPr lang="fr-CA" sz="1600" dirty="0"/>
          </a:p>
          <a:p>
            <a:pPr algn="ctr" indent="0" marL="0">
              <a:buNone/>
            </a:pPr>
            <a:r>
              <a:rPr lang="fr-CA" altLang="en-US" sz="1600" dirty="0">
                <a:solidFill>
                  <a:srgbClr val="A89A8C"/>
                </a:solidFill>
                <a:latin typeface="Calibri" pitchFamily="34" charset="0"/>
                <a:ea typeface="Calibri" pitchFamily="34" charset="-122"/>
                <a:cs typeface="Calibri" pitchFamily="34" charset="-120"/>
              </a:rPr>
              <a:t>sondé, gardé, présenté au Rédempteur</a:t>
            </a:r>
            <a:endParaRPr lang="fr-CA" sz="1600" dirty="0"/>
          </a:p>
        </p:txBody>
      </p:sp>
      <p:sp>
        <p:nvSpPr>
          <p:cNvPr id="24" name="Shape 19"/>
          <p:cNvSpPr/>
          <p:nvPr/>
        </p:nvSpPr>
        <p:spPr>
          <a:xfrm>
            <a:off x="8531352" y="5687568"/>
            <a:ext cx="2651760" cy="310896"/>
          </a:xfrm>
          <a:prstGeom prst="roundRect">
            <a:avLst>
              <a:gd name="adj" fmla="val 50000"/>
            </a:avLst>
          </a:prstGeom>
          <a:solidFill>
            <a:srgbClr val="2A1A10"/>
          </a:solidFill>
          <a:ln w="9525">
            <a:solidFill>
              <a:srgbClr val="CC5500"/>
            </a:solidFill>
            <a:prstDash val="solid"/>
          </a:ln>
        </p:spPr>
      </p:sp>
      <p:sp>
        <p:nvSpPr>
          <p:cNvPr id="25" name="Text 20"/>
          <p:cNvSpPr txBox="1"/>
          <p:nvPr/>
        </p:nvSpPr>
        <p:spPr>
          <a:xfrm>
            <a:off x="8531352" y="5687568"/>
            <a:ext cx="2651760" cy="310896"/>
          </a:xfrm>
          <a:prstGeom prst="rect">
            <a:avLst/>
          </a:prstGeom>
          <a:noFill/>
          <a:ln/>
        </p:spPr>
        <p:txBody>
          <a:bodyPr wrap="square" lIns="0" tIns="0" rIns="0" bIns="0" rtlCol="0" anchor="ctr"/>
          <a:lstStyle/>
          <a:p>
            <a:pPr algn="ctr" indent="0" marL="0">
              <a:buNone/>
            </a:pPr>
            <a:r>
              <a:rPr lang="fr-CA" altLang="en-US" sz="1300" dirty="0">
                <a:solidFill>
                  <a:srgbClr val="F4EDE4"/>
                </a:solidFill>
                <a:latin typeface="Calibri" pitchFamily="34" charset="0"/>
                <a:ea typeface="Calibri" pitchFamily="34" charset="-122"/>
                <a:cs typeface="Calibri" pitchFamily="34" charset="-120"/>
              </a:rPr>
              <a:t>IV. Le cœur qui s'offre</a:t>
            </a:r>
            <a:endParaRPr lang="fr-CA" sz="1300" dirty="0"/>
          </a:p>
        </p:txBody>
      </p:sp>
      <p:grpSp>
        <p:nvGrpSpPr>
          <p:cNvPr id="1001" name="Barre de progression"/>
          <p:cNvGrpSpPr/>
          <p:nvPr/>
        </p:nvGrpSpPr>
        <p:grpSpPr>
          <a:xfrm>
            <a:off x="546100" y="6527800"/>
            <a:ext cx="11099800" cy="63500"/>
            <a:chOff x="546100" y="6527800"/>
            <a:chExt cx="11099800" cy="63500"/>
          </a:xfrm>
        </p:grpSpPr>
        <p:sp>
          <p:nvSpPr>
            <p:cNvPr id="26" name="Progression 1"/>
            <p:cNvSpPr/>
            <p:nvPr/>
          </p:nvSpPr>
          <p:spPr>
            <a:xfrm>
              <a:off x="546100" y="6527800"/>
              <a:ext cx="668867" cy="63500"/>
            </a:xfrm>
            <a:prstGeom prst="rect">
              <a:avLst/>
            </a:prstGeom>
            <a:solidFill>
              <a:srgbClr val="E8742A"/>
            </a:solidFill>
            <a:ln/>
          </p:spPr>
        </p:sp>
        <p:sp>
          <p:nvSpPr>
            <p:cNvPr id="27" name="Progression 2"/>
            <p:cNvSpPr/>
            <p:nvPr/>
          </p:nvSpPr>
          <p:spPr>
            <a:xfrm>
              <a:off x="1291167" y="6527800"/>
              <a:ext cx="668867" cy="63500"/>
            </a:xfrm>
            <a:prstGeom prst="rect">
              <a:avLst/>
            </a:prstGeom>
            <a:solidFill>
              <a:srgbClr val="E8742A"/>
            </a:solidFill>
            <a:ln/>
          </p:spPr>
        </p:sp>
        <p:sp>
          <p:nvSpPr>
            <p:cNvPr id="28" name="Progression 3"/>
            <p:cNvSpPr/>
            <p:nvPr/>
          </p:nvSpPr>
          <p:spPr>
            <a:xfrm>
              <a:off x="2036233" y="6527800"/>
              <a:ext cx="668867" cy="63500"/>
            </a:xfrm>
            <a:prstGeom prst="rect">
              <a:avLst/>
            </a:prstGeom>
            <a:solidFill>
              <a:srgbClr val="3A312C"/>
            </a:solidFill>
            <a:ln/>
          </p:spPr>
        </p:sp>
        <p:sp>
          <p:nvSpPr>
            <p:cNvPr id="29" name="Progression 4"/>
            <p:cNvSpPr/>
            <p:nvPr/>
          </p:nvSpPr>
          <p:spPr>
            <a:xfrm>
              <a:off x="2781300" y="6527800"/>
              <a:ext cx="668867" cy="63500"/>
            </a:xfrm>
            <a:prstGeom prst="rect">
              <a:avLst/>
            </a:prstGeom>
            <a:solidFill>
              <a:srgbClr val="3A312C"/>
            </a:solidFill>
            <a:ln/>
          </p:spPr>
        </p:sp>
        <p:sp>
          <p:nvSpPr>
            <p:cNvPr id="30" name="Progression 5"/>
            <p:cNvSpPr/>
            <p:nvPr/>
          </p:nvSpPr>
          <p:spPr>
            <a:xfrm>
              <a:off x="3526367" y="6527800"/>
              <a:ext cx="668867" cy="63500"/>
            </a:xfrm>
            <a:prstGeom prst="rect">
              <a:avLst/>
            </a:prstGeom>
            <a:solidFill>
              <a:srgbClr val="3A312C"/>
            </a:solidFill>
            <a:ln/>
          </p:spPr>
        </p:sp>
        <p:sp>
          <p:nvSpPr>
            <p:cNvPr id="31" name="Progression 6"/>
            <p:cNvSpPr/>
            <p:nvPr/>
          </p:nvSpPr>
          <p:spPr>
            <a:xfrm>
              <a:off x="4271433" y="6527800"/>
              <a:ext cx="668867" cy="63500"/>
            </a:xfrm>
            <a:prstGeom prst="rect">
              <a:avLst/>
            </a:prstGeom>
            <a:solidFill>
              <a:srgbClr val="3A312C"/>
            </a:solidFill>
            <a:ln/>
          </p:spPr>
        </p:sp>
        <p:sp>
          <p:nvSpPr>
            <p:cNvPr id="32" name="Progression 7"/>
            <p:cNvSpPr/>
            <p:nvPr/>
          </p:nvSpPr>
          <p:spPr>
            <a:xfrm>
              <a:off x="5016500" y="6527800"/>
              <a:ext cx="668867" cy="63500"/>
            </a:xfrm>
            <a:prstGeom prst="rect">
              <a:avLst/>
            </a:prstGeom>
            <a:solidFill>
              <a:srgbClr val="3A312C"/>
            </a:solidFill>
            <a:ln/>
          </p:spPr>
        </p:sp>
        <p:sp>
          <p:nvSpPr>
            <p:cNvPr id="33" name="Progression 8"/>
            <p:cNvSpPr/>
            <p:nvPr/>
          </p:nvSpPr>
          <p:spPr>
            <a:xfrm>
              <a:off x="5761567" y="6527800"/>
              <a:ext cx="668867" cy="63500"/>
            </a:xfrm>
            <a:prstGeom prst="rect">
              <a:avLst/>
            </a:prstGeom>
            <a:solidFill>
              <a:srgbClr val="3A312C"/>
            </a:solidFill>
            <a:ln/>
          </p:spPr>
        </p:sp>
        <p:sp>
          <p:nvSpPr>
            <p:cNvPr id="34" name="Progression 9"/>
            <p:cNvSpPr/>
            <p:nvPr/>
          </p:nvSpPr>
          <p:spPr>
            <a:xfrm>
              <a:off x="6506633" y="6527800"/>
              <a:ext cx="668867" cy="63500"/>
            </a:xfrm>
            <a:prstGeom prst="rect">
              <a:avLst/>
            </a:prstGeom>
            <a:solidFill>
              <a:srgbClr val="3A312C"/>
            </a:solidFill>
            <a:ln/>
          </p:spPr>
        </p:sp>
        <p:sp>
          <p:nvSpPr>
            <p:cNvPr id="35" name="Progression 10"/>
            <p:cNvSpPr/>
            <p:nvPr/>
          </p:nvSpPr>
          <p:spPr>
            <a:xfrm>
              <a:off x="7251700" y="6527800"/>
              <a:ext cx="668867" cy="63500"/>
            </a:xfrm>
            <a:prstGeom prst="rect">
              <a:avLst/>
            </a:prstGeom>
            <a:solidFill>
              <a:srgbClr val="3A312C"/>
            </a:solidFill>
            <a:ln/>
          </p:spPr>
        </p:sp>
        <p:sp>
          <p:nvSpPr>
            <p:cNvPr id="36" name="Progression 11"/>
            <p:cNvSpPr/>
            <p:nvPr/>
          </p:nvSpPr>
          <p:spPr>
            <a:xfrm>
              <a:off x="7996767" y="6527800"/>
              <a:ext cx="668867" cy="63500"/>
            </a:xfrm>
            <a:prstGeom prst="rect">
              <a:avLst/>
            </a:prstGeom>
            <a:solidFill>
              <a:srgbClr val="3A312C"/>
            </a:solidFill>
            <a:ln/>
          </p:spPr>
        </p:sp>
        <p:sp>
          <p:nvSpPr>
            <p:cNvPr id="37" name="Progression 12"/>
            <p:cNvSpPr/>
            <p:nvPr/>
          </p:nvSpPr>
          <p:spPr>
            <a:xfrm>
              <a:off x="8741833" y="6527800"/>
              <a:ext cx="668867" cy="63500"/>
            </a:xfrm>
            <a:prstGeom prst="rect">
              <a:avLst/>
            </a:prstGeom>
            <a:solidFill>
              <a:srgbClr val="3A312C"/>
            </a:solidFill>
            <a:ln/>
          </p:spPr>
        </p:sp>
        <p:sp>
          <p:nvSpPr>
            <p:cNvPr id="38" name="Progression 13"/>
            <p:cNvSpPr/>
            <p:nvPr/>
          </p:nvSpPr>
          <p:spPr>
            <a:xfrm>
              <a:off x="9486900" y="6527800"/>
              <a:ext cx="668867" cy="63500"/>
            </a:xfrm>
            <a:prstGeom prst="rect">
              <a:avLst/>
            </a:prstGeom>
            <a:solidFill>
              <a:srgbClr val="3A312C"/>
            </a:solidFill>
            <a:ln/>
          </p:spPr>
        </p:sp>
        <p:sp>
          <p:nvSpPr>
            <p:cNvPr id="39" name="Progression 14"/>
            <p:cNvSpPr/>
            <p:nvPr/>
          </p:nvSpPr>
          <p:spPr>
            <a:xfrm>
              <a:off x="10231967" y="6527800"/>
              <a:ext cx="668867" cy="63500"/>
            </a:xfrm>
            <a:prstGeom prst="rect">
              <a:avLst/>
            </a:prstGeom>
            <a:solidFill>
              <a:srgbClr val="3A312C"/>
            </a:solidFill>
            <a:ln/>
          </p:spPr>
        </p:sp>
        <p:sp>
          <p:nvSpPr>
            <p:cNvPr id="40"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Repère de section"/>
          <p:cNvSpPr txBox="1"/>
          <p:nvPr/>
        </p:nvSpPr>
        <p:spPr>
          <a:xfrm>
            <a:off x="548640" y="384048"/>
            <a:ext cx="1106424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INTRODUCTION · PSAUME 19.5, 8</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D'où vient la loi?</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Babylone la fait se réclamer du dieu‑soleil; le Psaume 19 la remet entre les mains de l'Éternel</a:t>
            </a:r>
            <a:endParaRPr lang="fr-CA" sz="1900" dirty="0"/>
          </a:p>
        </p:txBody>
      </p:sp>
      <p:pic>
        <p:nvPicPr>
          <p:cNvPr id="5" name="Photo de la stèle" descr="Photo : partie supérieure de la stèle de Hammurabi (Louvre), le roi debout devant Shamash assis sur son trône">    </p:cNvPr>
          <p:cNvPicPr>
            <a:picLocks noChangeAspect="1"/>
          </p:cNvPicPr>
          <p:nvPr/>
        </p:nvPicPr>
        <p:blipFill>
          <a:blip r:embed="rId1"/>
          <a:stretch>
            <a:fillRect/>
          </a:stretch>
        </p:blipFill>
        <p:spPr>
          <a:xfrm>
            <a:off x="1197864" y="1920240"/>
            <a:ext cx="2185416" cy="2916936"/>
          </a:xfrm>
          <a:prstGeom prst="rect">
            <a:avLst/>
          </a:prstGeom>
        </p:spPr>
      </p:pic>
      <p:sp>
        <p:nvSpPr>
          <p:cNvPr id="6" name="Text 3"/>
          <p:cNvSpPr txBox="1"/>
          <p:nvPr/>
        </p:nvSpPr>
        <p:spPr>
          <a:xfrm>
            <a:off x="274320" y="5029200"/>
            <a:ext cx="3977640" cy="868680"/>
          </a:xfrm>
          <a:prstGeom prst="rect">
            <a:avLst/>
          </a:prstGeom>
          <a:noFill/>
          <a:ln/>
        </p:spPr>
        <p:txBody>
          <a:bodyPr wrap="square" lIns="0" tIns="0" rIns="0" bIns="0" rtlCol="0" anchor="t"/>
          <a:lstStyle/>
          <a:p>
            <a:pPr algn="ctr" indent="0" marL="0">
              <a:buNone/>
            </a:pPr>
            <a:r>
              <a:rPr lang="fr-CA" altLang="en-US" sz="1500" b="1" dirty="0">
                <a:solidFill>
                  <a:srgbClr val="F4EDE4"/>
                </a:solidFill>
                <a:latin typeface="Calibri" pitchFamily="34" charset="0"/>
                <a:ea typeface="Calibri" pitchFamily="34" charset="-122"/>
                <a:cs typeface="Calibri" pitchFamily="34" charset="-120"/>
              </a:rPr>
              <a:t>Stèle de Hammurabi (Louvre)</a:t>
            </a:r>
            <a:endParaRPr lang="fr-CA" sz="1500" dirty="0"/>
          </a:p>
          <a:p>
            <a:pPr algn="ctr" indent="0" marL="0">
              <a:buNone/>
            </a:pPr>
            <a:r>
              <a:rPr lang="fr-CA" altLang="en-US" sz="1500" dirty="0">
                <a:solidFill>
                  <a:srgbClr val="A89A8C"/>
                </a:solidFill>
                <a:latin typeface="Calibri" pitchFamily="34" charset="0"/>
                <a:ea typeface="Calibri" pitchFamily="34" charset="-122"/>
                <a:cs typeface="Calibri" pitchFamily="34" charset="-120"/>
              </a:rPr>
              <a:t>le roi devant Shamash, le dieu‑soleil</a:t>
            </a:r>
            <a:endParaRPr lang="fr-CA" sz="1500" dirty="0"/>
          </a:p>
          <a:p>
            <a:pPr algn="ctr" indent="0" marL="0">
              <a:spcBef>
                <a:spcPts val="400"/>
              </a:spcBef>
              <a:buNone/>
            </a:pPr>
            <a:r>
              <a:rPr lang="fr-CA" altLang="en-US" sz="1300" dirty="0">
                <a:solidFill>
                  <a:srgbClr val="968A80"/>
                </a:solidFill>
                <a:latin typeface="Calibri" pitchFamily="34" charset="0"/>
                <a:ea typeface="Calibri" pitchFamily="34" charset="-122"/>
                <a:cs typeface="Calibri" pitchFamily="34" charset="-120"/>
              </a:rPr>
              <a:t>Photo : Sailko, CC BY 2.5, Wikimedia Commons</a:t>
            </a:r>
            <a:endParaRPr lang="fr-CA" sz="1500" dirty="0"/>
          </a:p>
        </p:txBody>
      </p:sp>
      <p:sp>
        <p:nvSpPr>
          <p:cNvPr id="7" name="Shape 4"/>
          <p:cNvSpPr/>
          <p:nvPr/>
        </p:nvSpPr>
        <p:spPr>
          <a:xfrm>
            <a:off x="4343400" y="2240280"/>
            <a:ext cx="566928" cy="566928"/>
          </a:xfrm>
          <a:prstGeom prst="ellipse">
            <a:avLst/>
          </a:prstGeom>
          <a:solidFill>
            <a:srgbClr val="2A1A10"/>
          </a:solidFill>
          <a:ln w="12700">
            <a:solidFill>
              <a:srgbClr val="CC5500"/>
            </a:solidFill>
            <a:prstDash val="solid"/>
          </a:ln>
        </p:spPr>
      </p:sp>
      <p:pic>
        <p:nvPicPr>
          <p:cNvPr id="8" name="Image 1" descr="Icône : soleil">    </p:cNvPr>
          <p:cNvPicPr>
            <a:picLocks noChangeAspect="1"/>
          </p:cNvPicPr>
          <p:nvPr/>
        </p:nvPicPr>
        <p:blipFill>
          <a:blip r:embed="rId2"/>
          <a:stretch>
            <a:fillRect/>
          </a:stretch>
        </p:blipFill>
        <p:spPr>
          <a:xfrm>
            <a:off x="4456786" y="2353666"/>
            <a:ext cx="340157" cy="340157"/>
          </a:xfrm>
          <a:prstGeom prst="rect">
            <a:avLst/>
          </a:prstGeom>
        </p:spPr>
      </p:pic>
      <p:sp>
        <p:nvSpPr>
          <p:cNvPr id="9" name="Text 5"/>
          <p:cNvSpPr txBox="1"/>
          <p:nvPr/>
        </p:nvSpPr>
        <p:spPr>
          <a:xfrm>
            <a:off x="5093208" y="2212848"/>
            <a:ext cx="2907792" cy="114300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Autour d'Israël</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Shamash, dieu‑soleil et dieu de la justice : la loi du roi se réclame de lui.</a:t>
            </a:r>
            <a:endParaRPr lang="fr-CA" sz="1500" dirty="0"/>
          </a:p>
        </p:txBody>
      </p:sp>
      <p:sp>
        <p:nvSpPr>
          <p:cNvPr id="10" name="Shape 6"/>
          <p:cNvSpPr/>
          <p:nvPr/>
        </p:nvSpPr>
        <p:spPr>
          <a:xfrm>
            <a:off x="4343400" y="3611880"/>
            <a:ext cx="566928" cy="566928"/>
          </a:xfrm>
          <a:prstGeom prst="ellipse">
            <a:avLst/>
          </a:prstGeom>
          <a:solidFill>
            <a:srgbClr val="2A1A10"/>
          </a:solidFill>
          <a:ln w="12700">
            <a:solidFill>
              <a:srgbClr val="CC5500"/>
            </a:solidFill>
            <a:prstDash val="solid"/>
          </a:ln>
        </p:spPr>
      </p:sp>
      <p:pic>
        <p:nvPicPr>
          <p:cNvPr id="11" name="Image 2" descr="Icône : livre ouvert">    </p:cNvPr>
          <p:cNvPicPr>
            <a:picLocks noChangeAspect="1"/>
          </p:cNvPicPr>
          <p:nvPr/>
        </p:nvPicPr>
        <p:blipFill>
          <a:blip r:embed="rId3"/>
          <a:stretch>
            <a:fillRect/>
          </a:stretch>
        </p:blipFill>
        <p:spPr>
          <a:xfrm>
            <a:off x="4456786" y="3725266"/>
            <a:ext cx="340157" cy="340157"/>
          </a:xfrm>
          <a:prstGeom prst="rect">
            <a:avLst/>
          </a:prstGeom>
        </p:spPr>
      </p:pic>
      <p:sp>
        <p:nvSpPr>
          <p:cNvPr id="12" name="Text 7"/>
          <p:cNvSpPr txBox="1"/>
          <p:nvPr/>
        </p:nvSpPr>
        <p:spPr>
          <a:xfrm>
            <a:off x="5093208" y="3584448"/>
            <a:ext cx="2907792" cy="1143000"/>
          </a:xfrm>
          <a:prstGeom prst="rect">
            <a:avLst/>
          </a:prstGeom>
          <a:noFill/>
          <a:ln/>
        </p:spPr>
        <p:txBody>
          <a:bodyPr wrap="square" lIns="0" tIns="0" rIns="0" bIns="0" rtlCol="0" anchor="t"/>
          <a:lstStyle/>
          <a:p>
            <a:pPr indent="0" marL="0">
              <a:spcBef>
                <a:spcPts val="200"/>
              </a:spcBef>
              <a:buNone/>
            </a:pPr>
            <a:r>
              <a:rPr lang="fr-CA" altLang="en-US" sz="1800" b="1" dirty="0">
                <a:solidFill>
                  <a:srgbClr val="E8742A"/>
                </a:solidFill>
                <a:latin typeface="Calibri" pitchFamily="34" charset="0"/>
                <a:ea typeface="Calibri" pitchFamily="34" charset="-122"/>
                <a:cs typeface="Calibri" pitchFamily="34" charset="-120"/>
              </a:rPr>
              <a:t>Psaume 19</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Le soleil loge sous une tente que Dieu a dressée (19.5); la loi est celle de l'Éternel (19.8).</a:t>
            </a:r>
            <a:endParaRPr lang="fr-CA" sz="1500" dirty="0"/>
          </a:p>
        </p:txBody>
      </p:sp>
      <p:pic>
        <p:nvPicPr>
          <p:cNvPr id="13" name="Image 3" descr="Médaillon : le soleil sous une tente, et au-dessus un livre ouvert rayonnant">    </p:cNvPr>
          <p:cNvPicPr>
            <a:picLocks noChangeAspect="1"/>
          </p:cNvPicPr>
          <p:nvPr/>
        </p:nvPicPr>
        <p:blipFill>
          <a:blip r:embed="rId4"/>
          <a:stretch>
            <a:fillRect/>
          </a:stretch>
        </p:blipFill>
        <p:spPr>
          <a:xfrm>
            <a:off x="8412480" y="1920240"/>
            <a:ext cx="3108960" cy="3108960"/>
          </a:xfrm>
          <a:prstGeom prst="rect">
            <a:avLst/>
          </a:prstGeom>
        </p:spPr>
      </p:pic>
      <p:sp>
        <p:nvSpPr>
          <p:cNvPr id="14" name="Text 8"/>
          <p:cNvSpPr txBox="1"/>
          <p:nvPr/>
        </p:nvSpPr>
        <p:spPr>
          <a:xfrm>
            <a:off x="8183880" y="5230368"/>
            <a:ext cx="3566160" cy="731520"/>
          </a:xfrm>
          <a:prstGeom prst="rect">
            <a:avLst/>
          </a:prstGeom>
          <a:noFill/>
          <a:ln/>
        </p:spPr>
        <p:txBody>
          <a:bodyPr wrap="square" lIns="0" tIns="0" rIns="0" bIns="0" rtlCol="0" anchor="t"/>
          <a:lstStyle/>
          <a:p>
            <a:pPr algn="ctr" indent="0" marL="0">
              <a:buNone/>
            </a:pPr>
            <a:r>
              <a:rPr lang="fr-CA" altLang="en-US" sz="1500" b="1" dirty="0">
                <a:solidFill>
                  <a:srgbClr val="E8742A"/>
                </a:solidFill>
                <a:latin typeface="Calibri" pitchFamily="34" charset="0"/>
                <a:ea typeface="Calibri" pitchFamily="34" charset="-122"/>
                <a:cs typeface="Calibri" pitchFamily="34" charset="-120"/>
              </a:rPr>
              <a:t>Le soleil brûle, mais ne légifère pas</a:t>
            </a:r>
            <a:endParaRPr lang="fr-CA" sz="1500" dirty="0"/>
          </a:p>
          <a:p>
            <a:pPr algn="ctr" indent="0" marL="0">
              <a:buNone/>
            </a:pPr>
            <a:r>
              <a:rPr lang="fr-CA" altLang="en-US" sz="1500" dirty="0">
                <a:solidFill>
                  <a:srgbClr val="A89A8C"/>
                </a:solidFill>
                <a:latin typeface="Calibri" pitchFamily="34" charset="0"/>
                <a:ea typeface="Calibri" pitchFamily="34" charset="-122"/>
                <a:cs typeface="Calibri" pitchFamily="34" charset="-120"/>
              </a:rPr>
              <a:t>une créature sous la tente; la loi est à l'Éternel</a:t>
            </a:r>
            <a:endParaRPr lang="fr-CA" sz="1500" dirty="0"/>
          </a:p>
        </p:txBody>
      </p:sp>
      <p:sp>
        <p:nvSpPr>
          <p:cNvPr id="15" name="Text 9"/>
          <p:cNvSpPr txBox="1"/>
          <p:nvPr/>
        </p:nvSpPr>
        <p:spPr>
          <a:xfrm>
            <a:off x="548640" y="5989320"/>
            <a:ext cx="11064240" cy="411480"/>
          </a:xfrm>
          <a:prstGeom prst="rect">
            <a:avLst/>
          </a:prstGeom>
          <a:noFill/>
          <a:ln/>
        </p:spPr>
        <p:txBody>
          <a:bodyPr wrap="square" lIns="0" tIns="0" rIns="0" bIns="0" rtlCol="0" anchor="t"/>
          <a:lstStyle/>
          <a:p>
            <a:pPr algn="ctr" indent="0" marL="0">
              <a:buNone/>
            </a:pPr>
            <a:r>
              <a:rPr lang="fr-CA" altLang="en-US" sz="2100" i="1" dirty="0">
                <a:solidFill>
                  <a:srgbClr val="F4EDE4"/>
                </a:solidFill>
                <a:latin typeface="Calibri" pitchFamily="34" charset="0"/>
                <a:ea typeface="Calibri" pitchFamily="34" charset="-122"/>
                <a:cs typeface="Calibri" pitchFamily="34" charset="-120"/>
              </a:rPr>
              <a:t>Où allez‑vous chercher la vérité qui gouverne votre vie?</a:t>
            </a:r>
            <a:endParaRPr lang="fr-CA" sz="2100" dirty="0"/>
          </a:p>
        </p:txBody>
      </p:sp>
      <p:grpSp>
        <p:nvGrpSpPr>
          <p:cNvPr id="1002" name="Barre de progression"/>
          <p:cNvGrpSpPr/>
          <p:nvPr/>
        </p:nvGrpSpPr>
        <p:grpSpPr>
          <a:xfrm>
            <a:off x="546100" y="6527800"/>
            <a:ext cx="11099800" cy="63500"/>
            <a:chOff x="546100" y="6527800"/>
            <a:chExt cx="11099800" cy="63500"/>
          </a:xfrm>
        </p:grpSpPr>
        <p:sp>
          <p:nvSpPr>
            <p:cNvPr id="16" name="Progression 1"/>
            <p:cNvSpPr/>
            <p:nvPr/>
          </p:nvSpPr>
          <p:spPr>
            <a:xfrm>
              <a:off x="546100" y="6527800"/>
              <a:ext cx="668867" cy="63500"/>
            </a:xfrm>
            <a:prstGeom prst="rect">
              <a:avLst/>
            </a:prstGeom>
            <a:solidFill>
              <a:srgbClr val="E8742A"/>
            </a:solidFill>
            <a:ln/>
          </p:spPr>
        </p:sp>
        <p:sp>
          <p:nvSpPr>
            <p:cNvPr id="17" name="Progression 2"/>
            <p:cNvSpPr/>
            <p:nvPr/>
          </p:nvSpPr>
          <p:spPr>
            <a:xfrm>
              <a:off x="1291167" y="6527800"/>
              <a:ext cx="668867" cy="63500"/>
            </a:xfrm>
            <a:prstGeom prst="rect">
              <a:avLst/>
            </a:prstGeom>
            <a:solidFill>
              <a:srgbClr val="E8742A"/>
            </a:solidFill>
            <a:ln/>
          </p:spPr>
        </p:sp>
        <p:sp>
          <p:nvSpPr>
            <p:cNvPr id="18" name="Progression 3"/>
            <p:cNvSpPr/>
            <p:nvPr/>
          </p:nvSpPr>
          <p:spPr>
            <a:xfrm>
              <a:off x="2036233" y="6527800"/>
              <a:ext cx="668867" cy="63500"/>
            </a:xfrm>
            <a:prstGeom prst="rect">
              <a:avLst/>
            </a:prstGeom>
            <a:solidFill>
              <a:srgbClr val="E8742A"/>
            </a:solidFill>
            <a:ln/>
          </p:spPr>
        </p:sp>
        <p:sp>
          <p:nvSpPr>
            <p:cNvPr id="19" name="Progression 4"/>
            <p:cNvSpPr/>
            <p:nvPr/>
          </p:nvSpPr>
          <p:spPr>
            <a:xfrm>
              <a:off x="2781300" y="6527800"/>
              <a:ext cx="668867" cy="63500"/>
            </a:xfrm>
            <a:prstGeom prst="rect">
              <a:avLst/>
            </a:prstGeom>
            <a:solidFill>
              <a:srgbClr val="3A312C"/>
            </a:solidFill>
            <a:ln/>
          </p:spPr>
        </p:sp>
        <p:sp>
          <p:nvSpPr>
            <p:cNvPr id="20" name="Progression 5"/>
            <p:cNvSpPr/>
            <p:nvPr/>
          </p:nvSpPr>
          <p:spPr>
            <a:xfrm>
              <a:off x="3526367" y="6527800"/>
              <a:ext cx="668867" cy="63500"/>
            </a:xfrm>
            <a:prstGeom prst="rect">
              <a:avLst/>
            </a:prstGeom>
            <a:solidFill>
              <a:srgbClr val="3A312C"/>
            </a:solidFill>
            <a:ln/>
          </p:spPr>
        </p:sp>
        <p:sp>
          <p:nvSpPr>
            <p:cNvPr id="21" name="Progression 6"/>
            <p:cNvSpPr/>
            <p:nvPr/>
          </p:nvSpPr>
          <p:spPr>
            <a:xfrm>
              <a:off x="4271433" y="6527800"/>
              <a:ext cx="668867" cy="63500"/>
            </a:xfrm>
            <a:prstGeom prst="rect">
              <a:avLst/>
            </a:prstGeom>
            <a:solidFill>
              <a:srgbClr val="3A312C"/>
            </a:solidFill>
            <a:ln/>
          </p:spPr>
        </p:sp>
        <p:sp>
          <p:nvSpPr>
            <p:cNvPr id="22" name="Progression 7"/>
            <p:cNvSpPr/>
            <p:nvPr/>
          </p:nvSpPr>
          <p:spPr>
            <a:xfrm>
              <a:off x="5016500" y="6527800"/>
              <a:ext cx="668867" cy="63500"/>
            </a:xfrm>
            <a:prstGeom prst="rect">
              <a:avLst/>
            </a:prstGeom>
            <a:solidFill>
              <a:srgbClr val="3A312C"/>
            </a:solidFill>
            <a:ln/>
          </p:spPr>
        </p:sp>
        <p:sp>
          <p:nvSpPr>
            <p:cNvPr id="23" name="Progression 8"/>
            <p:cNvSpPr/>
            <p:nvPr/>
          </p:nvSpPr>
          <p:spPr>
            <a:xfrm>
              <a:off x="5761567" y="6527800"/>
              <a:ext cx="668867" cy="63500"/>
            </a:xfrm>
            <a:prstGeom prst="rect">
              <a:avLst/>
            </a:prstGeom>
            <a:solidFill>
              <a:srgbClr val="3A312C"/>
            </a:solidFill>
            <a:ln/>
          </p:spPr>
        </p:sp>
        <p:sp>
          <p:nvSpPr>
            <p:cNvPr id="24" name="Progression 9"/>
            <p:cNvSpPr/>
            <p:nvPr/>
          </p:nvSpPr>
          <p:spPr>
            <a:xfrm>
              <a:off x="6506633" y="6527800"/>
              <a:ext cx="668867" cy="63500"/>
            </a:xfrm>
            <a:prstGeom prst="rect">
              <a:avLst/>
            </a:prstGeom>
            <a:solidFill>
              <a:srgbClr val="3A312C"/>
            </a:solidFill>
            <a:ln/>
          </p:spPr>
        </p:sp>
        <p:sp>
          <p:nvSpPr>
            <p:cNvPr id="25" name="Progression 10"/>
            <p:cNvSpPr/>
            <p:nvPr/>
          </p:nvSpPr>
          <p:spPr>
            <a:xfrm>
              <a:off x="7251700" y="6527800"/>
              <a:ext cx="668867" cy="63500"/>
            </a:xfrm>
            <a:prstGeom prst="rect">
              <a:avLst/>
            </a:prstGeom>
            <a:solidFill>
              <a:srgbClr val="3A312C"/>
            </a:solidFill>
            <a:ln/>
          </p:spPr>
        </p:sp>
        <p:sp>
          <p:nvSpPr>
            <p:cNvPr id="26" name="Progression 11"/>
            <p:cNvSpPr/>
            <p:nvPr/>
          </p:nvSpPr>
          <p:spPr>
            <a:xfrm>
              <a:off x="7996767" y="6527800"/>
              <a:ext cx="668867" cy="63500"/>
            </a:xfrm>
            <a:prstGeom prst="rect">
              <a:avLst/>
            </a:prstGeom>
            <a:solidFill>
              <a:srgbClr val="3A312C"/>
            </a:solidFill>
            <a:ln/>
          </p:spPr>
        </p:sp>
        <p:sp>
          <p:nvSpPr>
            <p:cNvPr id="27" name="Progression 12"/>
            <p:cNvSpPr/>
            <p:nvPr/>
          </p:nvSpPr>
          <p:spPr>
            <a:xfrm>
              <a:off x="8741833" y="6527800"/>
              <a:ext cx="668867" cy="63500"/>
            </a:xfrm>
            <a:prstGeom prst="rect">
              <a:avLst/>
            </a:prstGeom>
            <a:solidFill>
              <a:srgbClr val="3A312C"/>
            </a:solidFill>
            <a:ln/>
          </p:spPr>
        </p:sp>
        <p:sp>
          <p:nvSpPr>
            <p:cNvPr id="28" name="Progression 13"/>
            <p:cNvSpPr/>
            <p:nvPr/>
          </p:nvSpPr>
          <p:spPr>
            <a:xfrm>
              <a:off x="9486900" y="6527800"/>
              <a:ext cx="668867" cy="63500"/>
            </a:xfrm>
            <a:prstGeom prst="rect">
              <a:avLst/>
            </a:prstGeom>
            <a:solidFill>
              <a:srgbClr val="3A312C"/>
            </a:solidFill>
            <a:ln/>
          </p:spPr>
        </p:sp>
        <p:sp>
          <p:nvSpPr>
            <p:cNvPr id="29" name="Progression 14"/>
            <p:cNvSpPr/>
            <p:nvPr/>
          </p:nvSpPr>
          <p:spPr>
            <a:xfrm>
              <a:off x="10231967" y="6527800"/>
              <a:ext cx="668867" cy="63500"/>
            </a:xfrm>
            <a:prstGeom prst="rect">
              <a:avLst/>
            </a:prstGeom>
            <a:solidFill>
              <a:srgbClr val="3A312C"/>
            </a:solidFill>
            <a:ln/>
          </p:spPr>
        </p:sp>
        <p:sp>
          <p:nvSpPr>
            <p:cNvPr id="30"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Repère de section"/>
          <p:cNvSpPr txBox="1"/>
          <p:nvPr/>
        </p:nvSpPr>
        <p:spPr>
          <a:xfrm>
            <a:off x="548640" y="384048"/>
            <a:ext cx="1106424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LE TEXTE · PSAUME 19</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Un seul hymne, deux révélations</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Le même Dieu parle sans paroles, puis par des paroles qui suffisent</a:t>
            </a:r>
            <a:endParaRPr lang="fr-CA" sz="1900" dirty="0"/>
          </a:p>
        </p:txBody>
      </p:sp>
      <p:sp>
        <p:nvSpPr>
          <p:cNvPr id="5" name="Shape 3"/>
          <p:cNvSpPr/>
          <p:nvPr/>
        </p:nvSpPr>
        <p:spPr>
          <a:xfrm>
            <a:off x="548640" y="1920240"/>
            <a:ext cx="4206240" cy="1600200"/>
          </a:xfrm>
          <a:prstGeom prst="roundRect">
            <a:avLst>
              <a:gd name="adj" fmla="val 6857"/>
            </a:avLst>
          </a:prstGeom>
          <a:solidFill>
            <a:srgbClr val="1A1411"/>
          </a:solidFill>
          <a:ln w="12700">
            <a:solidFill>
              <a:srgbClr val="6E5A4C"/>
            </a:solidFill>
            <a:prstDash val="solid"/>
          </a:ln>
        </p:spPr>
      </p:sp>
      <p:sp>
        <p:nvSpPr>
          <p:cNvPr id="6" name="Text 4"/>
          <p:cNvSpPr txBox="1"/>
          <p:nvPr/>
        </p:nvSpPr>
        <p:spPr>
          <a:xfrm>
            <a:off x="822960" y="2084832"/>
            <a:ext cx="3657600" cy="274320"/>
          </a:xfrm>
          <a:prstGeom prst="rect">
            <a:avLst/>
          </a:prstGeom>
          <a:noFill/>
          <a:ln/>
        </p:spPr>
        <p:txBody>
          <a:bodyPr wrap="square" lIns="0" tIns="0" rIns="0" bIns="0" rtlCol="0" anchor="t"/>
          <a:lstStyle/>
          <a:p>
            <a:pPr indent="0" marL="0">
              <a:buNone/>
            </a:pPr>
            <a:r>
              <a:rPr lang="fr-CA" altLang="en-US" sz="1300" b="1" spc="200" kern="0" dirty="0">
                <a:solidFill>
                  <a:srgbClr val="968A80"/>
                </a:solidFill>
                <a:latin typeface="Calibri" pitchFamily="34" charset="0"/>
                <a:ea typeface="Calibri" pitchFamily="34" charset="-122"/>
                <a:cs typeface="Calibri" pitchFamily="34" charset="-120"/>
              </a:rPr>
              <a:t>PSAUME 19.2‑7</a:t>
            </a:r>
            <a:endParaRPr lang="fr-CA" sz="1300" dirty="0"/>
          </a:p>
        </p:txBody>
      </p:sp>
      <p:sp>
        <p:nvSpPr>
          <p:cNvPr id="7" name="Text 5"/>
          <p:cNvSpPr txBox="1"/>
          <p:nvPr/>
        </p:nvSpPr>
        <p:spPr>
          <a:xfrm>
            <a:off x="822960" y="2395728"/>
            <a:ext cx="2971800" cy="1051560"/>
          </a:xfrm>
          <a:prstGeom prst="rect">
            <a:avLst/>
          </a:prstGeom>
          <a:noFill/>
          <a:ln/>
        </p:spPr>
        <p:txBody>
          <a:bodyPr wrap="square" lIns="0" tIns="0" rIns="0" bIns="0" rtlCol="0" anchor="t"/>
          <a:lstStyle/>
          <a:p>
            <a:pPr indent="0" marL="0">
              <a:buNone/>
            </a:pPr>
            <a:r>
              <a:rPr lang="fr-CA" altLang="en-US" sz="2100" b="1" dirty="0">
                <a:solidFill>
                  <a:srgbClr val="F4EDE4"/>
                </a:solidFill>
                <a:latin typeface="Calibri" pitchFamily="34" charset="0"/>
                <a:ea typeface="Calibri" pitchFamily="34" charset="-122"/>
                <a:cs typeface="Calibri" pitchFamily="34" charset="-120"/>
              </a:rPr>
              <a:t>Révélation générale</a:t>
            </a:r>
            <a:endParaRPr lang="fr-CA" sz="1500" dirty="0"/>
          </a:p>
          <a:p>
            <a:pPr indent="0" marL="0">
              <a:buNone/>
            </a:pPr>
            <a:r>
              <a:rPr lang="fr-CA" altLang="en-US" sz="1500" dirty="0">
                <a:solidFill>
                  <a:srgbClr val="A89A8C"/>
                </a:solidFill>
                <a:latin typeface="Calibri" pitchFamily="34" charset="0"/>
                <a:ea typeface="Calibri" pitchFamily="34" charset="-122"/>
                <a:cs typeface="Calibri" pitchFamily="34" charset="-120"/>
              </a:rPr>
              <a:t>le monde · </a:t>
            </a:r>
            <a:pPr indent="0" marL="0">
              <a:buNone/>
            </a:pPr>
            <a:r>
              <a:rPr lang="fr-CA" altLang="en-US" sz="1500" i="1" dirty="0">
                <a:solidFill>
                  <a:srgbClr val="A89A8C"/>
                </a:solidFill>
                <a:latin typeface="Calibri" pitchFamily="34" charset="0"/>
                <a:ea typeface="Calibri" pitchFamily="34" charset="-122"/>
                <a:cs typeface="Calibri" pitchFamily="34" charset="-120"/>
              </a:rPr>
              <a:t>El</a:t>
            </a:r>
            <a:pPr indent="0" marL="0">
              <a:buNone/>
            </a:pPr>
            <a:r>
              <a:rPr lang="fr-CA" altLang="en-US" sz="1500" dirty="0">
                <a:solidFill>
                  <a:srgbClr val="A89A8C"/>
                </a:solidFill>
                <a:latin typeface="Calibri" pitchFamily="34" charset="0"/>
                <a:ea typeface="Calibri" pitchFamily="34" charset="-122"/>
                <a:cs typeface="Calibri" pitchFamily="34" charset="-120"/>
              </a:rPr>
              <a:t>, Dieu de puissance</a:t>
            </a:r>
            <a:endParaRPr lang="fr-CA" sz="1500" dirty="0"/>
          </a:p>
        </p:txBody>
      </p:sp>
      <p:sp>
        <p:nvSpPr>
          <p:cNvPr id="8" name="El 1"/>
          <p:cNvSpPr/>
          <p:nvPr/>
        </p:nvSpPr>
        <p:spPr>
          <a:xfrm>
            <a:off x="4343400" y="2514600"/>
            <a:ext cx="164592" cy="164592"/>
          </a:xfrm>
          <a:prstGeom prst="ellipse">
            <a:avLst/>
          </a:prstGeom>
          <a:solidFill>
            <a:srgbClr val="6E5A4C"/>
          </a:solidFill>
          <a:ln/>
        </p:spPr>
      </p:sp>
      <p:sp>
        <p:nvSpPr>
          <p:cNvPr id="9" name="Text 7"/>
          <p:cNvSpPr txBox="1"/>
          <p:nvPr/>
        </p:nvSpPr>
        <p:spPr>
          <a:xfrm>
            <a:off x="2834640" y="2788920"/>
            <a:ext cx="1645920" cy="365760"/>
          </a:xfrm>
          <a:prstGeom prst="rect">
            <a:avLst/>
          </a:prstGeom>
          <a:noFill/>
          <a:ln/>
        </p:spPr>
        <p:txBody>
          <a:bodyPr wrap="square" lIns="0" tIns="0" rIns="0" bIns="0" rtlCol="0" anchor="t"/>
          <a:lstStyle/>
          <a:p>
            <a:pPr algn="r" indent="0" marL="0">
              <a:buNone/>
            </a:pPr>
            <a:r>
              <a:rPr lang="fr-CA" altLang="en-US" sz="1500" b="1" i="1" dirty="0">
                <a:solidFill>
                  <a:srgbClr val="A89A8C"/>
                </a:solidFill>
                <a:latin typeface="Calibri" pitchFamily="34" charset="0"/>
                <a:ea typeface="Calibri" pitchFamily="34" charset="-122"/>
                <a:cs typeface="Calibri" pitchFamily="34" charset="-120"/>
              </a:rPr>
              <a:t>El</a:t>
            </a:r>
            <a:pPr algn="r" indent="0" marL="0">
              <a:buNone/>
            </a:pPr>
            <a:r>
              <a:rPr lang="fr-CA" altLang="en-US" sz="1500" b="1" dirty="0">
                <a:solidFill>
                  <a:srgbClr val="A89A8C"/>
                </a:solidFill>
                <a:latin typeface="Calibri" pitchFamily="34" charset="0"/>
                <a:ea typeface="Calibri" pitchFamily="34" charset="-122"/>
                <a:cs typeface="Calibri" pitchFamily="34" charset="-120"/>
              </a:rPr>
              <a:t> × 1</a:t>
            </a:r>
            <a:endParaRPr lang="fr-CA" sz="1500" dirty="0"/>
          </a:p>
        </p:txBody>
      </p:sp>
      <p:sp>
        <p:nvSpPr>
          <p:cNvPr id="10" name="Shape 8"/>
          <p:cNvSpPr/>
          <p:nvPr/>
        </p:nvSpPr>
        <p:spPr>
          <a:xfrm>
            <a:off x="4983480" y="1920240"/>
            <a:ext cx="6656832" cy="1600200"/>
          </a:xfrm>
          <a:prstGeom prst="roundRect">
            <a:avLst>
              <a:gd name="adj" fmla="val 6857"/>
            </a:avLst>
          </a:prstGeom>
          <a:solidFill>
            <a:srgbClr val="2A1A10"/>
          </a:solidFill>
          <a:ln w="25400">
            <a:solidFill>
              <a:srgbClr val="E8742A"/>
            </a:solidFill>
            <a:prstDash val="solid"/>
          </a:ln>
        </p:spPr>
      </p:sp>
      <p:sp>
        <p:nvSpPr>
          <p:cNvPr id="11" name="Text 9"/>
          <p:cNvSpPr txBox="1"/>
          <p:nvPr/>
        </p:nvSpPr>
        <p:spPr>
          <a:xfrm>
            <a:off x="5257800" y="2084832"/>
            <a:ext cx="6108192" cy="274320"/>
          </a:xfrm>
          <a:prstGeom prst="rect">
            <a:avLst/>
          </a:prstGeom>
          <a:noFill/>
          <a:ln/>
        </p:spPr>
        <p:txBody>
          <a:bodyPr wrap="square" lIns="0" tIns="0" rIns="0" bIns="0" rtlCol="0" anchor="t"/>
          <a:lstStyle/>
          <a:p>
            <a:pPr indent="0" marL="0">
              <a:buNone/>
            </a:pPr>
            <a:r>
              <a:rPr lang="fr-CA" altLang="en-US" sz="1300" b="1" spc="200" kern="0" dirty="0">
                <a:solidFill>
                  <a:srgbClr val="E8742A"/>
                </a:solidFill>
                <a:latin typeface="Calibri" pitchFamily="34" charset="0"/>
                <a:ea typeface="Calibri" pitchFamily="34" charset="-122"/>
                <a:cs typeface="Calibri" pitchFamily="34" charset="-120"/>
              </a:rPr>
              <a:t>PSAUME 19.8‑15</a:t>
            </a:r>
            <a:endParaRPr lang="fr-CA" sz="1300" dirty="0"/>
          </a:p>
        </p:txBody>
      </p:sp>
      <p:sp>
        <p:nvSpPr>
          <p:cNvPr id="12" name="Text 10"/>
          <p:cNvSpPr txBox="1"/>
          <p:nvPr/>
        </p:nvSpPr>
        <p:spPr>
          <a:xfrm>
            <a:off x="5257800" y="2395728"/>
            <a:ext cx="4462272" cy="1051560"/>
          </a:xfrm>
          <a:prstGeom prst="rect">
            <a:avLst/>
          </a:prstGeom>
          <a:noFill/>
          <a:ln/>
        </p:spPr>
        <p:txBody>
          <a:bodyPr wrap="square" lIns="0" tIns="0" rIns="0" bIns="0" rtlCol="0" anchor="t"/>
          <a:lstStyle/>
          <a:p>
            <a:pPr indent="0" marL="0">
              <a:buNone/>
            </a:pPr>
            <a:r>
              <a:rPr lang="fr-CA" altLang="en-US" sz="2100" b="1" dirty="0">
                <a:solidFill>
                  <a:srgbClr val="F4EDE4"/>
                </a:solidFill>
                <a:latin typeface="Calibri" pitchFamily="34" charset="0"/>
                <a:ea typeface="Calibri" pitchFamily="34" charset="-122"/>
                <a:cs typeface="Calibri" pitchFamily="34" charset="-120"/>
              </a:rPr>
              <a:t>Révélation spéciale</a:t>
            </a:r>
            <a:endParaRPr lang="fr-CA" sz="1500" dirty="0"/>
          </a:p>
          <a:p>
            <a:pPr indent="0" marL="0">
              <a:buNone/>
            </a:pPr>
            <a:r>
              <a:rPr lang="fr-CA" altLang="en-US" sz="1500" dirty="0">
                <a:solidFill>
                  <a:srgbClr val="A89A8C"/>
                </a:solidFill>
                <a:latin typeface="Calibri" pitchFamily="34" charset="0"/>
                <a:ea typeface="Calibri" pitchFamily="34" charset="-122"/>
                <a:cs typeface="Calibri" pitchFamily="34" charset="-120"/>
              </a:rPr>
              <a:t>la Parole · l'Éternel, le Dieu de l'alliance</a:t>
            </a:r>
            <a:endParaRPr lang="fr-CA" sz="1500" dirty="0"/>
          </a:p>
        </p:txBody>
      </p:sp>
      <p:sp>
        <p:nvSpPr>
          <p:cNvPr id="13" name="l'Éternel 1"/>
          <p:cNvSpPr/>
          <p:nvPr/>
        </p:nvSpPr>
        <p:spPr>
          <a:xfrm>
            <a:off x="9747504" y="2514600"/>
            <a:ext cx="164592" cy="164592"/>
          </a:xfrm>
          <a:prstGeom prst="ellipse">
            <a:avLst/>
          </a:prstGeom>
          <a:solidFill>
            <a:srgbClr val="E8742A"/>
          </a:solidFill>
          <a:ln/>
        </p:spPr>
      </p:sp>
      <p:sp>
        <p:nvSpPr>
          <p:cNvPr id="14" name="l'Éternel 2"/>
          <p:cNvSpPr/>
          <p:nvPr/>
        </p:nvSpPr>
        <p:spPr>
          <a:xfrm>
            <a:off x="9994392" y="2514600"/>
            <a:ext cx="164592" cy="164592"/>
          </a:xfrm>
          <a:prstGeom prst="ellipse">
            <a:avLst/>
          </a:prstGeom>
          <a:solidFill>
            <a:srgbClr val="E8742A"/>
          </a:solidFill>
          <a:ln/>
        </p:spPr>
      </p:sp>
      <p:sp>
        <p:nvSpPr>
          <p:cNvPr id="15" name="l'Éternel 3"/>
          <p:cNvSpPr/>
          <p:nvPr/>
        </p:nvSpPr>
        <p:spPr>
          <a:xfrm>
            <a:off x="10241280" y="2514600"/>
            <a:ext cx="164592" cy="164592"/>
          </a:xfrm>
          <a:prstGeom prst="ellipse">
            <a:avLst/>
          </a:prstGeom>
          <a:solidFill>
            <a:srgbClr val="E8742A"/>
          </a:solidFill>
          <a:ln/>
        </p:spPr>
      </p:sp>
      <p:sp>
        <p:nvSpPr>
          <p:cNvPr id="16" name="l'Éternel 4"/>
          <p:cNvSpPr/>
          <p:nvPr/>
        </p:nvSpPr>
        <p:spPr>
          <a:xfrm>
            <a:off x="10488168" y="2514600"/>
            <a:ext cx="164592" cy="164592"/>
          </a:xfrm>
          <a:prstGeom prst="ellipse">
            <a:avLst/>
          </a:prstGeom>
          <a:solidFill>
            <a:srgbClr val="E8742A"/>
          </a:solidFill>
          <a:ln/>
        </p:spPr>
      </p:sp>
      <p:sp>
        <p:nvSpPr>
          <p:cNvPr id="17" name="l'Éternel 5"/>
          <p:cNvSpPr/>
          <p:nvPr/>
        </p:nvSpPr>
        <p:spPr>
          <a:xfrm>
            <a:off x="10735056" y="2514600"/>
            <a:ext cx="164592" cy="164592"/>
          </a:xfrm>
          <a:prstGeom prst="ellipse">
            <a:avLst/>
          </a:prstGeom>
          <a:solidFill>
            <a:srgbClr val="E8742A"/>
          </a:solidFill>
          <a:ln/>
        </p:spPr>
      </p:sp>
      <p:sp>
        <p:nvSpPr>
          <p:cNvPr id="18" name="l'Éternel 6"/>
          <p:cNvSpPr/>
          <p:nvPr/>
        </p:nvSpPr>
        <p:spPr>
          <a:xfrm>
            <a:off x="10981944" y="2514600"/>
            <a:ext cx="164592" cy="164592"/>
          </a:xfrm>
          <a:prstGeom prst="ellipse">
            <a:avLst/>
          </a:prstGeom>
          <a:solidFill>
            <a:srgbClr val="E8742A"/>
          </a:solidFill>
          <a:ln/>
        </p:spPr>
      </p:sp>
      <p:sp>
        <p:nvSpPr>
          <p:cNvPr id="19" name="l'Éternel 7"/>
          <p:cNvSpPr/>
          <p:nvPr/>
        </p:nvSpPr>
        <p:spPr>
          <a:xfrm>
            <a:off x="11228832" y="2514600"/>
            <a:ext cx="164592" cy="164592"/>
          </a:xfrm>
          <a:prstGeom prst="ellipse">
            <a:avLst/>
          </a:prstGeom>
          <a:solidFill>
            <a:srgbClr val="E8742A"/>
          </a:solidFill>
          <a:ln/>
        </p:spPr>
      </p:sp>
      <p:sp>
        <p:nvSpPr>
          <p:cNvPr id="20" name="Text 18"/>
          <p:cNvSpPr txBox="1"/>
          <p:nvPr/>
        </p:nvSpPr>
        <p:spPr>
          <a:xfrm>
            <a:off x="9720072" y="2788920"/>
            <a:ext cx="1645920" cy="365760"/>
          </a:xfrm>
          <a:prstGeom prst="rect">
            <a:avLst/>
          </a:prstGeom>
          <a:noFill/>
          <a:ln/>
        </p:spPr>
        <p:txBody>
          <a:bodyPr wrap="square" lIns="0" tIns="0" rIns="0" bIns="0" rtlCol="0" anchor="t"/>
          <a:lstStyle/>
          <a:p>
            <a:pPr algn="r" indent="0" marL="0">
              <a:buNone/>
            </a:pPr>
            <a:r>
              <a:rPr lang="fr-CA" altLang="en-US" sz="1500" b="1" dirty="0">
                <a:solidFill>
                  <a:srgbClr val="E8742A"/>
                </a:solidFill>
                <a:latin typeface="Calibri" pitchFamily="34" charset="0"/>
                <a:ea typeface="Calibri" pitchFamily="34" charset="-122"/>
                <a:cs typeface="Calibri" pitchFamily="34" charset="-120"/>
              </a:rPr>
              <a:t>l'Éternel × 7</a:t>
            </a:r>
            <a:endParaRPr lang="fr-CA" sz="1500" dirty="0"/>
          </a:p>
        </p:txBody>
      </p:sp>
      <p:sp>
        <p:nvSpPr>
          <p:cNvPr id="21" name="Shape 19"/>
          <p:cNvSpPr/>
          <p:nvPr/>
        </p:nvSpPr>
        <p:spPr>
          <a:xfrm>
            <a:off x="548640" y="3749040"/>
            <a:ext cx="4206240" cy="2148840"/>
          </a:xfrm>
          <a:prstGeom prst="roundRect">
            <a:avLst>
              <a:gd name="adj" fmla="val 5106"/>
            </a:avLst>
          </a:prstGeom>
          <a:solidFill>
            <a:srgbClr val="1A1411"/>
          </a:solidFill>
          <a:ln w="9525">
            <a:solidFill>
              <a:srgbClr val="2E211A"/>
            </a:solidFill>
            <a:prstDash val="solid"/>
          </a:ln>
        </p:spPr>
      </p:sp>
      <p:sp>
        <p:nvSpPr>
          <p:cNvPr id="22" name="Shape 20"/>
          <p:cNvSpPr/>
          <p:nvPr/>
        </p:nvSpPr>
        <p:spPr>
          <a:xfrm>
            <a:off x="777240" y="3931920"/>
            <a:ext cx="566928" cy="566928"/>
          </a:xfrm>
          <a:prstGeom prst="ellipse">
            <a:avLst/>
          </a:prstGeom>
          <a:solidFill>
            <a:srgbClr val="2A1A10"/>
          </a:solidFill>
          <a:ln w="12700">
            <a:solidFill>
              <a:srgbClr val="CC5500"/>
            </a:solidFill>
            <a:prstDash val="solid"/>
          </a:ln>
        </p:spPr>
      </p:sp>
      <p:pic>
        <p:nvPicPr>
          <p:cNvPr id="23" name="Image 0" descr="Icône : soleil">    </p:cNvPr>
          <p:cNvPicPr>
            <a:picLocks noChangeAspect="1"/>
          </p:cNvPicPr>
          <p:nvPr/>
        </p:nvPicPr>
        <p:blipFill>
          <a:blip r:embed="rId1"/>
          <a:stretch>
            <a:fillRect/>
          </a:stretch>
        </p:blipFill>
        <p:spPr>
          <a:xfrm>
            <a:off x="890626" y="4045306"/>
            <a:ext cx="340157" cy="340157"/>
          </a:xfrm>
          <a:prstGeom prst="rect">
            <a:avLst/>
          </a:prstGeom>
        </p:spPr>
      </p:pic>
      <p:sp>
        <p:nvSpPr>
          <p:cNvPr id="24" name="Text 21"/>
          <p:cNvSpPr txBox="1"/>
          <p:nvPr/>
        </p:nvSpPr>
        <p:spPr>
          <a:xfrm>
            <a:off x="1481328" y="4005072"/>
            <a:ext cx="3108960" cy="411480"/>
          </a:xfrm>
          <a:prstGeom prst="rect">
            <a:avLst/>
          </a:prstGeom>
          <a:noFill/>
          <a:ln/>
        </p:spPr>
        <p:txBody>
          <a:bodyPr wrap="square" lIns="0" tIns="0" rIns="0" bIns="0" rtlCol="0" anchor="t"/>
          <a:lstStyle/>
          <a:p>
            <a:pPr indent="0" marL="0">
              <a:buNone/>
            </a:pPr>
            <a:r>
              <a:rPr lang="fr-CA" altLang="en-US" sz="1600" b="1" dirty="0">
                <a:solidFill>
                  <a:srgbClr val="E8742A"/>
                </a:solidFill>
                <a:latin typeface="Calibri" pitchFamily="34" charset="0"/>
                <a:ea typeface="Calibri" pitchFamily="34" charset="-122"/>
                <a:cs typeface="Calibri" pitchFamily="34" charset="-120"/>
              </a:rPr>
              <a:t>I</a:t>
            </a:r>
            <a:endParaRPr lang="fr-CA" sz="1600" dirty="0"/>
          </a:p>
        </p:txBody>
      </p:sp>
      <p:sp>
        <p:nvSpPr>
          <p:cNvPr id="25" name="Text 22"/>
          <p:cNvSpPr txBox="1"/>
          <p:nvPr/>
        </p:nvSpPr>
        <p:spPr>
          <a:xfrm>
            <a:off x="777240" y="4553712"/>
            <a:ext cx="3794760" cy="603504"/>
          </a:xfrm>
          <a:prstGeom prst="rect">
            <a:avLst/>
          </a:prstGeom>
          <a:noFill/>
          <a:ln/>
        </p:spPr>
        <p:txBody>
          <a:bodyPr wrap="square" lIns="0" tIns="0" rIns="0" bIns="0" rtlCol="0" anchor="b"/>
          <a:lstStyle/>
          <a:p>
            <a:pPr indent="0" marL="0">
              <a:buNone/>
            </a:pPr>
            <a:r>
              <a:rPr lang="fr-CA" altLang="en-US" sz="1800" b="1" dirty="0">
                <a:solidFill>
                  <a:srgbClr val="F4EDE4"/>
                </a:solidFill>
                <a:latin typeface="Calibri" pitchFamily="34" charset="0"/>
                <a:ea typeface="Calibri" pitchFamily="34" charset="-122"/>
                <a:cs typeface="Calibri" pitchFamily="34" charset="-120"/>
              </a:rPr>
              <a:t>Le ciel qui parle</a:t>
            </a:r>
            <a:endParaRPr lang="fr-CA" sz="1800" dirty="0"/>
          </a:p>
        </p:txBody>
      </p:sp>
      <p:sp>
        <p:nvSpPr>
          <p:cNvPr id="26" name="Text 23"/>
          <p:cNvSpPr txBox="1"/>
          <p:nvPr/>
        </p:nvSpPr>
        <p:spPr>
          <a:xfrm>
            <a:off x="777240" y="5175504"/>
            <a:ext cx="3794760" cy="685800"/>
          </a:xfrm>
          <a:prstGeom prst="rect">
            <a:avLst/>
          </a:prstGeom>
          <a:noFill/>
          <a:ln/>
        </p:spPr>
        <p:txBody>
          <a:bodyPr wrap="square" lIns="0" tIns="0" rIns="0" bIns="0" rtlCol="0" anchor="t"/>
          <a:lstStyle/>
          <a:p>
            <a:pPr indent="0" marL="0">
              <a:buNone/>
            </a:pPr>
            <a:r>
              <a:rPr lang="fr-CA" altLang="en-US" sz="1500" dirty="0">
                <a:solidFill>
                  <a:srgbClr val="E8742A"/>
                </a:solidFill>
                <a:latin typeface="Calibri" pitchFamily="34" charset="0"/>
                <a:ea typeface="Calibri" pitchFamily="34" charset="-122"/>
                <a:cs typeface="Calibri" pitchFamily="34" charset="-120"/>
              </a:rPr>
              <a:t>Psaume 19.2‑7</a:t>
            </a:r>
            <a:endParaRPr lang="fr-CA" sz="1500" dirty="0"/>
          </a:p>
          <a:p>
            <a:pPr indent="0" marL="0">
              <a:buNone/>
            </a:pPr>
            <a:r>
              <a:rPr lang="fr-CA" altLang="en-US" sz="1400" dirty="0">
                <a:solidFill>
                  <a:srgbClr val="A89A8C"/>
                </a:solidFill>
                <a:latin typeface="Calibri" pitchFamily="34" charset="0"/>
                <a:ea typeface="Calibri" pitchFamily="34" charset="-122"/>
                <a:cs typeface="Calibri" pitchFamily="34" charset="-120"/>
              </a:rPr>
              <a:t>Proclamation des cieux (19.2‑5b), importance du soleil (19.5c‑7)</a:t>
            </a:r>
            <a:endParaRPr lang="fr-CA" sz="1500" dirty="0"/>
          </a:p>
        </p:txBody>
      </p:sp>
      <p:sp>
        <p:nvSpPr>
          <p:cNvPr id="27" name="Shape 24"/>
          <p:cNvSpPr/>
          <p:nvPr/>
        </p:nvSpPr>
        <p:spPr>
          <a:xfrm>
            <a:off x="4983480" y="3749040"/>
            <a:ext cx="2075688" cy="2148840"/>
          </a:xfrm>
          <a:prstGeom prst="roundRect">
            <a:avLst>
              <a:gd name="adj" fmla="val 5286"/>
            </a:avLst>
          </a:prstGeom>
          <a:solidFill>
            <a:srgbClr val="1A1411"/>
          </a:solidFill>
          <a:ln w="9525">
            <a:solidFill>
              <a:srgbClr val="2E211A"/>
            </a:solidFill>
            <a:prstDash val="solid"/>
          </a:ln>
        </p:spPr>
      </p:sp>
      <p:sp>
        <p:nvSpPr>
          <p:cNvPr id="28" name="Shape 25"/>
          <p:cNvSpPr/>
          <p:nvPr/>
        </p:nvSpPr>
        <p:spPr>
          <a:xfrm>
            <a:off x="5212080" y="3931920"/>
            <a:ext cx="566928" cy="566928"/>
          </a:xfrm>
          <a:prstGeom prst="ellipse">
            <a:avLst/>
          </a:prstGeom>
          <a:solidFill>
            <a:srgbClr val="2A1A10"/>
          </a:solidFill>
          <a:ln w="12700">
            <a:solidFill>
              <a:srgbClr val="CC5500"/>
            </a:solidFill>
            <a:prstDash val="solid"/>
          </a:ln>
        </p:spPr>
      </p:sp>
      <p:pic>
        <p:nvPicPr>
          <p:cNvPr id="29" name="Image 1" descr="Icône : livre ouvert">    </p:cNvPr>
          <p:cNvPicPr>
            <a:picLocks noChangeAspect="1"/>
          </p:cNvPicPr>
          <p:nvPr/>
        </p:nvPicPr>
        <p:blipFill>
          <a:blip r:embed="rId2"/>
          <a:stretch>
            <a:fillRect/>
          </a:stretch>
        </p:blipFill>
        <p:spPr>
          <a:xfrm>
            <a:off x="5325466" y="4045306"/>
            <a:ext cx="340157" cy="340157"/>
          </a:xfrm>
          <a:prstGeom prst="rect">
            <a:avLst/>
          </a:prstGeom>
        </p:spPr>
      </p:pic>
      <p:sp>
        <p:nvSpPr>
          <p:cNvPr id="30" name="Text 26"/>
          <p:cNvSpPr txBox="1"/>
          <p:nvPr/>
        </p:nvSpPr>
        <p:spPr>
          <a:xfrm>
            <a:off x="5916168" y="4005072"/>
            <a:ext cx="978408" cy="411480"/>
          </a:xfrm>
          <a:prstGeom prst="rect">
            <a:avLst/>
          </a:prstGeom>
          <a:noFill/>
          <a:ln/>
        </p:spPr>
        <p:txBody>
          <a:bodyPr wrap="square" lIns="0" tIns="0" rIns="0" bIns="0" rtlCol="0" anchor="t"/>
          <a:lstStyle/>
          <a:p>
            <a:pPr indent="0" marL="0">
              <a:buNone/>
            </a:pPr>
            <a:r>
              <a:rPr lang="fr-CA" altLang="en-US" sz="1600" b="1" dirty="0">
                <a:solidFill>
                  <a:srgbClr val="E8742A"/>
                </a:solidFill>
                <a:latin typeface="Calibri" pitchFamily="34" charset="0"/>
                <a:ea typeface="Calibri" pitchFamily="34" charset="-122"/>
                <a:cs typeface="Calibri" pitchFamily="34" charset="-120"/>
              </a:rPr>
              <a:t>II</a:t>
            </a:r>
            <a:endParaRPr lang="fr-CA" sz="1600" dirty="0"/>
          </a:p>
        </p:txBody>
      </p:sp>
      <p:sp>
        <p:nvSpPr>
          <p:cNvPr id="31" name="Text 27"/>
          <p:cNvSpPr txBox="1"/>
          <p:nvPr/>
        </p:nvSpPr>
        <p:spPr>
          <a:xfrm>
            <a:off x="5212080" y="4553712"/>
            <a:ext cx="1664208" cy="603504"/>
          </a:xfrm>
          <a:prstGeom prst="rect">
            <a:avLst/>
          </a:prstGeom>
          <a:noFill/>
          <a:ln/>
        </p:spPr>
        <p:txBody>
          <a:bodyPr wrap="square" lIns="0" tIns="0" rIns="0" bIns="0" rtlCol="0" anchor="b"/>
          <a:lstStyle/>
          <a:p>
            <a:pPr indent="0" marL="0">
              <a:buNone/>
            </a:pPr>
            <a:r>
              <a:rPr lang="fr-CA" altLang="en-US" sz="1800" b="1" dirty="0">
                <a:solidFill>
                  <a:srgbClr val="F4EDE4"/>
                </a:solidFill>
                <a:latin typeface="Calibri" pitchFamily="34" charset="0"/>
                <a:ea typeface="Calibri" pitchFamily="34" charset="-122"/>
                <a:cs typeface="Calibri" pitchFamily="34" charset="-120"/>
              </a:rPr>
              <a:t>La Parole qui suffit</a:t>
            </a:r>
            <a:endParaRPr lang="fr-CA" sz="1800" dirty="0"/>
          </a:p>
        </p:txBody>
      </p:sp>
      <p:sp>
        <p:nvSpPr>
          <p:cNvPr id="32" name="Text 28"/>
          <p:cNvSpPr txBox="1"/>
          <p:nvPr/>
        </p:nvSpPr>
        <p:spPr>
          <a:xfrm>
            <a:off x="5212080" y="5175504"/>
            <a:ext cx="1664208" cy="685800"/>
          </a:xfrm>
          <a:prstGeom prst="rect">
            <a:avLst/>
          </a:prstGeom>
          <a:noFill/>
          <a:ln/>
        </p:spPr>
        <p:txBody>
          <a:bodyPr wrap="square" lIns="0" tIns="0" rIns="0" bIns="0" rtlCol="0" anchor="t"/>
          <a:lstStyle/>
          <a:p>
            <a:pPr indent="0" marL="0">
              <a:buNone/>
            </a:pPr>
            <a:r>
              <a:rPr lang="fr-CA" altLang="en-US" sz="1500" dirty="0">
                <a:solidFill>
                  <a:srgbClr val="E8742A"/>
                </a:solidFill>
                <a:latin typeface="Calibri" pitchFamily="34" charset="0"/>
                <a:ea typeface="Calibri" pitchFamily="34" charset="-122"/>
                <a:cs typeface="Calibri" pitchFamily="34" charset="-120"/>
              </a:rPr>
              <a:t>Psaume 19.8‑10</a:t>
            </a:r>
            <a:endParaRPr lang="fr-CA" sz="1500" dirty="0"/>
          </a:p>
          <a:p>
            <a:pPr indent="0" marL="0">
              <a:buNone/>
            </a:pPr>
            <a:r>
              <a:rPr lang="fr-CA" altLang="en-US" sz="1400" dirty="0">
                <a:solidFill>
                  <a:srgbClr val="A89A8C"/>
                </a:solidFill>
                <a:latin typeface="Calibri" pitchFamily="34" charset="0"/>
                <a:ea typeface="Calibri" pitchFamily="34" charset="-122"/>
                <a:cs typeface="Calibri" pitchFamily="34" charset="-120"/>
              </a:rPr>
              <a:t>Attributs</a:t>
            </a:r>
            <a:endParaRPr lang="fr-CA" sz="1500" dirty="0"/>
          </a:p>
        </p:txBody>
      </p:sp>
      <p:sp>
        <p:nvSpPr>
          <p:cNvPr id="33" name="Shape 29"/>
          <p:cNvSpPr/>
          <p:nvPr/>
        </p:nvSpPr>
        <p:spPr>
          <a:xfrm>
            <a:off x="7274052" y="3749040"/>
            <a:ext cx="2075688" cy="2148840"/>
          </a:xfrm>
          <a:prstGeom prst="roundRect">
            <a:avLst>
              <a:gd name="adj" fmla="val 5286"/>
            </a:avLst>
          </a:prstGeom>
          <a:solidFill>
            <a:srgbClr val="1A1411"/>
          </a:solidFill>
          <a:ln w="9525">
            <a:solidFill>
              <a:srgbClr val="2E211A"/>
            </a:solidFill>
            <a:prstDash val="solid"/>
          </a:ln>
        </p:spPr>
      </p:sp>
      <p:sp>
        <p:nvSpPr>
          <p:cNvPr id="34" name="Shape 30"/>
          <p:cNvSpPr/>
          <p:nvPr/>
        </p:nvSpPr>
        <p:spPr>
          <a:xfrm>
            <a:off x="7502652" y="3931920"/>
            <a:ext cx="566928" cy="566928"/>
          </a:xfrm>
          <a:prstGeom prst="ellipse">
            <a:avLst/>
          </a:prstGeom>
          <a:solidFill>
            <a:srgbClr val="2A1A10"/>
          </a:solidFill>
          <a:ln w="12700">
            <a:solidFill>
              <a:srgbClr val="CC5500"/>
            </a:solidFill>
            <a:prstDash val="solid"/>
          </a:ln>
        </p:spPr>
      </p:sp>
      <p:pic>
        <p:nvPicPr>
          <p:cNvPr id="35" name="Image 2" descr="Icône : lingots d'or">    </p:cNvPr>
          <p:cNvPicPr>
            <a:picLocks noChangeAspect="1"/>
          </p:cNvPicPr>
          <p:nvPr/>
        </p:nvPicPr>
        <p:blipFill>
          <a:blip r:embed="rId3"/>
          <a:stretch>
            <a:fillRect/>
          </a:stretch>
        </p:blipFill>
        <p:spPr>
          <a:xfrm>
            <a:off x="7616038" y="4045306"/>
            <a:ext cx="340157" cy="340157"/>
          </a:xfrm>
          <a:prstGeom prst="rect">
            <a:avLst/>
          </a:prstGeom>
        </p:spPr>
      </p:pic>
      <p:sp>
        <p:nvSpPr>
          <p:cNvPr id="36" name="Text 31"/>
          <p:cNvSpPr txBox="1"/>
          <p:nvPr/>
        </p:nvSpPr>
        <p:spPr>
          <a:xfrm>
            <a:off x="8206740" y="4005072"/>
            <a:ext cx="978408" cy="411480"/>
          </a:xfrm>
          <a:prstGeom prst="rect">
            <a:avLst/>
          </a:prstGeom>
          <a:noFill/>
          <a:ln/>
        </p:spPr>
        <p:txBody>
          <a:bodyPr wrap="square" lIns="0" tIns="0" rIns="0" bIns="0" rtlCol="0" anchor="t"/>
          <a:lstStyle/>
          <a:p>
            <a:pPr indent="0" marL="0">
              <a:buNone/>
            </a:pPr>
            <a:r>
              <a:rPr lang="fr-CA" altLang="en-US" sz="1600" b="1" dirty="0">
                <a:solidFill>
                  <a:srgbClr val="E8742A"/>
                </a:solidFill>
                <a:latin typeface="Calibri" pitchFamily="34" charset="0"/>
                <a:ea typeface="Calibri" pitchFamily="34" charset="-122"/>
                <a:cs typeface="Calibri" pitchFamily="34" charset="-120"/>
              </a:rPr>
              <a:t>III</a:t>
            </a:r>
            <a:endParaRPr lang="fr-CA" sz="1600" dirty="0"/>
          </a:p>
        </p:txBody>
      </p:sp>
      <p:sp>
        <p:nvSpPr>
          <p:cNvPr id="37" name="Text 32"/>
          <p:cNvSpPr txBox="1"/>
          <p:nvPr/>
        </p:nvSpPr>
        <p:spPr>
          <a:xfrm>
            <a:off x="7502652" y="4553712"/>
            <a:ext cx="1664208" cy="603504"/>
          </a:xfrm>
          <a:prstGeom prst="rect">
            <a:avLst/>
          </a:prstGeom>
          <a:noFill/>
          <a:ln/>
        </p:spPr>
        <p:txBody>
          <a:bodyPr wrap="square" lIns="0" tIns="0" rIns="0" bIns="0" rtlCol="0" anchor="b"/>
          <a:lstStyle/>
          <a:p>
            <a:pPr indent="0" marL="0">
              <a:buNone/>
            </a:pPr>
            <a:r>
              <a:rPr lang="fr-CA" altLang="en-US" sz="1800" b="1" dirty="0">
                <a:solidFill>
                  <a:srgbClr val="F4EDE4"/>
                </a:solidFill>
                <a:latin typeface="Calibri" pitchFamily="34" charset="0"/>
                <a:ea typeface="Calibri" pitchFamily="34" charset="-122"/>
                <a:cs typeface="Calibri" pitchFamily="34" charset="-120"/>
              </a:rPr>
              <a:t>La Parole qu'on désire</a:t>
            </a:r>
            <a:endParaRPr lang="fr-CA" sz="1800" dirty="0"/>
          </a:p>
        </p:txBody>
      </p:sp>
      <p:sp>
        <p:nvSpPr>
          <p:cNvPr id="38" name="Text 33"/>
          <p:cNvSpPr txBox="1"/>
          <p:nvPr/>
        </p:nvSpPr>
        <p:spPr>
          <a:xfrm>
            <a:off x="7502652" y="5175504"/>
            <a:ext cx="1664208" cy="685800"/>
          </a:xfrm>
          <a:prstGeom prst="rect">
            <a:avLst/>
          </a:prstGeom>
          <a:noFill/>
          <a:ln/>
        </p:spPr>
        <p:txBody>
          <a:bodyPr wrap="square" lIns="0" tIns="0" rIns="0" bIns="0" rtlCol="0" anchor="t"/>
          <a:lstStyle/>
          <a:p>
            <a:pPr indent="0" marL="0">
              <a:buNone/>
            </a:pPr>
            <a:r>
              <a:rPr lang="fr-CA" altLang="en-US" sz="1500" dirty="0">
                <a:solidFill>
                  <a:srgbClr val="E8742A"/>
                </a:solidFill>
                <a:latin typeface="Calibri" pitchFamily="34" charset="0"/>
                <a:ea typeface="Calibri" pitchFamily="34" charset="-122"/>
                <a:cs typeface="Calibri" pitchFamily="34" charset="-120"/>
              </a:rPr>
              <a:t>Psaume 19.11‑12</a:t>
            </a:r>
            <a:endParaRPr lang="fr-CA" sz="1500" dirty="0"/>
          </a:p>
          <a:p>
            <a:pPr indent="0" marL="0">
              <a:buNone/>
            </a:pPr>
            <a:r>
              <a:rPr lang="fr-CA" altLang="en-US" sz="1400" dirty="0">
                <a:solidFill>
                  <a:srgbClr val="A89A8C"/>
                </a:solidFill>
                <a:latin typeface="Calibri" pitchFamily="34" charset="0"/>
                <a:ea typeface="Calibri" pitchFamily="34" charset="-122"/>
                <a:cs typeface="Calibri" pitchFamily="34" charset="-120"/>
              </a:rPr>
              <a:t>Appréciation</a:t>
            </a:r>
            <a:endParaRPr lang="fr-CA" sz="1500" dirty="0"/>
          </a:p>
        </p:txBody>
      </p:sp>
      <p:sp>
        <p:nvSpPr>
          <p:cNvPr id="39" name="Shape 34"/>
          <p:cNvSpPr/>
          <p:nvPr/>
        </p:nvSpPr>
        <p:spPr>
          <a:xfrm>
            <a:off x="9564624" y="3749040"/>
            <a:ext cx="2075688" cy="2148840"/>
          </a:xfrm>
          <a:prstGeom prst="roundRect">
            <a:avLst>
              <a:gd name="adj" fmla="val 5286"/>
            </a:avLst>
          </a:prstGeom>
          <a:solidFill>
            <a:srgbClr val="1A1411"/>
          </a:solidFill>
          <a:ln w="9525">
            <a:solidFill>
              <a:srgbClr val="2E211A"/>
            </a:solidFill>
            <a:prstDash val="solid"/>
          </a:ln>
        </p:spPr>
      </p:sp>
      <p:sp>
        <p:nvSpPr>
          <p:cNvPr id="40" name="Shape 35"/>
          <p:cNvSpPr/>
          <p:nvPr/>
        </p:nvSpPr>
        <p:spPr>
          <a:xfrm>
            <a:off x="9793224" y="3931920"/>
            <a:ext cx="566928" cy="566928"/>
          </a:xfrm>
          <a:prstGeom prst="ellipse">
            <a:avLst/>
          </a:prstGeom>
          <a:solidFill>
            <a:srgbClr val="2A1A10"/>
          </a:solidFill>
          <a:ln w="12700">
            <a:solidFill>
              <a:srgbClr val="CC5500"/>
            </a:solidFill>
            <a:prstDash val="solid"/>
          </a:ln>
        </p:spPr>
      </p:sp>
      <p:pic>
        <p:nvPicPr>
          <p:cNvPr id="41" name="Image 3" descr="Icône : cœur">    </p:cNvPr>
          <p:cNvPicPr>
            <a:picLocks noChangeAspect="1"/>
          </p:cNvPicPr>
          <p:nvPr/>
        </p:nvPicPr>
        <p:blipFill>
          <a:blip r:embed="rId4"/>
          <a:stretch>
            <a:fillRect/>
          </a:stretch>
        </p:blipFill>
        <p:spPr>
          <a:xfrm>
            <a:off x="9906610" y="4045306"/>
            <a:ext cx="340157" cy="340157"/>
          </a:xfrm>
          <a:prstGeom prst="rect">
            <a:avLst/>
          </a:prstGeom>
        </p:spPr>
      </p:pic>
      <p:sp>
        <p:nvSpPr>
          <p:cNvPr id="42" name="Text 36"/>
          <p:cNvSpPr txBox="1"/>
          <p:nvPr/>
        </p:nvSpPr>
        <p:spPr>
          <a:xfrm>
            <a:off x="10497312" y="4005072"/>
            <a:ext cx="978408" cy="411480"/>
          </a:xfrm>
          <a:prstGeom prst="rect">
            <a:avLst/>
          </a:prstGeom>
          <a:noFill/>
          <a:ln/>
        </p:spPr>
        <p:txBody>
          <a:bodyPr wrap="square" lIns="0" tIns="0" rIns="0" bIns="0" rtlCol="0" anchor="t"/>
          <a:lstStyle/>
          <a:p>
            <a:pPr indent="0" marL="0">
              <a:buNone/>
            </a:pPr>
            <a:r>
              <a:rPr lang="fr-CA" altLang="en-US" sz="1600" b="1" dirty="0">
                <a:solidFill>
                  <a:srgbClr val="E8742A"/>
                </a:solidFill>
                <a:latin typeface="Calibri" pitchFamily="34" charset="0"/>
                <a:ea typeface="Calibri" pitchFamily="34" charset="-122"/>
                <a:cs typeface="Calibri" pitchFamily="34" charset="-120"/>
              </a:rPr>
              <a:t>IV</a:t>
            </a:r>
            <a:endParaRPr lang="fr-CA" sz="1600" dirty="0"/>
          </a:p>
        </p:txBody>
      </p:sp>
      <p:sp>
        <p:nvSpPr>
          <p:cNvPr id="43" name="Text 37"/>
          <p:cNvSpPr txBox="1"/>
          <p:nvPr/>
        </p:nvSpPr>
        <p:spPr>
          <a:xfrm>
            <a:off x="9793224" y="4553712"/>
            <a:ext cx="1664208" cy="603504"/>
          </a:xfrm>
          <a:prstGeom prst="rect">
            <a:avLst/>
          </a:prstGeom>
          <a:noFill/>
          <a:ln/>
        </p:spPr>
        <p:txBody>
          <a:bodyPr wrap="square" lIns="0" tIns="0" rIns="0" bIns="0" rtlCol="0" anchor="b"/>
          <a:lstStyle/>
          <a:p>
            <a:pPr indent="0" marL="0">
              <a:buNone/>
            </a:pPr>
            <a:r>
              <a:rPr lang="fr-CA" altLang="en-US" sz="1800" b="1" dirty="0">
                <a:solidFill>
                  <a:srgbClr val="F4EDE4"/>
                </a:solidFill>
                <a:latin typeface="Calibri" pitchFamily="34" charset="0"/>
                <a:ea typeface="Calibri" pitchFamily="34" charset="-122"/>
                <a:cs typeface="Calibri" pitchFamily="34" charset="-120"/>
              </a:rPr>
              <a:t>Le cœur qui s'offre</a:t>
            </a:r>
            <a:endParaRPr lang="fr-CA" sz="1800" dirty="0"/>
          </a:p>
        </p:txBody>
      </p:sp>
      <p:sp>
        <p:nvSpPr>
          <p:cNvPr id="44" name="Text 38"/>
          <p:cNvSpPr txBox="1"/>
          <p:nvPr/>
        </p:nvSpPr>
        <p:spPr>
          <a:xfrm>
            <a:off x="9793224" y="5175504"/>
            <a:ext cx="1664208" cy="685800"/>
          </a:xfrm>
          <a:prstGeom prst="rect">
            <a:avLst/>
          </a:prstGeom>
          <a:noFill/>
          <a:ln/>
        </p:spPr>
        <p:txBody>
          <a:bodyPr wrap="square" lIns="0" tIns="0" rIns="0" bIns="0" rtlCol="0" anchor="t"/>
          <a:lstStyle/>
          <a:p>
            <a:pPr indent="0" marL="0">
              <a:buNone/>
            </a:pPr>
            <a:r>
              <a:rPr lang="fr-CA" altLang="en-US" sz="1500" dirty="0">
                <a:solidFill>
                  <a:srgbClr val="E8742A"/>
                </a:solidFill>
                <a:latin typeface="Calibri" pitchFamily="34" charset="0"/>
                <a:ea typeface="Calibri" pitchFamily="34" charset="-122"/>
                <a:cs typeface="Calibri" pitchFamily="34" charset="-120"/>
              </a:rPr>
              <a:t>Psaume 19.13‑15</a:t>
            </a:r>
            <a:endParaRPr lang="fr-CA" sz="1500" dirty="0"/>
          </a:p>
          <a:p>
            <a:pPr indent="0" marL="0">
              <a:buNone/>
            </a:pPr>
            <a:r>
              <a:rPr lang="fr-CA" altLang="en-US" sz="1400" dirty="0">
                <a:solidFill>
                  <a:srgbClr val="A89A8C"/>
                </a:solidFill>
                <a:latin typeface="Calibri" pitchFamily="34" charset="0"/>
                <a:ea typeface="Calibri" pitchFamily="34" charset="-122"/>
                <a:cs typeface="Calibri" pitchFamily="34" charset="-120"/>
              </a:rPr>
              <a:t>Application</a:t>
            </a:r>
            <a:endParaRPr lang="fr-CA" sz="1500" dirty="0"/>
          </a:p>
        </p:txBody>
      </p:sp>
      <p:sp>
        <p:nvSpPr>
          <p:cNvPr id="45" name="Text 39"/>
          <p:cNvSpPr txBox="1"/>
          <p:nvPr/>
        </p:nvSpPr>
        <p:spPr>
          <a:xfrm>
            <a:off x="548640" y="6035040"/>
            <a:ext cx="11064240" cy="347472"/>
          </a:xfrm>
          <a:prstGeom prst="rect">
            <a:avLst/>
          </a:prstGeom>
          <a:noFill/>
          <a:ln/>
        </p:spPr>
        <p:txBody>
          <a:bodyPr wrap="square" lIns="0" tIns="0" rIns="0" bIns="0" rtlCol="0" anchor="t"/>
          <a:lstStyle/>
          <a:p>
            <a:pPr algn="ctr" indent="0" marL="0">
              <a:buNone/>
            </a:pPr>
            <a:r>
              <a:rPr lang="fr-CA" altLang="en-US" sz="1600" i="1" dirty="0">
                <a:solidFill>
                  <a:srgbClr val="A89A8C"/>
                </a:solidFill>
                <a:latin typeface="Calibri" pitchFamily="34" charset="0"/>
                <a:ea typeface="Calibri" pitchFamily="34" charset="-122"/>
                <a:cs typeface="Calibri" pitchFamily="34" charset="-120"/>
              </a:rPr>
              <a:t>« Je pense que c'est le plus grand passage de toute la Bible sur la suffisance de l'Écriture » (MacArthur)</a:t>
            </a:r>
            <a:endParaRPr lang="fr-CA" sz="1600" dirty="0"/>
          </a:p>
        </p:txBody>
      </p:sp>
      <p:grpSp>
        <p:nvGrpSpPr>
          <p:cNvPr id="1003" name="Barre de progression"/>
          <p:cNvGrpSpPr/>
          <p:nvPr/>
        </p:nvGrpSpPr>
        <p:grpSpPr>
          <a:xfrm>
            <a:off x="546100" y="6527800"/>
            <a:ext cx="11099800" cy="63500"/>
            <a:chOff x="546100" y="6527800"/>
            <a:chExt cx="11099800" cy="63500"/>
          </a:xfrm>
        </p:grpSpPr>
        <p:sp>
          <p:nvSpPr>
            <p:cNvPr id="46" name="Progression 1"/>
            <p:cNvSpPr/>
            <p:nvPr/>
          </p:nvSpPr>
          <p:spPr>
            <a:xfrm>
              <a:off x="546100" y="6527800"/>
              <a:ext cx="668867" cy="63500"/>
            </a:xfrm>
            <a:prstGeom prst="rect">
              <a:avLst/>
            </a:prstGeom>
            <a:solidFill>
              <a:srgbClr val="E8742A"/>
            </a:solidFill>
            <a:ln/>
          </p:spPr>
        </p:sp>
        <p:sp>
          <p:nvSpPr>
            <p:cNvPr id="47" name="Progression 2"/>
            <p:cNvSpPr/>
            <p:nvPr/>
          </p:nvSpPr>
          <p:spPr>
            <a:xfrm>
              <a:off x="1291167" y="6527800"/>
              <a:ext cx="668867" cy="63500"/>
            </a:xfrm>
            <a:prstGeom prst="rect">
              <a:avLst/>
            </a:prstGeom>
            <a:solidFill>
              <a:srgbClr val="E8742A"/>
            </a:solidFill>
            <a:ln/>
          </p:spPr>
        </p:sp>
        <p:sp>
          <p:nvSpPr>
            <p:cNvPr id="48" name="Progression 3"/>
            <p:cNvSpPr/>
            <p:nvPr/>
          </p:nvSpPr>
          <p:spPr>
            <a:xfrm>
              <a:off x="2036233" y="6527800"/>
              <a:ext cx="668867" cy="63500"/>
            </a:xfrm>
            <a:prstGeom prst="rect">
              <a:avLst/>
            </a:prstGeom>
            <a:solidFill>
              <a:srgbClr val="E8742A"/>
            </a:solidFill>
            <a:ln/>
          </p:spPr>
        </p:sp>
        <p:sp>
          <p:nvSpPr>
            <p:cNvPr id="49" name="Progression 4"/>
            <p:cNvSpPr/>
            <p:nvPr/>
          </p:nvSpPr>
          <p:spPr>
            <a:xfrm>
              <a:off x="2781300" y="6527800"/>
              <a:ext cx="668867" cy="63500"/>
            </a:xfrm>
            <a:prstGeom prst="rect">
              <a:avLst/>
            </a:prstGeom>
            <a:solidFill>
              <a:srgbClr val="E8742A"/>
            </a:solidFill>
            <a:ln/>
          </p:spPr>
        </p:sp>
        <p:sp>
          <p:nvSpPr>
            <p:cNvPr id="50" name="Progression 5"/>
            <p:cNvSpPr/>
            <p:nvPr/>
          </p:nvSpPr>
          <p:spPr>
            <a:xfrm>
              <a:off x="3526367" y="6527800"/>
              <a:ext cx="668867" cy="63500"/>
            </a:xfrm>
            <a:prstGeom prst="rect">
              <a:avLst/>
            </a:prstGeom>
            <a:solidFill>
              <a:srgbClr val="3A312C"/>
            </a:solidFill>
            <a:ln/>
          </p:spPr>
        </p:sp>
        <p:sp>
          <p:nvSpPr>
            <p:cNvPr id="51" name="Progression 6"/>
            <p:cNvSpPr/>
            <p:nvPr/>
          </p:nvSpPr>
          <p:spPr>
            <a:xfrm>
              <a:off x="4271433" y="6527800"/>
              <a:ext cx="668867" cy="63500"/>
            </a:xfrm>
            <a:prstGeom prst="rect">
              <a:avLst/>
            </a:prstGeom>
            <a:solidFill>
              <a:srgbClr val="3A312C"/>
            </a:solidFill>
            <a:ln/>
          </p:spPr>
        </p:sp>
        <p:sp>
          <p:nvSpPr>
            <p:cNvPr id="52" name="Progression 7"/>
            <p:cNvSpPr/>
            <p:nvPr/>
          </p:nvSpPr>
          <p:spPr>
            <a:xfrm>
              <a:off x="5016500" y="6527800"/>
              <a:ext cx="668867" cy="63500"/>
            </a:xfrm>
            <a:prstGeom prst="rect">
              <a:avLst/>
            </a:prstGeom>
            <a:solidFill>
              <a:srgbClr val="3A312C"/>
            </a:solidFill>
            <a:ln/>
          </p:spPr>
        </p:sp>
        <p:sp>
          <p:nvSpPr>
            <p:cNvPr id="53" name="Progression 8"/>
            <p:cNvSpPr/>
            <p:nvPr/>
          </p:nvSpPr>
          <p:spPr>
            <a:xfrm>
              <a:off x="5761567" y="6527800"/>
              <a:ext cx="668867" cy="63500"/>
            </a:xfrm>
            <a:prstGeom prst="rect">
              <a:avLst/>
            </a:prstGeom>
            <a:solidFill>
              <a:srgbClr val="3A312C"/>
            </a:solidFill>
            <a:ln/>
          </p:spPr>
        </p:sp>
        <p:sp>
          <p:nvSpPr>
            <p:cNvPr id="54" name="Progression 9"/>
            <p:cNvSpPr/>
            <p:nvPr/>
          </p:nvSpPr>
          <p:spPr>
            <a:xfrm>
              <a:off x="6506633" y="6527800"/>
              <a:ext cx="668867" cy="63500"/>
            </a:xfrm>
            <a:prstGeom prst="rect">
              <a:avLst/>
            </a:prstGeom>
            <a:solidFill>
              <a:srgbClr val="3A312C"/>
            </a:solidFill>
            <a:ln/>
          </p:spPr>
        </p:sp>
        <p:sp>
          <p:nvSpPr>
            <p:cNvPr id="55" name="Progression 10"/>
            <p:cNvSpPr/>
            <p:nvPr/>
          </p:nvSpPr>
          <p:spPr>
            <a:xfrm>
              <a:off x="7251700" y="6527800"/>
              <a:ext cx="668867" cy="63500"/>
            </a:xfrm>
            <a:prstGeom prst="rect">
              <a:avLst/>
            </a:prstGeom>
            <a:solidFill>
              <a:srgbClr val="3A312C"/>
            </a:solidFill>
            <a:ln/>
          </p:spPr>
        </p:sp>
        <p:sp>
          <p:nvSpPr>
            <p:cNvPr id="56" name="Progression 11"/>
            <p:cNvSpPr/>
            <p:nvPr/>
          </p:nvSpPr>
          <p:spPr>
            <a:xfrm>
              <a:off x="7996767" y="6527800"/>
              <a:ext cx="668867" cy="63500"/>
            </a:xfrm>
            <a:prstGeom prst="rect">
              <a:avLst/>
            </a:prstGeom>
            <a:solidFill>
              <a:srgbClr val="3A312C"/>
            </a:solidFill>
            <a:ln/>
          </p:spPr>
        </p:sp>
        <p:sp>
          <p:nvSpPr>
            <p:cNvPr id="57" name="Progression 12"/>
            <p:cNvSpPr/>
            <p:nvPr/>
          </p:nvSpPr>
          <p:spPr>
            <a:xfrm>
              <a:off x="8741833" y="6527800"/>
              <a:ext cx="668867" cy="63500"/>
            </a:xfrm>
            <a:prstGeom prst="rect">
              <a:avLst/>
            </a:prstGeom>
            <a:solidFill>
              <a:srgbClr val="3A312C"/>
            </a:solidFill>
            <a:ln/>
          </p:spPr>
        </p:sp>
        <p:sp>
          <p:nvSpPr>
            <p:cNvPr id="58" name="Progression 13"/>
            <p:cNvSpPr/>
            <p:nvPr/>
          </p:nvSpPr>
          <p:spPr>
            <a:xfrm>
              <a:off x="9486900" y="6527800"/>
              <a:ext cx="668867" cy="63500"/>
            </a:xfrm>
            <a:prstGeom prst="rect">
              <a:avLst/>
            </a:prstGeom>
            <a:solidFill>
              <a:srgbClr val="3A312C"/>
            </a:solidFill>
            <a:ln/>
          </p:spPr>
        </p:sp>
        <p:sp>
          <p:nvSpPr>
            <p:cNvPr id="59" name="Progression 14"/>
            <p:cNvSpPr/>
            <p:nvPr/>
          </p:nvSpPr>
          <p:spPr>
            <a:xfrm>
              <a:off x="10231967" y="6527800"/>
              <a:ext cx="668867" cy="63500"/>
            </a:xfrm>
            <a:prstGeom prst="rect">
              <a:avLst/>
            </a:prstGeom>
            <a:solidFill>
              <a:srgbClr val="3A312C"/>
            </a:solidFill>
            <a:ln/>
          </p:spPr>
        </p:sp>
        <p:sp>
          <p:nvSpPr>
            <p:cNvPr id="60"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Repère de section"/>
          <p:cNvSpPr txBox="1"/>
          <p:nvPr/>
        </p:nvSpPr>
        <p:spPr>
          <a:xfrm>
            <a:off x="548640" y="384048"/>
            <a:ext cx="676656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 · PSAUME 19.2‑7</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Le ciel qui parle</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La création vous a parlé de Dieu chaque jour de votre vie</a:t>
            </a:r>
            <a:endParaRPr lang="fr-CA" sz="1900" dirty="0"/>
          </a:p>
        </p:txBody>
      </p:sp>
      <p:sp>
        <p:nvSpPr>
          <p:cNvPr id="5" name="Navigation : le ciel"/>
          <p:cNvSpPr txBox="1"/>
          <p:nvPr/>
        </p:nvSpPr>
        <p:spPr>
          <a:xfrm>
            <a:off x="7756855" y="384048"/>
            <a:ext cx="777240" cy="292608"/>
          </a:xfrm>
          <a:prstGeom prst="rect">
            <a:avLst/>
          </a:prstGeom>
          <a:noFill/>
          <a:ln/>
        </p:spPr>
        <p:txBody>
          <a:bodyPr wrap="square" lIns="0" tIns="0" rIns="0" bIns="0" rtlCol="0" anchor="t"/>
          <a:lstStyle/>
          <a:p>
            <a:pPr algn="ctr" indent="0" marL="0">
              <a:buNone/>
            </a:pPr>
            <a:r>
              <a:rPr lang="fr-CA" altLang="en-US" sz="1400" b="1" dirty="0">
                <a:solidFill>
                  <a:srgbClr val="E8742A"/>
                </a:solidFill>
                <a:latin typeface="Calibri" pitchFamily="34" charset="0"/>
                <a:ea typeface="Calibri" pitchFamily="34" charset="-122"/>
                <a:cs typeface="Calibri" pitchFamily="34" charset="-120"/>
              </a:rPr>
              <a:t>le ciel</a:t>
            </a:r>
            <a:endParaRPr lang="fr-CA" sz="1400" dirty="0"/>
          </a:p>
        </p:txBody>
      </p:sp>
      <p:sp>
        <p:nvSpPr>
          <p:cNvPr id="6" name="Navigation : la Parole"/>
          <p:cNvSpPr txBox="1"/>
          <p:nvPr/>
        </p:nvSpPr>
        <p:spPr>
          <a:xfrm>
            <a:off x="8671255" y="384048"/>
            <a:ext cx="10058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la Parole</a:t>
            </a:r>
            <a:endParaRPr lang="fr-CA" sz="1400" dirty="0"/>
          </a:p>
        </p:txBody>
      </p:sp>
      <p:sp>
        <p:nvSpPr>
          <p:cNvPr id="7" name="Navigation : le désir"/>
          <p:cNvSpPr txBox="1"/>
          <p:nvPr/>
        </p:nvSpPr>
        <p:spPr>
          <a:xfrm>
            <a:off x="9814255" y="384048"/>
            <a:ext cx="86868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désir</a:t>
            </a:r>
            <a:endParaRPr lang="fr-CA" sz="1400" dirty="0"/>
          </a:p>
        </p:txBody>
      </p:sp>
      <p:sp>
        <p:nvSpPr>
          <p:cNvPr id="8" name="Navigation : le cœur"/>
          <p:cNvSpPr txBox="1"/>
          <p:nvPr/>
        </p:nvSpPr>
        <p:spPr>
          <a:xfrm>
            <a:off x="10820095" y="384048"/>
            <a:ext cx="82296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cœur</a:t>
            </a:r>
            <a:endParaRPr lang="fr-CA" sz="1400" dirty="0"/>
          </a:p>
        </p:txBody>
      </p:sp>
      <p:pic>
        <p:nvPicPr>
          <p:cNvPr id="9" name="Image 0" descr="La course du soleil dans le ciel étoilé, d'une tente à l'horizon jusqu'à l'autre extrémité des cieux">    </p:cNvPr>
          <p:cNvPicPr>
            <a:picLocks noChangeAspect="1"/>
          </p:cNvPicPr>
          <p:nvPr/>
        </p:nvPicPr>
        <p:blipFill>
          <a:blip r:embed="rId1"/>
          <a:stretch>
            <a:fillRect/>
          </a:stretch>
        </p:blipFill>
        <p:spPr>
          <a:xfrm>
            <a:off x="411480" y="1874520"/>
            <a:ext cx="6400800" cy="3602736"/>
          </a:xfrm>
          <a:prstGeom prst="rect">
            <a:avLst/>
          </a:prstGeom>
        </p:spPr>
      </p:pic>
      <p:sp>
        <p:nvSpPr>
          <p:cNvPr id="10" name="Shape 7"/>
          <p:cNvSpPr/>
          <p:nvPr/>
        </p:nvSpPr>
        <p:spPr>
          <a:xfrm>
            <a:off x="548640" y="5577840"/>
            <a:ext cx="1737360" cy="731520"/>
          </a:xfrm>
          <a:prstGeom prst="roundRect">
            <a:avLst>
              <a:gd name="adj" fmla="val 25000"/>
            </a:avLst>
          </a:prstGeom>
          <a:solidFill>
            <a:srgbClr val="2A1A10"/>
          </a:solidFill>
          <a:ln w="12700">
            <a:solidFill>
              <a:srgbClr val="CC5500"/>
            </a:solidFill>
            <a:prstDash val="solid"/>
          </a:ln>
        </p:spPr>
      </p:sp>
      <p:sp>
        <p:nvSpPr>
          <p:cNvPr id="11" name="Text 8"/>
          <p:cNvSpPr txBox="1"/>
          <p:nvPr/>
        </p:nvSpPr>
        <p:spPr>
          <a:xfrm>
            <a:off x="640080" y="5577840"/>
            <a:ext cx="1554480" cy="731520"/>
          </a:xfrm>
          <a:prstGeom prst="rect">
            <a:avLst/>
          </a:prstGeom>
          <a:noFill/>
          <a:ln/>
        </p:spPr>
        <p:txBody>
          <a:bodyPr wrap="square" lIns="0" tIns="0" rIns="0" bIns="0" rtlCol="0" anchor="ctr"/>
          <a:lstStyle/>
          <a:p>
            <a:pPr algn="ctr" indent="0" marL="0">
              <a:buNone/>
            </a:pPr>
            <a:r>
              <a:rPr lang="fr-CA" altLang="en-US" sz="1400" b="1" dirty="0">
                <a:solidFill>
                  <a:srgbClr val="F4EDE4"/>
                </a:solidFill>
                <a:latin typeface="Calibri" pitchFamily="34" charset="0"/>
                <a:ea typeface="Calibri" pitchFamily="34" charset="-122"/>
                <a:cs typeface="Calibri" pitchFamily="34" charset="-120"/>
              </a:rPr>
              <a:t>L'époux et le héros</a:t>
            </a:r>
            <a:endParaRPr lang="fr-CA" sz="1400" dirty="0"/>
          </a:p>
          <a:p>
            <a:pPr algn="ctr" indent="0" marL="0">
              <a:buNone/>
            </a:pPr>
            <a:r>
              <a:rPr lang="fr-CA" altLang="en-US" sz="1300" dirty="0">
                <a:solidFill>
                  <a:srgbClr val="E8742A"/>
                </a:solidFill>
                <a:latin typeface="Calibri" pitchFamily="34" charset="0"/>
                <a:ea typeface="Calibri" pitchFamily="34" charset="-122"/>
                <a:cs typeface="Calibri" pitchFamily="34" charset="-120"/>
              </a:rPr>
              <a:t>19.6</a:t>
            </a:r>
            <a:endParaRPr lang="fr-CA" sz="1400" dirty="0"/>
          </a:p>
        </p:txBody>
      </p:sp>
      <p:sp>
        <p:nvSpPr>
          <p:cNvPr id="12" name="Shape 9"/>
          <p:cNvSpPr/>
          <p:nvPr/>
        </p:nvSpPr>
        <p:spPr>
          <a:xfrm>
            <a:off x="2377440" y="5577840"/>
            <a:ext cx="1828800" cy="731520"/>
          </a:xfrm>
          <a:prstGeom prst="roundRect">
            <a:avLst>
              <a:gd name="adj" fmla="val 25000"/>
            </a:avLst>
          </a:prstGeom>
          <a:solidFill>
            <a:srgbClr val="2A1A10"/>
          </a:solidFill>
          <a:ln w="12700">
            <a:solidFill>
              <a:srgbClr val="CC5500"/>
            </a:solidFill>
            <a:prstDash val="solid"/>
          </a:ln>
        </p:spPr>
      </p:sp>
      <p:sp>
        <p:nvSpPr>
          <p:cNvPr id="13" name="Text 10"/>
          <p:cNvSpPr txBox="1"/>
          <p:nvPr/>
        </p:nvSpPr>
        <p:spPr>
          <a:xfrm>
            <a:off x="2468880" y="5577840"/>
            <a:ext cx="1645920" cy="731520"/>
          </a:xfrm>
          <a:prstGeom prst="rect">
            <a:avLst/>
          </a:prstGeom>
          <a:noFill/>
          <a:ln/>
        </p:spPr>
        <p:txBody>
          <a:bodyPr wrap="square" lIns="0" tIns="0" rIns="0" bIns="0" rtlCol="0" anchor="ctr"/>
          <a:lstStyle/>
          <a:p>
            <a:pPr algn="ctr" indent="0" marL="0">
              <a:buNone/>
            </a:pPr>
            <a:r>
              <a:rPr lang="fr-CA" altLang="en-US" sz="1400" b="1" dirty="0">
                <a:solidFill>
                  <a:srgbClr val="F4EDE4"/>
                </a:solidFill>
                <a:latin typeface="Calibri" pitchFamily="34" charset="0"/>
                <a:ea typeface="Calibri" pitchFamily="34" charset="-122"/>
                <a:cs typeface="Calibri" pitchFamily="34" charset="-120"/>
              </a:rPr>
              <a:t>Ni dieu ni législateur</a:t>
            </a:r>
            <a:endParaRPr lang="fr-CA" sz="1400" dirty="0"/>
          </a:p>
          <a:p>
            <a:pPr algn="ctr" indent="0" marL="0">
              <a:buNone/>
            </a:pPr>
            <a:r>
              <a:rPr lang="fr-CA" altLang="en-US" sz="1300" dirty="0">
                <a:solidFill>
                  <a:srgbClr val="E8742A"/>
                </a:solidFill>
                <a:latin typeface="Calibri" pitchFamily="34" charset="0"/>
                <a:ea typeface="Calibri" pitchFamily="34" charset="-122"/>
                <a:cs typeface="Calibri" pitchFamily="34" charset="-120"/>
              </a:rPr>
              <a:t>19.5c‑7</a:t>
            </a:r>
            <a:endParaRPr lang="fr-CA" sz="1400" dirty="0"/>
          </a:p>
        </p:txBody>
      </p:sp>
      <p:sp>
        <p:nvSpPr>
          <p:cNvPr id="14" name="Shape 11"/>
          <p:cNvSpPr/>
          <p:nvPr/>
        </p:nvSpPr>
        <p:spPr>
          <a:xfrm>
            <a:off x="4297680" y="5577840"/>
            <a:ext cx="2514600" cy="731520"/>
          </a:xfrm>
          <a:prstGeom prst="roundRect">
            <a:avLst>
              <a:gd name="adj" fmla="val 25000"/>
            </a:avLst>
          </a:prstGeom>
          <a:solidFill>
            <a:srgbClr val="2A1A10"/>
          </a:solidFill>
          <a:ln w="12700">
            <a:solidFill>
              <a:srgbClr val="CC5500"/>
            </a:solidFill>
            <a:prstDash val="solid"/>
          </a:ln>
        </p:spPr>
      </p:sp>
      <p:sp>
        <p:nvSpPr>
          <p:cNvPr id="15" name="Text 12"/>
          <p:cNvSpPr txBox="1"/>
          <p:nvPr/>
        </p:nvSpPr>
        <p:spPr>
          <a:xfrm>
            <a:off x="4389120" y="5577840"/>
            <a:ext cx="2331720" cy="731520"/>
          </a:xfrm>
          <a:prstGeom prst="rect">
            <a:avLst/>
          </a:prstGeom>
          <a:noFill/>
          <a:ln/>
        </p:spPr>
        <p:txBody>
          <a:bodyPr wrap="square" lIns="0" tIns="0" rIns="0" bIns="0" rtlCol="0" anchor="ctr"/>
          <a:lstStyle/>
          <a:p>
            <a:pPr algn="ctr" indent="0" marL="0">
              <a:buNone/>
            </a:pPr>
            <a:r>
              <a:rPr lang="fr-CA" altLang="en-US" sz="1400" b="1" dirty="0">
                <a:solidFill>
                  <a:srgbClr val="F4EDE4"/>
                </a:solidFill>
                <a:latin typeface="Calibri" pitchFamily="34" charset="0"/>
                <a:ea typeface="Calibri" pitchFamily="34" charset="-122"/>
                <a:cs typeface="Calibri" pitchFamily="34" charset="-120"/>
              </a:rPr>
              <a:t>Rien ne se dérobe à sa chaleur</a:t>
            </a:r>
            <a:endParaRPr lang="fr-CA" sz="1400" dirty="0"/>
          </a:p>
          <a:p>
            <a:pPr algn="ctr" indent="0" marL="0">
              <a:buNone/>
            </a:pPr>
            <a:r>
              <a:rPr lang="fr-CA" altLang="en-US" sz="1300" dirty="0">
                <a:solidFill>
                  <a:srgbClr val="E8742A"/>
                </a:solidFill>
                <a:latin typeface="Calibri" pitchFamily="34" charset="0"/>
                <a:ea typeface="Calibri" pitchFamily="34" charset="-122"/>
                <a:cs typeface="Calibri" pitchFamily="34" charset="-120"/>
              </a:rPr>
              <a:t>19.7</a:t>
            </a:r>
            <a:endParaRPr lang="fr-CA" sz="1400" dirty="0"/>
          </a:p>
        </p:txBody>
      </p:sp>
      <p:sp>
        <p:nvSpPr>
          <p:cNvPr id="16" name="Shape 13"/>
          <p:cNvSpPr/>
          <p:nvPr/>
        </p:nvSpPr>
        <p:spPr>
          <a:xfrm>
            <a:off x="7132320" y="1965960"/>
            <a:ext cx="566928" cy="566928"/>
          </a:xfrm>
          <a:prstGeom prst="ellipse">
            <a:avLst/>
          </a:prstGeom>
          <a:solidFill>
            <a:srgbClr val="2A1A10"/>
          </a:solidFill>
          <a:ln w="12700">
            <a:solidFill>
              <a:srgbClr val="CC5500"/>
            </a:solidFill>
            <a:prstDash val="solid"/>
          </a:ln>
        </p:spPr>
      </p:sp>
      <p:pic>
        <p:nvPicPr>
          <p:cNvPr id="17" name="Image 1" descr="Icône : étoiles">    </p:cNvPr>
          <p:cNvPicPr>
            <a:picLocks noChangeAspect="1"/>
          </p:cNvPicPr>
          <p:nvPr/>
        </p:nvPicPr>
        <p:blipFill>
          <a:blip r:embed="rId2"/>
          <a:stretch>
            <a:fillRect/>
          </a:stretch>
        </p:blipFill>
        <p:spPr>
          <a:xfrm>
            <a:off x="7245706" y="2079346"/>
            <a:ext cx="340157" cy="340157"/>
          </a:xfrm>
          <a:prstGeom prst="rect">
            <a:avLst/>
          </a:prstGeom>
        </p:spPr>
      </p:pic>
      <p:sp>
        <p:nvSpPr>
          <p:cNvPr id="18" name="Text 14"/>
          <p:cNvSpPr txBox="1"/>
          <p:nvPr/>
        </p:nvSpPr>
        <p:spPr>
          <a:xfrm>
            <a:off x="7882128" y="1938528"/>
            <a:ext cx="3758184" cy="100584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Une proclamation incessante</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 Racontent », « manifeste » : la révélation ne s'interrompt jamais.</a:t>
            </a:r>
            <a:endParaRPr lang="fr-CA" sz="1500" dirty="0"/>
          </a:p>
        </p:txBody>
      </p:sp>
      <p:sp>
        <p:nvSpPr>
          <p:cNvPr id="19" name="Shape 15"/>
          <p:cNvSpPr/>
          <p:nvPr/>
        </p:nvSpPr>
        <p:spPr>
          <a:xfrm>
            <a:off x="7132320" y="3063240"/>
            <a:ext cx="566928" cy="566928"/>
          </a:xfrm>
          <a:prstGeom prst="ellipse">
            <a:avLst/>
          </a:prstGeom>
          <a:solidFill>
            <a:srgbClr val="2A1A10"/>
          </a:solidFill>
          <a:ln w="12700">
            <a:solidFill>
              <a:srgbClr val="CC5500"/>
            </a:solidFill>
            <a:prstDash val="solid"/>
          </a:ln>
        </p:spPr>
      </p:sp>
      <p:pic>
        <p:nvPicPr>
          <p:cNvPr id="20" name="Image 2" descr="Icône : poids">    </p:cNvPr>
          <p:cNvPicPr>
            <a:picLocks noChangeAspect="1"/>
          </p:cNvPicPr>
          <p:nvPr/>
        </p:nvPicPr>
        <p:blipFill>
          <a:blip r:embed="rId3"/>
          <a:stretch>
            <a:fillRect/>
          </a:stretch>
        </p:blipFill>
        <p:spPr>
          <a:xfrm>
            <a:off x="7245706" y="3176626"/>
            <a:ext cx="340157" cy="340157"/>
          </a:xfrm>
          <a:prstGeom prst="rect">
            <a:avLst/>
          </a:prstGeom>
        </p:spPr>
      </p:pic>
      <p:sp>
        <p:nvSpPr>
          <p:cNvPr id="21" name="Text 16"/>
          <p:cNvSpPr txBox="1"/>
          <p:nvPr/>
        </p:nvSpPr>
        <p:spPr>
          <a:xfrm>
            <a:off x="7882128" y="3035808"/>
            <a:ext cx="3758184" cy="100584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Le poids de la gloire</a:t>
            </a:r>
            <a:endParaRPr lang="fr-CA" sz="1500" dirty="0"/>
          </a:p>
          <a:p>
            <a:pPr indent="0" marL="0">
              <a:spcBef>
                <a:spcPts val="200"/>
              </a:spcBef>
              <a:buNone/>
            </a:pPr>
            <a:r>
              <a:rPr lang="fr-CA" altLang="en-US" sz="1500" i="1" dirty="0">
                <a:solidFill>
                  <a:srgbClr val="A89A8C"/>
                </a:solidFill>
                <a:latin typeface="Calibri" pitchFamily="34" charset="0"/>
                <a:ea typeface="Calibri" pitchFamily="34" charset="-122"/>
                <a:cs typeface="Calibri" pitchFamily="34" charset="-120"/>
              </a:rPr>
              <a:t>Kavod</a:t>
            </a:r>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 : le ciel nocturne fait comprendre le poids de Dieu (Street).</a:t>
            </a:r>
            <a:endParaRPr lang="fr-CA" sz="1500" dirty="0"/>
          </a:p>
        </p:txBody>
      </p:sp>
      <p:sp>
        <p:nvSpPr>
          <p:cNvPr id="22" name="Shape 17"/>
          <p:cNvSpPr/>
          <p:nvPr/>
        </p:nvSpPr>
        <p:spPr>
          <a:xfrm>
            <a:off x="7132320" y="4160520"/>
            <a:ext cx="566928" cy="566928"/>
          </a:xfrm>
          <a:prstGeom prst="ellipse">
            <a:avLst/>
          </a:prstGeom>
          <a:solidFill>
            <a:srgbClr val="2A1A10"/>
          </a:solidFill>
          <a:ln w="12700">
            <a:solidFill>
              <a:srgbClr val="CC5500"/>
            </a:solidFill>
            <a:prstDash val="solid"/>
          </a:ln>
        </p:spPr>
      </p:sp>
      <p:pic>
        <p:nvPicPr>
          <p:cNvPr id="23" name="Image 3" descr="Icône : disque moitié clair, moitié sombre (le jour et la nuit)">    </p:cNvPr>
          <p:cNvPicPr>
            <a:picLocks noChangeAspect="1"/>
          </p:cNvPicPr>
          <p:nvPr/>
        </p:nvPicPr>
        <p:blipFill>
          <a:blip r:embed="rId4"/>
          <a:stretch>
            <a:fillRect/>
          </a:stretch>
        </p:blipFill>
        <p:spPr>
          <a:xfrm>
            <a:off x="7245706" y="4273906"/>
            <a:ext cx="340157" cy="340157"/>
          </a:xfrm>
          <a:prstGeom prst="rect">
            <a:avLst/>
          </a:prstGeom>
        </p:spPr>
      </p:pic>
      <p:sp>
        <p:nvSpPr>
          <p:cNvPr id="24" name="Text 18"/>
          <p:cNvSpPr txBox="1"/>
          <p:nvPr/>
        </p:nvSpPr>
        <p:spPr>
          <a:xfrm>
            <a:off x="7882128" y="4133088"/>
            <a:ext cx="3758184" cy="100584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Le jour en instruit un autre</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Le verbe veut dire bouillonner : la révélation jaillit (Street).</a:t>
            </a:r>
            <a:endParaRPr lang="fr-CA" sz="1500" dirty="0"/>
          </a:p>
        </p:txBody>
      </p:sp>
      <p:sp>
        <p:nvSpPr>
          <p:cNvPr id="25" name="Shape 19"/>
          <p:cNvSpPr/>
          <p:nvPr/>
        </p:nvSpPr>
        <p:spPr>
          <a:xfrm>
            <a:off x="7132320" y="5257800"/>
            <a:ext cx="566928" cy="566928"/>
          </a:xfrm>
          <a:prstGeom prst="ellipse">
            <a:avLst/>
          </a:prstGeom>
          <a:solidFill>
            <a:srgbClr val="2A1A10"/>
          </a:solidFill>
          <a:ln w="12700">
            <a:solidFill>
              <a:srgbClr val="CC5500"/>
            </a:solidFill>
            <a:prstDash val="solid"/>
          </a:ln>
        </p:spPr>
      </p:sp>
      <p:pic>
        <p:nvPicPr>
          <p:cNvPr id="26" name="Image 4" descr="Icône : globe terrestre">    </p:cNvPr>
          <p:cNvPicPr>
            <a:picLocks noChangeAspect="1"/>
          </p:cNvPicPr>
          <p:nvPr/>
        </p:nvPicPr>
        <p:blipFill>
          <a:blip r:embed="rId5"/>
          <a:stretch>
            <a:fillRect/>
          </a:stretch>
        </p:blipFill>
        <p:spPr>
          <a:xfrm>
            <a:off x="7245706" y="5371186"/>
            <a:ext cx="340157" cy="340157"/>
          </a:xfrm>
          <a:prstGeom prst="rect">
            <a:avLst/>
          </a:prstGeom>
        </p:spPr>
      </p:pic>
      <p:sp>
        <p:nvSpPr>
          <p:cNvPr id="27" name="Text 20"/>
          <p:cNvSpPr txBox="1"/>
          <p:nvPr/>
        </p:nvSpPr>
        <p:spPr>
          <a:xfrm>
            <a:off x="7882128" y="5230368"/>
            <a:ext cx="3758184" cy="109728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Sans paroles, et partout</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Pas de mots au sens littéral, mais un message qui atteint toute la terre (Romains 10.18).</a:t>
            </a:r>
            <a:endParaRPr lang="fr-CA" sz="1500" dirty="0"/>
          </a:p>
        </p:txBody>
      </p:sp>
      <p:grpSp>
        <p:nvGrpSpPr>
          <p:cNvPr id="1004" name="Barre de progression"/>
          <p:cNvGrpSpPr/>
          <p:nvPr/>
        </p:nvGrpSpPr>
        <p:grpSpPr>
          <a:xfrm>
            <a:off x="546100" y="6527800"/>
            <a:ext cx="11099800" cy="63500"/>
            <a:chOff x="546100" y="6527800"/>
            <a:chExt cx="11099800" cy="63500"/>
          </a:xfrm>
        </p:grpSpPr>
        <p:sp>
          <p:nvSpPr>
            <p:cNvPr id="28" name="Progression 1"/>
            <p:cNvSpPr/>
            <p:nvPr/>
          </p:nvSpPr>
          <p:spPr>
            <a:xfrm>
              <a:off x="546100" y="6527800"/>
              <a:ext cx="668867" cy="63500"/>
            </a:xfrm>
            <a:prstGeom prst="rect">
              <a:avLst/>
            </a:prstGeom>
            <a:solidFill>
              <a:srgbClr val="E8742A"/>
            </a:solidFill>
            <a:ln/>
          </p:spPr>
        </p:sp>
        <p:sp>
          <p:nvSpPr>
            <p:cNvPr id="29" name="Progression 2"/>
            <p:cNvSpPr/>
            <p:nvPr/>
          </p:nvSpPr>
          <p:spPr>
            <a:xfrm>
              <a:off x="1291167" y="6527800"/>
              <a:ext cx="668867" cy="63500"/>
            </a:xfrm>
            <a:prstGeom prst="rect">
              <a:avLst/>
            </a:prstGeom>
            <a:solidFill>
              <a:srgbClr val="E8742A"/>
            </a:solidFill>
            <a:ln/>
          </p:spPr>
        </p:sp>
        <p:sp>
          <p:nvSpPr>
            <p:cNvPr id="30" name="Progression 3"/>
            <p:cNvSpPr/>
            <p:nvPr/>
          </p:nvSpPr>
          <p:spPr>
            <a:xfrm>
              <a:off x="2036233" y="6527800"/>
              <a:ext cx="668867" cy="63500"/>
            </a:xfrm>
            <a:prstGeom prst="rect">
              <a:avLst/>
            </a:prstGeom>
            <a:solidFill>
              <a:srgbClr val="E8742A"/>
            </a:solidFill>
            <a:ln/>
          </p:spPr>
        </p:sp>
        <p:sp>
          <p:nvSpPr>
            <p:cNvPr id="31" name="Progression 4"/>
            <p:cNvSpPr/>
            <p:nvPr/>
          </p:nvSpPr>
          <p:spPr>
            <a:xfrm>
              <a:off x="2781300" y="6527800"/>
              <a:ext cx="668867" cy="63500"/>
            </a:xfrm>
            <a:prstGeom prst="rect">
              <a:avLst/>
            </a:prstGeom>
            <a:solidFill>
              <a:srgbClr val="E8742A"/>
            </a:solidFill>
            <a:ln/>
          </p:spPr>
        </p:sp>
        <p:sp>
          <p:nvSpPr>
            <p:cNvPr id="32" name="Progression 5"/>
            <p:cNvSpPr/>
            <p:nvPr/>
          </p:nvSpPr>
          <p:spPr>
            <a:xfrm>
              <a:off x="3526367" y="6527800"/>
              <a:ext cx="668867" cy="63500"/>
            </a:xfrm>
            <a:prstGeom prst="rect">
              <a:avLst/>
            </a:prstGeom>
            <a:solidFill>
              <a:srgbClr val="E8742A"/>
            </a:solidFill>
            <a:ln/>
          </p:spPr>
        </p:sp>
        <p:sp>
          <p:nvSpPr>
            <p:cNvPr id="33" name="Progression 6"/>
            <p:cNvSpPr/>
            <p:nvPr/>
          </p:nvSpPr>
          <p:spPr>
            <a:xfrm>
              <a:off x="4271433" y="6527800"/>
              <a:ext cx="668867" cy="63500"/>
            </a:xfrm>
            <a:prstGeom prst="rect">
              <a:avLst/>
            </a:prstGeom>
            <a:solidFill>
              <a:srgbClr val="3A312C"/>
            </a:solidFill>
            <a:ln/>
          </p:spPr>
        </p:sp>
        <p:sp>
          <p:nvSpPr>
            <p:cNvPr id="34" name="Progression 7"/>
            <p:cNvSpPr/>
            <p:nvPr/>
          </p:nvSpPr>
          <p:spPr>
            <a:xfrm>
              <a:off x="5016500" y="6527800"/>
              <a:ext cx="668867" cy="63500"/>
            </a:xfrm>
            <a:prstGeom prst="rect">
              <a:avLst/>
            </a:prstGeom>
            <a:solidFill>
              <a:srgbClr val="3A312C"/>
            </a:solidFill>
            <a:ln/>
          </p:spPr>
        </p:sp>
        <p:sp>
          <p:nvSpPr>
            <p:cNvPr id="35" name="Progression 8"/>
            <p:cNvSpPr/>
            <p:nvPr/>
          </p:nvSpPr>
          <p:spPr>
            <a:xfrm>
              <a:off x="5761567" y="6527800"/>
              <a:ext cx="668867" cy="63500"/>
            </a:xfrm>
            <a:prstGeom prst="rect">
              <a:avLst/>
            </a:prstGeom>
            <a:solidFill>
              <a:srgbClr val="3A312C"/>
            </a:solidFill>
            <a:ln/>
          </p:spPr>
        </p:sp>
        <p:sp>
          <p:nvSpPr>
            <p:cNvPr id="36" name="Progression 9"/>
            <p:cNvSpPr/>
            <p:nvPr/>
          </p:nvSpPr>
          <p:spPr>
            <a:xfrm>
              <a:off x="6506633" y="6527800"/>
              <a:ext cx="668867" cy="63500"/>
            </a:xfrm>
            <a:prstGeom prst="rect">
              <a:avLst/>
            </a:prstGeom>
            <a:solidFill>
              <a:srgbClr val="3A312C"/>
            </a:solidFill>
            <a:ln/>
          </p:spPr>
        </p:sp>
        <p:sp>
          <p:nvSpPr>
            <p:cNvPr id="37" name="Progression 10"/>
            <p:cNvSpPr/>
            <p:nvPr/>
          </p:nvSpPr>
          <p:spPr>
            <a:xfrm>
              <a:off x="7251700" y="6527800"/>
              <a:ext cx="668867" cy="63500"/>
            </a:xfrm>
            <a:prstGeom prst="rect">
              <a:avLst/>
            </a:prstGeom>
            <a:solidFill>
              <a:srgbClr val="3A312C"/>
            </a:solidFill>
            <a:ln/>
          </p:spPr>
        </p:sp>
        <p:sp>
          <p:nvSpPr>
            <p:cNvPr id="38" name="Progression 11"/>
            <p:cNvSpPr/>
            <p:nvPr/>
          </p:nvSpPr>
          <p:spPr>
            <a:xfrm>
              <a:off x="7996767" y="6527800"/>
              <a:ext cx="668867" cy="63500"/>
            </a:xfrm>
            <a:prstGeom prst="rect">
              <a:avLst/>
            </a:prstGeom>
            <a:solidFill>
              <a:srgbClr val="3A312C"/>
            </a:solidFill>
            <a:ln/>
          </p:spPr>
        </p:sp>
        <p:sp>
          <p:nvSpPr>
            <p:cNvPr id="39" name="Progression 12"/>
            <p:cNvSpPr/>
            <p:nvPr/>
          </p:nvSpPr>
          <p:spPr>
            <a:xfrm>
              <a:off x="8741833" y="6527800"/>
              <a:ext cx="668867" cy="63500"/>
            </a:xfrm>
            <a:prstGeom prst="rect">
              <a:avLst/>
            </a:prstGeom>
            <a:solidFill>
              <a:srgbClr val="3A312C"/>
            </a:solidFill>
            <a:ln/>
          </p:spPr>
        </p:sp>
        <p:sp>
          <p:nvSpPr>
            <p:cNvPr id="40" name="Progression 13"/>
            <p:cNvSpPr/>
            <p:nvPr/>
          </p:nvSpPr>
          <p:spPr>
            <a:xfrm>
              <a:off x="9486900" y="6527800"/>
              <a:ext cx="668867" cy="63500"/>
            </a:xfrm>
            <a:prstGeom prst="rect">
              <a:avLst/>
            </a:prstGeom>
            <a:solidFill>
              <a:srgbClr val="3A312C"/>
            </a:solidFill>
            <a:ln/>
          </p:spPr>
        </p:sp>
        <p:sp>
          <p:nvSpPr>
            <p:cNvPr id="41" name="Progression 14"/>
            <p:cNvSpPr/>
            <p:nvPr/>
          </p:nvSpPr>
          <p:spPr>
            <a:xfrm>
              <a:off x="10231967" y="6527800"/>
              <a:ext cx="668867" cy="63500"/>
            </a:xfrm>
            <a:prstGeom prst="rect">
              <a:avLst/>
            </a:prstGeom>
            <a:solidFill>
              <a:srgbClr val="3A312C"/>
            </a:solidFill>
            <a:ln/>
          </p:spPr>
        </p:sp>
        <p:sp>
          <p:nvSpPr>
            <p:cNvPr id="42"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Repère de section"/>
          <p:cNvSpPr txBox="1"/>
          <p:nvPr/>
        </p:nvSpPr>
        <p:spPr>
          <a:xfrm>
            <a:off x="548640" y="384048"/>
            <a:ext cx="676656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 · PSAUME 19.2‑7 / ROMAINS 1.18‑20</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Assez pour condamner, jamais pour sauver</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 Ce qu'on ne peut pas connaître, c'est la sagesse qui sauve » (MacArthur)</a:t>
            </a:r>
            <a:endParaRPr lang="fr-CA" sz="1900" dirty="0"/>
          </a:p>
        </p:txBody>
      </p:sp>
      <p:sp>
        <p:nvSpPr>
          <p:cNvPr id="5" name="Navigation : le ciel"/>
          <p:cNvSpPr txBox="1"/>
          <p:nvPr/>
        </p:nvSpPr>
        <p:spPr>
          <a:xfrm>
            <a:off x="7756855" y="384048"/>
            <a:ext cx="777240" cy="292608"/>
          </a:xfrm>
          <a:prstGeom prst="rect">
            <a:avLst/>
          </a:prstGeom>
          <a:noFill/>
          <a:ln/>
        </p:spPr>
        <p:txBody>
          <a:bodyPr wrap="square" lIns="0" tIns="0" rIns="0" bIns="0" rtlCol="0" anchor="t"/>
          <a:lstStyle/>
          <a:p>
            <a:pPr algn="ctr" indent="0" marL="0">
              <a:buNone/>
            </a:pPr>
            <a:r>
              <a:rPr lang="fr-CA" altLang="en-US" sz="1400" b="1" dirty="0">
                <a:solidFill>
                  <a:srgbClr val="E8742A"/>
                </a:solidFill>
                <a:latin typeface="Calibri" pitchFamily="34" charset="0"/>
                <a:ea typeface="Calibri" pitchFamily="34" charset="-122"/>
                <a:cs typeface="Calibri" pitchFamily="34" charset="-120"/>
              </a:rPr>
              <a:t>le ciel</a:t>
            </a:r>
            <a:endParaRPr lang="fr-CA" sz="1400" dirty="0"/>
          </a:p>
        </p:txBody>
      </p:sp>
      <p:sp>
        <p:nvSpPr>
          <p:cNvPr id="6" name="Navigation : la Parole"/>
          <p:cNvSpPr txBox="1"/>
          <p:nvPr/>
        </p:nvSpPr>
        <p:spPr>
          <a:xfrm>
            <a:off x="8671255" y="384048"/>
            <a:ext cx="10058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la Parole</a:t>
            </a:r>
            <a:endParaRPr lang="fr-CA" sz="1400" dirty="0"/>
          </a:p>
        </p:txBody>
      </p:sp>
      <p:sp>
        <p:nvSpPr>
          <p:cNvPr id="7" name="Navigation : le désir"/>
          <p:cNvSpPr txBox="1"/>
          <p:nvPr/>
        </p:nvSpPr>
        <p:spPr>
          <a:xfrm>
            <a:off x="9814255" y="384048"/>
            <a:ext cx="86868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désir</a:t>
            </a:r>
            <a:endParaRPr lang="fr-CA" sz="1400" dirty="0"/>
          </a:p>
        </p:txBody>
      </p:sp>
      <p:sp>
        <p:nvSpPr>
          <p:cNvPr id="8" name="Navigation : le cœur"/>
          <p:cNvSpPr txBox="1"/>
          <p:nvPr/>
        </p:nvSpPr>
        <p:spPr>
          <a:xfrm>
            <a:off x="10820095" y="384048"/>
            <a:ext cx="82296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cœur</a:t>
            </a:r>
            <a:endParaRPr lang="fr-CA" sz="1400" dirty="0"/>
          </a:p>
        </p:txBody>
      </p:sp>
      <p:sp>
        <p:nvSpPr>
          <p:cNvPr id="9" name="Shape 7"/>
          <p:cNvSpPr/>
          <p:nvPr/>
        </p:nvSpPr>
        <p:spPr>
          <a:xfrm>
            <a:off x="548640" y="1920240"/>
            <a:ext cx="5394960" cy="2852928"/>
          </a:xfrm>
          <a:prstGeom prst="roundRect">
            <a:avLst>
              <a:gd name="adj" fmla="val 3846"/>
            </a:avLst>
          </a:prstGeom>
          <a:solidFill>
            <a:srgbClr val="1A1411"/>
          </a:solidFill>
          <a:ln w="12700">
            <a:solidFill>
              <a:srgbClr val="6E5A4C"/>
            </a:solidFill>
            <a:prstDash val="solid"/>
          </a:ln>
        </p:spPr>
      </p:sp>
      <p:sp>
        <p:nvSpPr>
          <p:cNvPr id="10" name="Shape 8"/>
          <p:cNvSpPr/>
          <p:nvPr/>
        </p:nvSpPr>
        <p:spPr>
          <a:xfrm>
            <a:off x="868680" y="2121408"/>
            <a:ext cx="640080" cy="640080"/>
          </a:xfrm>
          <a:prstGeom prst="ellipse">
            <a:avLst/>
          </a:prstGeom>
          <a:solidFill>
            <a:srgbClr val="2A1A10"/>
          </a:solidFill>
          <a:ln w="12700">
            <a:solidFill>
              <a:srgbClr val="CC5500"/>
            </a:solidFill>
            <a:prstDash val="solid"/>
          </a:ln>
        </p:spPr>
      </p:sp>
      <p:pic>
        <p:nvPicPr>
          <p:cNvPr id="11" name="Image 0" descr="Icône : soleil">    </p:cNvPr>
          <p:cNvPicPr>
            <a:picLocks noChangeAspect="1"/>
          </p:cNvPicPr>
          <p:nvPr/>
        </p:nvPicPr>
        <p:blipFill>
          <a:blip r:embed="rId1"/>
          <a:stretch>
            <a:fillRect/>
          </a:stretch>
        </p:blipFill>
        <p:spPr>
          <a:xfrm>
            <a:off x="996696" y="2249424"/>
            <a:ext cx="384048" cy="384048"/>
          </a:xfrm>
          <a:prstGeom prst="rect">
            <a:avLst/>
          </a:prstGeom>
        </p:spPr>
      </p:pic>
      <p:sp>
        <p:nvSpPr>
          <p:cNvPr id="12" name="Text 9"/>
          <p:cNvSpPr txBox="1"/>
          <p:nvPr/>
        </p:nvSpPr>
        <p:spPr>
          <a:xfrm>
            <a:off x="1691640" y="2103120"/>
            <a:ext cx="4023360" cy="731520"/>
          </a:xfrm>
          <a:prstGeom prst="rect">
            <a:avLst/>
          </a:prstGeom>
          <a:noFill/>
          <a:ln/>
        </p:spPr>
        <p:txBody>
          <a:bodyPr wrap="square" lIns="0" tIns="0" rIns="0" bIns="0" rtlCol="0" anchor="t"/>
          <a:lstStyle/>
          <a:p>
            <a:pPr indent="0" marL="0">
              <a:buNone/>
            </a:pPr>
            <a:r>
              <a:rPr lang="fr-CA" altLang="en-US" sz="2200" b="1" dirty="0">
                <a:solidFill>
                  <a:srgbClr val="F4EDE4"/>
                </a:solidFill>
                <a:latin typeface="Calibri" pitchFamily="34" charset="0"/>
                <a:ea typeface="Calibri" pitchFamily="34" charset="-122"/>
                <a:cs typeface="Calibri" pitchFamily="34" charset="-120"/>
              </a:rPr>
              <a:t>Le monde</a:t>
            </a:r>
            <a:endParaRPr lang="fr-CA" sz="1500" dirty="0"/>
          </a:p>
          <a:p>
            <a:pPr indent="0" marL="0">
              <a:buNone/>
            </a:pPr>
            <a:r>
              <a:rPr lang="fr-CA" altLang="en-US" sz="1500" dirty="0">
                <a:solidFill>
                  <a:srgbClr val="A89A8C"/>
                </a:solidFill>
                <a:latin typeface="Calibri" pitchFamily="34" charset="0"/>
                <a:ea typeface="Calibri" pitchFamily="34" charset="-122"/>
                <a:cs typeface="Calibri" pitchFamily="34" charset="-120"/>
              </a:rPr>
              <a:t>révélation générale · sans paroles</a:t>
            </a:r>
            <a:endParaRPr lang="fr-CA" sz="1500" dirty="0"/>
          </a:p>
        </p:txBody>
      </p:sp>
      <p:sp>
        <p:nvSpPr>
          <p:cNvPr id="13" name="Text 10"/>
          <p:cNvSpPr txBox="1"/>
          <p:nvPr/>
        </p:nvSpPr>
        <p:spPr>
          <a:xfrm>
            <a:off x="868680" y="2971800"/>
            <a:ext cx="1783080" cy="365760"/>
          </a:xfrm>
          <a:prstGeom prst="rect">
            <a:avLst/>
          </a:prstGeom>
          <a:noFill/>
          <a:ln/>
        </p:spPr>
        <p:txBody>
          <a:bodyPr wrap="square" lIns="0" tIns="0" rIns="0" bIns="0" rtlCol="0" anchor="t"/>
          <a:lstStyle/>
          <a:p>
            <a:pPr indent="0" marL="0">
              <a:buNone/>
            </a:pPr>
            <a:r>
              <a:rPr lang="fr-CA" altLang="en-US" sz="1300" b="1" spc="100" kern="0" dirty="0">
                <a:solidFill>
                  <a:srgbClr val="968A80"/>
                </a:solidFill>
                <a:latin typeface="Calibri" pitchFamily="34" charset="0"/>
                <a:ea typeface="Calibri" pitchFamily="34" charset="-122"/>
                <a:cs typeface="Calibri" pitchFamily="34" charset="-120"/>
              </a:rPr>
              <a:t>NOM DIVIN</a:t>
            </a:r>
            <a:endParaRPr lang="fr-CA" sz="1300" dirty="0"/>
          </a:p>
        </p:txBody>
      </p:sp>
      <p:sp>
        <p:nvSpPr>
          <p:cNvPr id="14" name="Text 11"/>
          <p:cNvSpPr txBox="1"/>
          <p:nvPr/>
        </p:nvSpPr>
        <p:spPr>
          <a:xfrm>
            <a:off x="2743200" y="2926080"/>
            <a:ext cx="3017520" cy="457200"/>
          </a:xfrm>
          <a:prstGeom prst="rect">
            <a:avLst/>
          </a:prstGeom>
          <a:noFill/>
          <a:ln/>
        </p:spPr>
        <p:txBody>
          <a:bodyPr wrap="square" lIns="0" tIns="0" rIns="0" bIns="0" rtlCol="0" anchor="t"/>
          <a:lstStyle/>
          <a:p>
            <a:pPr indent="0" marL="0">
              <a:buNone/>
            </a:pPr>
            <a:r>
              <a:rPr lang="fr-CA" altLang="en-US" sz="1700" i="1" dirty="0">
                <a:solidFill>
                  <a:srgbClr val="F4EDE4"/>
                </a:solidFill>
                <a:latin typeface="Calibri" pitchFamily="34" charset="0"/>
                <a:ea typeface="Calibri" pitchFamily="34" charset="-122"/>
                <a:cs typeface="Calibri" pitchFamily="34" charset="-120"/>
              </a:rPr>
              <a:t>El</a:t>
            </a:r>
            <a:pPr indent="0" marL="0">
              <a:buNone/>
            </a:pPr>
            <a:r>
              <a:rPr lang="fr-CA" altLang="en-US" sz="1700" dirty="0">
                <a:solidFill>
                  <a:srgbClr val="F4EDE4"/>
                </a:solidFill>
                <a:latin typeface="Calibri" pitchFamily="34" charset="0"/>
                <a:ea typeface="Calibri" pitchFamily="34" charset="-122"/>
                <a:cs typeface="Calibri" pitchFamily="34" charset="-120"/>
              </a:rPr>
              <a:t>, Dieu de puissance</a:t>
            </a:r>
            <a:endParaRPr lang="fr-CA" sz="1700" dirty="0"/>
          </a:p>
        </p:txBody>
      </p:sp>
      <p:sp>
        <p:nvSpPr>
          <p:cNvPr id="15" name="Text 12"/>
          <p:cNvSpPr txBox="1"/>
          <p:nvPr/>
        </p:nvSpPr>
        <p:spPr>
          <a:xfrm>
            <a:off x="868680" y="3401568"/>
            <a:ext cx="1783080" cy="365760"/>
          </a:xfrm>
          <a:prstGeom prst="rect">
            <a:avLst/>
          </a:prstGeom>
          <a:noFill/>
          <a:ln/>
        </p:spPr>
        <p:txBody>
          <a:bodyPr wrap="square" lIns="0" tIns="0" rIns="0" bIns="0" rtlCol="0" anchor="t"/>
          <a:lstStyle/>
          <a:p>
            <a:pPr indent="0" marL="0">
              <a:buNone/>
            </a:pPr>
            <a:r>
              <a:rPr lang="fr-CA" altLang="en-US" sz="1300" b="1" spc="100" kern="0" dirty="0">
                <a:solidFill>
                  <a:srgbClr val="968A80"/>
                </a:solidFill>
                <a:latin typeface="Calibri" pitchFamily="34" charset="0"/>
                <a:ea typeface="Calibri" pitchFamily="34" charset="-122"/>
                <a:cs typeface="Calibri" pitchFamily="34" charset="-120"/>
              </a:rPr>
              <a:t>FAIT CONNAÎTRE</a:t>
            </a:r>
            <a:endParaRPr lang="fr-CA" sz="1300" dirty="0"/>
          </a:p>
        </p:txBody>
      </p:sp>
      <p:sp>
        <p:nvSpPr>
          <p:cNvPr id="16" name="Text 13"/>
          <p:cNvSpPr txBox="1"/>
          <p:nvPr/>
        </p:nvSpPr>
        <p:spPr>
          <a:xfrm>
            <a:off x="2743200" y="3355848"/>
            <a:ext cx="3017520" cy="457200"/>
          </a:xfrm>
          <a:prstGeom prst="rect">
            <a:avLst/>
          </a:prstGeom>
          <a:noFill/>
          <a:ln/>
        </p:spPr>
        <p:txBody>
          <a:bodyPr wrap="square" lIns="0" tIns="0" rIns="0" bIns="0" rtlCol="0" anchor="t"/>
          <a:lstStyle/>
          <a:p>
            <a:pPr indent="0" marL="0">
              <a:buNone/>
            </a:pPr>
            <a:r>
              <a:rPr lang="fr-CA" altLang="en-US" sz="1700" dirty="0">
                <a:solidFill>
                  <a:srgbClr val="F4EDE4"/>
                </a:solidFill>
                <a:latin typeface="Calibri" pitchFamily="34" charset="0"/>
                <a:ea typeface="Calibri" pitchFamily="34" charset="-122"/>
                <a:cs typeface="Calibri" pitchFamily="34" charset="-120"/>
              </a:rPr>
              <a:t>sa puissance et sa divinité</a:t>
            </a:r>
            <a:endParaRPr lang="fr-CA" sz="1700" dirty="0"/>
          </a:p>
        </p:txBody>
      </p:sp>
      <p:sp>
        <p:nvSpPr>
          <p:cNvPr id="17" name="Text 14"/>
          <p:cNvSpPr txBox="1"/>
          <p:nvPr/>
        </p:nvSpPr>
        <p:spPr>
          <a:xfrm>
            <a:off x="868680" y="3831336"/>
            <a:ext cx="1783080" cy="365760"/>
          </a:xfrm>
          <a:prstGeom prst="rect">
            <a:avLst/>
          </a:prstGeom>
          <a:noFill/>
          <a:ln/>
        </p:spPr>
        <p:txBody>
          <a:bodyPr wrap="square" lIns="0" tIns="0" rIns="0" bIns="0" rtlCol="0" anchor="t"/>
          <a:lstStyle/>
          <a:p>
            <a:pPr indent="0" marL="0">
              <a:buNone/>
            </a:pPr>
            <a:r>
              <a:rPr lang="fr-CA" altLang="en-US" sz="1300" b="1" spc="100" kern="0" dirty="0">
                <a:solidFill>
                  <a:srgbClr val="968A80"/>
                </a:solidFill>
                <a:latin typeface="Calibri" pitchFamily="34" charset="0"/>
                <a:ea typeface="Calibri" pitchFamily="34" charset="-122"/>
                <a:cs typeface="Calibri" pitchFamily="34" charset="-120"/>
              </a:rPr>
              <a:t>EFFET</a:t>
            </a:r>
            <a:endParaRPr lang="fr-CA" sz="1300" dirty="0"/>
          </a:p>
        </p:txBody>
      </p:sp>
      <p:sp>
        <p:nvSpPr>
          <p:cNvPr id="18" name="Text 15"/>
          <p:cNvSpPr txBox="1"/>
          <p:nvPr/>
        </p:nvSpPr>
        <p:spPr>
          <a:xfrm>
            <a:off x="2743200" y="3785616"/>
            <a:ext cx="3017520" cy="457200"/>
          </a:xfrm>
          <a:prstGeom prst="rect">
            <a:avLst/>
          </a:prstGeom>
          <a:noFill/>
          <a:ln/>
        </p:spPr>
        <p:txBody>
          <a:bodyPr wrap="square" lIns="0" tIns="0" rIns="0" bIns="0" rtlCol="0" anchor="t"/>
          <a:lstStyle/>
          <a:p>
            <a:pPr indent="0" marL="0">
              <a:buNone/>
            </a:pPr>
            <a:r>
              <a:rPr lang="fr-CA" altLang="en-US" sz="1700" dirty="0">
                <a:solidFill>
                  <a:srgbClr val="F4EDE4"/>
                </a:solidFill>
                <a:latin typeface="Calibri" pitchFamily="34" charset="0"/>
                <a:ea typeface="Calibri" pitchFamily="34" charset="-122"/>
                <a:cs typeface="Calibri" pitchFamily="34" charset="-120"/>
              </a:rPr>
              <a:t>rend l'homme inexcusable</a:t>
            </a:r>
            <a:endParaRPr lang="fr-CA" sz="1700" dirty="0"/>
          </a:p>
        </p:txBody>
      </p:sp>
      <p:sp>
        <p:nvSpPr>
          <p:cNvPr id="19" name="Text 16"/>
          <p:cNvSpPr txBox="1"/>
          <p:nvPr/>
        </p:nvSpPr>
        <p:spPr>
          <a:xfrm>
            <a:off x="868680" y="4261104"/>
            <a:ext cx="1783080" cy="365760"/>
          </a:xfrm>
          <a:prstGeom prst="rect">
            <a:avLst/>
          </a:prstGeom>
          <a:noFill/>
          <a:ln/>
        </p:spPr>
        <p:txBody>
          <a:bodyPr wrap="square" lIns="0" tIns="0" rIns="0" bIns="0" rtlCol="0" anchor="t"/>
          <a:lstStyle/>
          <a:p>
            <a:pPr indent="0" marL="0">
              <a:buNone/>
            </a:pPr>
            <a:r>
              <a:rPr lang="fr-CA" altLang="en-US" sz="1300" b="1" spc="100" kern="0" dirty="0">
                <a:solidFill>
                  <a:srgbClr val="968A80"/>
                </a:solidFill>
                <a:latin typeface="Calibri" pitchFamily="34" charset="0"/>
                <a:ea typeface="Calibri" pitchFamily="34" charset="-122"/>
                <a:cs typeface="Calibri" pitchFamily="34" charset="-120"/>
              </a:rPr>
              <a:t>LIMITE</a:t>
            </a:r>
            <a:endParaRPr lang="fr-CA" sz="1300" dirty="0"/>
          </a:p>
        </p:txBody>
      </p:sp>
      <p:sp>
        <p:nvSpPr>
          <p:cNvPr id="20" name="Text 17"/>
          <p:cNvSpPr txBox="1"/>
          <p:nvPr/>
        </p:nvSpPr>
        <p:spPr>
          <a:xfrm>
            <a:off x="2743200" y="4215384"/>
            <a:ext cx="3017520" cy="457200"/>
          </a:xfrm>
          <a:prstGeom prst="rect">
            <a:avLst/>
          </a:prstGeom>
          <a:noFill/>
          <a:ln/>
        </p:spPr>
        <p:txBody>
          <a:bodyPr wrap="square" lIns="0" tIns="0" rIns="0" bIns="0" rtlCol="0" anchor="t"/>
          <a:lstStyle/>
          <a:p>
            <a:pPr indent="0" marL="0">
              <a:buNone/>
            </a:pPr>
            <a:r>
              <a:rPr lang="fr-CA" altLang="en-US" sz="1700" dirty="0">
                <a:solidFill>
                  <a:srgbClr val="F4EDE4"/>
                </a:solidFill>
                <a:latin typeface="Calibri" pitchFamily="34" charset="0"/>
                <a:ea typeface="Calibri" pitchFamily="34" charset="-122"/>
                <a:cs typeface="Calibri" pitchFamily="34" charset="-120"/>
              </a:rPr>
              <a:t>le cœur retient la vérité captive</a:t>
            </a:r>
            <a:endParaRPr lang="fr-CA" sz="1700" dirty="0"/>
          </a:p>
        </p:txBody>
      </p:sp>
      <p:sp>
        <p:nvSpPr>
          <p:cNvPr id="21" name="Shape 18"/>
          <p:cNvSpPr/>
          <p:nvPr/>
        </p:nvSpPr>
        <p:spPr>
          <a:xfrm>
            <a:off x="6245352" y="1920240"/>
            <a:ext cx="5394960" cy="2852928"/>
          </a:xfrm>
          <a:prstGeom prst="roundRect">
            <a:avLst>
              <a:gd name="adj" fmla="val 3846"/>
            </a:avLst>
          </a:prstGeom>
          <a:solidFill>
            <a:srgbClr val="2A1A10"/>
          </a:solidFill>
          <a:ln w="25400">
            <a:solidFill>
              <a:srgbClr val="E8742A"/>
            </a:solidFill>
            <a:prstDash val="solid"/>
          </a:ln>
        </p:spPr>
      </p:sp>
      <p:sp>
        <p:nvSpPr>
          <p:cNvPr id="22" name="Shape 19"/>
          <p:cNvSpPr/>
          <p:nvPr/>
        </p:nvSpPr>
        <p:spPr>
          <a:xfrm>
            <a:off x="6565392" y="2121408"/>
            <a:ext cx="640080" cy="640080"/>
          </a:xfrm>
          <a:prstGeom prst="ellipse">
            <a:avLst/>
          </a:prstGeom>
          <a:solidFill>
            <a:srgbClr val="2A1A10"/>
          </a:solidFill>
          <a:ln w="12700">
            <a:solidFill>
              <a:srgbClr val="CC5500"/>
            </a:solidFill>
            <a:prstDash val="solid"/>
          </a:ln>
        </p:spPr>
      </p:sp>
      <p:pic>
        <p:nvPicPr>
          <p:cNvPr id="23" name="Image 1" descr="Icône : livre ouvert">    </p:cNvPr>
          <p:cNvPicPr>
            <a:picLocks noChangeAspect="1"/>
          </p:cNvPicPr>
          <p:nvPr/>
        </p:nvPicPr>
        <p:blipFill>
          <a:blip r:embed="rId2"/>
          <a:stretch>
            <a:fillRect/>
          </a:stretch>
        </p:blipFill>
        <p:spPr>
          <a:xfrm>
            <a:off x="6693408" y="2249424"/>
            <a:ext cx="384048" cy="384048"/>
          </a:xfrm>
          <a:prstGeom prst="rect">
            <a:avLst/>
          </a:prstGeom>
        </p:spPr>
      </p:pic>
      <p:sp>
        <p:nvSpPr>
          <p:cNvPr id="24" name="Text 20"/>
          <p:cNvSpPr txBox="1"/>
          <p:nvPr/>
        </p:nvSpPr>
        <p:spPr>
          <a:xfrm>
            <a:off x="7388352" y="2103120"/>
            <a:ext cx="4023360" cy="731520"/>
          </a:xfrm>
          <a:prstGeom prst="rect">
            <a:avLst/>
          </a:prstGeom>
          <a:noFill/>
          <a:ln/>
        </p:spPr>
        <p:txBody>
          <a:bodyPr wrap="square" lIns="0" tIns="0" rIns="0" bIns="0" rtlCol="0" anchor="t"/>
          <a:lstStyle/>
          <a:p>
            <a:pPr indent="0" marL="0">
              <a:buNone/>
            </a:pPr>
            <a:r>
              <a:rPr lang="fr-CA" altLang="en-US" sz="2200" b="1" dirty="0">
                <a:solidFill>
                  <a:srgbClr val="E8742A"/>
                </a:solidFill>
                <a:latin typeface="Calibri" pitchFamily="34" charset="0"/>
                <a:ea typeface="Calibri" pitchFamily="34" charset="-122"/>
                <a:cs typeface="Calibri" pitchFamily="34" charset="-120"/>
              </a:rPr>
              <a:t>La Parole</a:t>
            </a:r>
            <a:endParaRPr lang="fr-CA" sz="1500" dirty="0"/>
          </a:p>
          <a:p>
            <a:pPr indent="0" marL="0">
              <a:buNone/>
            </a:pPr>
            <a:r>
              <a:rPr lang="fr-CA" altLang="en-US" sz="1500" dirty="0">
                <a:solidFill>
                  <a:srgbClr val="A89A8C"/>
                </a:solidFill>
                <a:latin typeface="Calibri" pitchFamily="34" charset="0"/>
                <a:ea typeface="Calibri" pitchFamily="34" charset="-122"/>
                <a:cs typeface="Calibri" pitchFamily="34" charset="-120"/>
              </a:rPr>
              <a:t>révélation spéciale · des paroles</a:t>
            </a:r>
            <a:endParaRPr lang="fr-CA" sz="1500" dirty="0"/>
          </a:p>
        </p:txBody>
      </p:sp>
      <p:sp>
        <p:nvSpPr>
          <p:cNvPr id="25" name="Text 21"/>
          <p:cNvSpPr txBox="1"/>
          <p:nvPr/>
        </p:nvSpPr>
        <p:spPr>
          <a:xfrm>
            <a:off x="6565392" y="2971800"/>
            <a:ext cx="1783080" cy="365760"/>
          </a:xfrm>
          <a:prstGeom prst="rect">
            <a:avLst/>
          </a:prstGeom>
          <a:noFill/>
          <a:ln/>
        </p:spPr>
        <p:txBody>
          <a:bodyPr wrap="square" lIns="0" tIns="0" rIns="0" bIns="0" rtlCol="0" anchor="t"/>
          <a:lstStyle/>
          <a:p>
            <a:pPr indent="0" marL="0">
              <a:buNone/>
            </a:pPr>
            <a:r>
              <a:rPr lang="fr-CA" altLang="en-US" sz="1300" b="1" spc="100" kern="0" dirty="0">
                <a:solidFill>
                  <a:srgbClr val="E8742A"/>
                </a:solidFill>
                <a:latin typeface="Calibri" pitchFamily="34" charset="0"/>
                <a:ea typeface="Calibri" pitchFamily="34" charset="-122"/>
                <a:cs typeface="Calibri" pitchFamily="34" charset="-120"/>
              </a:rPr>
              <a:t>NOM DIVIN</a:t>
            </a:r>
            <a:endParaRPr lang="fr-CA" sz="1300" dirty="0"/>
          </a:p>
        </p:txBody>
      </p:sp>
      <p:sp>
        <p:nvSpPr>
          <p:cNvPr id="26" name="Text 22"/>
          <p:cNvSpPr txBox="1"/>
          <p:nvPr/>
        </p:nvSpPr>
        <p:spPr>
          <a:xfrm>
            <a:off x="8439912" y="2926080"/>
            <a:ext cx="3017520" cy="457200"/>
          </a:xfrm>
          <a:prstGeom prst="rect">
            <a:avLst/>
          </a:prstGeom>
          <a:noFill/>
          <a:ln/>
        </p:spPr>
        <p:txBody>
          <a:bodyPr wrap="square" lIns="0" tIns="0" rIns="0" bIns="0" rtlCol="0" anchor="t"/>
          <a:lstStyle/>
          <a:p>
            <a:pPr indent="0" marL="0">
              <a:buNone/>
            </a:pPr>
            <a:r>
              <a:rPr lang="fr-CA" altLang="en-US" sz="1700" dirty="0">
                <a:solidFill>
                  <a:srgbClr val="F4EDE4"/>
                </a:solidFill>
                <a:latin typeface="Calibri" pitchFamily="34" charset="0"/>
                <a:ea typeface="Calibri" pitchFamily="34" charset="-122"/>
                <a:cs typeface="Calibri" pitchFamily="34" charset="-120"/>
              </a:rPr>
              <a:t>l'Éternel, Dieu de l'alliance</a:t>
            </a:r>
            <a:endParaRPr lang="fr-CA" sz="1700" dirty="0"/>
          </a:p>
        </p:txBody>
      </p:sp>
      <p:sp>
        <p:nvSpPr>
          <p:cNvPr id="27" name="Text 23"/>
          <p:cNvSpPr txBox="1"/>
          <p:nvPr/>
        </p:nvSpPr>
        <p:spPr>
          <a:xfrm>
            <a:off x="6565392" y="3401568"/>
            <a:ext cx="1783080" cy="365760"/>
          </a:xfrm>
          <a:prstGeom prst="rect">
            <a:avLst/>
          </a:prstGeom>
          <a:noFill/>
          <a:ln/>
        </p:spPr>
        <p:txBody>
          <a:bodyPr wrap="square" lIns="0" tIns="0" rIns="0" bIns="0" rtlCol="0" anchor="t"/>
          <a:lstStyle/>
          <a:p>
            <a:pPr indent="0" marL="0">
              <a:buNone/>
            </a:pPr>
            <a:r>
              <a:rPr lang="fr-CA" altLang="en-US" sz="1300" b="1" spc="100" kern="0" dirty="0">
                <a:solidFill>
                  <a:srgbClr val="E8742A"/>
                </a:solidFill>
                <a:latin typeface="Calibri" pitchFamily="34" charset="0"/>
                <a:ea typeface="Calibri" pitchFamily="34" charset="-122"/>
                <a:cs typeface="Calibri" pitchFamily="34" charset="-120"/>
              </a:rPr>
              <a:t>FAIT CONNAÎTRE</a:t>
            </a:r>
            <a:endParaRPr lang="fr-CA" sz="1300" dirty="0"/>
          </a:p>
        </p:txBody>
      </p:sp>
      <p:sp>
        <p:nvSpPr>
          <p:cNvPr id="28" name="Text 24"/>
          <p:cNvSpPr txBox="1"/>
          <p:nvPr/>
        </p:nvSpPr>
        <p:spPr>
          <a:xfrm>
            <a:off x="8439912" y="3355848"/>
            <a:ext cx="3017520" cy="457200"/>
          </a:xfrm>
          <a:prstGeom prst="rect">
            <a:avLst/>
          </a:prstGeom>
          <a:noFill/>
          <a:ln/>
        </p:spPr>
        <p:txBody>
          <a:bodyPr wrap="square" lIns="0" tIns="0" rIns="0" bIns="0" rtlCol="0" anchor="t"/>
          <a:lstStyle/>
          <a:p>
            <a:pPr indent="0" marL="0">
              <a:buNone/>
            </a:pPr>
            <a:r>
              <a:rPr lang="fr-CA" altLang="en-US" sz="1700" dirty="0">
                <a:solidFill>
                  <a:srgbClr val="F4EDE4"/>
                </a:solidFill>
                <a:latin typeface="Calibri" pitchFamily="34" charset="0"/>
                <a:ea typeface="Calibri" pitchFamily="34" charset="-122"/>
                <a:cs typeface="Calibri" pitchFamily="34" charset="-120"/>
              </a:rPr>
              <a:t>la sagesse qui sauve</a:t>
            </a:r>
            <a:endParaRPr lang="fr-CA" sz="1700" dirty="0"/>
          </a:p>
        </p:txBody>
      </p:sp>
      <p:sp>
        <p:nvSpPr>
          <p:cNvPr id="29" name="Text 25"/>
          <p:cNvSpPr txBox="1"/>
          <p:nvPr/>
        </p:nvSpPr>
        <p:spPr>
          <a:xfrm>
            <a:off x="6565392" y="3831336"/>
            <a:ext cx="1783080" cy="365760"/>
          </a:xfrm>
          <a:prstGeom prst="rect">
            <a:avLst/>
          </a:prstGeom>
          <a:noFill/>
          <a:ln/>
        </p:spPr>
        <p:txBody>
          <a:bodyPr wrap="square" lIns="0" tIns="0" rIns="0" bIns="0" rtlCol="0" anchor="t"/>
          <a:lstStyle/>
          <a:p>
            <a:pPr indent="0" marL="0">
              <a:buNone/>
            </a:pPr>
            <a:r>
              <a:rPr lang="fr-CA" altLang="en-US" sz="1300" b="1" spc="100" kern="0" dirty="0">
                <a:solidFill>
                  <a:srgbClr val="E8742A"/>
                </a:solidFill>
                <a:latin typeface="Calibri" pitchFamily="34" charset="0"/>
                <a:ea typeface="Calibri" pitchFamily="34" charset="-122"/>
                <a:cs typeface="Calibri" pitchFamily="34" charset="-120"/>
              </a:rPr>
              <a:t>EFFET</a:t>
            </a:r>
            <a:endParaRPr lang="fr-CA" sz="1300" dirty="0"/>
          </a:p>
        </p:txBody>
      </p:sp>
      <p:sp>
        <p:nvSpPr>
          <p:cNvPr id="30" name="Text 26"/>
          <p:cNvSpPr txBox="1"/>
          <p:nvPr/>
        </p:nvSpPr>
        <p:spPr>
          <a:xfrm>
            <a:off x="8439912" y="3785616"/>
            <a:ext cx="3017520" cy="457200"/>
          </a:xfrm>
          <a:prstGeom prst="rect">
            <a:avLst/>
          </a:prstGeom>
          <a:noFill/>
          <a:ln/>
        </p:spPr>
        <p:txBody>
          <a:bodyPr wrap="square" lIns="0" tIns="0" rIns="0" bIns="0" rtlCol="0" anchor="t"/>
          <a:lstStyle/>
          <a:p>
            <a:pPr indent="0" marL="0">
              <a:buNone/>
            </a:pPr>
            <a:r>
              <a:rPr lang="fr-CA" altLang="en-US" sz="1700" dirty="0">
                <a:solidFill>
                  <a:srgbClr val="F4EDE4"/>
                </a:solidFill>
                <a:latin typeface="Calibri" pitchFamily="34" charset="0"/>
                <a:ea typeface="Calibri" pitchFamily="34" charset="-122"/>
                <a:cs typeface="Calibri" pitchFamily="34" charset="-120"/>
              </a:rPr>
              <a:t>sauve et transforme</a:t>
            </a:r>
            <a:endParaRPr lang="fr-CA" sz="1700" dirty="0"/>
          </a:p>
        </p:txBody>
      </p:sp>
      <p:sp>
        <p:nvSpPr>
          <p:cNvPr id="31" name="Text 27"/>
          <p:cNvSpPr txBox="1"/>
          <p:nvPr/>
        </p:nvSpPr>
        <p:spPr>
          <a:xfrm>
            <a:off x="6565392" y="4261104"/>
            <a:ext cx="1783080" cy="365760"/>
          </a:xfrm>
          <a:prstGeom prst="rect">
            <a:avLst/>
          </a:prstGeom>
          <a:noFill/>
          <a:ln/>
        </p:spPr>
        <p:txBody>
          <a:bodyPr wrap="square" lIns="0" tIns="0" rIns="0" bIns="0" rtlCol="0" anchor="t"/>
          <a:lstStyle/>
          <a:p>
            <a:pPr indent="0" marL="0">
              <a:buNone/>
            </a:pPr>
            <a:r>
              <a:rPr lang="fr-CA" altLang="en-US" sz="1300" b="1" spc="100" kern="0" dirty="0">
                <a:solidFill>
                  <a:srgbClr val="E8742A"/>
                </a:solidFill>
                <a:latin typeface="Calibri" pitchFamily="34" charset="0"/>
                <a:ea typeface="Calibri" pitchFamily="34" charset="-122"/>
                <a:cs typeface="Calibri" pitchFamily="34" charset="-120"/>
              </a:rPr>
              <a:t>MOYEN</a:t>
            </a:r>
            <a:endParaRPr lang="fr-CA" sz="1300" dirty="0"/>
          </a:p>
        </p:txBody>
      </p:sp>
      <p:sp>
        <p:nvSpPr>
          <p:cNvPr id="32" name="Text 28"/>
          <p:cNvSpPr txBox="1"/>
          <p:nvPr/>
        </p:nvSpPr>
        <p:spPr>
          <a:xfrm>
            <a:off x="8439912" y="4215384"/>
            <a:ext cx="3017520" cy="457200"/>
          </a:xfrm>
          <a:prstGeom prst="rect">
            <a:avLst/>
          </a:prstGeom>
          <a:noFill/>
          <a:ln/>
        </p:spPr>
        <p:txBody>
          <a:bodyPr wrap="square" lIns="0" tIns="0" rIns="0" bIns="0" rtlCol="0" anchor="t"/>
          <a:lstStyle/>
          <a:p>
            <a:pPr indent="0" marL="0">
              <a:buNone/>
            </a:pPr>
            <a:r>
              <a:rPr lang="fr-CA" altLang="en-US" sz="1700" dirty="0">
                <a:solidFill>
                  <a:srgbClr val="F4EDE4"/>
                </a:solidFill>
                <a:latin typeface="Calibri" pitchFamily="34" charset="0"/>
                <a:ea typeface="Calibri" pitchFamily="34" charset="-122"/>
                <a:cs typeface="Calibri" pitchFamily="34" charset="-120"/>
              </a:rPr>
              <a:t>l'Esprit applique la Parole</a:t>
            </a:r>
            <a:endParaRPr lang="fr-CA" sz="1700" dirty="0"/>
          </a:p>
        </p:txBody>
      </p:sp>
      <p:sp>
        <p:nvSpPr>
          <p:cNvPr id="33" name="Shape 29"/>
          <p:cNvSpPr/>
          <p:nvPr/>
        </p:nvSpPr>
        <p:spPr>
          <a:xfrm>
            <a:off x="548640" y="4937760"/>
            <a:ext cx="11091672" cy="1417320"/>
          </a:xfrm>
          <a:prstGeom prst="roundRect">
            <a:avLst>
              <a:gd name="adj" fmla="val 7742"/>
            </a:avLst>
          </a:prstGeom>
          <a:solidFill>
            <a:srgbClr val="1A1411"/>
          </a:solidFill>
          <a:ln w="19050">
            <a:solidFill>
              <a:srgbClr val="CC5500"/>
            </a:solidFill>
            <a:prstDash val="solid"/>
          </a:ln>
        </p:spPr>
      </p:sp>
      <p:sp>
        <p:nvSpPr>
          <p:cNvPr id="34" name="Text 30"/>
          <p:cNvSpPr txBox="1"/>
          <p:nvPr/>
        </p:nvSpPr>
        <p:spPr>
          <a:xfrm>
            <a:off x="822960" y="4937760"/>
            <a:ext cx="10543032" cy="1417320"/>
          </a:xfrm>
          <a:prstGeom prst="rect">
            <a:avLst/>
          </a:prstGeom>
          <a:noFill/>
          <a:ln/>
        </p:spPr>
        <p:txBody>
          <a:bodyPr wrap="square" lIns="0" tIns="0" rIns="0" bIns="0" rtlCol="0" anchor="ctr"/>
          <a:lstStyle/>
          <a:p>
            <a:pPr algn="ctr" indent="0" marL="0">
              <a:spcAft>
                <a:spcPts val="400"/>
              </a:spcAft>
              <a:buNone/>
            </a:pPr>
            <a:r>
              <a:rPr lang="fr-CA" altLang="en-US" sz="2800" b="1" i="1" dirty="0">
                <a:solidFill>
                  <a:srgbClr val="E8742A"/>
                </a:solidFill>
                <a:latin typeface="Cambria" pitchFamily="34" charset="0"/>
                <a:ea typeface="Cambria" pitchFamily="34" charset="-122"/>
                <a:cs typeface="Cambria" pitchFamily="34" charset="-120"/>
              </a:rPr>
              <a:t>Les cieux suffisent à condamner; la Parole suffit à sauver.</a:t>
            </a:r>
            <a:endParaRPr lang="fr-CA" sz="1600" dirty="0"/>
          </a:p>
          <a:p>
            <a:pPr algn="ctr" indent="0" marL="0">
              <a:spcAft>
                <a:spcPts val="400"/>
              </a:spcAft>
              <a:buNone/>
            </a:pPr>
            <a:r>
              <a:rPr lang="fr-CA" altLang="en-US" sz="1600" dirty="0">
                <a:solidFill>
                  <a:srgbClr val="A89A8C"/>
                </a:solidFill>
                <a:latin typeface="Calibri" pitchFamily="34" charset="0"/>
                <a:ea typeface="Calibri" pitchFamily="34" charset="-122"/>
                <a:cs typeface="Calibri" pitchFamily="34" charset="-120"/>
              </a:rPr>
              <a:t>« La révélation de Dieu dans le monde : assez pour condamner, assez pour damner. La révélation dans la Parole : suffisante pour sauver, suffisante pour sauver » (MacArthur)</a:t>
            </a:r>
            <a:endParaRPr lang="fr-CA" sz="1600" dirty="0"/>
          </a:p>
        </p:txBody>
      </p:sp>
      <p:grpSp>
        <p:nvGrpSpPr>
          <p:cNvPr id="1005" name="Barre de progression"/>
          <p:cNvGrpSpPr/>
          <p:nvPr/>
        </p:nvGrpSpPr>
        <p:grpSpPr>
          <a:xfrm>
            <a:off x="546100" y="6527800"/>
            <a:ext cx="11099800" cy="63500"/>
            <a:chOff x="546100" y="6527800"/>
            <a:chExt cx="11099800" cy="63500"/>
          </a:xfrm>
        </p:grpSpPr>
        <p:sp>
          <p:nvSpPr>
            <p:cNvPr id="35" name="Progression 1"/>
            <p:cNvSpPr/>
            <p:nvPr/>
          </p:nvSpPr>
          <p:spPr>
            <a:xfrm>
              <a:off x="546100" y="6527800"/>
              <a:ext cx="668867" cy="63500"/>
            </a:xfrm>
            <a:prstGeom prst="rect">
              <a:avLst/>
            </a:prstGeom>
            <a:solidFill>
              <a:srgbClr val="E8742A"/>
            </a:solidFill>
            <a:ln/>
          </p:spPr>
        </p:sp>
        <p:sp>
          <p:nvSpPr>
            <p:cNvPr id="36" name="Progression 2"/>
            <p:cNvSpPr/>
            <p:nvPr/>
          </p:nvSpPr>
          <p:spPr>
            <a:xfrm>
              <a:off x="1291167" y="6527800"/>
              <a:ext cx="668867" cy="63500"/>
            </a:xfrm>
            <a:prstGeom prst="rect">
              <a:avLst/>
            </a:prstGeom>
            <a:solidFill>
              <a:srgbClr val="E8742A"/>
            </a:solidFill>
            <a:ln/>
          </p:spPr>
        </p:sp>
        <p:sp>
          <p:nvSpPr>
            <p:cNvPr id="37" name="Progression 3"/>
            <p:cNvSpPr/>
            <p:nvPr/>
          </p:nvSpPr>
          <p:spPr>
            <a:xfrm>
              <a:off x="2036233" y="6527800"/>
              <a:ext cx="668867" cy="63500"/>
            </a:xfrm>
            <a:prstGeom prst="rect">
              <a:avLst/>
            </a:prstGeom>
            <a:solidFill>
              <a:srgbClr val="E8742A"/>
            </a:solidFill>
            <a:ln/>
          </p:spPr>
        </p:sp>
        <p:sp>
          <p:nvSpPr>
            <p:cNvPr id="38" name="Progression 4"/>
            <p:cNvSpPr/>
            <p:nvPr/>
          </p:nvSpPr>
          <p:spPr>
            <a:xfrm>
              <a:off x="2781300" y="6527800"/>
              <a:ext cx="668867" cy="63500"/>
            </a:xfrm>
            <a:prstGeom prst="rect">
              <a:avLst/>
            </a:prstGeom>
            <a:solidFill>
              <a:srgbClr val="E8742A"/>
            </a:solidFill>
            <a:ln/>
          </p:spPr>
        </p:sp>
        <p:sp>
          <p:nvSpPr>
            <p:cNvPr id="39" name="Progression 5"/>
            <p:cNvSpPr/>
            <p:nvPr/>
          </p:nvSpPr>
          <p:spPr>
            <a:xfrm>
              <a:off x="3526367" y="6527800"/>
              <a:ext cx="668867" cy="63500"/>
            </a:xfrm>
            <a:prstGeom prst="rect">
              <a:avLst/>
            </a:prstGeom>
            <a:solidFill>
              <a:srgbClr val="E8742A"/>
            </a:solidFill>
            <a:ln/>
          </p:spPr>
        </p:sp>
        <p:sp>
          <p:nvSpPr>
            <p:cNvPr id="40" name="Progression 6"/>
            <p:cNvSpPr/>
            <p:nvPr/>
          </p:nvSpPr>
          <p:spPr>
            <a:xfrm>
              <a:off x="4271433" y="6527800"/>
              <a:ext cx="668867" cy="63500"/>
            </a:xfrm>
            <a:prstGeom prst="rect">
              <a:avLst/>
            </a:prstGeom>
            <a:solidFill>
              <a:srgbClr val="E8742A"/>
            </a:solidFill>
            <a:ln/>
          </p:spPr>
        </p:sp>
        <p:sp>
          <p:nvSpPr>
            <p:cNvPr id="41" name="Progression 7"/>
            <p:cNvSpPr/>
            <p:nvPr/>
          </p:nvSpPr>
          <p:spPr>
            <a:xfrm>
              <a:off x="5016500" y="6527800"/>
              <a:ext cx="668867" cy="63500"/>
            </a:xfrm>
            <a:prstGeom prst="rect">
              <a:avLst/>
            </a:prstGeom>
            <a:solidFill>
              <a:srgbClr val="3A312C"/>
            </a:solidFill>
            <a:ln/>
          </p:spPr>
        </p:sp>
        <p:sp>
          <p:nvSpPr>
            <p:cNvPr id="42" name="Progression 8"/>
            <p:cNvSpPr/>
            <p:nvPr/>
          </p:nvSpPr>
          <p:spPr>
            <a:xfrm>
              <a:off x="5761567" y="6527800"/>
              <a:ext cx="668867" cy="63500"/>
            </a:xfrm>
            <a:prstGeom prst="rect">
              <a:avLst/>
            </a:prstGeom>
            <a:solidFill>
              <a:srgbClr val="3A312C"/>
            </a:solidFill>
            <a:ln/>
          </p:spPr>
        </p:sp>
        <p:sp>
          <p:nvSpPr>
            <p:cNvPr id="43" name="Progression 9"/>
            <p:cNvSpPr/>
            <p:nvPr/>
          </p:nvSpPr>
          <p:spPr>
            <a:xfrm>
              <a:off x="6506633" y="6527800"/>
              <a:ext cx="668867" cy="63500"/>
            </a:xfrm>
            <a:prstGeom prst="rect">
              <a:avLst/>
            </a:prstGeom>
            <a:solidFill>
              <a:srgbClr val="3A312C"/>
            </a:solidFill>
            <a:ln/>
          </p:spPr>
        </p:sp>
        <p:sp>
          <p:nvSpPr>
            <p:cNvPr id="44" name="Progression 10"/>
            <p:cNvSpPr/>
            <p:nvPr/>
          </p:nvSpPr>
          <p:spPr>
            <a:xfrm>
              <a:off x="7251700" y="6527800"/>
              <a:ext cx="668867" cy="63500"/>
            </a:xfrm>
            <a:prstGeom prst="rect">
              <a:avLst/>
            </a:prstGeom>
            <a:solidFill>
              <a:srgbClr val="3A312C"/>
            </a:solidFill>
            <a:ln/>
          </p:spPr>
        </p:sp>
        <p:sp>
          <p:nvSpPr>
            <p:cNvPr id="45" name="Progression 11"/>
            <p:cNvSpPr/>
            <p:nvPr/>
          </p:nvSpPr>
          <p:spPr>
            <a:xfrm>
              <a:off x="7996767" y="6527800"/>
              <a:ext cx="668867" cy="63500"/>
            </a:xfrm>
            <a:prstGeom prst="rect">
              <a:avLst/>
            </a:prstGeom>
            <a:solidFill>
              <a:srgbClr val="3A312C"/>
            </a:solidFill>
            <a:ln/>
          </p:spPr>
        </p:sp>
        <p:sp>
          <p:nvSpPr>
            <p:cNvPr id="46" name="Progression 12"/>
            <p:cNvSpPr/>
            <p:nvPr/>
          </p:nvSpPr>
          <p:spPr>
            <a:xfrm>
              <a:off x="8741833" y="6527800"/>
              <a:ext cx="668867" cy="63500"/>
            </a:xfrm>
            <a:prstGeom prst="rect">
              <a:avLst/>
            </a:prstGeom>
            <a:solidFill>
              <a:srgbClr val="3A312C"/>
            </a:solidFill>
            <a:ln/>
          </p:spPr>
        </p:sp>
        <p:sp>
          <p:nvSpPr>
            <p:cNvPr id="47" name="Progression 13"/>
            <p:cNvSpPr/>
            <p:nvPr/>
          </p:nvSpPr>
          <p:spPr>
            <a:xfrm>
              <a:off x="9486900" y="6527800"/>
              <a:ext cx="668867" cy="63500"/>
            </a:xfrm>
            <a:prstGeom prst="rect">
              <a:avLst/>
            </a:prstGeom>
            <a:solidFill>
              <a:srgbClr val="3A312C"/>
            </a:solidFill>
            <a:ln/>
          </p:spPr>
        </p:sp>
        <p:sp>
          <p:nvSpPr>
            <p:cNvPr id="48" name="Progression 14"/>
            <p:cNvSpPr/>
            <p:nvPr/>
          </p:nvSpPr>
          <p:spPr>
            <a:xfrm>
              <a:off x="10231967" y="6527800"/>
              <a:ext cx="668867" cy="63500"/>
            </a:xfrm>
            <a:prstGeom prst="rect">
              <a:avLst/>
            </a:prstGeom>
            <a:solidFill>
              <a:srgbClr val="3A312C"/>
            </a:solidFill>
            <a:ln/>
          </p:spPr>
        </p:sp>
        <p:sp>
          <p:nvSpPr>
            <p:cNvPr id="49"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Repère de section"/>
          <p:cNvSpPr txBox="1"/>
          <p:nvPr/>
        </p:nvSpPr>
        <p:spPr>
          <a:xfrm>
            <a:off x="548640" y="384048"/>
            <a:ext cx="676656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II · PSAUME 19.8‑10</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La Parole qui suffit</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Il ne manque rien à la Parole, et il ne manque rien à celui qu'elle instruit</a:t>
            </a:r>
            <a:endParaRPr lang="fr-CA" sz="1900" dirty="0"/>
          </a:p>
        </p:txBody>
      </p:sp>
      <p:sp>
        <p:nvSpPr>
          <p:cNvPr id="5" name="Navigation : le ciel"/>
          <p:cNvSpPr txBox="1"/>
          <p:nvPr/>
        </p:nvSpPr>
        <p:spPr>
          <a:xfrm>
            <a:off x="7756855" y="384048"/>
            <a:ext cx="7772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ciel</a:t>
            </a:r>
            <a:endParaRPr lang="fr-CA" sz="1400" dirty="0"/>
          </a:p>
        </p:txBody>
      </p:sp>
      <p:sp>
        <p:nvSpPr>
          <p:cNvPr id="6" name="Navigation : la Parole"/>
          <p:cNvSpPr txBox="1"/>
          <p:nvPr/>
        </p:nvSpPr>
        <p:spPr>
          <a:xfrm>
            <a:off x="8671255" y="384048"/>
            <a:ext cx="1005840" cy="292608"/>
          </a:xfrm>
          <a:prstGeom prst="rect">
            <a:avLst/>
          </a:prstGeom>
          <a:noFill/>
          <a:ln/>
        </p:spPr>
        <p:txBody>
          <a:bodyPr wrap="square" lIns="0" tIns="0" rIns="0" bIns="0" rtlCol="0" anchor="t"/>
          <a:lstStyle/>
          <a:p>
            <a:pPr algn="ctr" indent="0" marL="0">
              <a:buNone/>
            </a:pPr>
            <a:r>
              <a:rPr lang="fr-CA" altLang="en-US" sz="1400" b="1" dirty="0">
                <a:solidFill>
                  <a:srgbClr val="E8742A"/>
                </a:solidFill>
                <a:latin typeface="Calibri" pitchFamily="34" charset="0"/>
                <a:ea typeface="Calibri" pitchFamily="34" charset="-122"/>
                <a:cs typeface="Calibri" pitchFamily="34" charset="-120"/>
              </a:rPr>
              <a:t>la Parole</a:t>
            </a:r>
            <a:endParaRPr lang="fr-CA" sz="1400" dirty="0"/>
          </a:p>
        </p:txBody>
      </p:sp>
      <p:sp>
        <p:nvSpPr>
          <p:cNvPr id="7" name="Navigation : le désir"/>
          <p:cNvSpPr txBox="1"/>
          <p:nvPr/>
        </p:nvSpPr>
        <p:spPr>
          <a:xfrm>
            <a:off x="9814255" y="384048"/>
            <a:ext cx="86868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désir</a:t>
            </a:r>
            <a:endParaRPr lang="fr-CA" sz="1400" dirty="0"/>
          </a:p>
        </p:txBody>
      </p:sp>
      <p:sp>
        <p:nvSpPr>
          <p:cNvPr id="8" name="Navigation : le cœur"/>
          <p:cNvSpPr txBox="1"/>
          <p:nvPr/>
        </p:nvSpPr>
        <p:spPr>
          <a:xfrm>
            <a:off x="10820095" y="384048"/>
            <a:ext cx="82296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cœur</a:t>
            </a:r>
            <a:endParaRPr lang="fr-CA" sz="1400" dirty="0"/>
          </a:p>
        </p:txBody>
      </p:sp>
      <p:sp>
        <p:nvSpPr>
          <p:cNvPr id="9" name="Text 7"/>
          <p:cNvSpPr txBox="1"/>
          <p:nvPr/>
        </p:nvSpPr>
        <p:spPr>
          <a:xfrm>
            <a:off x="777240" y="1828800"/>
            <a:ext cx="3291840" cy="274320"/>
          </a:xfrm>
          <a:prstGeom prst="rect">
            <a:avLst/>
          </a:prstGeom>
          <a:noFill/>
          <a:ln/>
        </p:spPr>
        <p:txBody>
          <a:bodyPr wrap="square" lIns="0" tIns="0" rIns="0" bIns="0" rtlCol="0" anchor="t"/>
          <a:lstStyle/>
          <a:p>
            <a:pPr indent="0" marL="0">
              <a:buNone/>
            </a:pPr>
            <a:r>
              <a:rPr lang="fr-CA" altLang="en-US" sz="1300" b="1" spc="100" kern="0" dirty="0">
                <a:solidFill>
                  <a:srgbClr val="968A80"/>
                </a:solidFill>
                <a:latin typeface="Calibri" pitchFamily="34" charset="0"/>
                <a:ea typeface="Calibri" pitchFamily="34" charset="-122"/>
                <a:cs typeface="Calibri" pitchFamily="34" charset="-120"/>
              </a:rPr>
              <a:t>TITRE · CE QU'IL DÉSIGNE</a:t>
            </a:r>
            <a:endParaRPr lang="fr-CA" sz="1300" dirty="0"/>
          </a:p>
        </p:txBody>
      </p:sp>
      <p:sp>
        <p:nvSpPr>
          <p:cNvPr id="10" name="Text 8"/>
          <p:cNvSpPr txBox="1"/>
          <p:nvPr/>
        </p:nvSpPr>
        <p:spPr>
          <a:xfrm>
            <a:off x="4160520" y="1828800"/>
            <a:ext cx="3291840" cy="274320"/>
          </a:xfrm>
          <a:prstGeom prst="rect">
            <a:avLst/>
          </a:prstGeom>
          <a:noFill/>
          <a:ln/>
        </p:spPr>
        <p:txBody>
          <a:bodyPr wrap="square" lIns="0" tIns="0" rIns="0" bIns="0" rtlCol="0" anchor="t"/>
          <a:lstStyle/>
          <a:p>
            <a:pPr indent="0" marL="0">
              <a:buNone/>
            </a:pPr>
            <a:r>
              <a:rPr lang="fr-CA" altLang="en-US" sz="1300" b="1" spc="100" kern="0" dirty="0">
                <a:solidFill>
                  <a:srgbClr val="968A80"/>
                </a:solidFill>
                <a:latin typeface="Calibri" pitchFamily="34" charset="0"/>
                <a:ea typeface="Calibri" pitchFamily="34" charset="-122"/>
                <a:cs typeface="Calibri" pitchFamily="34" charset="-120"/>
              </a:rPr>
              <a:t>QUALITÉ · NEG79 / MACARTHUR</a:t>
            </a:r>
            <a:endParaRPr lang="fr-CA" sz="1300" dirty="0"/>
          </a:p>
        </p:txBody>
      </p:sp>
      <p:sp>
        <p:nvSpPr>
          <p:cNvPr id="11" name="Text 9"/>
          <p:cNvSpPr txBox="1"/>
          <p:nvPr/>
        </p:nvSpPr>
        <p:spPr>
          <a:xfrm>
            <a:off x="7635240" y="1828800"/>
            <a:ext cx="3291840" cy="274320"/>
          </a:xfrm>
          <a:prstGeom prst="rect">
            <a:avLst/>
          </a:prstGeom>
          <a:noFill/>
          <a:ln/>
        </p:spPr>
        <p:txBody>
          <a:bodyPr wrap="square" lIns="0" tIns="0" rIns="0" bIns="0" rtlCol="0" anchor="t"/>
          <a:lstStyle/>
          <a:p>
            <a:pPr indent="0" marL="0">
              <a:buNone/>
            </a:pPr>
            <a:r>
              <a:rPr lang="fr-CA" altLang="en-US" sz="1300" b="1" spc="100" kern="0" dirty="0">
                <a:solidFill>
                  <a:srgbClr val="968A80"/>
                </a:solidFill>
                <a:latin typeface="Calibri" pitchFamily="34" charset="0"/>
                <a:ea typeface="Calibri" pitchFamily="34" charset="-122"/>
                <a:cs typeface="Calibri" pitchFamily="34" charset="-120"/>
              </a:rPr>
              <a:t>BIENFAIT</a:t>
            </a:r>
            <a:endParaRPr lang="fr-CA" sz="1300" dirty="0"/>
          </a:p>
        </p:txBody>
      </p:sp>
      <p:sp>
        <p:nvSpPr>
          <p:cNvPr id="12" name="Ligne 1"/>
          <p:cNvSpPr/>
          <p:nvPr/>
        </p:nvSpPr>
        <p:spPr>
          <a:xfrm>
            <a:off x="548640" y="2194560"/>
            <a:ext cx="11091672" cy="585216"/>
          </a:xfrm>
          <a:prstGeom prst="roundRect">
            <a:avLst>
              <a:gd name="adj" fmla="val 18750"/>
            </a:avLst>
          </a:prstGeom>
          <a:solidFill>
            <a:srgbClr val="1A1411"/>
          </a:solidFill>
          <a:ln w="19050">
            <a:solidFill>
              <a:srgbClr val="CC5500"/>
            </a:solidFill>
            <a:prstDash val="solid"/>
          </a:ln>
        </p:spPr>
      </p:sp>
      <p:sp>
        <p:nvSpPr>
          <p:cNvPr id="13" name="Text 11"/>
          <p:cNvSpPr txBox="1"/>
          <p:nvPr/>
        </p:nvSpPr>
        <p:spPr>
          <a:xfrm>
            <a:off x="777240" y="2194560"/>
            <a:ext cx="3291840" cy="585216"/>
          </a:xfrm>
          <a:prstGeom prst="rect">
            <a:avLst/>
          </a:prstGeom>
          <a:noFill/>
          <a:ln/>
        </p:spPr>
        <p:txBody>
          <a:bodyPr wrap="square" lIns="0" tIns="0" rIns="0" bIns="0" rtlCol="0" anchor="ctr"/>
          <a:lstStyle/>
          <a:p>
            <a:pPr indent="0" marL="0">
              <a:lnSpc>
                <a:spcPct val="90000"/>
              </a:lnSpc>
              <a:buNone/>
            </a:pPr>
            <a:r>
              <a:rPr lang="fr-CA" altLang="en-US" sz="1800" b="1" dirty="0">
                <a:solidFill>
                  <a:srgbClr val="F4EDE4"/>
                </a:solidFill>
                <a:latin typeface="Calibri" pitchFamily="34" charset="0"/>
                <a:ea typeface="Calibri" pitchFamily="34" charset="-122"/>
                <a:cs typeface="Calibri" pitchFamily="34" charset="-120"/>
              </a:rPr>
              <a:t>la loi</a:t>
            </a:r>
            <a:pPr indent="0" marL="0">
              <a:lnSpc>
                <a:spcPct val="90000"/>
              </a:lnSpc>
              <a:buNone/>
            </a:pPr>
            <a:r>
              <a:rPr lang="fr-CA" altLang="en-US" sz="1400" dirty="0">
                <a:solidFill>
                  <a:srgbClr val="A89A8C"/>
                </a:solidFill>
                <a:latin typeface="Calibri" pitchFamily="34" charset="0"/>
                <a:ea typeface="Calibri" pitchFamily="34" charset="-122"/>
                <a:cs typeface="Calibri" pitchFamily="34" charset="-120"/>
              </a:rPr>
              <a:t> de l'Éternel</a:t>
            </a:r>
            <a:endParaRPr lang="fr-CA" sz="1600" dirty="0"/>
          </a:p>
          <a:p>
            <a:pPr indent="0" marL="0">
              <a:lnSpc>
                <a:spcPct val="90000"/>
              </a:lnSpc>
              <a:buNone/>
            </a:pPr>
            <a:r>
              <a:rPr lang="fr-CA" altLang="en-US" sz="1500" i="1" dirty="0">
                <a:solidFill>
                  <a:srgbClr val="E8742A"/>
                </a:solidFill>
                <a:latin typeface="Calibri" pitchFamily="34" charset="0"/>
                <a:ea typeface="Calibri" pitchFamily="34" charset="-122"/>
                <a:cs typeface="Calibri" pitchFamily="34" charset="-120"/>
              </a:rPr>
              <a:t>l'enseignement</a:t>
            </a:r>
            <a:endParaRPr lang="fr-CA" sz="1600" dirty="0"/>
          </a:p>
        </p:txBody>
      </p:sp>
      <p:sp>
        <p:nvSpPr>
          <p:cNvPr id="14" name="Text 12"/>
          <p:cNvSpPr txBox="1"/>
          <p:nvPr/>
        </p:nvSpPr>
        <p:spPr>
          <a:xfrm>
            <a:off x="4160520" y="2194560"/>
            <a:ext cx="2743200" cy="585216"/>
          </a:xfrm>
          <a:prstGeom prst="rect">
            <a:avLst/>
          </a:prstGeom>
          <a:noFill/>
          <a:ln/>
        </p:spPr>
        <p:txBody>
          <a:bodyPr wrap="square" lIns="0" tIns="0" rIns="0" bIns="0" rtlCol="0" anchor="ctr"/>
          <a:lstStyle/>
          <a:p>
            <a:pPr indent="0" marL="0">
              <a:buNone/>
            </a:pPr>
            <a:r>
              <a:rPr lang="fr-CA" altLang="en-US" sz="1900" b="1" i="1" dirty="0">
                <a:solidFill>
                  <a:srgbClr val="E8742A"/>
                </a:solidFill>
                <a:latin typeface="Calibri" pitchFamily="34" charset="0"/>
                <a:ea typeface="Calibri" pitchFamily="34" charset="-122"/>
                <a:cs typeface="Calibri" pitchFamily="34" charset="-120"/>
              </a:rPr>
              <a:t>parfaite</a:t>
            </a:r>
            <a:pPr indent="0" marL="0">
              <a:buNone/>
            </a:pPr>
            <a:r>
              <a:rPr lang="fr-CA" altLang="en-US" sz="1500" dirty="0">
                <a:solidFill>
                  <a:srgbClr val="A89A8C"/>
                </a:solidFill>
                <a:latin typeface="Calibri" pitchFamily="34" charset="0"/>
                <a:ea typeface="Calibri" pitchFamily="34" charset="-122"/>
                <a:cs typeface="Calibri" pitchFamily="34" charset="-120"/>
              </a:rPr>
              <a:t> · complète</a:t>
            </a:r>
            <a:endParaRPr lang="fr-CA" sz="1600" dirty="0"/>
          </a:p>
        </p:txBody>
      </p:sp>
      <p:sp>
        <p:nvSpPr>
          <p:cNvPr id="15" name="Shape 13"/>
          <p:cNvSpPr/>
          <p:nvPr/>
        </p:nvSpPr>
        <p:spPr>
          <a:xfrm>
            <a:off x="6949440" y="2487168"/>
            <a:ext cx="502920" cy="0"/>
          </a:xfrm>
          <a:prstGeom prst="line">
            <a:avLst/>
          </a:prstGeom>
          <a:noFill/>
          <a:ln w="25400">
            <a:solidFill>
              <a:srgbClr val="CC5500"/>
            </a:solidFill>
            <a:prstDash val="solid"/>
            <a:tailEnd type="triangle"/>
          </a:ln>
        </p:spPr>
      </p:sp>
      <p:sp>
        <p:nvSpPr>
          <p:cNvPr id="16" name="Shape 14"/>
          <p:cNvSpPr/>
          <p:nvPr/>
        </p:nvSpPr>
        <p:spPr>
          <a:xfrm>
            <a:off x="7635240" y="2267712"/>
            <a:ext cx="438912" cy="438912"/>
          </a:xfrm>
          <a:prstGeom prst="ellipse">
            <a:avLst/>
          </a:prstGeom>
          <a:solidFill>
            <a:srgbClr val="2A1A10"/>
          </a:solidFill>
          <a:ln w="12700">
            <a:solidFill>
              <a:srgbClr val="CC5500"/>
            </a:solidFill>
            <a:prstDash val="solid"/>
          </a:ln>
        </p:spPr>
      </p:sp>
      <p:pic>
        <p:nvPicPr>
          <p:cNvPr id="17" name="Image 0" descr="Icône : flèche de retour">    </p:cNvPr>
          <p:cNvPicPr>
            <a:picLocks noChangeAspect="1"/>
          </p:cNvPicPr>
          <p:nvPr/>
        </p:nvPicPr>
        <p:blipFill>
          <a:blip r:embed="rId1"/>
          <a:stretch>
            <a:fillRect/>
          </a:stretch>
        </p:blipFill>
        <p:spPr>
          <a:xfrm>
            <a:off x="7723022" y="2355494"/>
            <a:ext cx="263347" cy="263347"/>
          </a:xfrm>
          <a:prstGeom prst="rect">
            <a:avLst/>
          </a:prstGeom>
        </p:spPr>
      </p:pic>
      <p:sp>
        <p:nvSpPr>
          <p:cNvPr id="18" name="Text 15"/>
          <p:cNvSpPr txBox="1"/>
          <p:nvPr/>
        </p:nvSpPr>
        <p:spPr>
          <a:xfrm>
            <a:off x="8229600" y="2194560"/>
            <a:ext cx="3291840" cy="585216"/>
          </a:xfrm>
          <a:prstGeom prst="rect">
            <a:avLst/>
          </a:prstGeom>
          <a:noFill/>
          <a:ln/>
        </p:spPr>
        <p:txBody>
          <a:bodyPr wrap="square" lIns="0" tIns="0" rIns="0" bIns="0" rtlCol="0" anchor="ctr"/>
          <a:lstStyle/>
          <a:p>
            <a:pPr indent="0" marL="0">
              <a:buNone/>
            </a:pPr>
            <a:r>
              <a:rPr lang="fr-CA" altLang="en-US" sz="1800" dirty="0">
                <a:solidFill>
                  <a:srgbClr val="F4EDE4"/>
                </a:solidFill>
                <a:latin typeface="Calibri" pitchFamily="34" charset="0"/>
                <a:ea typeface="Calibri" pitchFamily="34" charset="-122"/>
                <a:cs typeface="Calibri" pitchFamily="34" charset="-120"/>
              </a:rPr>
              <a:t>restaure l'âme</a:t>
            </a:r>
            <a:endParaRPr lang="fr-CA" sz="1800" dirty="0"/>
          </a:p>
        </p:txBody>
      </p:sp>
      <p:sp>
        <p:nvSpPr>
          <p:cNvPr id="19" name="Ligne 2"/>
          <p:cNvSpPr/>
          <p:nvPr/>
        </p:nvSpPr>
        <p:spPr>
          <a:xfrm>
            <a:off x="548640" y="2871216"/>
            <a:ext cx="11091672" cy="585216"/>
          </a:xfrm>
          <a:prstGeom prst="roundRect">
            <a:avLst>
              <a:gd name="adj" fmla="val 18750"/>
            </a:avLst>
          </a:prstGeom>
          <a:solidFill>
            <a:srgbClr val="1A1411"/>
          </a:solidFill>
          <a:ln w="9525">
            <a:solidFill>
              <a:srgbClr val="2E211A"/>
            </a:solidFill>
            <a:prstDash val="solid"/>
          </a:ln>
        </p:spPr>
      </p:sp>
      <p:sp>
        <p:nvSpPr>
          <p:cNvPr id="20" name="Text 17"/>
          <p:cNvSpPr txBox="1"/>
          <p:nvPr/>
        </p:nvSpPr>
        <p:spPr>
          <a:xfrm>
            <a:off x="777240" y="2871216"/>
            <a:ext cx="3291840" cy="585216"/>
          </a:xfrm>
          <a:prstGeom prst="rect">
            <a:avLst/>
          </a:prstGeom>
          <a:noFill/>
          <a:ln/>
        </p:spPr>
        <p:txBody>
          <a:bodyPr wrap="square" lIns="0" tIns="0" rIns="0" bIns="0" rtlCol="0" anchor="ctr"/>
          <a:lstStyle/>
          <a:p>
            <a:pPr indent="0" marL="0">
              <a:lnSpc>
                <a:spcPct val="90000"/>
              </a:lnSpc>
              <a:buNone/>
            </a:pPr>
            <a:r>
              <a:rPr lang="fr-CA" altLang="en-US" sz="1800" b="1" dirty="0">
                <a:solidFill>
                  <a:srgbClr val="F4EDE4"/>
                </a:solidFill>
                <a:latin typeface="Calibri" pitchFamily="34" charset="0"/>
                <a:ea typeface="Calibri" pitchFamily="34" charset="-122"/>
                <a:cs typeface="Calibri" pitchFamily="34" charset="-120"/>
              </a:rPr>
              <a:t>le témoignage</a:t>
            </a:r>
            <a:pPr indent="0" marL="0">
              <a:lnSpc>
                <a:spcPct val="90000"/>
              </a:lnSpc>
              <a:buNone/>
            </a:pPr>
            <a:r>
              <a:rPr lang="fr-CA" altLang="en-US" sz="1400" dirty="0">
                <a:solidFill>
                  <a:srgbClr val="A89A8C"/>
                </a:solidFill>
                <a:latin typeface="Calibri" pitchFamily="34" charset="0"/>
                <a:ea typeface="Calibri" pitchFamily="34" charset="-122"/>
                <a:cs typeface="Calibri" pitchFamily="34" charset="-120"/>
              </a:rPr>
              <a:t> de l'Éternel</a:t>
            </a:r>
            <a:endParaRPr lang="fr-CA" sz="1600" dirty="0"/>
          </a:p>
          <a:p>
            <a:pPr indent="0" marL="0">
              <a:lnSpc>
                <a:spcPct val="90000"/>
              </a:lnSpc>
              <a:buNone/>
            </a:pPr>
            <a:r>
              <a:rPr lang="fr-CA" altLang="en-US" sz="1500" i="1" dirty="0">
                <a:solidFill>
                  <a:srgbClr val="E8742A"/>
                </a:solidFill>
                <a:latin typeface="Calibri" pitchFamily="34" charset="0"/>
                <a:ea typeface="Calibri" pitchFamily="34" charset="-122"/>
                <a:cs typeface="Calibri" pitchFamily="34" charset="-120"/>
              </a:rPr>
              <a:t>témoin de son auteur divin</a:t>
            </a:r>
            <a:endParaRPr lang="fr-CA" sz="1600" dirty="0"/>
          </a:p>
        </p:txBody>
      </p:sp>
      <p:sp>
        <p:nvSpPr>
          <p:cNvPr id="21" name="Text 18"/>
          <p:cNvSpPr txBox="1"/>
          <p:nvPr/>
        </p:nvSpPr>
        <p:spPr>
          <a:xfrm>
            <a:off x="4160520" y="2871216"/>
            <a:ext cx="2743200" cy="585216"/>
          </a:xfrm>
          <a:prstGeom prst="rect">
            <a:avLst/>
          </a:prstGeom>
          <a:noFill/>
          <a:ln/>
        </p:spPr>
        <p:txBody>
          <a:bodyPr wrap="square" lIns="0" tIns="0" rIns="0" bIns="0" rtlCol="0" anchor="ctr"/>
          <a:lstStyle/>
          <a:p>
            <a:pPr indent="0" marL="0">
              <a:buNone/>
            </a:pPr>
            <a:r>
              <a:rPr lang="fr-CA" altLang="en-US" sz="1900" b="1" i="1" dirty="0">
                <a:solidFill>
                  <a:srgbClr val="E8742A"/>
                </a:solidFill>
                <a:latin typeface="Calibri" pitchFamily="34" charset="0"/>
                <a:ea typeface="Calibri" pitchFamily="34" charset="-122"/>
                <a:cs typeface="Calibri" pitchFamily="34" charset="-120"/>
              </a:rPr>
              <a:t>véritable</a:t>
            </a:r>
            <a:pPr indent="0" marL="0">
              <a:buNone/>
            </a:pPr>
            <a:r>
              <a:rPr lang="fr-CA" altLang="en-US" sz="1500" dirty="0">
                <a:solidFill>
                  <a:srgbClr val="A89A8C"/>
                </a:solidFill>
                <a:latin typeface="Calibri" pitchFamily="34" charset="0"/>
                <a:ea typeface="Calibri" pitchFamily="34" charset="-122"/>
                <a:cs typeface="Calibri" pitchFamily="34" charset="-120"/>
              </a:rPr>
              <a:t> · sûr</a:t>
            </a:r>
            <a:endParaRPr lang="fr-CA" sz="1600" dirty="0"/>
          </a:p>
        </p:txBody>
      </p:sp>
      <p:sp>
        <p:nvSpPr>
          <p:cNvPr id="22" name="Shape 19"/>
          <p:cNvSpPr/>
          <p:nvPr/>
        </p:nvSpPr>
        <p:spPr>
          <a:xfrm>
            <a:off x="6949440" y="3163824"/>
            <a:ext cx="502920" cy="0"/>
          </a:xfrm>
          <a:prstGeom prst="line">
            <a:avLst/>
          </a:prstGeom>
          <a:noFill/>
          <a:ln w="25400">
            <a:solidFill>
              <a:srgbClr val="CC5500"/>
            </a:solidFill>
            <a:prstDash val="solid"/>
            <a:tailEnd type="triangle"/>
          </a:ln>
        </p:spPr>
      </p:sp>
      <p:sp>
        <p:nvSpPr>
          <p:cNvPr id="23" name="Shape 20"/>
          <p:cNvSpPr/>
          <p:nvPr/>
        </p:nvSpPr>
        <p:spPr>
          <a:xfrm>
            <a:off x="7635240" y="2944368"/>
            <a:ext cx="438912" cy="438912"/>
          </a:xfrm>
          <a:prstGeom prst="ellipse">
            <a:avLst/>
          </a:prstGeom>
          <a:solidFill>
            <a:srgbClr val="2A1A10"/>
          </a:solidFill>
          <a:ln w="12700">
            <a:solidFill>
              <a:srgbClr val="CC5500"/>
            </a:solidFill>
            <a:prstDash val="solid"/>
          </a:ln>
        </p:spPr>
      </p:sp>
      <p:pic>
        <p:nvPicPr>
          <p:cNvPr id="24" name="Image 1" descr="Icône : ampoule">    </p:cNvPr>
          <p:cNvPicPr>
            <a:picLocks noChangeAspect="1"/>
          </p:cNvPicPr>
          <p:nvPr/>
        </p:nvPicPr>
        <p:blipFill>
          <a:blip r:embed="rId2"/>
          <a:stretch>
            <a:fillRect/>
          </a:stretch>
        </p:blipFill>
        <p:spPr>
          <a:xfrm>
            <a:off x="7723022" y="3032150"/>
            <a:ext cx="263347" cy="263347"/>
          </a:xfrm>
          <a:prstGeom prst="rect">
            <a:avLst/>
          </a:prstGeom>
        </p:spPr>
      </p:pic>
      <p:sp>
        <p:nvSpPr>
          <p:cNvPr id="25" name="Text 21"/>
          <p:cNvSpPr txBox="1"/>
          <p:nvPr/>
        </p:nvSpPr>
        <p:spPr>
          <a:xfrm>
            <a:off x="8229600" y="2871216"/>
            <a:ext cx="3291840" cy="585216"/>
          </a:xfrm>
          <a:prstGeom prst="rect">
            <a:avLst/>
          </a:prstGeom>
          <a:noFill/>
          <a:ln/>
        </p:spPr>
        <p:txBody>
          <a:bodyPr wrap="square" lIns="0" tIns="0" rIns="0" bIns="0" rtlCol="0" anchor="ctr"/>
          <a:lstStyle/>
          <a:p>
            <a:pPr indent="0" marL="0">
              <a:buNone/>
            </a:pPr>
            <a:r>
              <a:rPr lang="fr-CA" altLang="en-US" sz="1800" dirty="0">
                <a:solidFill>
                  <a:srgbClr val="F4EDE4"/>
                </a:solidFill>
                <a:latin typeface="Calibri" pitchFamily="34" charset="0"/>
                <a:ea typeface="Calibri" pitchFamily="34" charset="-122"/>
                <a:cs typeface="Calibri" pitchFamily="34" charset="-120"/>
              </a:rPr>
              <a:t>rend sage l'ignorant</a:t>
            </a:r>
            <a:endParaRPr lang="fr-CA" sz="1800" dirty="0"/>
          </a:p>
        </p:txBody>
      </p:sp>
      <p:sp>
        <p:nvSpPr>
          <p:cNvPr id="26" name="Ligne 3"/>
          <p:cNvSpPr/>
          <p:nvPr/>
        </p:nvSpPr>
        <p:spPr>
          <a:xfrm>
            <a:off x="548640" y="3547872"/>
            <a:ext cx="11091672" cy="585216"/>
          </a:xfrm>
          <a:prstGeom prst="roundRect">
            <a:avLst>
              <a:gd name="adj" fmla="val 18750"/>
            </a:avLst>
          </a:prstGeom>
          <a:solidFill>
            <a:srgbClr val="1A1411"/>
          </a:solidFill>
          <a:ln w="9525">
            <a:solidFill>
              <a:srgbClr val="2E211A"/>
            </a:solidFill>
            <a:prstDash val="solid"/>
          </a:ln>
        </p:spPr>
      </p:sp>
      <p:sp>
        <p:nvSpPr>
          <p:cNvPr id="27" name="Text 23"/>
          <p:cNvSpPr txBox="1"/>
          <p:nvPr/>
        </p:nvSpPr>
        <p:spPr>
          <a:xfrm>
            <a:off x="777240" y="3547872"/>
            <a:ext cx="3291840" cy="585216"/>
          </a:xfrm>
          <a:prstGeom prst="rect">
            <a:avLst/>
          </a:prstGeom>
          <a:noFill/>
          <a:ln/>
        </p:spPr>
        <p:txBody>
          <a:bodyPr wrap="square" lIns="0" tIns="0" rIns="0" bIns="0" rtlCol="0" anchor="ctr"/>
          <a:lstStyle/>
          <a:p>
            <a:pPr indent="0" marL="0">
              <a:lnSpc>
                <a:spcPct val="90000"/>
              </a:lnSpc>
              <a:buNone/>
            </a:pPr>
            <a:r>
              <a:rPr lang="fr-CA" altLang="en-US" sz="1800" b="1" dirty="0">
                <a:solidFill>
                  <a:srgbClr val="F4EDE4"/>
                </a:solidFill>
                <a:latin typeface="Calibri" pitchFamily="34" charset="0"/>
                <a:ea typeface="Calibri" pitchFamily="34" charset="-122"/>
                <a:cs typeface="Calibri" pitchFamily="34" charset="-120"/>
              </a:rPr>
              <a:t>les ordonnances</a:t>
            </a:r>
            <a:pPr indent="0" marL="0">
              <a:lnSpc>
                <a:spcPct val="90000"/>
              </a:lnSpc>
              <a:buNone/>
            </a:pPr>
            <a:r>
              <a:rPr lang="fr-CA" altLang="en-US" sz="1400" dirty="0">
                <a:solidFill>
                  <a:srgbClr val="A89A8C"/>
                </a:solidFill>
                <a:latin typeface="Calibri" pitchFamily="34" charset="0"/>
                <a:ea typeface="Calibri" pitchFamily="34" charset="-122"/>
                <a:cs typeface="Calibri" pitchFamily="34" charset="-120"/>
              </a:rPr>
              <a:t> de l'Éternel</a:t>
            </a:r>
            <a:endParaRPr lang="fr-CA" sz="1600" dirty="0"/>
          </a:p>
          <a:p>
            <a:pPr indent="0" marL="0">
              <a:lnSpc>
                <a:spcPct val="90000"/>
              </a:lnSpc>
              <a:buNone/>
            </a:pPr>
            <a:r>
              <a:rPr lang="fr-CA" altLang="en-US" sz="1500" i="1" dirty="0">
                <a:solidFill>
                  <a:srgbClr val="E8742A"/>
                </a:solidFill>
                <a:latin typeface="Calibri" pitchFamily="34" charset="0"/>
                <a:ea typeface="Calibri" pitchFamily="34" charset="-122"/>
                <a:cs typeface="Calibri" pitchFamily="34" charset="-120"/>
              </a:rPr>
              <a:t>Dieu gouverne par elles</a:t>
            </a:r>
            <a:endParaRPr lang="fr-CA" sz="1600" dirty="0"/>
          </a:p>
        </p:txBody>
      </p:sp>
      <p:sp>
        <p:nvSpPr>
          <p:cNvPr id="28" name="Text 24"/>
          <p:cNvSpPr txBox="1"/>
          <p:nvPr/>
        </p:nvSpPr>
        <p:spPr>
          <a:xfrm>
            <a:off x="4160520" y="3547872"/>
            <a:ext cx="2743200" cy="585216"/>
          </a:xfrm>
          <a:prstGeom prst="rect">
            <a:avLst/>
          </a:prstGeom>
          <a:noFill/>
          <a:ln/>
        </p:spPr>
        <p:txBody>
          <a:bodyPr wrap="square" lIns="0" tIns="0" rIns="0" bIns="0" rtlCol="0" anchor="ctr"/>
          <a:lstStyle/>
          <a:p>
            <a:pPr indent="0" marL="0">
              <a:buNone/>
            </a:pPr>
            <a:r>
              <a:rPr lang="fr-CA" altLang="en-US" sz="1900" b="1" i="1" dirty="0">
                <a:solidFill>
                  <a:srgbClr val="E8742A"/>
                </a:solidFill>
                <a:latin typeface="Calibri" pitchFamily="34" charset="0"/>
                <a:ea typeface="Calibri" pitchFamily="34" charset="-122"/>
                <a:cs typeface="Calibri" pitchFamily="34" charset="-120"/>
              </a:rPr>
              <a:t>droites</a:t>
            </a:r>
            <a:pPr indent="0" marL="0">
              <a:buNone/>
            </a:pPr>
            <a:r>
              <a:rPr lang="fr-CA" altLang="en-US" sz="1500" dirty="0">
                <a:solidFill>
                  <a:srgbClr val="A89A8C"/>
                </a:solidFill>
                <a:latin typeface="Calibri" pitchFamily="34" charset="0"/>
                <a:ea typeface="Calibri" pitchFamily="34" charset="-122"/>
                <a:cs typeface="Calibri" pitchFamily="34" charset="-120"/>
              </a:rPr>
              <a:t> · le droit chemin</a:t>
            </a:r>
            <a:endParaRPr lang="fr-CA" sz="1600" dirty="0"/>
          </a:p>
        </p:txBody>
      </p:sp>
      <p:sp>
        <p:nvSpPr>
          <p:cNvPr id="29" name="Shape 25"/>
          <p:cNvSpPr/>
          <p:nvPr/>
        </p:nvSpPr>
        <p:spPr>
          <a:xfrm>
            <a:off x="6949440" y="3840480"/>
            <a:ext cx="502920" cy="0"/>
          </a:xfrm>
          <a:prstGeom prst="line">
            <a:avLst/>
          </a:prstGeom>
          <a:noFill/>
          <a:ln w="25400">
            <a:solidFill>
              <a:srgbClr val="CC5500"/>
            </a:solidFill>
            <a:prstDash val="solid"/>
            <a:tailEnd type="triangle"/>
          </a:ln>
        </p:spPr>
      </p:sp>
      <p:sp>
        <p:nvSpPr>
          <p:cNvPr id="30" name="Shape 26"/>
          <p:cNvSpPr/>
          <p:nvPr/>
        </p:nvSpPr>
        <p:spPr>
          <a:xfrm>
            <a:off x="7635240" y="3621024"/>
            <a:ext cx="438912" cy="438912"/>
          </a:xfrm>
          <a:prstGeom prst="ellipse">
            <a:avLst/>
          </a:prstGeom>
          <a:solidFill>
            <a:srgbClr val="2A1A10"/>
          </a:solidFill>
          <a:ln w="12700">
            <a:solidFill>
              <a:srgbClr val="CC5500"/>
            </a:solidFill>
            <a:prstDash val="solid"/>
          </a:ln>
        </p:spPr>
      </p:sp>
      <p:pic>
        <p:nvPicPr>
          <p:cNvPr id="31" name="Image 2" descr="Icône : étincelles">    </p:cNvPr>
          <p:cNvPicPr>
            <a:picLocks noChangeAspect="1"/>
          </p:cNvPicPr>
          <p:nvPr/>
        </p:nvPicPr>
        <p:blipFill>
          <a:blip r:embed="rId3"/>
          <a:stretch>
            <a:fillRect/>
          </a:stretch>
        </p:blipFill>
        <p:spPr>
          <a:xfrm>
            <a:off x="7723022" y="3708806"/>
            <a:ext cx="263347" cy="263347"/>
          </a:xfrm>
          <a:prstGeom prst="rect">
            <a:avLst/>
          </a:prstGeom>
        </p:spPr>
      </p:pic>
      <p:sp>
        <p:nvSpPr>
          <p:cNvPr id="32" name="Text 27"/>
          <p:cNvSpPr txBox="1"/>
          <p:nvPr/>
        </p:nvSpPr>
        <p:spPr>
          <a:xfrm>
            <a:off x="8229600" y="3547872"/>
            <a:ext cx="3291840" cy="585216"/>
          </a:xfrm>
          <a:prstGeom prst="rect">
            <a:avLst/>
          </a:prstGeom>
          <a:noFill/>
          <a:ln/>
        </p:spPr>
        <p:txBody>
          <a:bodyPr wrap="square" lIns="0" tIns="0" rIns="0" bIns="0" rtlCol="0" anchor="ctr"/>
          <a:lstStyle/>
          <a:p>
            <a:pPr indent="0" marL="0">
              <a:buNone/>
            </a:pPr>
            <a:r>
              <a:rPr lang="fr-CA" altLang="en-US" sz="1800" dirty="0">
                <a:solidFill>
                  <a:srgbClr val="F4EDE4"/>
                </a:solidFill>
                <a:latin typeface="Calibri" pitchFamily="34" charset="0"/>
                <a:ea typeface="Calibri" pitchFamily="34" charset="-122"/>
                <a:cs typeface="Calibri" pitchFamily="34" charset="-120"/>
              </a:rPr>
              <a:t>réjouissent le cœur</a:t>
            </a:r>
            <a:endParaRPr lang="fr-CA" sz="1800" dirty="0"/>
          </a:p>
        </p:txBody>
      </p:sp>
      <p:sp>
        <p:nvSpPr>
          <p:cNvPr id="33" name="Ligne 4"/>
          <p:cNvSpPr/>
          <p:nvPr/>
        </p:nvSpPr>
        <p:spPr>
          <a:xfrm>
            <a:off x="548640" y="4224528"/>
            <a:ext cx="11091672" cy="585216"/>
          </a:xfrm>
          <a:prstGeom prst="roundRect">
            <a:avLst>
              <a:gd name="adj" fmla="val 18750"/>
            </a:avLst>
          </a:prstGeom>
          <a:solidFill>
            <a:srgbClr val="1A1411"/>
          </a:solidFill>
          <a:ln w="9525">
            <a:solidFill>
              <a:srgbClr val="2E211A"/>
            </a:solidFill>
            <a:prstDash val="solid"/>
          </a:ln>
        </p:spPr>
      </p:sp>
      <p:sp>
        <p:nvSpPr>
          <p:cNvPr id="34" name="Text 29"/>
          <p:cNvSpPr txBox="1"/>
          <p:nvPr/>
        </p:nvSpPr>
        <p:spPr>
          <a:xfrm>
            <a:off x="777240" y="4224528"/>
            <a:ext cx="3291840" cy="585216"/>
          </a:xfrm>
          <a:prstGeom prst="rect">
            <a:avLst/>
          </a:prstGeom>
          <a:noFill/>
          <a:ln/>
        </p:spPr>
        <p:txBody>
          <a:bodyPr wrap="square" lIns="0" tIns="0" rIns="0" bIns="0" rtlCol="0" anchor="ctr"/>
          <a:lstStyle/>
          <a:p>
            <a:pPr indent="0" marL="0">
              <a:lnSpc>
                <a:spcPct val="90000"/>
              </a:lnSpc>
              <a:buNone/>
            </a:pPr>
            <a:r>
              <a:rPr lang="fr-CA" altLang="en-US" sz="1800" b="1" dirty="0">
                <a:solidFill>
                  <a:srgbClr val="F4EDE4"/>
                </a:solidFill>
                <a:latin typeface="Calibri" pitchFamily="34" charset="0"/>
                <a:ea typeface="Calibri" pitchFamily="34" charset="-122"/>
                <a:cs typeface="Calibri" pitchFamily="34" charset="-120"/>
              </a:rPr>
              <a:t>les commandements</a:t>
            </a:r>
            <a:pPr indent="0" marL="0">
              <a:lnSpc>
                <a:spcPct val="90000"/>
              </a:lnSpc>
              <a:buNone/>
            </a:pPr>
            <a:r>
              <a:rPr lang="fr-CA" altLang="en-US" sz="1400" dirty="0">
                <a:solidFill>
                  <a:srgbClr val="A89A8C"/>
                </a:solidFill>
                <a:latin typeface="Calibri" pitchFamily="34" charset="0"/>
                <a:ea typeface="Calibri" pitchFamily="34" charset="-122"/>
                <a:cs typeface="Calibri" pitchFamily="34" charset="-120"/>
              </a:rPr>
              <a:t> de l'Éternel</a:t>
            </a:r>
            <a:endParaRPr lang="fr-CA" sz="1600" dirty="0"/>
          </a:p>
          <a:p>
            <a:pPr indent="0" marL="0">
              <a:lnSpc>
                <a:spcPct val="90000"/>
              </a:lnSpc>
              <a:buNone/>
            </a:pPr>
            <a:r>
              <a:rPr lang="fr-CA" altLang="en-US" sz="1500" i="1" dirty="0">
                <a:solidFill>
                  <a:srgbClr val="E8742A"/>
                </a:solidFill>
                <a:latin typeface="Calibri" pitchFamily="34" charset="0"/>
                <a:ea typeface="Calibri" pitchFamily="34" charset="-122"/>
                <a:cs typeface="Calibri" pitchFamily="34" charset="-120"/>
              </a:rPr>
              <a:t>des ordres qui lient</a:t>
            </a:r>
            <a:endParaRPr lang="fr-CA" sz="1600" dirty="0"/>
          </a:p>
        </p:txBody>
      </p:sp>
      <p:sp>
        <p:nvSpPr>
          <p:cNvPr id="35" name="Text 30"/>
          <p:cNvSpPr txBox="1"/>
          <p:nvPr/>
        </p:nvSpPr>
        <p:spPr>
          <a:xfrm>
            <a:off x="4160520" y="4224528"/>
            <a:ext cx="2743200" cy="585216"/>
          </a:xfrm>
          <a:prstGeom prst="rect">
            <a:avLst/>
          </a:prstGeom>
          <a:noFill/>
          <a:ln/>
        </p:spPr>
        <p:txBody>
          <a:bodyPr wrap="square" lIns="0" tIns="0" rIns="0" bIns="0" rtlCol="0" anchor="ctr"/>
          <a:lstStyle/>
          <a:p>
            <a:pPr indent="0" marL="0">
              <a:buNone/>
            </a:pPr>
            <a:r>
              <a:rPr lang="fr-CA" altLang="en-US" sz="1900" b="1" i="1" dirty="0">
                <a:solidFill>
                  <a:srgbClr val="E8742A"/>
                </a:solidFill>
                <a:latin typeface="Calibri" pitchFamily="34" charset="0"/>
                <a:ea typeface="Calibri" pitchFamily="34" charset="-122"/>
                <a:cs typeface="Calibri" pitchFamily="34" charset="-120"/>
              </a:rPr>
              <a:t>purs</a:t>
            </a:r>
            <a:pPr indent="0" marL="0">
              <a:buNone/>
            </a:pPr>
            <a:r>
              <a:rPr lang="fr-CA" altLang="en-US" sz="1500" dirty="0">
                <a:solidFill>
                  <a:srgbClr val="A89A8C"/>
                </a:solidFill>
                <a:latin typeface="Calibri" pitchFamily="34" charset="0"/>
                <a:ea typeface="Calibri" pitchFamily="34" charset="-122"/>
                <a:cs typeface="Calibri" pitchFamily="34" charset="-120"/>
              </a:rPr>
              <a:t> · clairs</a:t>
            </a:r>
            <a:endParaRPr lang="fr-CA" sz="1600" dirty="0"/>
          </a:p>
        </p:txBody>
      </p:sp>
      <p:sp>
        <p:nvSpPr>
          <p:cNvPr id="36" name="Shape 31"/>
          <p:cNvSpPr/>
          <p:nvPr/>
        </p:nvSpPr>
        <p:spPr>
          <a:xfrm>
            <a:off x="6949440" y="4517136"/>
            <a:ext cx="502920" cy="0"/>
          </a:xfrm>
          <a:prstGeom prst="line">
            <a:avLst/>
          </a:prstGeom>
          <a:noFill/>
          <a:ln w="25400">
            <a:solidFill>
              <a:srgbClr val="CC5500"/>
            </a:solidFill>
            <a:prstDash val="solid"/>
            <a:tailEnd type="triangle"/>
          </a:ln>
        </p:spPr>
      </p:sp>
      <p:sp>
        <p:nvSpPr>
          <p:cNvPr id="37" name="Shape 32"/>
          <p:cNvSpPr/>
          <p:nvPr/>
        </p:nvSpPr>
        <p:spPr>
          <a:xfrm>
            <a:off x="7635240" y="4297680"/>
            <a:ext cx="438912" cy="438912"/>
          </a:xfrm>
          <a:prstGeom prst="ellipse">
            <a:avLst/>
          </a:prstGeom>
          <a:solidFill>
            <a:srgbClr val="2A1A10"/>
          </a:solidFill>
          <a:ln w="12700">
            <a:solidFill>
              <a:srgbClr val="CC5500"/>
            </a:solidFill>
            <a:prstDash val="solid"/>
          </a:ln>
        </p:spPr>
      </p:sp>
      <p:pic>
        <p:nvPicPr>
          <p:cNvPr id="38" name="Image 3" descr="Icône : œil">    </p:cNvPr>
          <p:cNvPicPr>
            <a:picLocks noChangeAspect="1"/>
          </p:cNvPicPr>
          <p:nvPr/>
        </p:nvPicPr>
        <p:blipFill>
          <a:blip r:embed="rId4"/>
          <a:stretch>
            <a:fillRect/>
          </a:stretch>
        </p:blipFill>
        <p:spPr>
          <a:xfrm>
            <a:off x="7723022" y="4385462"/>
            <a:ext cx="263347" cy="263347"/>
          </a:xfrm>
          <a:prstGeom prst="rect">
            <a:avLst/>
          </a:prstGeom>
        </p:spPr>
      </p:pic>
      <p:sp>
        <p:nvSpPr>
          <p:cNvPr id="39" name="Text 33"/>
          <p:cNvSpPr txBox="1"/>
          <p:nvPr/>
        </p:nvSpPr>
        <p:spPr>
          <a:xfrm>
            <a:off x="8229600" y="4224528"/>
            <a:ext cx="3291840" cy="585216"/>
          </a:xfrm>
          <a:prstGeom prst="rect">
            <a:avLst/>
          </a:prstGeom>
          <a:noFill/>
          <a:ln/>
        </p:spPr>
        <p:txBody>
          <a:bodyPr wrap="square" lIns="0" tIns="0" rIns="0" bIns="0" rtlCol="0" anchor="ctr"/>
          <a:lstStyle/>
          <a:p>
            <a:pPr indent="0" marL="0">
              <a:buNone/>
            </a:pPr>
            <a:r>
              <a:rPr lang="fr-CA" altLang="en-US" sz="1800" dirty="0">
                <a:solidFill>
                  <a:srgbClr val="F4EDE4"/>
                </a:solidFill>
                <a:latin typeface="Calibri" pitchFamily="34" charset="0"/>
                <a:ea typeface="Calibri" pitchFamily="34" charset="-122"/>
                <a:cs typeface="Calibri" pitchFamily="34" charset="-120"/>
              </a:rPr>
              <a:t>éclairent les yeux</a:t>
            </a:r>
            <a:endParaRPr lang="fr-CA" sz="1800" dirty="0"/>
          </a:p>
        </p:txBody>
      </p:sp>
      <p:sp>
        <p:nvSpPr>
          <p:cNvPr id="40" name="Ligne 5"/>
          <p:cNvSpPr/>
          <p:nvPr/>
        </p:nvSpPr>
        <p:spPr>
          <a:xfrm>
            <a:off x="548640" y="4901184"/>
            <a:ext cx="11091672" cy="585216"/>
          </a:xfrm>
          <a:prstGeom prst="roundRect">
            <a:avLst>
              <a:gd name="adj" fmla="val 18750"/>
            </a:avLst>
          </a:prstGeom>
          <a:solidFill>
            <a:srgbClr val="1A1411"/>
          </a:solidFill>
          <a:ln w="9525">
            <a:solidFill>
              <a:srgbClr val="2E211A"/>
            </a:solidFill>
            <a:prstDash val="solid"/>
          </a:ln>
        </p:spPr>
      </p:sp>
      <p:sp>
        <p:nvSpPr>
          <p:cNvPr id="41" name="Text 35"/>
          <p:cNvSpPr txBox="1"/>
          <p:nvPr/>
        </p:nvSpPr>
        <p:spPr>
          <a:xfrm>
            <a:off x="777240" y="4901184"/>
            <a:ext cx="3291840" cy="585216"/>
          </a:xfrm>
          <a:prstGeom prst="rect">
            <a:avLst/>
          </a:prstGeom>
          <a:noFill/>
          <a:ln/>
        </p:spPr>
        <p:txBody>
          <a:bodyPr wrap="square" lIns="0" tIns="0" rIns="0" bIns="0" rtlCol="0" anchor="ctr"/>
          <a:lstStyle/>
          <a:p>
            <a:pPr indent="0" marL="0">
              <a:lnSpc>
                <a:spcPct val="90000"/>
              </a:lnSpc>
              <a:buNone/>
            </a:pPr>
            <a:r>
              <a:rPr lang="fr-CA" altLang="en-US" sz="1800" b="1" dirty="0">
                <a:solidFill>
                  <a:srgbClr val="F4EDE4"/>
                </a:solidFill>
                <a:latin typeface="Calibri" pitchFamily="34" charset="0"/>
                <a:ea typeface="Calibri" pitchFamily="34" charset="-122"/>
                <a:cs typeface="Calibri" pitchFamily="34" charset="-120"/>
              </a:rPr>
              <a:t>la crainte</a:t>
            </a:r>
            <a:pPr indent="0" marL="0">
              <a:lnSpc>
                <a:spcPct val="90000"/>
              </a:lnSpc>
              <a:buNone/>
            </a:pPr>
            <a:r>
              <a:rPr lang="fr-CA" altLang="en-US" sz="1400" dirty="0">
                <a:solidFill>
                  <a:srgbClr val="A89A8C"/>
                </a:solidFill>
                <a:latin typeface="Calibri" pitchFamily="34" charset="0"/>
                <a:ea typeface="Calibri" pitchFamily="34" charset="-122"/>
                <a:cs typeface="Calibri" pitchFamily="34" charset="-120"/>
              </a:rPr>
              <a:t> de l'Éternel</a:t>
            </a:r>
            <a:endParaRPr lang="fr-CA" sz="1600" dirty="0"/>
          </a:p>
          <a:p>
            <a:pPr indent="0" marL="0">
              <a:lnSpc>
                <a:spcPct val="90000"/>
              </a:lnSpc>
              <a:buNone/>
            </a:pPr>
            <a:r>
              <a:rPr lang="fr-CA" altLang="en-US" sz="1500" i="1" dirty="0">
                <a:solidFill>
                  <a:srgbClr val="E8742A"/>
                </a:solidFill>
                <a:latin typeface="Calibri" pitchFamily="34" charset="0"/>
                <a:ea typeface="Calibri" pitchFamily="34" charset="-122"/>
                <a:cs typeface="Calibri" pitchFamily="34" charset="-120"/>
              </a:rPr>
              <a:t>le guide de l'adoration</a:t>
            </a:r>
            <a:endParaRPr lang="fr-CA" sz="1600" dirty="0"/>
          </a:p>
        </p:txBody>
      </p:sp>
      <p:sp>
        <p:nvSpPr>
          <p:cNvPr id="42" name="Text 36"/>
          <p:cNvSpPr txBox="1"/>
          <p:nvPr/>
        </p:nvSpPr>
        <p:spPr>
          <a:xfrm>
            <a:off x="4160520" y="4901184"/>
            <a:ext cx="2743200" cy="585216"/>
          </a:xfrm>
          <a:prstGeom prst="rect">
            <a:avLst/>
          </a:prstGeom>
          <a:noFill/>
          <a:ln/>
        </p:spPr>
        <p:txBody>
          <a:bodyPr wrap="square" lIns="0" tIns="0" rIns="0" bIns="0" rtlCol="0" anchor="ctr"/>
          <a:lstStyle/>
          <a:p>
            <a:pPr indent="0" marL="0">
              <a:buNone/>
            </a:pPr>
            <a:r>
              <a:rPr lang="fr-CA" altLang="en-US" sz="1900" b="1" i="1" dirty="0">
                <a:solidFill>
                  <a:srgbClr val="E8742A"/>
                </a:solidFill>
                <a:latin typeface="Calibri" pitchFamily="34" charset="0"/>
                <a:ea typeface="Calibri" pitchFamily="34" charset="-122"/>
                <a:cs typeface="Calibri" pitchFamily="34" charset="-120"/>
              </a:rPr>
              <a:t>pure</a:t>
            </a:r>
            <a:pPr indent="0" marL="0">
              <a:buNone/>
            </a:pPr>
            <a:r>
              <a:rPr lang="fr-CA" altLang="en-US" sz="1500" dirty="0">
                <a:solidFill>
                  <a:srgbClr val="A89A8C"/>
                </a:solidFill>
                <a:latin typeface="Calibri" pitchFamily="34" charset="0"/>
                <a:ea typeface="Calibri" pitchFamily="34" charset="-122"/>
                <a:cs typeface="Calibri" pitchFamily="34" charset="-120"/>
              </a:rPr>
              <a:t> · nette</a:t>
            </a:r>
            <a:endParaRPr lang="fr-CA" sz="1600" dirty="0"/>
          </a:p>
        </p:txBody>
      </p:sp>
      <p:sp>
        <p:nvSpPr>
          <p:cNvPr id="43" name="Shape 37"/>
          <p:cNvSpPr/>
          <p:nvPr/>
        </p:nvSpPr>
        <p:spPr>
          <a:xfrm>
            <a:off x="6949440" y="5193792"/>
            <a:ext cx="502920" cy="0"/>
          </a:xfrm>
          <a:prstGeom prst="line">
            <a:avLst/>
          </a:prstGeom>
          <a:noFill/>
          <a:ln w="25400">
            <a:solidFill>
              <a:srgbClr val="CC5500"/>
            </a:solidFill>
            <a:prstDash val="solid"/>
            <a:tailEnd type="triangle"/>
          </a:ln>
        </p:spPr>
      </p:sp>
      <p:sp>
        <p:nvSpPr>
          <p:cNvPr id="44" name="Shape 38"/>
          <p:cNvSpPr/>
          <p:nvPr/>
        </p:nvSpPr>
        <p:spPr>
          <a:xfrm>
            <a:off x="7635240" y="4974336"/>
            <a:ext cx="438912" cy="438912"/>
          </a:xfrm>
          <a:prstGeom prst="ellipse">
            <a:avLst/>
          </a:prstGeom>
          <a:solidFill>
            <a:srgbClr val="2A1A10"/>
          </a:solidFill>
          <a:ln w="12700">
            <a:solidFill>
              <a:srgbClr val="CC5500"/>
            </a:solidFill>
            <a:prstDash val="solid"/>
          </a:ln>
        </p:spPr>
      </p:sp>
      <p:pic>
        <p:nvPicPr>
          <p:cNvPr id="45" name="Image 4" descr="Icône : infini">    </p:cNvPr>
          <p:cNvPicPr>
            <a:picLocks noChangeAspect="1"/>
          </p:cNvPicPr>
          <p:nvPr/>
        </p:nvPicPr>
        <p:blipFill>
          <a:blip r:embed="rId5"/>
          <a:stretch>
            <a:fillRect/>
          </a:stretch>
        </p:blipFill>
        <p:spPr>
          <a:xfrm>
            <a:off x="7723022" y="5062118"/>
            <a:ext cx="263347" cy="263347"/>
          </a:xfrm>
          <a:prstGeom prst="rect">
            <a:avLst/>
          </a:prstGeom>
        </p:spPr>
      </p:pic>
      <p:sp>
        <p:nvSpPr>
          <p:cNvPr id="46" name="Text 39"/>
          <p:cNvSpPr txBox="1"/>
          <p:nvPr/>
        </p:nvSpPr>
        <p:spPr>
          <a:xfrm>
            <a:off x="8229600" y="4901184"/>
            <a:ext cx="3291840" cy="585216"/>
          </a:xfrm>
          <a:prstGeom prst="rect">
            <a:avLst/>
          </a:prstGeom>
          <a:noFill/>
          <a:ln/>
        </p:spPr>
        <p:txBody>
          <a:bodyPr wrap="square" lIns="0" tIns="0" rIns="0" bIns="0" rtlCol="0" anchor="ctr"/>
          <a:lstStyle/>
          <a:p>
            <a:pPr indent="0" marL="0">
              <a:buNone/>
            </a:pPr>
            <a:r>
              <a:rPr lang="fr-CA" altLang="en-US" sz="1800" dirty="0">
                <a:solidFill>
                  <a:srgbClr val="F4EDE4"/>
                </a:solidFill>
                <a:latin typeface="Calibri" pitchFamily="34" charset="0"/>
                <a:ea typeface="Calibri" pitchFamily="34" charset="-122"/>
                <a:cs typeface="Calibri" pitchFamily="34" charset="-120"/>
              </a:rPr>
              <a:t>subsiste à toujours</a:t>
            </a:r>
            <a:endParaRPr lang="fr-CA" sz="1800" dirty="0"/>
          </a:p>
        </p:txBody>
      </p:sp>
      <p:sp>
        <p:nvSpPr>
          <p:cNvPr id="47" name="Ligne 6"/>
          <p:cNvSpPr/>
          <p:nvPr/>
        </p:nvSpPr>
        <p:spPr>
          <a:xfrm>
            <a:off x="548640" y="5577840"/>
            <a:ext cx="11091672" cy="585216"/>
          </a:xfrm>
          <a:prstGeom prst="roundRect">
            <a:avLst>
              <a:gd name="adj" fmla="val 18750"/>
            </a:avLst>
          </a:prstGeom>
          <a:solidFill>
            <a:srgbClr val="1A1411"/>
          </a:solidFill>
          <a:ln w="9525">
            <a:solidFill>
              <a:srgbClr val="2E211A"/>
            </a:solidFill>
            <a:prstDash val="solid"/>
          </a:ln>
        </p:spPr>
      </p:sp>
      <p:sp>
        <p:nvSpPr>
          <p:cNvPr id="48" name="Text 41"/>
          <p:cNvSpPr txBox="1"/>
          <p:nvPr/>
        </p:nvSpPr>
        <p:spPr>
          <a:xfrm>
            <a:off x="777240" y="5577840"/>
            <a:ext cx="3291840" cy="585216"/>
          </a:xfrm>
          <a:prstGeom prst="rect">
            <a:avLst/>
          </a:prstGeom>
          <a:noFill/>
          <a:ln/>
        </p:spPr>
        <p:txBody>
          <a:bodyPr wrap="square" lIns="0" tIns="0" rIns="0" bIns="0" rtlCol="0" anchor="ctr"/>
          <a:lstStyle/>
          <a:p>
            <a:pPr indent="0" marL="0">
              <a:lnSpc>
                <a:spcPct val="90000"/>
              </a:lnSpc>
              <a:buNone/>
            </a:pPr>
            <a:r>
              <a:rPr lang="fr-CA" altLang="en-US" sz="1800" b="1" dirty="0">
                <a:solidFill>
                  <a:srgbClr val="F4EDE4"/>
                </a:solidFill>
                <a:latin typeface="Calibri" pitchFamily="34" charset="0"/>
                <a:ea typeface="Calibri" pitchFamily="34" charset="-122"/>
                <a:cs typeface="Calibri" pitchFamily="34" charset="-120"/>
              </a:rPr>
              <a:t>les jugements</a:t>
            </a:r>
            <a:pPr indent="0" marL="0">
              <a:lnSpc>
                <a:spcPct val="90000"/>
              </a:lnSpc>
              <a:buNone/>
            </a:pPr>
            <a:r>
              <a:rPr lang="fr-CA" altLang="en-US" sz="1400" dirty="0">
                <a:solidFill>
                  <a:srgbClr val="A89A8C"/>
                </a:solidFill>
                <a:latin typeface="Calibri" pitchFamily="34" charset="0"/>
                <a:ea typeface="Calibri" pitchFamily="34" charset="-122"/>
                <a:cs typeface="Calibri" pitchFamily="34" charset="-120"/>
              </a:rPr>
              <a:t> de l'Éternel</a:t>
            </a:r>
            <a:endParaRPr lang="fr-CA" sz="1600" dirty="0"/>
          </a:p>
          <a:p>
            <a:pPr indent="0" marL="0">
              <a:lnSpc>
                <a:spcPct val="90000"/>
              </a:lnSpc>
              <a:buNone/>
            </a:pPr>
            <a:r>
              <a:rPr lang="fr-CA" altLang="en-US" sz="1500" i="1" dirty="0">
                <a:solidFill>
                  <a:srgbClr val="E8742A"/>
                </a:solidFill>
                <a:latin typeface="Calibri" pitchFamily="34" charset="0"/>
                <a:ea typeface="Calibri" pitchFamily="34" charset="-122"/>
                <a:cs typeface="Calibri" pitchFamily="34" charset="-120"/>
              </a:rPr>
              <a:t>les verdicts de Dieu</a:t>
            </a:r>
            <a:endParaRPr lang="fr-CA" sz="1600" dirty="0"/>
          </a:p>
        </p:txBody>
      </p:sp>
      <p:sp>
        <p:nvSpPr>
          <p:cNvPr id="49" name="Text 42"/>
          <p:cNvSpPr txBox="1"/>
          <p:nvPr/>
        </p:nvSpPr>
        <p:spPr>
          <a:xfrm>
            <a:off x="4160520" y="5577840"/>
            <a:ext cx="2743200" cy="585216"/>
          </a:xfrm>
          <a:prstGeom prst="rect">
            <a:avLst/>
          </a:prstGeom>
          <a:noFill/>
          <a:ln/>
        </p:spPr>
        <p:txBody>
          <a:bodyPr wrap="square" lIns="0" tIns="0" rIns="0" bIns="0" rtlCol="0" anchor="ctr"/>
          <a:lstStyle/>
          <a:p>
            <a:pPr indent="0" marL="0">
              <a:buNone/>
            </a:pPr>
            <a:r>
              <a:rPr lang="fr-CA" altLang="en-US" sz="1900" b="1" i="1" dirty="0">
                <a:solidFill>
                  <a:srgbClr val="E8742A"/>
                </a:solidFill>
                <a:latin typeface="Calibri" pitchFamily="34" charset="0"/>
                <a:ea typeface="Calibri" pitchFamily="34" charset="-122"/>
                <a:cs typeface="Calibri" pitchFamily="34" charset="-120"/>
              </a:rPr>
              <a:t>vrais</a:t>
            </a:r>
            <a:pPr indent="0" marL="0">
              <a:buNone/>
            </a:pPr>
            <a:r>
              <a:rPr lang="fr-CA" altLang="en-US" sz="1500" dirty="0">
                <a:solidFill>
                  <a:srgbClr val="A89A8C"/>
                </a:solidFill>
                <a:latin typeface="Calibri" pitchFamily="34" charset="0"/>
                <a:ea typeface="Calibri" pitchFamily="34" charset="-122"/>
                <a:cs typeface="Calibri" pitchFamily="34" charset="-120"/>
              </a:rPr>
              <a:t> · absolument vrais</a:t>
            </a:r>
            <a:endParaRPr lang="fr-CA" sz="1600" dirty="0"/>
          </a:p>
        </p:txBody>
      </p:sp>
      <p:sp>
        <p:nvSpPr>
          <p:cNvPr id="50" name="Shape 43"/>
          <p:cNvSpPr/>
          <p:nvPr/>
        </p:nvSpPr>
        <p:spPr>
          <a:xfrm>
            <a:off x="6949440" y="5870448"/>
            <a:ext cx="502920" cy="0"/>
          </a:xfrm>
          <a:prstGeom prst="line">
            <a:avLst/>
          </a:prstGeom>
          <a:noFill/>
          <a:ln w="25400">
            <a:solidFill>
              <a:srgbClr val="CC5500"/>
            </a:solidFill>
            <a:prstDash val="solid"/>
            <a:tailEnd type="triangle"/>
          </a:ln>
        </p:spPr>
      </p:sp>
      <p:sp>
        <p:nvSpPr>
          <p:cNvPr id="51" name="Shape 44"/>
          <p:cNvSpPr/>
          <p:nvPr/>
        </p:nvSpPr>
        <p:spPr>
          <a:xfrm>
            <a:off x="7635240" y="5650992"/>
            <a:ext cx="438912" cy="438912"/>
          </a:xfrm>
          <a:prstGeom prst="ellipse">
            <a:avLst/>
          </a:prstGeom>
          <a:solidFill>
            <a:srgbClr val="2A1A10"/>
          </a:solidFill>
          <a:ln w="12700">
            <a:solidFill>
              <a:srgbClr val="CC5500"/>
            </a:solidFill>
            <a:prstDash val="solid"/>
          </a:ln>
        </p:spPr>
      </p:sp>
      <p:pic>
        <p:nvPicPr>
          <p:cNvPr id="52" name="Image 5" descr="Icône : balance">    </p:cNvPr>
          <p:cNvPicPr>
            <a:picLocks noChangeAspect="1"/>
          </p:cNvPicPr>
          <p:nvPr/>
        </p:nvPicPr>
        <p:blipFill>
          <a:blip r:embed="rId6"/>
          <a:stretch>
            <a:fillRect/>
          </a:stretch>
        </p:blipFill>
        <p:spPr>
          <a:xfrm>
            <a:off x="7723022" y="5738774"/>
            <a:ext cx="263347" cy="263347"/>
          </a:xfrm>
          <a:prstGeom prst="rect">
            <a:avLst/>
          </a:prstGeom>
        </p:spPr>
      </p:pic>
      <p:sp>
        <p:nvSpPr>
          <p:cNvPr id="53" name="Text 45"/>
          <p:cNvSpPr txBox="1"/>
          <p:nvPr/>
        </p:nvSpPr>
        <p:spPr>
          <a:xfrm>
            <a:off x="8229600" y="5577840"/>
            <a:ext cx="3291840" cy="585216"/>
          </a:xfrm>
          <a:prstGeom prst="rect">
            <a:avLst/>
          </a:prstGeom>
          <a:noFill/>
          <a:ln/>
        </p:spPr>
        <p:txBody>
          <a:bodyPr wrap="square" lIns="0" tIns="0" rIns="0" bIns="0" rtlCol="0" anchor="ctr"/>
          <a:lstStyle/>
          <a:p>
            <a:pPr indent="0" marL="0">
              <a:buNone/>
            </a:pPr>
            <a:r>
              <a:rPr lang="fr-CA" altLang="en-US" sz="1800" dirty="0">
                <a:solidFill>
                  <a:srgbClr val="F4EDE4"/>
                </a:solidFill>
                <a:latin typeface="Calibri" pitchFamily="34" charset="0"/>
                <a:ea typeface="Calibri" pitchFamily="34" charset="-122"/>
                <a:cs typeface="Calibri" pitchFamily="34" charset="-120"/>
              </a:rPr>
              <a:t>tous justes</a:t>
            </a:r>
            <a:endParaRPr lang="fr-CA" sz="1800" dirty="0"/>
          </a:p>
        </p:txBody>
      </p:sp>
      <p:grpSp>
        <p:nvGrpSpPr>
          <p:cNvPr id="1006" name="Barre de progression"/>
          <p:cNvGrpSpPr/>
          <p:nvPr/>
        </p:nvGrpSpPr>
        <p:grpSpPr>
          <a:xfrm>
            <a:off x="546100" y="6527800"/>
            <a:ext cx="11099800" cy="63500"/>
            <a:chOff x="546100" y="6527800"/>
            <a:chExt cx="11099800" cy="63500"/>
          </a:xfrm>
        </p:grpSpPr>
        <p:sp>
          <p:nvSpPr>
            <p:cNvPr id="54" name="Progression 1"/>
            <p:cNvSpPr/>
            <p:nvPr/>
          </p:nvSpPr>
          <p:spPr>
            <a:xfrm>
              <a:off x="546100" y="6527800"/>
              <a:ext cx="668867" cy="63500"/>
            </a:xfrm>
            <a:prstGeom prst="rect">
              <a:avLst/>
            </a:prstGeom>
            <a:solidFill>
              <a:srgbClr val="E8742A"/>
            </a:solidFill>
            <a:ln/>
          </p:spPr>
        </p:sp>
        <p:sp>
          <p:nvSpPr>
            <p:cNvPr id="55" name="Progression 2"/>
            <p:cNvSpPr/>
            <p:nvPr/>
          </p:nvSpPr>
          <p:spPr>
            <a:xfrm>
              <a:off x="1291167" y="6527800"/>
              <a:ext cx="668867" cy="63500"/>
            </a:xfrm>
            <a:prstGeom prst="rect">
              <a:avLst/>
            </a:prstGeom>
            <a:solidFill>
              <a:srgbClr val="E8742A"/>
            </a:solidFill>
            <a:ln/>
          </p:spPr>
        </p:sp>
        <p:sp>
          <p:nvSpPr>
            <p:cNvPr id="56" name="Progression 3"/>
            <p:cNvSpPr/>
            <p:nvPr/>
          </p:nvSpPr>
          <p:spPr>
            <a:xfrm>
              <a:off x="2036233" y="6527800"/>
              <a:ext cx="668867" cy="63500"/>
            </a:xfrm>
            <a:prstGeom prst="rect">
              <a:avLst/>
            </a:prstGeom>
            <a:solidFill>
              <a:srgbClr val="E8742A"/>
            </a:solidFill>
            <a:ln/>
          </p:spPr>
        </p:sp>
        <p:sp>
          <p:nvSpPr>
            <p:cNvPr id="57" name="Progression 4"/>
            <p:cNvSpPr/>
            <p:nvPr/>
          </p:nvSpPr>
          <p:spPr>
            <a:xfrm>
              <a:off x="2781300" y="6527800"/>
              <a:ext cx="668867" cy="63500"/>
            </a:xfrm>
            <a:prstGeom prst="rect">
              <a:avLst/>
            </a:prstGeom>
            <a:solidFill>
              <a:srgbClr val="E8742A"/>
            </a:solidFill>
            <a:ln/>
          </p:spPr>
        </p:sp>
        <p:sp>
          <p:nvSpPr>
            <p:cNvPr id="58" name="Progression 5"/>
            <p:cNvSpPr/>
            <p:nvPr/>
          </p:nvSpPr>
          <p:spPr>
            <a:xfrm>
              <a:off x="3526367" y="6527800"/>
              <a:ext cx="668867" cy="63500"/>
            </a:xfrm>
            <a:prstGeom prst="rect">
              <a:avLst/>
            </a:prstGeom>
            <a:solidFill>
              <a:srgbClr val="E8742A"/>
            </a:solidFill>
            <a:ln/>
          </p:spPr>
        </p:sp>
        <p:sp>
          <p:nvSpPr>
            <p:cNvPr id="59" name="Progression 6"/>
            <p:cNvSpPr/>
            <p:nvPr/>
          </p:nvSpPr>
          <p:spPr>
            <a:xfrm>
              <a:off x="4271433" y="6527800"/>
              <a:ext cx="668867" cy="63500"/>
            </a:xfrm>
            <a:prstGeom prst="rect">
              <a:avLst/>
            </a:prstGeom>
            <a:solidFill>
              <a:srgbClr val="E8742A"/>
            </a:solidFill>
            <a:ln/>
          </p:spPr>
        </p:sp>
        <p:sp>
          <p:nvSpPr>
            <p:cNvPr id="60" name="Progression 7"/>
            <p:cNvSpPr/>
            <p:nvPr/>
          </p:nvSpPr>
          <p:spPr>
            <a:xfrm>
              <a:off x="5016500" y="6527800"/>
              <a:ext cx="668867" cy="63500"/>
            </a:xfrm>
            <a:prstGeom prst="rect">
              <a:avLst/>
            </a:prstGeom>
            <a:solidFill>
              <a:srgbClr val="E8742A"/>
            </a:solidFill>
            <a:ln/>
          </p:spPr>
        </p:sp>
        <p:sp>
          <p:nvSpPr>
            <p:cNvPr id="61" name="Progression 8"/>
            <p:cNvSpPr/>
            <p:nvPr/>
          </p:nvSpPr>
          <p:spPr>
            <a:xfrm>
              <a:off x="5761567" y="6527800"/>
              <a:ext cx="668867" cy="63500"/>
            </a:xfrm>
            <a:prstGeom prst="rect">
              <a:avLst/>
            </a:prstGeom>
            <a:solidFill>
              <a:srgbClr val="3A312C"/>
            </a:solidFill>
            <a:ln/>
          </p:spPr>
        </p:sp>
        <p:sp>
          <p:nvSpPr>
            <p:cNvPr id="62" name="Progression 9"/>
            <p:cNvSpPr/>
            <p:nvPr/>
          </p:nvSpPr>
          <p:spPr>
            <a:xfrm>
              <a:off x="6506633" y="6527800"/>
              <a:ext cx="668867" cy="63500"/>
            </a:xfrm>
            <a:prstGeom prst="rect">
              <a:avLst/>
            </a:prstGeom>
            <a:solidFill>
              <a:srgbClr val="3A312C"/>
            </a:solidFill>
            <a:ln/>
          </p:spPr>
        </p:sp>
        <p:sp>
          <p:nvSpPr>
            <p:cNvPr id="63" name="Progression 10"/>
            <p:cNvSpPr/>
            <p:nvPr/>
          </p:nvSpPr>
          <p:spPr>
            <a:xfrm>
              <a:off x="7251700" y="6527800"/>
              <a:ext cx="668867" cy="63500"/>
            </a:xfrm>
            <a:prstGeom prst="rect">
              <a:avLst/>
            </a:prstGeom>
            <a:solidFill>
              <a:srgbClr val="3A312C"/>
            </a:solidFill>
            <a:ln/>
          </p:spPr>
        </p:sp>
        <p:sp>
          <p:nvSpPr>
            <p:cNvPr id="64" name="Progression 11"/>
            <p:cNvSpPr/>
            <p:nvPr/>
          </p:nvSpPr>
          <p:spPr>
            <a:xfrm>
              <a:off x="7996767" y="6527800"/>
              <a:ext cx="668867" cy="63500"/>
            </a:xfrm>
            <a:prstGeom prst="rect">
              <a:avLst/>
            </a:prstGeom>
            <a:solidFill>
              <a:srgbClr val="3A312C"/>
            </a:solidFill>
            <a:ln/>
          </p:spPr>
        </p:sp>
        <p:sp>
          <p:nvSpPr>
            <p:cNvPr id="65" name="Progression 12"/>
            <p:cNvSpPr/>
            <p:nvPr/>
          </p:nvSpPr>
          <p:spPr>
            <a:xfrm>
              <a:off x="8741833" y="6527800"/>
              <a:ext cx="668867" cy="63500"/>
            </a:xfrm>
            <a:prstGeom prst="rect">
              <a:avLst/>
            </a:prstGeom>
            <a:solidFill>
              <a:srgbClr val="3A312C"/>
            </a:solidFill>
            <a:ln/>
          </p:spPr>
        </p:sp>
        <p:sp>
          <p:nvSpPr>
            <p:cNvPr id="66" name="Progression 13"/>
            <p:cNvSpPr/>
            <p:nvPr/>
          </p:nvSpPr>
          <p:spPr>
            <a:xfrm>
              <a:off x="9486900" y="6527800"/>
              <a:ext cx="668867" cy="63500"/>
            </a:xfrm>
            <a:prstGeom prst="rect">
              <a:avLst/>
            </a:prstGeom>
            <a:solidFill>
              <a:srgbClr val="3A312C"/>
            </a:solidFill>
            <a:ln/>
          </p:spPr>
        </p:sp>
        <p:sp>
          <p:nvSpPr>
            <p:cNvPr id="67" name="Progression 14"/>
            <p:cNvSpPr/>
            <p:nvPr/>
          </p:nvSpPr>
          <p:spPr>
            <a:xfrm>
              <a:off x="10231967" y="6527800"/>
              <a:ext cx="668867" cy="63500"/>
            </a:xfrm>
            <a:prstGeom prst="rect">
              <a:avLst/>
            </a:prstGeom>
            <a:solidFill>
              <a:srgbClr val="3A312C"/>
            </a:solidFill>
            <a:ln/>
          </p:spPr>
        </p:sp>
        <p:sp>
          <p:nvSpPr>
            <p:cNvPr id="68"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Repère de section"/>
          <p:cNvSpPr txBox="1"/>
          <p:nvPr/>
        </p:nvSpPr>
        <p:spPr>
          <a:xfrm>
            <a:off x="548640" y="384048"/>
            <a:ext cx="676656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II · PSAUME 19.8a</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Réconfort ou conversion?</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 La loi de l'Éternel est parfaite, elle restaure l'âme »</a:t>
            </a:r>
            <a:endParaRPr lang="fr-CA" sz="1900" dirty="0"/>
          </a:p>
        </p:txBody>
      </p:sp>
      <p:sp>
        <p:nvSpPr>
          <p:cNvPr id="5" name="Navigation : le ciel"/>
          <p:cNvSpPr txBox="1"/>
          <p:nvPr/>
        </p:nvSpPr>
        <p:spPr>
          <a:xfrm>
            <a:off x="7756855" y="384048"/>
            <a:ext cx="7772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ciel</a:t>
            </a:r>
            <a:endParaRPr lang="fr-CA" sz="1400" dirty="0"/>
          </a:p>
        </p:txBody>
      </p:sp>
      <p:sp>
        <p:nvSpPr>
          <p:cNvPr id="6" name="Navigation : la Parole"/>
          <p:cNvSpPr txBox="1"/>
          <p:nvPr/>
        </p:nvSpPr>
        <p:spPr>
          <a:xfrm>
            <a:off x="8671255" y="384048"/>
            <a:ext cx="1005840" cy="292608"/>
          </a:xfrm>
          <a:prstGeom prst="rect">
            <a:avLst/>
          </a:prstGeom>
          <a:noFill/>
          <a:ln/>
        </p:spPr>
        <p:txBody>
          <a:bodyPr wrap="square" lIns="0" tIns="0" rIns="0" bIns="0" rtlCol="0" anchor="t"/>
          <a:lstStyle/>
          <a:p>
            <a:pPr algn="ctr" indent="0" marL="0">
              <a:buNone/>
            </a:pPr>
            <a:r>
              <a:rPr lang="fr-CA" altLang="en-US" sz="1400" b="1" dirty="0">
                <a:solidFill>
                  <a:srgbClr val="E8742A"/>
                </a:solidFill>
                <a:latin typeface="Calibri" pitchFamily="34" charset="0"/>
                <a:ea typeface="Calibri" pitchFamily="34" charset="-122"/>
                <a:cs typeface="Calibri" pitchFamily="34" charset="-120"/>
              </a:rPr>
              <a:t>la Parole</a:t>
            </a:r>
            <a:endParaRPr lang="fr-CA" sz="1400" dirty="0"/>
          </a:p>
        </p:txBody>
      </p:sp>
      <p:sp>
        <p:nvSpPr>
          <p:cNvPr id="7" name="Navigation : le désir"/>
          <p:cNvSpPr txBox="1"/>
          <p:nvPr/>
        </p:nvSpPr>
        <p:spPr>
          <a:xfrm>
            <a:off x="9814255" y="384048"/>
            <a:ext cx="86868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désir</a:t>
            </a:r>
            <a:endParaRPr lang="fr-CA" sz="1400" dirty="0"/>
          </a:p>
        </p:txBody>
      </p:sp>
      <p:sp>
        <p:nvSpPr>
          <p:cNvPr id="8" name="Navigation : le cœur"/>
          <p:cNvSpPr txBox="1"/>
          <p:nvPr/>
        </p:nvSpPr>
        <p:spPr>
          <a:xfrm>
            <a:off x="10820095" y="384048"/>
            <a:ext cx="82296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cœur</a:t>
            </a:r>
            <a:endParaRPr lang="fr-CA" sz="1400" dirty="0"/>
          </a:p>
        </p:txBody>
      </p:sp>
      <p:sp>
        <p:nvSpPr>
          <p:cNvPr id="9" name="Shape 7"/>
          <p:cNvSpPr/>
          <p:nvPr/>
        </p:nvSpPr>
        <p:spPr>
          <a:xfrm>
            <a:off x="548640" y="1965960"/>
            <a:ext cx="5120640" cy="2240280"/>
          </a:xfrm>
          <a:prstGeom prst="roundRect">
            <a:avLst>
              <a:gd name="adj" fmla="val 4898"/>
            </a:avLst>
          </a:prstGeom>
          <a:solidFill>
            <a:srgbClr val="1A1411"/>
          </a:solidFill>
          <a:ln w="12700">
            <a:solidFill>
              <a:srgbClr val="6E5A4C"/>
            </a:solidFill>
            <a:prstDash val="solid"/>
          </a:ln>
        </p:spPr>
      </p:sp>
      <p:sp>
        <p:nvSpPr>
          <p:cNvPr id="10" name="Shape 8"/>
          <p:cNvSpPr/>
          <p:nvPr/>
        </p:nvSpPr>
        <p:spPr>
          <a:xfrm>
            <a:off x="822960" y="2194560"/>
            <a:ext cx="640080" cy="640080"/>
          </a:xfrm>
          <a:prstGeom prst="ellipse">
            <a:avLst/>
          </a:prstGeom>
          <a:solidFill>
            <a:srgbClr val="1F1915"/>
          </a:solidFill>
          <a:ln w="12700">
            <a:solidFill>
              <a:srgbClr val="6E5A4C"/>
            </a:solidFill>
            <a:prstDash val="solid"/>
          </a:ln>
        </p:spPr>
      </p:sp>
      <p:pic>
        <p:nvPicPr>
          <p:cNvPr id="11" name="Image 0" descr="Icône : pansement">    </p:cNvPr>
          <p:cNvPicPr>
            <a:picLocks noChangeAspect="1"/>
          </p:cNvPicPr>
          <p:nvPr/>
        </p:nvPicPr>
        <p:blipFill>
          <a:blip r:embed="rId1"/>
          <a:stretch>
            <a:fillRect/>
          </a:stretch>
        </p:blipFill>
        <p:spPr>
          <a:xfrm>
            <a:off x="950976" y="2322576"/>
            <a:ext cx="384048" cy="384048"/>
          </a:xfrm>
          <a:prstGeom prst="rect">
            <a:avLst/>
          </a:prstGeom>
        </p:spPr>
      </p:pic>
      <p:sp>
        <p:nvSpPr>
          <p:cNvPr id="12" name="Text 9"/>
          <p:cNvSpPr txBox="1"/>
          <p:nvPr/>
        </p:nvSpPr>
        <p:spPr>
          <a:xfrm>
            <a:off x="1645920" y="2258568"/>
            <a:ext cx="3749040" cy="274320"/>
          </a:xfrm>
          <a:prstGeom prst="rect">
            <a:avLst/>
          </a:prstGeom>
          <a:noFill/>
          <a:ln/>
        </p:spPr>
        <p:txBody>
          <a:bodyPr wrap="square" lIns="0" tIns="0" rIns="0" bIns="0" rtlCol="0" anchor="t"/>
          <a:lstStyle/>
          <a:p>
            <a:pPr indent="0" marL="0">
              <a:buNone/>
            </a:pPr>
            <a:r>
              <a:rPr lang="fr-CA" altLang="en-US" sz="1300" b="1" spc="200" kern="0" dirty="0">
                <a:solidFill>
                  <a:srgbClr val="968A80"/>
                </a:solidFill>
                <a:latin typeface="Calibri" pitchFamily="34" charset="0"/>
                <a:ea typeface="Calibri" pitchFamily="34" charset="-122"/>
                <a:cs typeface="Calibri" pitchFamily="34" charset="-120"/>
              </a:rPr>
              <a:t>S21</a:t>
            </a:r>
            <a:endParaRPr lang="fr-CA" sz="1300" dirty="0"/>
          </a:p>
        </p:txBody>
      </p:sp>
      <p:sp>
        <p:nvSpPr>
          <p:cNvPr id="13" name="Text 10"/>
          <p:cNvSpPr txBox="1"/>
          <p:nvPr/>
        </p:nvSpPr>
        <p:spPr>
          <a:xfrm>
            <a:off x="1645920" y="2532888"/>
            <a:ext cx="3840480" cy="457200"/>
          </a:xfrm>
          <a:prstGeom prst="rect">
            <a:avLst/>
          </a:prstGeom>
          <a:noFill/>
          <a:ln/>
        </p:spPr>
        <p:txBody>
          <a:bodyPr wrap="square" lIns="0" tIns="0" rIns="0" bIns="0" rtlCol="0" anchor="t"/>
          <a:lstStyle/>
          <a:p>
            <a:pPr indent="0" marL="0">
              <a:buNone/>
            </a:pPr>
            <a:r>
              <a:rPr lang="fr-CA" altLang="en-US" sz="2400" i="1" dirty="0">
                <a:solidFill>
                  <a:srgbClr val="A89A8C"/>
                </a:solidFill>
                <a:latin typeface="Cambria" pitchFamily="34" charset="0"/>
                <a:ea typeface="Cambria" pitchFamily="34" charset="-122"/>
                <a:cs typeface="Cambria" pitchFamily="34" charset="-120"/>
              </a:rPr>
              <a:t>« Elle donne du réconfort »</a:t>
            </a:r>
            <a:endParaRPr lang="fr-CA" sz="2400" dirty="0"/>
          </a:p>
        </p:txBody>
      </p:sp>
      <p:sp>
        <p:nvSpPr>
          <p:cNvPr id="14" name="Text 11"/>
          <p:cNvSpPr txBox="1"/>
          <p:nvPr/>
        </p:nvSpPr>
        <p:spPr>
          <a:xfrm>
            <a:off x="822960" y="3108960"/>
            <a:ext cx="4572000" cy="1051560"/>
          </a:xfrm>
          <a:prstGeom prst="rect">
            <a:avLst/>
          </a:prstGeom>
          <a:noFill/>
          <a:ln/>
        </p:spPr>
        <p:txBody>
          <a:bodyPr wrap="square" lIns="0" tIns="0" rIns="0" bIns="0" rtlCol="0" anchor="t"/>
          <a:lstStyle/>
          <a:p>
            <a:pPr indent="0" marL="0">
              <a:spcAft>
                <a:spcPts val="400"/>
              </a:spcAft>
              <a:buNone/>
            </a:pPr>
            <a:r>
              <a:rPr lang="fr-CA" altLang="en-US" sz="1600" dirty="0">
                <a:solidFill>
                  <a:srgbClr val="A89A8C"/>
                </a:solidFill>
                <a:latin typeface="Calibri" pitchFamily="34" charset="0"/>
                <a:ea typeface="Calibri" pitchFamily="34" charset="-122"/>
                <a:cs typeface="Calibri" pitchFamily="34" charset="-120"/>
              </a:rPr>
              <a:t>Un baume : la Parole réduite à la consolation.</a:t>
            </a:r>
            <a:endParaRPr lang="fr-CA" sz="1600" dirty="0"/>
          </a:p>
          <a:p>
            <a:pPr indent="0" marL="0">
              <a:spcAft>
                <a:spcPts val="400"/>
              </a:spcAft>
              <a:buNone/>
            </a:pPr>
            <a:r>
              <a:rPr lang="fr-CA" altLang="en-US" sz="1600" dirty="0">
                <a:solidFill>
                  <a:srgbClr val="A89A8C"/>
                </a:solidFill>
                <a:latin typeface="Calibri" pitchFamily="34" charset="0"/>
                <a:ea typeface="Calibri" pitchFamily="34" charset="-122"/>
                <a:cs typeface="Calibri" pitchFamily="34" charset="-120"/>
              </a:rPr>
              <a:t>Or elle fait bien plus que consoler.</a:t>
            </a:r>
            <a:endParaRPr lang="fr-CA" sz="1600" dirty="0"/>
          </a:p>
        </p:txBody>
      </p:sp>
      <p:sp>
        <p:nvSpPr>
          <p:cNvPr id="15" name="Shape 12"/>
          <p:cNvSpPr/>
          <p:nvPr/>
        </p:nvSpPr>
        <p:spPr>
          <a:xfrm>
            <a:off x="6519672" y="1965960"/>
            <a:ext cx="5120640" cy="2240280"/>
          </a:xfrm>
          <a:prstGeom prst="roundRect">
            <a:avLst>
              <a:gd name="adj" fmla="val 4898"/>
            </a:avLst>
          </a:prstGeom>
          <a:solidFill>
            <a:srgbClr val="2A1A10"/>
          </a:solidFill>
          <a:ln w="25400">
            <a:solidFill>
              <a:srgbClr val="E8742A"/>
            </a:solidFill>
            <a:prstDash val="solid"/>
          </a:ln>
        </p:spPr>
      </p:sp>
      <p:sp>
        <p:nvSpPr>
          <p:cNvPr id="16" name="Shape 13"/>
          <p:cNvSpPr/>
          <p:nvPr/>
        </p:nvSpPr>
        <p:spPr>
          <a:xfrm>
            <a:off x="6793992" y="2194560"/>
            <a:ext cx="640080" cy="640080"/>
          </a:xfrm>
          <a:prstGeom prst="ellipse">
            <a:avLst/>
          </a:prstGeom>
          <a:solidFill>
            <a:srgbClr val="2A1A10"/>
          </a:solidFill>
          <a:ln w="12700">
            <a:solidFill>
              <a:srgbClr val="CC5500"/>
            </a:solidFill>
            <a:prstDash val="solid"/>
          </a:ln>
        </p:spPr>
      </p:sp>
      <p:pic>
        <p:nvPicPr>
          <p:cNvPr id="17" name="Image 1" descr="Icône : flèche de retour">    </p:cNvPr>
          <p:cNvPicPr>
            <a:picLocks noChangeAspect="1"/>
          </p:cNvPicPr>
          <p:nvPr/>
        </p:nvPicPr>
        <p:blipFill>
          <a:blip r:embed="rId2"/>
          <a:stretch>
            <a:fillRect/>
          </a:stretch>
        </p:blipFill>
        <p:spPr>
          <a:xfrm>
            <a:off x="6922008" y="2322576"/>
            <a:ext cx="384048" cy="384048"/>
          </a:xfrm>
          <a:prstGeom prst="rect">
            <a:avLst/>
          </a:prstGeom>
        </p:spPr>
      </p:pic>
      <p:sp>
        <p:nvSpPr>
          <p:cNvPr id="18" name="Text 14"/>
          <p:cNvSpPr txBox="1"/>
          <p:nvPr/>
        </p:nvSpPr>
        <p:spPr>
          <a:xfrm>
            <a:off x="7616952" y="2258568"/>
            <a:ext cx="3749040" cy="274320"/>
          </a:xfrm>
          <a:prstGeom prst="rect">
            <a:avLst/>
          </a:prstGeom>
          <a:noFill/>
          <a:ln/>
        </p:spPr>
        <p:txBody>
          <a:bodyPr wrap="square" lIns="0" tIns="0" rIns="0" bIns="0" rtlCol="0" anchor="t"/>
          <a:lstStyle/>
          <a:p>
            <a:pPr indent="0" marL="0">
              <a:buNone/>
            </a:pPr>
            <a:r>
              <a:rPr lang="fr-CA" altLang="en-US" sz="1300" b="1" spc="200" kern="0" dirty="0">
                <a:solidFill>
                  <a:srgbClr val="E8742A"/>
                </a:solidFill>
                <a:latin typeface="Calibri" pitchFamily="34" charset="0"/>
                <a:ea typeface="Calibri" pitchFamily="34" charset="-122"/>
                <a:cs typeface="Calibri" pitchFamily="34" charset="-120"/>
              </a:rPr>
              <a:t>NEG79 · L'HÉBREU</a:t>
            </a:r>
            <a:endParaRPr lang="fr-CA" sz="1300" dirty="0"/>
          </a:p>
        </p:txBody>
      </p:sp>
      <p:sp>
        <p:nvSpPr>
          <p:cNvPr id="19" name="Text 15"/>
          <p:cNvSpPr txBox="1"/>
          <p:nvPr/>
        </p:nvSpPr>
        <p:spPr>
          <a:xfrm>
            <a:off x="7616952" y="2532888"/>
            <a:ext cx="3840480" cy="457200"/>
          </a:xfrm>
          <a:prstGeom prst="rect">
            <a:avLst/>
          </a:prstGeom>
          <a:noFill/>
          <a:ln/>
        </p:spPr>
        <p:txBody>
          <a:bodyPr wrap="square" lIns="0" tIns="0" rIns="0" bIns="0" rtlCol="0" anchor="t"/>
          <a:lstStyle/>
          <a:p>
            <a:pPr indent="0" marL="0">
              <a:buNone/>
            </a:pPr>
            <a:r>
              <a:rPr lang="fr-CA" altLang="en-US" sz="2400" i="1" dirty="0">
                <a:solidFill>
                  <a:srgbClr val="E8742A"/>
                </a:solidFill>
                <a:latin typeface="Cambria" pitchFamily="34" charset="0"/>
                <a:ea typeface="Cambria" pitchFamily="34" charset="-122"/>
                <a:cs typeface="Cambria" pitchFamily="34" charset="-120"/>
              </a:rPr>
              <a:t>« Elle restaure l'âme »</a:t>
            </a:r>
            <a:endParaRPr lang="fr-CA" sz="2400" dirty="0"/>
          </a:p>
        </p:txBody>
      </p:sp>
      <p:sp>
        <p:nvSpPr>
          <p:cNvPr id="20" name="Text 16"/>
          <p:cNvSpPr txBox="1"/>
          <p:nvPr/>
        </p:nvSpPr>
        <p:spPr>
          <a:xfrm>
            <a:off x="6793992" y="3108960"/>
            <a:ext cx="4572000" cy="1051560"/>
          </a:xfrm>
          <a:prstGeom prst="rect">
            <a:avLst/>
          </a:prstGeom>
          <a:noFill/>
          <a:ln/>
        </p:spPr>
        <p:txBody>
          <a:bodyPr wrap="square" lIns="0" tIns="0" rIns="0" bIns="0" rtlCol="0" anchor="t"/>
          <a:lstStyle/>
          <a:p>
            <a:pPr indent="0" marL="0">
              <a:spcAft>
                <a:spcPts val="400"/>
              </a:spcAft>
              <a:buNone/>
            </a:pPr>
            <a:r>
              <a:rPr lang="fr-CA" altLang="en-US" sz="1600" b="1" i="1" dirty="0">
                <a:solidFill>
                  <a:srgbClr val="E8742A"/>
                </a:solidFill>
                <a:latin typeface="Calibri" pitchFamily="34" charset="0"/>
                <a:ea typeface="Calibri" pitchFamily="34" charset="-122"/>
                <a:cs typeface="Calibri" pitchFamily="34" charset="-120"/>
              </a:rPr>
              <a:t>meshivat nephesh</a:t>
            </a:r>
            <a:pPr indent="0" marL="0">
              <a:spcAft>
                <a:spcPts val="400"/>
              </a:spcAft>
              <a:buNone/>
            </a:pPr>
            <a:r>
              <a:rPr lang="fr-CA" altLang="en-US" sz="1600" dirty="0">
                <a:solidFill>
                  <a:srgbClr val="F4EDE4"/>
                </a:solidFill>
                <a:latin typeface="Calibri" pitchFamily="34" charset="0"/>
                <a:ea typeface="Calibri" pitchFamily="34" charset="-122"/>
                <a:cs typeface="Calibri" pitchFamily="34" charset="-120"/>
              </a:rPr>
              <a:t> : faire revenir, ramener (</a:t>
            </a:r>
            <a:pPr indent="0" marL="0">
              <a:spcAft>
                <a:spcPts val="400"/>
              </a:spcAft>
              <a:buNone/>
            </a:pPr>
            <a:r>
              <a:rPr lang="fr-CA" altLang="en-US" sz="1600" i="1" dirty="0">
                <a:solidFill>
                  <a:srgbClr val="F4EDE4"/>
                </a:solidFill>
                <a:latin typeface="Calibri" pitchFamily="34" charset="0"/>
                <a:ea typeface="Calibri" pitchFamily="34" charset="-122"/>
                <a:cs typeface="Calibri" pitchFamily="34" charset="-120"/>
              </a:rPr>
              <a:t>shouv</a:t>
            </a:r>
            <a:pPr indent="0" marL="0">
              <a:spcAft>
                <a:spcPts val="400"/>
              </a:spcAft>
              <a:buNone/>
            </a:pPr>
            <a:r>
              <a:rPr lang="fr-CA" altLang="en-US" sz="1600" dirty="0">
                <a:solidFill>
                  <a:srgbClr val="F4EDE4"/>
                </a:solidFill>
                <a:latin typeface="Calibri" pitchFamily="34" charset="0"/>
                <a:ea typeface="Calibri" pitchFamily="34" charset="-122"/>
                <a:cs typeface="Calibri" pitchFamily="34" charset="-120"/>
              </a:rPr>
              <a:t>); l'âme, la personne entière, l'être intérieur.</a:t>
            </a:r>
            <a:endParaRPr lang="fr-CA" sz="1600" dirty="0"/>
          </a:p>
          <a:p>
            <a:pPr indent="0" marL="0">
              <a:spcAft>
                <a:spcPts val="400"/>
              </a:spcAft>
              <a:buNone/>
            </a:pPr>
            <a:r>
              <a:rPr lang="fr-CA" altLang="en-US" sz="1600" dirty="0">
                <a:solidFill>
                  <a:srgbClr val="A89A8C"/>
                </a:solidFill>
                <a:latin typeface="Calibri" pitchFamily="34" charset="0"/>
                <a:ea typeface="Calibri" pitchFamily="34" charset="-122"/>
                <a:cs typeface="Calibri" pitchFamily="34" charset="-120"/>
              </a:rPr>
              <a:t>Le verbe couvre ranimer, restaurer, convertir.</a:t>
            </a:r>
            <a:endParaRPr lang="fr-CA" sz="1600" dirty="0"/>
          </a:p>
        </p:txBody>
      </p:sp>
      <p:sp>
        <p:nvSpPr>
          <p:cNvPr id="21" name="Flèche : bien plus que consoler"/>
          <p:cNvSpPr/>
          <p:nvPr/>
        </p:nvSpPr>
        <p:spPr>
          <a:xfrm>
            <a:off x="5760720" y="3081528"/>
            <a:ext cx="667512" cy="0"/>
          </a:xfrm>
          <a:prstGeom prst="line">
            <a:avLst/>
          </a:prstGeom>
          <a:noFill/>
          <a:ln w="31750">
            <a:solidFill>
              <a:srgbClr val="E8742A"/>
            </a:solidFill>
            <a:prstDash val="solid"/>
            <a:tailEnd type="triangle"/>
          </a:ln>
        </p:spPr>
      </p:sp>
      <p:sp>
        <p:nvSpPr>
          <p:cNvPr id="22" name="Shape 18"/>
          <p:cNvSpPr/>
          <p:nvPr/>
        </p:nvSpPr>
        <p:spPr>
          <a:xfrm>
            <a:off x="548640" y="4434840"/>
            <a:ext cx="11091672" cy="1920240"/>
          </a:xfrm>
          <a:prstGeom prst="roundRect">
            <a:avLst>
              <a:gd name="adj" fmla="val 5714"/>
            </a:avLst>
          </a:prstGeom>
          <a:solidFill>
            <a:srgbClr val="1A1411"/>
          </a:solidFill>
          <a:ln w="19050">
            <a:solidFill>
              <a:srgbClr val="CC5500"/>
            </a:solidFill>
            <a:prstDash val="solid"/>
          </a:ln>
        </p:spPr>
      </p:sp>
      <p:sp>
        <p:nvSpPr>
          <p:cNvPr id="23" name="Text 19"/>
          <p:cNvSpPr txBox="1"/>
          <p:nvPr/>
        </p:nvSpPr>
        <p:spPr>
          <a:xfrm>
            <a:off x="822960" y="4434840"/>
            <a:ext cx="10543032" cy="1920240"/>
          </a:xfrm>
          <a:prstGeom prst="rect">
            <a:avLst/>
          </a:prstGeom>
          <a:noFill/>
          <a:ln/>
        </p:spPr>
        <p:txBody>
          <a:bodyPr wrap="square" lIns="0" tIns="0" rIns="0" bIns="0" rtlCol="0" anchor="ctr"/>
          <a:lstStyle/>
          <a:p>
            <a:pPr indent="0" marL="0">
              <a:buNone/>
            </a:pPr>
            <a:r>
              <a:rPr lang="fr-CA" altLang="en-US" sz="2200" i="1" dirty="0">
                <a:solidFill>
                  <a:srgbClr val="F4EDE4"/>
                </a:solidFill>
                <a:latin typeface="Cambria" pitchFamily="34" charset="0"/>
                <a:ea typeface="Cambria" pitchFamily="34" charset="-122"/>
                <a:cs typeface="Cambria" pitchFamily="34" charset="-120"/>
              </a:rPr>
              <a:t>« Une instruction divine si complète qu'elle peut transformer totalement l'homme intérieur tout entier » (MacArthur)</a:t>
            </a:r>
            <a:endParaRPr lang="fr-CA" sz="1600" dirty="0"/>
          </a:p>
          <a:p>
            <a:pPr indent="0" marL="0">
              <a:spcBef>
                <a:spcPts val="800"/>
              </a:spcBef>
              <a:buNone/>
            </a:pPr>
            <a:r>
              <a:rPr lang="fr-CA" altLang="en-US" sz="1500" dirty="0">
                <a:solidFill>
                  <a:srgbClr val="A89A8C"/>
                </a:solidFill>
                <a:latin typeface="Calibri" pitchFamily="34" charset="0"/>
                <a:ea typeface="Calibri" pitchFamily="34" charset="-122"/>
                <a:cs typeface="Calibri" pitchFamily="34" charset="-120"/>
              </a:rPr>
              <a:t>Convertir, transformer, régénérer par l'œuvre de l'Esprit.</a:t>
            </a:r>
            <a:endParaRPr lang="fr-CA" sz="1600" dirty="0"/>
          </a:p>
          <a:p>
            <a:pPr indent="0" marL="0">
              <a:spcBef>
                <a:spcPts val="800"/>
              </a:spcBef>
              <a:buNone/>
            </a:pPr>
            <a:r>
              <a:rPr lang="fr-CA" altLang="en-US" sz="1500" dirty="0">
                <a:solidFill>
                  <a:srgbClr val="A89A8C"/>
                </a:solidFill>
                <a:latin typeface="Calibri" pitchFamily="34" charset="0"/>
                <a:ea typeface="Calibri" pitchFamily="34" charset="-122"/>
                <a:cs typeface="Calibri" pitchFamily="34" charset="-120"/>
              </a:rPr>
              <a:t>Street rapproche Hébreux 4.12 : la Parole « juge les sentiments et les pensées du cœur ».</a:t>
            </a:r>
            <a:endParaRPr lang="fr-CA" sz="1600" dirty="0"/>
          </a:p>
        </p:txBody>
      </p:sp>
      <p:grpSp>
        <p:nvGrpSpPr>
          <p:cNvPr id="1007" name="Barre de progression"/>
          <p:cNvGrpSpPr/>
          <p:nvPr/>
        </p:nvGrpSpPr>
        <p:grpSpPr>
          <a:xfrm>
            <a:off x="546100" y="6527800"/>
            <a:ext cx="11099800" cy="63500"/>
            <a:chOff x="546100" y="6527800"/>
            <a:chExt cx="11099800" cy="63500"/>
          </a:xfrm>
        </p:grpSpPr>
        <p:sp>
          <p:nvSpPr>
            <p:cNvPr id="24" name="Progression 1"/>
            <p:cNvSpPr/>
            <p:nvPr/>
          </p:nvSpPr>
          <p:spPr>
            <a:xfrm>
              <a:off x="546100" y="6527800"/>
              <a:ext cx="668867" cy="63500"/>
            </a:xfrm>
            <a:prstGeom prst="rect">
              <a:avLst/>
            </a:prstGeom>
            <a:solidFill>
              <a:srgbClr val="E8742A"/>
            </a:solidFill>
            <a:ln/>
          </p:spPr>
        </p:sp>
        <p:sp>
          <p:nvSpPr>
            <p:cNvPr id="25" name="Progression 2"/>
            <p:cNvSpPr/>
            <p:nvPr/>
          </p:nvSpPr>
          <p:spPr>
            <a:xfrm>
              <a:off x="1291167" y="6527800"/>
              <a:ext cx="668867" cy="63500"/>
            </a:xfrm>
            <a:prstGeom prst="rect">
              <a:avLst/>
            </a:prstGeom>
            <a:solidFill>
              <a:srgbClr val="E8742A"/>
            </a:solidFill>
            <a:ln/>
          </p:spPr>
        </p:sp>
        <p:sp>
          <p:nvSpPr>
            <p:cNvPr id="26" name="Progression 3"/>
            <p:cNvSpPr/>
            <p:nvPr/>
          </p:nvSpPr>
          <p:spPr>
            <a:xfrm>
              <a:off x="2036233" y="6527800"/>
              <a:ext cx="668867" cy="63500"/>
            </a:xfrm>
            <a:prstGeom prst="rect">
              <a:avLst/>
            </a:prstGeom>
            <a:solidFill>
              <a:srgbClr val="E8742A"/>
            </a:solidFill>
            <a:ln/>
          </p:spPr>
        </p:sp>
        <p:sp>
          <p:nvSpPr>
            <p:cNvPr id="27" name="Progression 4"/>
            <p:cNvSpPr/>
            <p:nvPr/>
          </p:nvSpPr>
          <p:spPr>
            <a:xfrm>
              <a:off x="2781300" y="6527800"/>
              <a:ext cx="668867" cy="63500"/>
            </a:xfrm>
            <a:prstGeom prst="rect">
              <a:avLst/>
            </a:prstGeom>
            <a:solidFill>
              <a:srgbClr val="E8742A"/>
            </a:solidFill>
            <a:ln/>
          </p:spPr>
        </p:sp>
        <p:sp>
          <p:nvSpPr>
            <p:cNvPr id="28" name="Progression 5"/>
            <p:cNvSpPr/>
            <p:nvPr/>
          </p:nvSpPr>
          <p:spPr>
            <a:xfrm>
              <a:off x="3526367" y="6527800"/>
              <a:ext cx="668867" cy="63500"/>
            </a:xfrm>
            <a:prstGeom prst="rect">
              <a:avLst/>
            </a:prstGeom>
            <a:solidFill>
              <a:srgbClr val="E8742A"/>
            </a:solidFill>
            <a:ln/>
          </p:spPr>
        </p:sp>
        <p:sp>
          <p:nvSpPr>
            <p:cNvPr id="29" name="Progression 6"/>
            <p:cNvSpPr/>
            <p:nvPr/>
          </p:nvSpPr>
          <p:spPr>
            <a:xfrm>
              <a:off x="4271433" y="6527800"/>
              <a:ext cx="668867" cy="63500"/>
            </a:xfrm>
            <a:prstGeom prst="rect">
              <a:avLst/>
            </a:prstGeom>
            <a:solidFill>
              <a:srgbClr val="E8742A"/>
            </a:solidFill>
            <a:ln/>
          </p:spPr>
        </p:sp>
        <p:sp>
          <p:nvSpPr>
            <p:cNvPr id="30" name="Progression 7"/>
            <p:cNvSpPr/>
            <p:nvPr/>
          </p:nvSpPr>
          <p:spPr>
            <a:xfrm>
              <a:off x="5016500" y="6527800"/>
              <a:ext cx="668867" cy="63500"/>
            </a:xfrm>
            <a:prstGeom prst="rect">
              <a:avLst/>
            </a:prstGeom>
            <a:solidFill>
              <a:srgbClr val="E8742A"/>
            </a:solidFill>
            <a:ln/>
          </p:spPr>
        </p:sp>
        <p:sp>
          <p:nvSpPr>
            <p:cNvPr id="31" name="Progression 8"/>
            <p:cNvSpPr/>
            <p:nvPr/>
          </p:nvSpPr>
          <p:spPr>
            <a:xfrm>
              <a:off x="5761567" y="6527800"/>
              <a:ext cx="668867" cy="63500"/>
            </a:xfrm>
            <a:prstGeom prst="rect">
              <a:avLst/>
            </a:prstGeom>
            <a:solidFill>
              <a:srgbClr val="E8742A"/>
            </a:solidFill>
            <a:ln/>
          </p:spPr>
        </p:sp>
        <p:sp>
          <p:nvSpPr>
            <p:cNvPr id="32" name="Progression 9"/>
            <p:cNvSpPr/>
            <p:nvPr/>
          </p:nvSpPr>
          <p:spPr>
            <a:xfrm>
              <a:off x="6506633" y="6527800"/>
              <a:ext cx="668867" cy="63500"/>
            </a:xfrm>
            <a:prstGeom prst="rect">
              <a:avLst/>
            </a:prstGeom>
            <a:solidFill>
              <a:srgbClr val="3A312C"/>
            </a:solidFill>
            <a:ln/>
          </p:spPr>
        </p:sp>
        <p:sp>
          <p:nvSpPr>
            <p:cNvPr id="33" name="Progression 10"/>
            <p:cNvSpPr/>
            <p:nvPr/>
          </p:nvSpPr>
          <p:spPr>
            <a:xfrm>
              <a:off x="7251700" y="6527800"/>
              <a:ext cx="668867" cy="63500"/>
            </a:xfrm>
            <a:prstGeom prst="rect">
              <a:avLst/>
            </a:prstGeom>
            <a:solidFill>
              <a:srgbClr val="3A312C"/>
            </a:solidFill>
            <a:ln/>
          </p:spPr>
        </p:sp>
        <p:sp>
          <p:nvSpPr>
            <p:cNvPr id="34" name="Progression 11"/>
            <p:cNvSpPr/>
            <p:nvPr/>
          </p:nvSpPr>
          <p:spPr>
            <a:xfrm>
              <a:off x="7996767" y="6527800"/>
              <a:ext cx="668867" cy="63500"/>
            </a:xfrm>
            <a:prstGeom prst="rect">
              <a:avLst/>
            </a:prstGeom>
            <a:solidFill>
              <a:srgbClr val="3A312C"/>
            </a:solidFill>
            <a:ln/>
          </p:spPr>
        </p:sp>
        <p:sp>
          <p:nvSpPr>
            <p:cNvPr id="35" name="Progression 12"/>
            <p:cNvSpPr/>
            <p:nvPr/>
          </p:nvSpPr>
          <p:spPr>
            <a:xfrm>
              <a:off x="8741833" y="6527800"/>
              <a:ext cx="668867" cy="63500"/>
            </a:xfrm>
            <a:prstGeom prst="rect">
              <a:avLst/>
            </a:prstGeom>
            <a:solidFill>
              <a:srgbClr val="3A312C"/>
            </a:solidFill>
            <a:ln/>
          </p:spPr>
        </p:sp>
        <p:sp>
          <p:nvSpPr>
            <p:cNvPr id="36" name="Progression 13"/>
            <p:cNvSpPr/>
            <p:nvPr/>
          </p:nvSpPr>
          <p:spPr>
            <a:xfrm>
              <a:off x="9486900" y="6527800"/>
              <a:ext cx="668867" cy="63500"/>
            </a:xfrm>
            <a:prstGeom prst="rect">
              <a:avLst/>
            </a:prstGeom>
            <a:solidFill>
              <a:srgbClr val="3A312C"/>
            </a:solidFill>
            <a:ln/>
          </p:spPr>
        </p:sp>
        <p:sp>
          <p:nvSpPr>
            <p:cNvPr id="37" name="Progression 14"/>
            <p:cNvSpPr/>
            <p:nvPr/>
          </p:nvSpPr>
          <p:spPr>
            <a:xfrm>
              <a:off x="10231967" y="6527800"/>
              <a:ext cx="668867" cy="63500"/>
            </a:xfrm>
            <a:prstGeom prst="rect">
              <a:avLst/>
            </a:prstGeom>
            <a:solidFill>
              <a:srgbClr val="3A312C"/>
            </a:solidFill>
            <a:ln/>
          </p:spPr>
        </p:sp>
        <p:sp>
          <p:nvSpPr>
            <p:cNvPr id="38"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Repère de section"/>
          <p:cNvSpPr txBox="1"/>
          <p:nvPr/>
        </p:nvSpPr>
        <p:spPr>
          <a:xfrm>
            <a:off x="548640" y="384048"/>
            <a:ext cx="676656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II · PSAUME 19.8‑10 / 2 PIERRE 1.16‑19</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Complète, sûre, pure</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 On ne peut rien lui retrancher; on ne peut rien lui ajouter » (MacArthur)</a:t>
            </a:r>
            <a:endParaRPr lang="fr-CA" sz="1900" dirty="0"/>
          </a:p>
        </p:txBody>
      </p:sp>
      <p:sp>
        <p:nvSpPr>
          <p:cNvPr id="5" name="Navigation : le ciel"/>
          <p:cNvSpPr txBox="1"/>
          <p:nvPr/>
        </p:nvSpPr>
        <p:spPr>
          <a:xfrm>
            <a:off x="7756855" y="384048"/>
            <a:ext cx="7772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ciel</a:t>
            </a:r>
            <a:endParaRPr lang="fr-CA" sz="1400" dirty="0"/>
          </a:p>
        </p:txBody>
      </p:sp>
      <p:sp>
        <p:nvSpPr>
          <p:cNvPr id="6" name="Navigation : la Parole"/>
          <p:cNvSpPr txBox="1"/>
          <p:nvPr/>
        </p:nvSpPr>
        <p:spPr>
          <a:xfrm>
            <a:off x="8671255" y="384048"/>
            <a:ext cx="1005840" cy="292608"/>
          </a:xfrm>
          <a:prstGeom prst="rect">
            <a:avLst/>
          </a:prstGeom>
          <a:noFill/>
          <a:ln/>
        </p:spPr>
        <p:txBody>
          <a:bodyPr wrap="square" lIns="0" tIns="0" rIns="0" bIns="0" rtlCol="0" anchor="t"/>
          <a:lstStyle/>
          <a:p>
            <a:pPr algn="ctr" indent="0" marL="0">
              <a:buNone/>
            </a:pPr>
            <a:r>
              <a:rPr lang="fr-CA" altLang="en-US" sz="1400" b="1" dirty="0">
                <a:solidFill>
                  <a:srgbClr val="E8742A"/>
                </a:solidFill>
                <a:latin typeface="Calibri" pitchFamily="34" charset="0"/>
                <a:ea typeface="Calibri" pitchFamily="34" charset="-122"/>
                <a:cs typeface="Calibri" pitchFamily="34" charset="-120"/>
              </a:rPr>
              <a:t>la Parole</a:t>
            </a:r>
            <a:endParaRPr lang="fr-CA" sz="1400" dirty="0"/>
          </a:p>
        </p:txBody>
      </p:sp>
      <p:sp>
        <p:nvSpPr>
          <p:cNvPr id="7" name="Navigation : le désir"/>
          <p:cNvSpPr txBox="1"/>
          <p:nvPr/>
        </p:nvSpPr>
        <p:spPr>
          <a:xfrm>
            <a:off x="9814255" y="384048"/>
            <a:ext cx="86868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désir</a:t>
            </a:r>
            <a:endParaRPr lang="fr-CA" sz="1400" dirty="0"/>
          </a:p>
        </p:txBody>
      </p:sp>
      <p:sp>
        <p:nvSpPr>
          <p:cNvPr id="8" name="Navigation : le cœur"/>
          <p:cNvSpPr txBox="1"/>
          <p:nvPr/>
        </p:nvSpPr>
        <p:spPr>
          <a:xfrm>
            <a:off x="10820095" y="384048"/>
            <a:ext cx="82296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cœur</a:t>
            </a:r>
            <a:endParaRPr lang="fr-CA" sz="1400" dirty="0"/>
          </a:p>
        </p:txBody>
      </p:sp>
      <p:sp>
        <p:nvSpPr>
          <p:cNvPr id="9" name="Shape 7"/>
          <p:cNvSpPr/>
          <p:nvPr/>
        </p:nvSpPr>
        <p:spPr>
          <a:xfrm>
            <a:off x="548640" y="1920240"/>
            <a:ext cx="3547872" cy="4434840"/>
          </a:xfrm>
          <a:prstGeom prst="roundRect">
            <a:avLst>
              <a:gd name="adj" fmla="val 3093"/>
            </a:avLst>
          </a:prstGeom>
          <a:solidFill>
            <a:srgbClr val="1A1411"/>
          </a:solidFill>
          <a:ln w="19050">
            <a:solidFill>
              <a:srgbClr val="CC5500"/>
            </a:solidFill>
            <a:prstDash val="solid"/>
          </a:ln>
        </p:spPr>
      </p:sp>
      <p:sp>
        <p:nvSpPr>
          <p:cNvPr id="10" name="Shape 8"/>
          <p:cNvSpPr/>
          <p:nvPr/>
        </p:nvSpPr>
        <p:spPr>
          <a:xfrm>
            <a:off x="804672" y="2121408"/>
            <a:ext cx="603504" cy="603504"/>
          </a:xfrm>
          <a:prstGeom prst="ellipse">
            <a:avLst/>
          </a:prstGeom>
          <a:solidFill>
            <a:srgbClr val="2A1A10"/>
          </a:solidFill>
          <a:ln w="12700">
            <a:solidFill>
              <a:srgbClr val="CC5500"/>
            </a:solidFill>
            <a:prstDash val="solid"/>
          </a:ln>
        </p:spPr>
      </p:sp>
      <p:pic>
        <p:nvPicPr>
          <p:cNvPr id="11" name="Image 0" descr="Icône : livre ouvert">    </p:cNvPr>
          <p:cNvPicPr>
            <a:picLocks noChangeAspect="1"/>
          </p:cNvPicPr>
          <p:nvPr/>
        </p:nvPicPr>
        <p:blipFill>
          <a:blip r:embed="rId1"/>
          <a:stretch>
            <a:fillRect/>
          </a:stretch>
        </p:blipFill>
        <p:spPr>
          <a:xfrm>
            <a:off x="925373" y="2242109"/>
            <a:ext cx="362102" cy="362102"/>
          </a:xfrm>
          <a:prstGeom prst="rect">
            <a:avLst/>
          </a:prstGeom>
        </p:spPr>
      </p:pic>
      <p:sp>
        <p:nvSpPr>
          <p:cNvPr id="12" name="Text 9"/>
          <p:cNvSpPr txBox="1"/>
          <p:nvPr/>
        </p:nvSpPr>
        <p:spPr>
          <a:xfrm>
            <a:off x="1572768" y="2103120"/>
            <a:ext cx="2377440" cy="731520"/>
          </a:xfrm>
          <a:prstGeom prst="rect">
            <a:avLst/>
          </a:prstGeom>
          <a:noFill/>
          <a:ln/>
        </p:spPr>
        <p:txBody>
          <a:bodyPr wrap="square" lIns="0" tIns="0" rIns="0" bIns="0" rtlCol="0" anchor="t"/>
          <a:lstStyle/>
          <a:p>
            <a:pPr indent="0" marL="0">
              <a:buNone/>
            </a:pPr>
            <a:r>
              <a:rPr lang="fr-CA" altLang="en-US" sz="2000" b="1" dirty="0">
                <a:solidFill>
                  <a:srgbClr val="F4EDE4"/>
                </a:solidFill>
                <a:latin typeface="Calibri" pitchFamily="34" charset="0"/>
                <a:ea typeface="Calibri" pitchFamily="34" charset="-122"/>
                <a:cs typeface="Calibri" pitchFamily="34" charset="-120"/>
              </a:rPr>
              <a:t>Complète</a:t>
            </a:r>
            <a:endParaRPr lang="fr-CA" sz="1500" dirty="0"/>
          </a:p>
          <a:p>
            <a:pPr indent="0" marL="0">
              <a:buNone/>
            </a:pPr>
            <a:r>
              <a:rPr lang="fr-CA" altLang="en-US" sz="1500" dirty="0">
                <a:solidFill>
                  <a:srgbClr val="E8742A"/>
                </a:solidFill>
                <a:latin typeface="Calibri" pitchFamily="34" charset="0"/>
                <a:ea typeface="Calibri" pitchFamily="34" charset="-122"/>
                <a:cs typeface="Calibri" pitchFamily="34" charset="-120"/>
              </a:rPr>
              <a:t>Psaume 19.8a</a:t>
            </a:r>
            <a:endParaRPr lang="fr-CA" sz="1500" dirty="0"/>
          </a:p>
        </p:txBody>
      </p:sp>
      <p:sp>
        <p:nvSpPr>
          <p:cNvPr id="13" name="Text 10"/>
          <p:cNvSpPr txBox="1"/>
          <p:nvPr/>
        </p:nvSpPr>
        <p:spPr>
          <a:xfrm>
            <a:off x="804672" y="3017520"/>
            <a:ext cx="3063240" cy="3200400"/>
          </a:xfrm>
          <a:prstGeom prst="rect">
            <a:avLst/>
          </a:prstGeom>
          <a:noFill/>
          <a:ln/>
        </p:spPr>
        <p:txBody>
          <a:bodyPr wrap="square" lIns="0" tIns="0" rIns="0" bIns="0" rtlCol="0" anchor="t"/>
          <a:lstStyle/>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 Loi » : mieux rendue par « enseignement » (Bible d'étude).</a:t>
            </a:r>
            <a:endParaRPr lang="fr-CA" sz="1500" dirty="0"/>
          </a:p>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 Parfaite » : au sens de complétude, bien qu'elle soit aussi irréprochable.</a:t>
            </a:r>
            <a:endParaRPr lang="fr-CA" sz="1500" dirty="0"/>
          </a:p>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 Restaure l'âme » : convertir, transformer, régénérer par l'œuvre de l'Esprit.</a:t>
            </a:r>
            <a:endParaRPr lang="fr-CA" sz="1500" dirty="0"/>
          </a:p>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 Fournit tout ce qu'il faut » (MacArthur).</a:t>
            </a:r>
            <a:endParaRPr lang="fr-CA" sz="1500" dirty="0"/>
          </a:p>
        </p:txBody>
      </p:sp>
      <p:sp>
        <p:nvSpPr>
          <p:cNvPr id="14" name="Shape 11"/>
          <p:cNvSpPr/>
          <p:nvPr/>
        </p:nvSpPr>
        <p:spPr>
          <a:xfrm>
            <a:off x="4320540" y="1920240"/>
            <a:ext cx="3547872" cy="4434840"/>
          </a:xfrm>
          <a:prstGeom prst="roundRect">
            <a:avLst>
              <a:gd name="adj" fmla="val 3093"/>
            </a:avLst>
          </a:prstGeom>
          <a:solidFill>
            <a:srgbClr val="1A1411"/>
          </a:solidFill>
          <a:ln w="9525">
            <a:solidFill>
              <a:srgbClr val="2E211A"/>
            </a:solidFill>
            <a:prstDash val="solid"/>
          </a:ln>
        </p:spPr>
      </p:sp>
      <p:sp>
        <p:nvSpPr>
          <p:cNvPr id="15" name="Shape 12"/>
          <p:cNvSpPr/>
          <p:nvPr/>
        </p:nvSpPr>
        <p:spPr>
          <a:xfrm>
            <a:off x="4576572" y="2121408"/>
            <a:ext cx="603504" cy="603504"/>
          </a:xfrm>
          <a:prstGeom prst="ellipse">
            <a:avLst/>
          </a:prstGeom>
          <a:solidFill>
            <a:srgbClr val="2A1A10"/>
          </a:solidFill>
          <a:ln w="12700">
            <a:solidFill>
              <a:srgbClr val="CC5500"/>
            </a:solidFill>
            <a:prstDash val="solid"/>
          </a:ln>
        </p:spPr>
      </p:sp>
      <p:pic>
        <p:nvPicPr>
          <p:cNvPr id="16" name="Image 1" descr="Icône : boussole">    </p:cNvPr>
          <p:cNvPicPr>
            <a:picLocks noChangeAspect="1"/>
          </p:cNvPicPr>
          <p:nvPr/>
        </p:nvPicPr>
        <p:blipFill>
          <a:blip r:embed="rId2"/>
          <a:stretch>
            <a:fillRect/>
          </a:stretch>
        </p:blipFill>
        <p:spPr>
          <a:xfrm>
            <a:off x="4697273" y="2242109"/>
            <a:ext cx="362102" cy="362102"/>
          </a:xfrm>
          <a:prstGeom prst="rect">
            <a:avLst/>
          </a:prstGeom>
        </p:spPr>
      </p:pic>
      <p:sp>
        <p:nvSpPr>
          <p:cNvPr id="17" name="Text 13"/>
          <p:cNvSpPr txBox="1"/>
          <p:nvPr/>
        </p:nvSpPr>
        <p:spPr>
          <a:xfrm>
            <a:off x="5344668" y="2103120"/>
            <a:ext cx="2377440" cy="731520"/>
          </a:xfrm>
          <a:prstGeom prst="rect">
            <a:avLst/>
          </a:prstGeom>
          <a:noFill/>
          <a:ln/>
        </p:spPr>
        <p:txBody>
          <a:bodyPr wrap="square" lIns="0" tIns="0" rIns="0" bIns="0" rtlCol="0" anchor="t"/>
          <a:lstStyle/>
          <a:p>
            <a:pPr indent="0" marL="0">
              <a:buNone/>
            </a:pPr>
            <a:r>
              <a:rPr lang="fr-CA" altLang="en-US" sz="2000" b="1" dirty="0">
                <a:solidFill>
                  <a:srgbClr val="F4EDE4"/>
                </a:solidFill>
                <a:latin typeface="Calibri" pitchFamily="34" charset="0"/>
                <a:ea typeface="Calibri" pitchFamily="34" charset="-122"/>
                <a:cs typeface="Calibri" pitchFamily="34" charset="-120"/>
              </a:rPr>
              <a:t>Sûre et claire</a:t>
            </a:r>
            <a:endParaRPr lang="fr-CA" sz="1500" dirty="0"/>
          </a:p>
          <a:p>
            <a:pPr indent="0" marL="0">
              <a:buNone/>
            </a:pPr>
            <a:r>
              <a:rPr lang="fr-CA" altLang="en-US" sz="1500" dirty="0">
                <a:solidFill>
                  <a:srgbClr val="E8742A"/>
                </a:solidFill>
                <a:latin typeface="Calibri" pitchFamily="34" charset="0"/>
                <a:ea typeface="Calibri" pitchFamily="34" charset="-122"/>
                <a:cs typeface="Calibri" pitchFamily="34" charset="-120"/>
              </a:rPr>
              <a:t>Psaume 19.8b‑9</a:t>
            </a:r>
            <a:endParaRPr lang="fr-CA" sz="1500" dirty="0"/>
          </a:p>
        </p:txBody>
      </p:sp>
      <p:sp>
        <p:nvSpPr>
          <p:cNvPr id="18" name="Text 14"/>
          <p:cNvSpPr txBox="1"/>
          <p:nvPr/>
        </p:nvSpPr>
        <p:spPr>
          <a:xfrm>
            <a:off x="4576572" y="3017520"/>
            <a:ext cx="3063240" cy="3200400"/>
          </a:xfrm>
          <a:prstGeom prst="rect">
            <a:avLst/>
          </a:prstGeom>
          <a:noFill/>
          <a:ln/>
        </p:spPr>
        <p:txBody>
          <a:bodyPr wrap="square" lIns="0" tIns="0" rIns="0" bIns="0" rtlCol="0" anchor="t"/>
          <a:lstStyle/>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Plus sûre que l'expérience : Pierre, témoin de la transfiguration (2 Pierre 1.16‑19).</a:t>
            </a:r>
            <a:endParaRPr lang="fr-CA" sz="1500" dirty="0"/>
          </a:p>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L'« ignorant » : le naïf, sans discernement; l'Écriture lui apporte la sagesse.</a:t>
            </a:r>
            <a:endParaRPr lang="fr-CA" sz="1500" dirty="0"/>
          </a:p>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 Sage » : maîtriser l'art de vivre.</a:t>
            </a:r>
            <a:endParaRPr lang="fr-CA" sz="1500" dirty="0"/>
          </a:p>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 La Parole est le sentier » (MacArthur).</a:t>
            </a:r>
            <a:endParaRPr lang="fr-CA" sz="1500" dirty="0"/>
          </a:p>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 Purs » : clairs, ils éclairent les yeux.</a:t>
            </a:r>
            <a:endParaRPr lang="fr-CA" sz="1500" dirty="0"/>
          </a:p>
        </p:txBody>
      </p:sp>
      <p:sp>
        <p:nvSpPr>
          <p:cNvPr id="19" name="Shape 15"/>
          <p:cNvSpPr/>
          <p:nvPr/>
        </p:nvSpPr>
        <p:spPr>
          <a:xfrm>
            <a:off x="8092440" y="1920240"/>
            <a:ext cx="3547872" cy="4434840"/>
          </a:xfrm>
          <a:prstGeom prst="roundRect">
            <a:avLst>
              <a:gd name="adj" fmla="val 3093"/>
            </a:avLst>
          </a:prstGeom>
          <a:solidFill>
            <a:srgbClr val="1A1411"/>
          </a:solidFill>
          <a:ln w="9525">
            <a:solidFill>
              <a:srgbClr val="2E211A"/>
            </a:solidFill>
            <a:prstDash val="solid"/>
          </a:ln>
        </p:spPr>
      </p:sp>
      <p:sp>
        <p:nvSpPr>
          <p:cNvPr id="20" name="Shape 16"/>
          <p:cNvSpPr/>
          <p:nvPr/>
        </p:nvSpPr>
        <p:spPr>
          <a:xfrm>
            <a:off x="8348472" y="2121408"/>
            <a:ext cx="603504" cy="603504"/>
          </a:xfrm>
          <a:prstGeom prst="ellipse">
            <a:avLst/>
          </a:prstGeom>
          <a:solidFill>
            <a:srgbClr val="2A1A10"/>
          </a:solidFill>
          <a:ln w="12700">
            <a:solidFill>
              <a:srgbClr val="CC5500"/>
            </a:solidFill>
            <a:prstDash val="solid"/>
          </a:ln>
        </p:spPr>
      </p:sp>
      <p:pic>
        <p:nvPicPr>
          <p:cNvPr id="21" name="Image 2" descr="Icône : mains jointes">    </p:cNvPr>
          <p:cNvPicPr>
            <a:picLocks noChangeAspect="1"/>
          </p:cNvPicPr>
          <p:nvPr/>
        </p:nvPicPr>
        <p:blipFill>
          <a:blip r:embed="rId3"/>
          <a:stretch>
            <a:fillRect/>
          </a:stretch>
        </p:blipFill>
        <p:spPr>
          <a:xfrm>
            <a:off x="8469173" y="2242109"/>
            <a:ext cx="362102" cy="362102"/>
          </a:xfrm>
          <a:prstGeom prst="rect">
            <a:avLst/>
          </a:prstGeom>
        </p:spPr>
      </p:pic>
      <p:sp>
        <p:nvSpPr>
          <p:cNvPr id="22" name="Text 17"/>
          <p:cNvSpPr txBox="1"/>
          <p:nvPr/>
        </p:nvSpPr>
        <p:spPr>
          <a:xfrm>
            <a:off x="9116568" y="2103120"/>
            <a:ext cx="2377440" cy="731520"/>
          </a:xfrm>
          <a:prstGeom prst="rect">
            <a:avLst/>
          </a:prstGeom>
          <a:noFill/>
          <a:ln/>
        </p:spPr>
        <p:txBody>
          <a:bodyPr wrap="square" lIns="0" tIns="0" rIns="0" bIns="0" rtlCol="0" anchor="t"/>
          <a:lstStyle/>
          <a:p>
            <a:pPr indent="0" marL="0">
              <a:buNone/>
            </a:pPr>
            <a:r>
              <a:rPr lang="fr-CA" altLang="en-US" sz="2000" b="1" dirty="0">
                <a:solidFill>
                  <a:srgbClr val="F4EDE4"/>
                </a:solidFill>
                <a:latin typeface="Calibri" pitchFamily="34" charset="0"/>
                <a:ea typeface="Calibri" pitchFamily="34" charset="-122"/>
                <a:cs typeface="Calibri" pitchFamily="34" charset="-120"/>
              </a:rPr>
              <a:t>Pure et vraie</a:t>
            </a:r>
            <a:endParaRPr lang="fr-CA" sz="1500" dirty="0"/>
          </a:p>
          <a:p>
            <a:pPr indent="0" marL="0">
              <a:buNone/>
            </a:pPr>
            <a:r>
              <a:rPr lang="fr-CA" altLang="en-US" sz="1500" dirty="0">
                <a:solidFill>
                  <a:srgbClr val="E8742A"/>
                </a:solidFill>
                <a:latin typeface="Calibri" pitchFamily="34" charset="0"/>
                <a:ea typeface="Calibri" pitchFamily="34" charset="-122"/>
                <a:cs typeface="Calibri" pitchFamily="34" charset="-120"/>
              </a:rPr>
              <a:t>Psaume 19.10</a:t>
            </a:r>
            <a:endParaRPr lang="fr-CA" sz="1500" dirty="0"/>
          </a:p>
        </p:txBody>
      </p:sp>
      <p:sp>
        <p:nvSpPr>
          <p:cNvPr id="23" name="Text 18"/>
          <p:cNvSpPr txBox="1"/>
          <p:nvPr/>
        </p:nvSpPr>
        <p:spPr>
          <a:xfrm>
            <a:off x="8348472" y="3017520"/>
            <a:ext cx="3063240" cy="3200400"/>
          </a:xfrm>
          <a:prstGeom prst="rect">
            <a:avLst/>
          </a:prstGeom>
          <a:noFill/>
          <a:ln/>
        </p:spPr>
        <p:txBody>
          <a:bodyPr wrap="square" lIns="0" tIns="0" rIns="0" bIns="0" rtlCol="0" anchor="t"/>
          <a:lstStyle/>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 Crainte » : l'Écriture, guide pour l'adoration; « un manuel du culte » (MacArthur).</a:t>
            </a:r>
            <a:endParaRPr lang="fr-CA" sz="1500" dirty="0"/>
          </a:p>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Nette, « sans tache, sans défaut » (MacArthur) : jamais de mise à jour.</a:t>
            </a:r>
            <a:endParaRPr lang="fr-CA" sz="1500" dirty="0"/>
          </a:p>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 Absolument, sans équivoque, vraie » (MacArthur).</a:t>
            </a:r>
            <a:endParaRPr lang="fr-CA" sz="1500" dirty="0"/>
          </a:p>
        </p:txBody>
      </p:sp>
      <p:grpSp>
        <p:nvGrpSpPr>
          <p:cNvPr id="1008" name="Barre de progression"/>
          <p:cNvGrpSpPr/>
          <p:nvPr/>
        </p:nvGrpSpPr>
        <p:grpSpPr>
          <a:xfrm>
            <a:off x="546100" y="6527800"/>
            <a:ext cx="11099800" cy="63500"/>
            <a:chOff x="546100" y="6527800"/>
            <a:chExt cx="11099800" cy="63500"/>
          </a:xfrm>
        </p:grpSpPr>
        <p:sp>
          <p:nvSpPr>
            <p:cNvPr id="24" name="Progression 1"/>
            <p:cNvSpPr/>
            <p:nvPr/>
          </p:nvSpPr>
          <p:spPr>
            <a:xfrm>
              <a:off x="546100" y="6527800"/>
              <a:ext cx="668867" cy="63500"/>
            </a:xfrm>
            <a:prstGeom prst="rect">
              <a:avLst/>
            </a:prstGeom>
            <a:solidFill>
              <a:srgbClr val="E8742A"/>
            </a:solidFill>
            <a:ln/>
          </p:spPr>
        </p:sp>
        <p:sp>
          <p:nvSpPr>
            <p:cNvPr id="25" name="Progression 2"/>
            <p:cNvSpPr/>
            <p:nvPr/>
          </p:nvSpPr>
          <p:spPr>
            <a:xfrm>
              <a:off x="1291167" y="6527800"/>
              <a:ext cx="668867" cy="63500"/>
            </a:xfrm>
            <a:prstGeom prst="rect">
              <a:avLst/>
            </a:prstGeom>
            <a:solidFill>
              <a:srgbClr val="E8742A"/>
            </a:solidFill>
            <a:ln/>
          </p:spPr>
        </p:sp>
        <p:sp>
          <p:nvSpPr>
            <p:cNvPr id="26" name="Progression 3"/>
            <p:cNvSpPr/>
            <p:nvPr/>
          </p:nvSpPr>
          <p:spPr>
            <a:xfrm>
              <a:off x="2036233" y="6527800"/>
              <a:ext cx="668867" cy="63500"/>
            </a:xfrm>
            <a:prstGeom prst="rect">
              <a:avLst/>
            </a:prstGeom>
            <a:solidFill>
              <a:srgbClr val="E8742A"/>
            </a:solidFill>
            <a:ln/>
          </p:spPr>
        </p:sp>
        <p:sp>
          <p:nvSpPr>
            <p:cNvPr id="27" name="Progression 4"/>
            <p:cNvSpPr/>
            <p:nvPr/>
          </p:nvSpPr>
          <p:spPr>
            <a:xfrm>
              <a:off x="2781300" y="6527800"/>
              <a:ext cx="668867" cy="63500"/>
            </a:xfrm>
            <a:prstGeom prst="rect">
              <a:avLst/>
            </a:prstGeom>
            <a:solidFill>
              <a:srgbClr val="E8742A"/>
            </a:solidFill>
            <a:ln/>
          </p:spPr>
        </p:sp>
        <p:sp>
          <p:nvSpPr>
            <p:cNvPr id="28" name="Progression 5"/>
            <p:cNvSpPr/>
            <p:nvPr/>
          </p:nvSpPr>
          <p:spPr>
            <a:xfrm>
              <a:off x="3526367" y="6527800"/>
              <a:ext cx="668867" cy="63500"/>
            </a:xfrm>
            <a:prstGeom prst="rect">
              <a:avLst/>
            </a:prstGeom>
            <a:solidFill>
              <a:srgbClr val="E8742A"/>
            </a:solidFill>
            <a:ln/>
          </p:spPr>
        </p:sp>
        <p:sp>
          <p:nvSpPr>
            <p:cNvPr id="29" name="Progression 6"/>
            <p:cNvSpPr/>
            <p:nvPr/>
          </p:nvSpPr>
          <p:spPr>
            <a:xfrm>
              <a:off x="4271433" y="6527800"/>
              <a:ext cx="668867" cy="63500"/>
            </a:xfrm>
            <a:prstGeom prst="rect">
              <a:avLst/>
            </a:prstGeom>
            <a:solidFill>
              <a:srgbClr val="E8742A"/>
            </a:solidFill>
            <a:ln/>
          </p:spPr>
        </p:sp>
        <p:sp>
          <p:nvSpPr>
            <p:cNvPr id="30" name="Progression 7"/>
            <p:cNvSpPr/>
            <p:nvPr/>
          </p:nvSpPr>
          <p:spPr>
            <a:xfrm>
              <a:off x="5016500" y="6527800"/>
              <a:ext cx="668867" cy="63500"/>
            </a:xfrm>
            <a:prstGeom prst="rect">
              <a:avLst/>
            </a:prstGeom>
            <a:solidFill>
              <a:srgbClr val="E8742A"/>
            </a:solidFill>
            <a:ln/>
          </p:spPr>
        </p:sp>
        <p:sp>
          <p:nvSpPr>
            <p:cNvPr id="31" name="Progression 8"/>
            <p:cNvSpPr/>
            <p:nvPr/>
          </p:nvSpPr>
          <p:spPr>
            <a:xfrm>
              <a:off x="5761567" y="6527800"/>
              <a:ext cx="668867" cy="63500"/>
            </a:xfrm>
            <a:prstGeom prst="rect">
              <a:avLst/>
            </a:prstGeom>
            <a:solidFill>
              <a:srgbClr val="E8742A"/>
            </a:solidFill>
            <a:ln/>
          </p:spPr>
        </p:sp>
        <p:sp>
          <p:nvSpPr>
            <p:cNvPr id="32" name="Progression 9"/>
            <p:cNvSpPr/>
            <p:nvPr/>
          </p:nvSpPr>
          <p:spPr>
            <a:xfrm>
              <a:off x="6506633" y="6527800"/>
              <a:ext cx="668867" cy="63500"/>
            </a:xfrm>
            <a:prstGeom prst="rect">
              <a:avLst/>
            </a:prstGeom>
            <a:solidFill>
              <a:srgbClr val="E8742A"/>
            </a:solidFill>
            <a:ln/>
          </p:spPr>
        </p:sp>
        <p:sp>
          <p:nvSpPr>
            <p:cNvPr id="33" name="Progression 10"/>
            <p:cNvSpPr/>
            <p:nvPr/>
          </p:nvSpPr>
          <p:spPr>
            <a:xfrm>
              <a:off x="7251700" y="6527800"/>
              <a:ext cx="668867" cy="63500"/>
            </a:xfrm>
            <a:prstGeom prst="rect">
              <a:avLst/>
            </a:prstGeom>
            <a:solidFill>
              <a:srgbClr val="3A312C"/>
            </a:solidFill>
            <a:ln/>
          </p:spPr>
        </p:sp>
        <p:sp>
          <p:nvSpPr>
            <p:cNvPr id="34" name="Progression 11"/>
            <p:cNvSpPr/>
            <p:nvPr/>
          </p:nvSpPr>
          <p:spPr>
            <a:xfrm>
              <a:off x="7996767" y="6527800"/>
              <a:ext cx="668867" cy="63500"/>
            </a:xfrm>
            <a:prstGeom prst="rect">
              <a:avLst/>
            </a:prstGeom>
            <a:solidFill>
              <a:srgbClr val="3A312C"/>
            </a:solidFill>
            <a:ln/>
          </p:spPr>
        </p:sp>
        <p:sp>
          <p:nvSpPr>
            <p:cNvPr id="35" name="Progression 12"/>
            <p:cNvSpPr/>
            <p:nvPr/>
          </p:nvSpPr>
          <p:spPr>
            <a:xfrm>
              <a:off x="8741833" y="6527800"/>
              <a:ext cx="668867" cy="63500"/>
            </a:xfrm>
            <a:prstGeom prst="rect">
              <a:avLst/>
            </a:prstGeom>
            <a:solidFill>
              <a:srgbClr val="3A312C"/>
            </a:solidFill>
            <a:ln/>
          </p:spPr>
        </p:sp>
        <p:sp>
          <p:nvSpPr>
            <p:cNvPr id="36" name="Progression 13"/>
            <p:cNvSpPr/>
            <p:nvPr/>
          </p:nvSpPr>
          <p:spPr>
            <a:xfrm>
              <a:off x="9486900" y="6527800"/>
              <a:ext cx="668867" cy="63500"/>
            </a:xfrm>
            <a:prstGeom prst="rect">
              <a:avLst/>
            </a:prstGeom>
            <a:solidFill>
              <a:srgbClr val="3A312C"/>
            </a:solidFill>
            <a:ln/>
          </p:spPr>
        </p:sp>
        <p:sp>
          <p:nvSpPr>
            <p:cNvPr id="37" name="Progression 14"/>
            <p:cNvSpPr/>
            <p:nvPr/>
          </p:nvSpPr>
          <p:spPr>
            <a:xfrm>
              <a:off x="10231967" y="6527800"/>
              <a:ext cx="668867" cy="63500"/>
            </a:xfrm>
            <a:prstGeom prst="rect">
              <a:avLst/>
            </a:prstGeom>
            <a:solidFill>
              <a:srgbClr val="3A312C"/>
            </a:solidFill>
            <a:ln/>
          </p:spPr>
        </p:sp>
        <p:sp>
          <p:nvSpPr>
            <p:cNvPr id="38"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Repère de section"/>
          <p:cNvSpPr txBox="1"/>
          <p:nvPr/>
        </p:nvSpPr>
        <p:spPr>
          <a:xfrm>
            <a:off x="548640" y="384048"/>
            <a:ext cx="676656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II · APPLICATION</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Ce qu'on ajoute à la Parole</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Vers quoi vous tournez‑vous en premier quand votre âme est troublée?</a:t>
            </a:r>
            <a:endParaRPr lang="fr-CA" sz="1900" dirty="0"/>
          </a:p>
        </p:txBody>
      </p:sp>
      <p:sp>
        <p:nvSpPr>
          <p:cNvPr id="5" name="Navigation : le ciel"/>
          <p:cNvSpPr txBox="1"/>
          <p:nvPr/>
        </p:nvSpPr>
        <p:spPr>
          <a:xfrm>
            <a:off x="7756855" y="384048"/>
            <a:ext cx="7772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ciel</a:t>
            </a:r>
            <a:endParaRPr lang="fr-CA" sz="1400" dirty="0"/>
          </a:p>
        </p:txBody>
      </p:sp>
      <p:sp>
        <p:nvSpPr>
          <p:cNvPr id="6" name="Navigation : la Parole"/>
          <p:cNvSpPr txBox="1"/>
          <p:nvPr/>
        </p:nvSpPr>
        <p:spPr>
          <a:xfrm>
            <a:off x="8671255" y="384048"/>
            <a:ext cx="1005840" cy="292608"/>
          </a:xfrm>
          <a:prstGeom prst="rect">
            <a:avLst/>
          </a:prstGeom>
          <a:noFill/>
          <a:ln/>
        </p:spPr>
        <p:txBody>
          <a:bodyPr wrap="square" lIns="0" tIns="0" rIns="0" bIns="0" rtlCol="0" anchor="t"/>
          <a:lstStyle/>
          <a:p>
            <a:pPr algn="ctr" indent="0" marL="0">
              <a:buNone/>
            </a:pPr>
            <a:r>
              <a:rPr lang="fr-CA" altLang="en-US" sz="1400" b="1" dirty="0">
                <a:solidFill>
                  <a:srgbClr val="E8742A"/>
                </a:solidFill>
                <a:latin typeface="Calibri" pitchFamily="34" charset="0"/>
                <a:ea typeface="Calibri" pitchFamily="34" charset="-122"/>
                <a:cs typeface="Calibri" pitchFamily="34" charset="-120"/>
              </a:rPr>
              <a:t>la Parole</a:t>
            </a:r>
            <a:endParaRPr lang="fr-CA" sz="1400" dirty="0"/>
          </a:p>
        </p:txBody>
      </p:sp>
      <p:sp>
        <p:nvSpPr>
          <p:cNvPr id="7" name="Navigation : le désir"/>
          <p:cNvSpPr txBox="1"/>
          <p:nvPr/>
        </p:nvSpPr>
        <p:spPr>
          <a:xfrm>
            <a:off x="9814255" y="384048"/>
            <a:ext cx="86868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désir</a:t>
            </a:r>
            <a:endParaRPr lang="fr-CA" sz="1400" dirty="0"/>
          </a:p>
        </p:txBody>
      </p:sp>
      <p:sp>
        <p:nvSpPr>
          <p:cNvPr id="8" name="Navigation : le cœur"/>
          <p:cNvSpPr txBox="1"/>
          <p:nvPr/>
        </p:nvSpPr>
        <p:spPr>
          <a:xfrm>
            <a:off x="10820095" y="384048"/>
            <a:ext cx="82296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cœur</a:t>
            </a:r>
            <a:endParaRPr lang="fr-CA" sz="1400" dirty="0"/>
          </a:p>
        </p:txBody>
      </p:sp>
      <p:pic>
        <p:nvPicPr>
          <p:cNvPr id="9" name="Image 0" descr="Livre ouvert rayonnant au centre : la Parole qui suffit">    </p:cNvPr>
          <p:cNvPicPr>
            <a:picLocks noChangeAspect="1"/>
          </p:cNvPicPr>
          <p:nvPr/>
        </p:nvPicPr>
        <p:blipFill>
          <a:blip r:embed="rId1"/>
          <a:stretch>
            <a:fillRect/>
          </a:stretch>
        </p:blipFill>
        <p:spPr>
          <a:xfrm>
            <a:off x="4681728" y="1874520"/>
            <a:ext cx="2834640" cy="2834640"/>
          </a:xfrm>
          <a:prstGeom prst="rect">
            <a:avLst/>
          </a:prstGeom>
        </p:spPr>
      </p:pic>
      <p:sp>
        <p:nvSpPr>
          <p:cNvPr id="10" name="Shape 7"/>
          <p:cNvSpPr/>
          <p:nvPr/>
        </p:nvSpPr>
        <p:spPr>
          <a:xfrm>
            <a:off x="548640" y="1965960"/>
            <a:ext cx="3749040" cy="749808"/>
          </a:xfrm>
          <a:prstGeom prst="roundRect">
            <a:avLst>
              <a:gd name="adj" fmla="val 14634"/>
            </a:avLst>
          </a:prstGeom>
          <a:solidFill>
            <a:srgbClr val="15110E"/>
          </a:solidFill>
          <a:ln w="9525">
            <a:solidFill>
              <a:srgbClr val="2E211A"/>
            </a:solidFill>
            <a:prstDash val="solid"/>
          </a:ln>
        </p:spPr>
      </p:sp>
      <p:sp>
        <p:nvSpPr>
          <p:cNvPr id="11" name="Shape 8"/>
          <p:cNvSpPr/>
          <p:nvPr/>
        </p:nvSpPr>
        <p:spPr>
          <a:xfrm>
            <a:off x="704088" y="2066544"/>
            <a:ext cx="548640" cy="548640"/>
          </a:xfrm>
          <a:prstGeom prst="ellipse">
            <a:avLst/>
          </a:prstGeom>
          <a:solidFill>
            <a:srgbClr val="1F1915"/>
          </a:solidFill>
          <a:ln w="12700">
            <a:solidFill>
              <a:srgbClr val="6E5A4C"/>
            </a:solidFill>
            <a:prstDash val="solid"/>
          </a:ln>
        </p:spPr>
      </p:sp>
      <p:pic>
        <p:nvPicPr>
          <p:cNvPr id="12" name="Image 1" descr="Icône : graphique">    </p:cNvPr>
          <p:cNvPicPr>
            <a:picLocks noChangeAspect="1"/>
          </p:cNvPicPr>
          <p:nvPr/>
        </p:nvPicPr>
        <p:blipFill>
          <a:blip r:embed="rId2"/>
          <a:stretch>
            <a:fillRect/>
          </a:stretch>
        </p:blipFill>
        <p:spPr>
          <a:xfrm>
            <a:off x="813816" y="2176272"/>
            <a:ext cx="329184" cy="329184"/>
          </a:xfrm>
          <a:prstGeom prst="rect">
            <a:avLst/>
          </a:prstGeom>
        </p:spPr>
      </p:pic>
      <p:sp>
        <p:nvSpPr>
          <p:cNvPr id="13" name="Text 9"/>
          <p:cNvSpPr txBox="1"/>
          <p:nvPr/>
        </p:nvSpPr>
        <p:spPr>
          <a:xfrm>
            <a:off x="1417320" y="1965960"/>
            <a:ext cx="2743200" cy="749808"/>
          </a:xfrm>
          <a:prstGeom prst="rect">
            <a:avLst/>
          </a:prstGeom>
          <a:noFill/>
          <a:ln/>
        </p:spPr>
        <p:txBody>
          <a:bodyPr wrap="square" lIns="0" tIns="0" rIns="0" bIns="0" rtlCol="0" anchor="ctr"/>
          <a:lstStyle/>
          <a:p>
            <a:pPr indent="0" marL="0">
              <a:buNone/>
            </a:pPr>
            <a:r>
              <a:rPr lang="fr-CA" altLang="en-US" sz="1800" dirty="0">
                <a:solidFill>
                  <a:srgbClr val="A89A8C"/>
                </a:solidFill>
                <a:latin typeface="Calibri" pitchFamily="34" charset="0"/>
                <a:ea typeface="Calibri" pitchFamily="34" charset="-122"/>
                <a:cs typeface="Calibri" pitchFamily="34" charset="-120"/>
              </a:rPr>
              <a:t>Techniques de gestion</a:t>
            </a:r>
            <a:endParaRPr lang="fr-CA" sz="1800" dirty="0"/>
          </a:p>
        </p:txBody>
      </p:sp>
      <p:sp>
        <p:nvSpPr>
          <p:cNvPr id="14" name="Shape 10"/>
          <p:cNvSpPr/>
          <p:nvPr/>
        </p:nvSpPr>
        <p:spPr>
          <a:xfrm>
            <a:off x="548640" y="2880360"/>
            <a:ext cx="3749040" cy="749808"/>
          </a:xfrm>
          <a:prstGeom prst="roundRect">
            <a:avLst>
              <a:gd name="adj" fmla="val 14634"/>
            </a:avLst>
          </a:prstGeom>
          <a:solidFill>
            <a:srgbClr val="15110E"/>
          </a:solidFill>
          <a:ln w="9525">
            <a:solidFill>
              <a:srgbClr val="2E211A"/>
            </a:solidFill>
            <a:prstDash val="solid"/>
          </a:ln>
        </p:spPr>
      </p:sp>
      <p:sp>
        <p:nvSpPr>
          <p:cNvPr id="15" name="Shape 11"/>
          <p:cNvSpPr/>
          <p:nvPr/>
        </p:nvSpPr>
        <p:spPr>
          <a:xfrm>
            <a:off x="704088" y="2980944"/>
            <a:ext cx="548640" cy="548640"/>
          </a:xfrm>
          <a:prstGeom prst="ellipse">
            <a:avLst/>
          </a:prstGeom>
          <a:solidFill>
            <a:srgbClr val="1F1915"/>
          </a:solidFill>
          <a:ln w="12700">
            <a:solidFill>
              <a:srgbClr val="6E5A4C"/>
            </a:solidFill>
            <a:prstDash val="solid"/>
          </a:ln>
        </p:spPr>
      </p:sp>
      <p:pic>
        <p:nvPicPr>
          <p:cNvPr id="16" name="Image 2" descr="Icône : masques de théâtre">    </p:cNvPr>
          <p:cNvPicPr>
            <a:picLocks noChangeAspect="1"/>
          </p:cNvPicPr>
          <p:nvPr/>
        </p:nvPicPr>
        <p:blipFill>
          <a:blip r:embed="rId3"/>
          <a:stretch>
            <a:fillRect/>
          </a:stretch>
        </p:blipFill>
        <p:spPr>
          <a:xfrm>
            <a:off x="813816" y="3090672"/>
            <a:ext cx="329184" cy="329184"/>
          </a:xfrm>
          <a:prstGeom prst="rect">
            <a:avLst/>
          </a:prstGeom>
        </p:spPr>
      </p:pic>
      <p:sp>
        <p:nvSpPr>
          <p:cNvPr id="17" name="Text 12"/>
          <p:cNvSpPr txBox="1"/>
          <p:nvPr/>
        </p:nvSpPr>
        <p:spPr>
          <a:xfrm>
            <a:off x="1417320" y="2880360"/>
            <a:ext cx="2743200" cy="749808"/>
          </a:xfrm>
          <a:prstGeom prst="rect">
            <a:avLst/>
          </a:prstGeom>
          <a:noFill/>
          <a:ln/>
        </p:spPr>
        <p:txBody>
          <a:bodyPr wrap="square" lIns="0" tIns="0" rIns="0" bIns="0" rtlCol="0" anchor="ctr"/>
          <a:lstStyle/>
          <a:p>
            <a:pPr indent="0" marL="0">
              <a:buNone/>
            </a:pPr>
            <a:r>
              <a:rPr lang="fr-CA" altLang="en-US" sz="1800" dirty="0">
                <a:solidFill>
                  <a:srgbClr val="A89A8C"/>
                </a:solidFill>
                <a:latin typeface="Calibri" pitchFamily="34" charset="0"/>
                <a:ea typeface="Calibri" pitchFamily="34" charset="-122"/>
                <a:cs typeface="Calibri" pitchFamily="34" charset="-120"/>
              </a:rPr>
              <a:t>Divertissement</a:t>
            </a:r>
            <a:endParaRPr lang="fr-CA" sz="1800" dirty="0"/>
          </a:p>
        </p:txBody>
      </p:sp>
      <p:sp>
        <p:nvSpPr>
          <p:cNvPr id="18" name="Shape 13"/>
          <p:cNvSpPr/>
          <p:nvPr/>
        </p:nvSpPr>
        <p:spPr>
          <a:xfrm>
            <a:off x="548640" y="3794760"/>
            <a:ext cx="3749040" cy="749808"/>
          </a:xfrm>
          <a:prstGeom prst="roundRect">
            <a:avLst>
              <a:gd name="adj" fmla="val 14634"/>
            </a:avLst>
          </a:prstGeom>
          <a:solidFill>
            <a:srgbClr val="15110E"/>
          </a:solidFill>
          <a:ln w="9525">
            <a:solidFill>
              <a:srgbClr val="2E211A"/>
            </a:solidFill>
            <a:prstDash val="solid"/>
          </a:ln>
        </p:spPr>
      </p:sp>
      <p:sp>
        <p:nvSpPr>
          <p:cNvPr id="19" name="Shape 14"/>
          <p:cNvSpPr/>
          <p:nvPr/>
        </p:nvSpPr>
        <p:spPr>
          <a:xfrm>
            <a:off x="704088" y="3895344"/>
            <a:ext cx="548640" cy="548640"/>
          </a:xfrm>
          <a:prstGeom prst="ellipse">
            <a:avLst/>
          </a:prstGeom>
          <a:solidFill>
            <a:srgbClr val="1F1915"/>
          </a:solidFill>
          <a:ln w="12700">
            <a:solidFill>
              <a:srgbClr val="6E5A4C"/>
            </a:solidFill>
            <a:prstDash val="solid"/>
          </a:ln>
        </p:spPr>
      </p:sp>
      <p:pic>
        <p:nvPicPr>
          <p:cNvPr id="20" name="Image 3" descr="Icône : boule de cristal">    </p:cNvPr>
          <p:cNvPicPr>
            <a:picLocks noChangeAspect="1"/>
          </p:cNvPicPr>
          <p:nvPr/>
        </p:nvPicPr>
        <p:blipFill>
          <a:blip r:embed="rId4"/>
          <a:stretch>
            <a:fillRect/>
          </a:stretch>
        </p:blipFill>
        <p:spPr>
          <a:xfrm>
            <a:off x="813816" y="4005072"/>
            <a:ext cx="329184" cy="329184"/>
          </a:xfrm>
          <a:prstGeom prst="rect">
            <a:avLst/>
          </a:prstGeom>
        </p:spPr>
      </p:pic>
      <p:sp>
        <p:nvSpPr>
          <p:cNvPr id="21" name="Text 15"/>
          <p:cNvSpPr txBox="1"/>
          <p:nvPr/>
        </p:nvSpPr>
        <p:spPr>
          <a:xfrm>
            <a:off x="1417320" y="3794760"/>
            <a:ext cx="2743200" cy="749808"/>
          </a:xfrm>
          <a:prstGeom prst="rect">
            <a:avLst/>
          </a:prstGeom>
          <a:noFill/>
          <a:ln/>
        </p:spPr>
        <p:txBody>
          <a:bodyPr wrap="square" lIns="0" tIns="0" rIns="0" bIns="0" rtlCol="0" anchor="ctr"/>
          <a:lstStyle/>
          <a:p>
            <a:pPr indent="0" marL="0">
              <a:buNone/>
            </a:pPr>
            <a:r>
              <a:rPr lang="fr-CA" altLang="en-US" sz="1800" dirty="0">
                <a:solidFill>
                  <a:srgbClr val="A89A8C"/>
                </a:solidFill>
                <a:latin typeface="Calibri" pitchFamily="34" charset="0"/>
                <a:ea typeface="Calibri" pitchFamily="34" charset="-122"/>
                <a:cs typeface="Calibri" pitchFamily="34" charset="-120"/>
              </a:rPr>
              <a:t>Mysticisme</a:t>
            </a:r>
            <a:endParaRPr lang="fr-CA" sz="1800" dirty="0"/>
          </a:p>
        </p:txBody>
      </p:sp>
      <p:sp>
        <p:nvSpPr>
          <p:cNvPr id="22" name="Shape 16"/>
          <p:cNvSpPr/>
          <p:nvPr/>
        </p:nvSpPr>
        <p:spPr>
          <a:xfrm>
            <a:off x="7891272" y="1965960"/>
            <a:ext cx="3749040" cy="749808"/>
          </a:xfrm>
          <a:prstGeom prst="roundRect">
            <a:avLst>
              <a:gd name="adj" fmla="val 14634"/>
            </a:avLst>
          </a:prstGeom>
          <a:solidFill>
            <a:srgbClr val="15110E"/>
          </a:solidFill>
          <a:ln w="9525">
            <a:solidFill>
              <a:srgbClr val="2E211A"/>
            </a:solidFill>
            <a:prstDash val="solid"/>
          </a:ln>
        </p:spPr>
      </p:sp>
      <p:sp>
        <p:nvSpPr>
          <p:cNvPr id="23" name="Shape 17"/>
          <p:cNvSpPr/>
          <p:nvPr/>
        </p:nvSpPr>
        <p:spPr>
          <a:xfrm>
            <a:off x="8046720" y="2066544"/>
            <a:ext cx="548640" cy="548640"/>
          </a:xfrm>
          <a:prstGeom prst="ellipse">
            <a:avLst/>
          </a:prstGeom>
          <a:solidFill>
            <a:srgbClr val="1F1915"/>
          </a:solidFill>
          <a:ln w="12700">
            <a:solidFill>
              <a:srgbClr val="6E5A4C"/>
            </a:solidFill>
            <a:prstDash val="solid"/>
          </a:ln>
        </p:spPr>
      </p:sp>
      <p:pic>
        <p:nvPicPr>
          <p:cNvPr id="24" name="Image 4" descr="Icône : porte-voix">    </p:cNvPr>
          <p:cNvPicPr>
            <a:picLocks noChangeAspect="1"/>
          </p:cNvPicPr>
          <p:nvPr/>
        </p:nvPicPr>
        <p:blipFill>
          <a:blip r:embed="rId5"/>
          <a:stretch>
            <a:fillRect/>
          </a:stretch>
        </p:blipFill>
        <p:spPr>
          <a:xfrm>
            <a:off x="8156448" y="2176272"/>
            <a:ext cx="329184" cy="329184"/>
          </a:xfrm>
          <a:prstGeom prst="rect">
            <a:avLst/>
          </a:prstGeom>
        </p:spPr>
      </p:pic>
      <p:sp>
        <p:nvSpPr>
          <p:cNvPr id="25" name="Text 18"/>
          <p:cNvSpPr txBox="1"/>
          <p:nvPr/>
        </p:nvSpPr>
        <p:spPr>
          <a:xfrm>
            <a:off x="8759952" y="1965960"/>
            <a:ext cx="2743200" cy="749808"/>
          </a:xfrm>
          <a:prstGeom prst="rect">
            <a:avLst/>
          </a:prstGeom>
          <a:noFill/>
          <a:ln/>
        </p:spPr>
        <p:txBody>
          <a:bodyPr wrap="square" lIns="0" tIns="0" rIns="0" bIns="0" rtlCol="0" anchor="ctr"/>
          <a:lstStyle/>
          <a:p>
            <a:pPr indent="0" marL="0">
              <a:buNone/>
            </a:pPr>
            <a:r>
              <a:rPr lang="fr-CA" altLang="en-US" sz="1800" dirty="0">
                <a:solidFill>
                  <a:srgbClr val="A89A8C"/>
                </a:solidFill>
                <a:latin typeface="Calibri" pitchFamily="34" charset="0"/>
                <a:ea typeface="Calibri" pitchFamily="34" charset="-122"/>
                <a:cs typeface="Calibri" pitchFamily="34" charset="-120"/>
              </a:rPr>
              <a:t>Confession positive</a:t>
            </a:r>
            <a:endParaRPr lang="fr-CA" sz="1800" dirty="0"/>
          </a:p>
        </p:txBody>
      </p:sp>
      <p:sp>
        <p:nvSpPr>
          <p:cNvPr id="26" name="Shape 19"/>
          <p:cNvSpPr/>
          <p:nvPr/>
        </p:nvSpPr>
        <p:spPr>
          <a:xfrm>
            <a:off x="7891272" y="2880360"/>
            <a:ext cx="3749040" cy="749808"/>
          </a:xfrm>
          <a:prstGeom prst="roundRect">
            <a:avLst>
              <a:gd name="adj" fmla="val 14634"/>
            </a:avLst>
          </a:prstGeom>
          <a:solidFill>
            <a:srgbClr val="15110E"/>
          </a:solidFill>
          <a:ln w="9525">
            <a:solidFill>
              <a:srgbClr val="2E211A"/>
            </a:solidFill>
            <a:prstDash val="solid"/>
          </a:ln>
        </p:spPr>
      </p:sp>
      <p:sp>
        <p:nvSpPr>
          <p:cNvPr id="27" name="Shape 20"/>
          <p:cNvSpPr/>
          <p:nvPr/>
        </p:nvSpPr>
        <p:spPr>
          <a:xfrm>
            <a:off x="8046720" y="2980944"/>
            <a:ext cx="548640" cy="548640"/>
          </a:xfrm>
          <a:prstGeom prst="ellipse">
            <a:avLst/>
          </a:prstGeom>
          <a:solidFill>
            <a:srgbClr val="1F1915"/>
          </a:solidFill>
          <a:ln w="12700">
            <a:solidFill>
              <a:srgbClr val="6E5A4C"/>
            </a:solidFill>
            <a:prstDash val="solid"/>
          </a:ln>
        </p:spPr>
      </p:sp>
      <p:pic>
        <p:nvPicPr>
          <p:cNvPr id="28" name="Image 5" descr="Icône : troisième œil">    </p:cNvPr>
          <p:cNvPicPr>
            <a:picLocks noChangeAspect="1"/>
          </p:cNvPicPr>
          <p:nvPr/>
        </p:nvPicPr>
        <p:blipFill>
          <a:blip r:embed="rId6"/>
          <a:stretch>
            <a:fillRect/>
          </a:stretch>
        </p:blipFill>
        <p:spPr>
          <a:xfrm>
            <a:off x="8156448" y="3090672"/>
            <a:ext cx="329184" cy="329184"/>
          </a:xfrm>
          <a:prstGeom prst="rect">
            <a:avLst/>
          </a:prstGeom>
        </p:spPr>
      </p:pic>
      <p:sp>
        <p:nvSpPr>
          <p:cNvPr id="29" name="Text 21"/>
          <p:cNvSpPr txBox="1"/>
          <p:nvPr/>
        </p:nvSpPr>
        <p:spPr>
          <a:xfrm>
            <a:off x="8759952" y="2880360"/>
            <a:ext cx="2743200" cy="749808"/>
          </a:xfrm>
          <a:prstGeom prst="rect">
            <a:avLst/>
          </a:prstGeom>
          <a:noFill/>
          <a:ln/>
        </p:spPr>
        <p:txBody>
          <a:bodyPr wrap="square" lIns="0" tIns="0" rIns="0" bIns="0" rtlCol="0" anchor="ctr"/>
          <a:lstStyle/>
          <a:p>
            <a:pPr indent="0" marL="0">
              <a:buNone/>
            </a:pPr>
            <a:r>
              <a:rPr lang="fr-CA" altLang="en-US" sz="1800" dirty="0">
                <a:solidFill>
                  <a:srgbClr val="A89A8C"/>
                </a:solidFill>
                <a:latin typeface="Calibri" pitchFamily="34" charset="0"/>
                <a:ea typeface="Calibri" pitchFamily="34" charset="-122"/>
                <a:cs typeface="Calibri" pitchFamily="34" charset="-120"/>
              </a:rPr>
              <a:t>Visualisation</a:t>
            </a:r>
            <a:endParaRPr lang="fr-CA" sz="1800" dirty="0"/>
          </a:p>
        </p:txBody>
      </p:sp>
      <p:sp>
        <p:nvSpPr>
          <p:cNvPr id="30" name="Shape 22"/>
          <p:cNvSpPr/>
          <p:nvPr/>
        </p:nvSpPr>
        <p:spPr>
          <a:xfrm>
            <a:off x="7891272" y="3794760"/>
            <a:ext cx="3749040" cy="749808"/>
          </a:xfrm>
          <a:prstGeom prst="roundRect">
            <a:avLst>
              <a:gd name="adj" fmla="val 14634"/>
            </a:avLst>
          </a:prstGeom>
          <a:solidFill>
            <a:srgbClr val="15110E"/>
          </a:solidFill>
          <a:ln w="9525">
            <a:solidFill>
              <a:srgbClr val="2E211A"/>
            </a:solidFill>
            <a:prstDash val="solid"/>
          </a:ln>
        </p:spPr>
      </p:sp>
      <p:sp>
        <p:nvSpPr>
          <p:cNvPr id="31" name="Shape 23"/>
          <p:cNvSpPr/>
          <p:nvPr/>
        </p:nvSpPr>
        <p:spPr>
          <a:xfrm>
            <a:off x="8046720" y="3895344"/>
            <a:ext cx="548640" cy="548640"/>
          </a:xfrm>
          <a:prstGeom prst="ellipse">
            <a:avLst/>
          </a:prstGeom>
          <a:solidFill>
            <a:srgbClr val="1F1915"/>
          </a:solidFill>
          <a:ln w="12700">
            <a:solidFill>
              <a:srgbClr val="6E5A4C"/>
            </a:solidFill>
            <a:prstDash val="solid"/>
          </a:ln>
        </p:spPr>
      </p:sp>
      <p:pic>
        <p:nvPicPr>
          <p:cNvPr id="32" name="Image 6" descr="Icône : cerveau">    </p:cNvPr>
          <p:cNvPicPr>
            <a:picLocks noChangeAspect="1"/>
          </p:cNvPicPr>
          <p:nvPr/>
        </p:nvPicPr>
        <p:blipFill>
          <a:blip r:embed="rId7"/>
          <a:stretch>
            <a:fillRect/>
          </a:stretch>
        </p:blipFill>
        <p:spPr>
          <a:xfrm>
            <a:off x="8156448" y="4005072"/>
            <a:ext cx="329184" cy="329184"/>
          </a:xfrm>
          <a:prstGeom prst="rect">
            <a:avLst/>
          </a:prstGeom>
        </p:spPr>
      </p:pic>
      <p:sp>
        <p:nvSpPr>
          <p:cNvPr id="33" name="Text 24"/>
          <p:cNvSpPr txBox="1"/>
          <p:nvPr/>
        </p:nvSpPr>
        <p:spPr>
          <a:xfrm>
            <a:off x="8759952" y="3794760"/>
            <a:ext cx="2743200" cy="749808"/>
          </a:xfrm>
          <a:prstGeom prst="rect">
            <a:avLst/>
          </a:prstGeom>
          <a:noFill/>
          <a:ln/>
        </p:spPr>
        <p:txBody>
          <a:bodyPr wrap="square" lIns="0" tIns="0" rIns="0" bIns="0" rtlCol="0" anchor="ctr"/>
          <a:lstStyle/>
          <a:p>
            <a:pPr indent="0" marL="0">
              <a:buNone/>
            </a:pPr>
            <a:r>
              <a:rPr lang="fr-CA" altLang="en-US" sz="1800" dirty="0">
                <a:solidFill>
                  <a:srgbClr val="A89A8C"/>
                </a:solidFill>
                <a:latin typeface="Calibri" pitchFamily="34" charset="0"/>
                <a:ea typeface="Calibri" pitchFamily="34" charset="-122"/>
                <a:cs typeface="Calibri" pitchFamily="34" charset="-120"/>
              </a:rPr>
              <a:t>Psychologie</a:t>
            </a:r>
            <a:endParaRPr lang="fr-CA" sz="1800" dirty="0"/>
          </a:p>
        </p:txBody>
      </p:sp>
      <p:sp>
        <p:nvSpPr>
          <p:cNvPr id="34" name="Text 25"/>
          <p:cNvSpPr txBox="1"/>
          <p:nvPr/>
        </p:nvSpPr>
        <p:spPr>
          <a:xfrm>
            <a:off x="548640" y="4773168"/>
            <a:ext cx="11091672" cy="320040"/>
          </a:xfrm>
          <a:prstGeom prst="rect">
            <a:avLst/>
          </a:prstGeom>
          <a:noFill/>
          <a:ln/>
        </p:spPr>
        <p:txBody>
          <a:bodyPr wrap="square" lIns="0" tIns="0" rIns="0" bIns="0" rtlCol="0" anchor="t"/>
          <a:lstStyle/>
          <a:p>
            <a:pPr algn="ctr" indent="0" marL="0">
              <a:buNone/>
            </a:pPr>
            <a:r>
              <a:rPr lang="fr-CA" altLang="en-US" sz="1400" i="1" dirty="0">
                <a:solidFill>
                  <a:srgbClr val="968A80"/>
                </a:solidFill>
                <a:latin typeface="Calibri" pitchFamily="34" charset="0"/>
                <a:ea typeface="Calibri" pitchFamily="34" charset="-122"/>
                <a:cs typeface="Calibri" pitchFamily="34" charset="-120"/>
              </a:rPr>
              <a:t>Ce qui, dans l'Église, s'attaque à la suffisance de la Parole : MacArthur, 1985</a:t>
            </a:r>
            <a:endParaRPr lang="fr-CA" sz="1400" dirty="0"/>
          </a:p>
        </p:txBody>
      </p:sp>
      <p:sp>
        <p:nvSpPr>
          <p:cNvPr id="35" name="Shape 26"/>
          <p:cNvSpPr/>
          <p:nvPr/>
        </p:nvSpPr>
        <p:spPr>
          <a:xfrm>
            <a:off x="548640" y="5166360"/>
            <a:ext cx="11091672" cy="1188720"/>
          </a:xfrm>
          <a:prstGeom prst="roundRect">
            <a:avLst>
              <a:gd name="adj" fmla="val 9231"/>
            </a:avLst>
          </a:prstGeom>
          <a:solidFill>
            <a:srgbClr val="1A1411"/>
          </a:solidFill>
          <a:ln w="19050">
            <a:solidFill>
              <a:srgbClr val="CC5500"/>
            </a:solidFill>
            <a:prstDash val="solid"/>
          </a:ln>
        </p:spPr>
      </p:sp>
      <p:sp>
        <p:nvSpPr>
          <p:cNvPr id="36" name="Text 27"/>
          <p:cNvSpPr txBox="1"/>
          <p:nvPr/>
        </p:nvSpPr>
        <p:spPr>
          <a:xfrm>
            <a:off x="822960" y="5166360"/>
            <a:ext cx="10543032" cy="1188720"/>
          </a:xfrm>
          <a:prstGeom prst="rect">
            <a:avLst/>
          </a:prstGeom>
          <a:noFill/>
          <a:ln/>
        </p:spPr>
        <p:txBody>
          <a:bodyPr wrap="square" lIns="0" tIns="0" rIns="0" bIns="0" rtlCol="0" anchor="ctr"/>
          <a:lstStyle/>
          <a:p>
            <a:pPr indent="0" marL="0">
              <a:buNone/>
            </a:pPr>
            <a:r>
              <a:rPr lang="fr-CA" altLang="en-US" sz="1700" b="1" dirty="0">
                <a:solidFill>
                  <a:srgbClr val="E8742A"/>
                </a:solidFill>
                <a:latin typeface="Calibri" pitchFamily="34" charset="0"/>
                <a:ea typeface="Calibri" pitchFamily="34" charset="-122"/>
                <a:cs typeface="Calibri" pitchFamily="34" charset="-120"/>
              </a:rPr>
              <a:t>Street : </a:t>
            </a:r>
            <a:pPr indent="0" marL="0">
              <a:buNone/>
            </a:pPr>
            <a:r>
              <a:rPr lang="fr-CA" altLang="en-US" sz="1700" dirty="0">
                <a:solidFill>
                  <a:srgbClr val="F4EDE4"/>
                </a:solidFill>
                <a:latin typeface="Calibri" pitchFamily="34" charset="0"/>
                <a:ea typeface="Calibri" pitchFamily="34" charset="-122"/>
                <a:cs typeface="Calibri" pitchFamily="34" charset="-120"/>
              </a:rPr>
              <a:t>la révélation générale n'autorise pas à chercher hors de l'Écriture l'autorité sur les problèmes de l'âme; ce serait ajouter à la Parole (Proverbes 30.5‑6).</a:t>
            </a:r>
            <a:endParaRPr lang="fr-CA" sz="1700" dirty="0"/>
          </a:p>
          <a:p>
            <a:pPr indent="0" marL="0">
              <a:spcBef>
                <a:spcPts val="400"/>
              </a:spcBef>
              <a:buNone/>
            </a:pPr>
            <a:r>
              <a:rPr lang="fr-CA" altLang="en-US" sz="1500" dirty="0">
                <a:solidFill>
                  <a:srgbClr val="A89A8C"/>
                </a:solidFill>
                <a:latin typeface="Calibri" pitchFamily="34" charset="0"/>
                <a:ea typeface="Calibri" pitchFamily="34" charset="-122"/>
                <a:cs typeface="Calibri" pitchFamily="34" charset="-120"/>
              </a:rPr>
              <a:t>Sciences naturelles et médecine restent des bienfaits de Dieu; la suffisance vise le domaine de l'âme.</a:t>
            </a:r>
            <a:endParaRPr lang="fr-CA" sz="1700" dirty="0"/>
          </a:p>
        </p:txBody>
      </p:sp>
      <p:grpSp>
        <p:nvGrpSpPr>
          <p:cNvPr id="1009" name="Barre de progression"/>
          <p:cNvGrpSpPr/>
          <p:nvPr/>
        </p:nvGrpSpPr>
        <p:grpSpPr>
          <a:xfrm>
            <a:off x="546100" y="6527800"/>
            <a:ext cx="11099800" cy="63500"/>
            <a:chOff x="546100" y="6527800"/>
            <a:chExt cx="11099800" cy="63500"/>
          </a:xfrm>
        </p:grpSpPr>
        <p:sp>
          <p:nvSpPr>
            <p:cNvPr id="37" name="Progression 1"/>
            <p:cNvSpPr/>
            <p:nvPr/>
          </p:nvSpPr>
          <p:spPr>
            <a:xfrm>
              <a:off x="546100" y="6527800"/>
              <a:ext cx="668867" cy="63500"/>
            </a:xfrm>
            <a:prstGeom prst="rect">
              <a:avLst/>
            </a:prstGeom>
            <a:solidFill>
              <a:srgbClr val="E8742A"/>
            </a:solidFill>
            <a:ln/>
          </p:spPr>
        </p:sp>
        <p:sp>
          <p:nvSpPr>
            <p:cNvPr id="38" name="Progression 2"/>
            <p:cNvSpPr/>
            <p:nvPr/>
          </p:nvSpPr>
          <p:spPr>
            <a:xfrm>
              <a:off x="1291167" y="6527800"/>
              <a:ext cx="668867" cy="63500"/>
            </a:xfrm>
            <a:prstGeom prst="rect">
              <a:avLst/>
            </a:prstGeom>
            <a:solidFill>
              <a:srgbClr val="E8742A"/>
            </a:solidFill>
            <a:ln/>
          </p:spPr>
        </p:sp>
        <p:sp>
          <p:nvSpPr>
            <p:cNvPr id="39" name="Progression 3"/>
            <p:cNvSpPr/>
            <p:nvPr/>
          </p:nvSpPr>
          <p:spPr>
            <a:xfrm>
              <a:off x="2036233" y="6527800"/>
              <a:ext cx="668867" cy="63500"/>
            </a:xfrm>
            <a:prstGeom prst="rect">
              <a:avLst/>
            </a:prstGeom>
            <a:solidFill>
              <a:srgbClr val="E8742A"/>
            </a:solidFill>
            <a:ln/>
          </p:spPr>
        </p:sp>
        <p:sp>
          <p:nvSpPr>
            <p:cNvPr id="40" name="Progression 4"/>
            <p:cNvSpPr/>
            <p:nvPr/>
          </p:nvSpPr>
          <p:spPr>
            <a:xfrm>
              <a:off x="2781300" y="6527800"/>
              <a:ext cx="668867" cy="63500"/>
            </a:xfrm>
            <a:prstGeom prst="rect">
              <a:avLst/>
            </a:prstGeom>
            <a:solidFill>
              <a:srgbClr val="E8742A"/>
            </a:solidFill>
            <a:ln/>
          </p:spPr>
        </p:sp>
        <p:sp>
          <p:nvSpPr>
            <p:cNvPr id="41" name="Progression 5"/>
            <p:cNvSpPr/>
            <p:nvPr/>
          </p:nvSpPr>
          <p:spPr>
            <a:xfrm>
              <a:off x="3526367" y="6527800"/>
              <a:ext cx="668867" cy="63500"/>
            </a:xfrm>
            <a:prstGeom prst="rect">
              <a:avLst/>
            </a:prstGeom>
            <a:solidFill>
              <a:srgbClr val="E8742A"/>
            </a:solidFill>
            <a:ln/>
          </p:spPr>
        </p:sp>
        <p:sp>
          <p:nvSpPr>
            <p:cNvPr id="42" name="Progression 6"/>
            <p:cNvSpPr/>
            <p:nvPr/>
          </p:nvSpPr>
          <p:spPr>
            <a:xfrm>
              <a:off x="4271433" y="6527800"/>
              <a:ext cx="668867" cy="63500"/>
            </a:xfrm>
            <a:prstGeom prst="rect">
              <a:avLst/>
            </a:prstGeom>
            <a:solidFill>
              <a:srgbClr val="E8742A"/>
            </a:solidFill>
            <a:ln/>
          </p:spPr>
        </p:sp>
        <p:sp>
          <p:nvSpPr>
            <p:cNvPr id="43" name="Progression 7"/>
            <p:cNvSpPr/>
            <p:nvPr/>
          </p:nvSpPr>
          <p:spPr>
            <a:xfrm>
              <a:off x="5016500" y="6527800"/>
              <a:ext cx="668867" cy="63500"/>
            </a:xfrm>
            <a:prstGeom prst="rect">
              <a:avLst/>
            </a:prstGeom>
            <a:solidFill>
              <a:srgbClr val="E8742A"/>
            </a:solidFill>
            <a:ln/>
          </p:spPr>
        </p:sp>
        <p:sp>
          <p:nvSpPr>
            <p:cNvPr id="44" name="Progression 8"/>
            <p:cNvSpPr/>
            <p:nvPr/>
          </p:nvSpPr>
          <p:spPr>
            <a:xfrm>
              <a:off x="5761567" y="6527800"/>
              <a:ext cx="668867" cy="63500"/>
            </a:xfrm>
            <a:prstGeom prst="rect">
              <a:avLst/>
            </a:prstGeom>
            <a:solidFill>
              <a:srgbClr val="E8742A"/>
            </a:solidFill>
            <a:ln/>
          </p:spPr>
        </p:sp>
        <p:sp>
          <p:nvSpPr>
            <p:cNvPr id="45" name="Progression 9"/>
            <p:cNvSpPr/>
            <p:nvPr/>
          </p:nvSpPr>
          <p:spPr>
            <a:xfrm>
              <a:off x="6506633" y="6527800"/>
              <a:ext cx="668867" cy="63500"/>
            </a:xfrm>
            <a:prstGeom prst="rect">
              <a:avLst/>
            </a:prstGeom>
            <a:solidFill>
              <a:srgbClr val="E8742A"/>
            </a:solidFill>
            <a:ln/>
          </p:spPr>
        </p:sp>
        <p:sp>
          <p:nvSpPr>
            <p:cNvPr id="46" name="Progression 10"/>
            <p:cNvSpPr/>
            <p:nvPr/>
          </p:nvSpPr>
          <p:spPr>
            <a:xfrm>
              <a:off x="7251700" y="6527800"/>
              <a:ext cx="668867" cy="63500"/>
            </a:xfrm>
            <a:prstGeom prst="rect">
              <a:avLst/>
            </a:prstGeom>
            <a:solidFill>
              <a:srgbClr val="E8742A"/>
            </a:solidFill>
            <a:ln/>
          </p:spPr>
        </p:sp>
        <p:sp>
          <p:nvSpPr>
            <p:cNvPr id="47" name="Progression 11"/>
            <p:cNvSpPr/>
            <p:nvPr/>
          </p:nvSpPr>
          <p:spPr>
            <a:xfrm>
              <a:off x="7996767" y="6527800"/>
              <a:ext cx="668867" cy="63500"/>
            </a:xfrm>
            <a:prstGeom prst="rect">
              <a:avLst/>
            </a:prstGeom>
            <a:solidFill>
              <a:srgbClr val="3A312C"/>
            </a:solidFill>
            <a:ln/>
          </p:spPr>
        </p:sp>
        <p:sp>
          <p:nvSpPr>
            <p:cNvPr id="48" name="Progression 12"/>
            <p:cNvSpPr/>
            <p:nvPr/>
          </p:nvSpPr>
          <p:spPr>
            <a:xfrm>
              <a:off x="8741833" y="6527800"/>
              <a:ext cx="668867" cy="63500"/>
            </a:xfrm>
            <a:prstGeom prst="rect">
              <a:avLst/>
            </a:prstGeom>
            <a:solidFill>
              <a:srgbClr val="3A312C"/>
            </a:solidFill>
            <a:ln/>
          </p:spPr>
        </p:sp>
        <p:sp>
          <p:nvSpPr>
            <p:cNvPr id="49" name="Progression 13"/>
            <p:cNvSpPr/>
            <p:nvPr/>
          </p:nvSpPr>
          <p:spPr>
            <a:xfrm>
              <a:off x="9486900" y="6527800"/>
              <a:ext cx="668867" cy="63500"/>
            </a:xfrm>
            <a:prstGeom prst="rect">
              <a:avLst/>
            </a:prstGeom>
            <a:solidFill>
              <a:srgbClr val="3A312C"/>
            </a:solidFill>
            <a:ln/>
          </p:spPr>
        </p:sp>
        <p:sp>
          <p:nvSpPr>
            <p:cNvPr id="50" name="Progression 14"/>
            <p:cNvSpPr/>
            <p:nvPr/>
          </p:nvSpPr>
          <p:spPr>
            <a:xfrm>
              <a:off x="10231967" y="6527800"/>
              <a:ext cx="668867" cy="63500"/>
            </a:xfrm>
            <a:prstGeom prst="rect">
              <a:avLst/>
            </a:prstGeom>
            <a:solidFill>
              <a:srgbClr val="3A312C"/>
            </a:solidFill>
            <a:ln/>
          </p:spPr>
        </p:sp>
        <p:sp>
          <p:nvSpPr>
            <p:cNvPr id="51"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père de section"/>
          <p:cNvSpPr txBox="1"/>
          <p:nvPr/>
        </p:nvSpPr>
        <p:spPr>
          <a:xfrm>
            <a:off x="548640" y="384048"/>
            <a:ext cx="676656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III · PSAUME 19.11‑12</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Plus précieuse que l'or</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Ce que vous désirez le plus révèle ce que vous estimez le plus</a:t>
            </a:r>
            <a:endParaRPr lang="fr-CA" sz="1900" dirty="0"/>
          </a:p>
        </p:txBody>
      </p:sp>
      <p:sp>
        <p:nvSpPr>
          <p:cNvPr id="5" name="Navigation : le ciel"/>
          <p:cNvSpPr txBox="1"/>
          <p:nvPr/>
        </p:nvSpPr>
        <p:spPr>
          <a:xfrm>
            <a:off x="7756855" y="384048"/>
            <a:ext cx="7772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ciel</a:t>
            </a:r>
            <a:endParaRPr lang="fr-CA" sz="1400" dirty="0"/>
          </a:p>
        </p:txBody>
      </p:sp>
      <p:sp>
        <p:nvSpPr>
          <p:cNvPr id="6" name="Navigation : la Parole"/>
          <p:cNvSpPr txBox="1"/>
          <p:nvPr/>
        </p:nvSpPr>
        <p:spPr>
          <a:xfrm>
            <a:off x="8671255" y="384048"/>
            <a:ext cx="10058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la Parole</a:t>
            </a:r>
            <a:endParaRPr lang="fr-CA" sz="1400" dirty="0"/>
          </a:p>
        </p:txBody>
      </p:sp>
      <p:sp>
        <p:nvSpPr>
          <p:cNvPr id="7" name="Navigation : le désir"/>
          <p:cNvSpPr txBox="1"/>
          <p:nvPr/>
        </p:nvSpPr>
        <p:spPr>
          <a:xfrm>
            <a:off x="9814255" y="384048"/>
            <a:ext cx="868680" cy="292608"/>
          </a:xfrm>
          <a:prstGeom prst="rect">
            <a:avLst/>
          </a:prstGeom>
          <a:noFill/>
          <a:ln/>
        </p:spPr>
        <p:txBody>
          <a:bodyPr wrap="square" lIns="0" tIns="0" rIns="0" bIns="0" rtlCol="0" anchor="t"/>
          <a:lstStyle/>
          <a:p>
            <a:pPr algn="ctr" indent="0" marL="0">
              <a:buNone/>
            </a:pPr>
            <a:r>
              <a:rPr lang="fr-CA" altLang="en-US" sz="1400" b="1" dirty="0">
                <a:solidFill>
                  <a:srgbClr val="E8742A"/>
                </a:solidFill>
                <a:latin typeface="Calibri" pitchFamily="34" charset="0"/>
                <a:ea typeface="Calibri" pitchFamily="34" charset="-122"/>
                <a:cs typeface="Calibri" pitchFamily="34" charset="-120"/>
              </a:rPr>
              <a:t>le désir</a:t>
            </a:r>
            <a:endParaRPr lang="fr-CA" sz="1400" dirty="0"/>
          </a:p>
        </p:txBody>
      </p:sp>
      <p:sp>
        <p:nvSpPr>
          <p:cNvPr id="8" name="Navigation : le cœur"/>
          <p:cNvSpPr txBox="1"/>
          <p:nvPr/>
        </p:nvSpPr>
        <p:spPr>
          <a:xfrm>
            <a:off x="10820095" y="384048"/>
            <a:ext cx="82296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cœur</a:t>
            </a:r>
            <a:endParaRPr lang="fr-CA" sz="1400" dirty="0"/>
          </a:p>
        </p:txBody>
      </p:sp>
      <p:pic>
        <p:nvPicPr>
          <p:cNvPr id="9" name="Image 0" descr="Balance : l'or et le miel d'un côté, plus légers que le livre ouvert de l'autre">    </p:cNvPr>
          <p:cNvPicPr>
            <a:picLocks noChangeAspect="1"/>
          </p:cNvPicPr>
          <p:nvPr/>
        </p:nvPicPr>
        <p:blipFill>
          <a:blip r:embed="rId1"/>
          <a:stretch>
            <a:fillRect/>
          </a:stretch>
        </p:blipFill>
        <p:spPr>
          <a:xfrm>
            <a:off x="411480" y="1828800"/>
            <a:ext cx="5212080" cy="4343400"/>
          </a:xfrm>
          <a:prstGeom prst="rect">
            <a:avLst/>
          </a:prstGeom>
        </p:spPr>
      </p:pic>
      <p:sp>
        <p:nvSpPr>
          <p:cNvPr id="10" name="Shape 7"/>
          <p:cNvSpPr/>
          <p:nvPr/>
        </p:nvSpPr>
        <p:spPr>
          <a:xfrm>
            <a:off x="6035040" y="1965960"/>
            <a:ext cx="566928" cy="566928"/>
          </a:xfrm>
          <a:prstGeom prst="ellipse">
            <a:avLst/>
          </a:prstGeom>
          <a:solidFill>
            <a:srgbClr val="2A1A10"/>
          </a:solidFill>
          <a:ln w="12700">
            <a:solidFill>
              <a:srgbClr val="CC5500"/>
            </a:solidFill>
            <a:prstDash val="solid"/>
          </a:ln>
        </p:spPr>
      </p:sp>
      <p:pic>
        <p:nvPicPr>
          <p:cNvPr id="11" name="Image 1" descr="Icône : lingots d'or">    </p:cNvPr>
          <p:cNvPicPr>
            <a:picLocks noChangeAspect="1"/>
          </p:cNvPicPr>
          <p:nvPr/>
        </p:nvPicPr>
        <p:blipFill>
          <a:blip r:embed="rId2"/>
          <a:stretch>
            <a:fillRect/>
          </a:stretch>
        </p:blipFill>
        <p:spPr>
          <a:xfrm>
            <a:off x="6148426" y="2079346"/>
            <a:ext cx="340157" cy="340157"/>
          </a:xfrm>
          <a:prstGeom prst="rect">
            <a:avLst/>
          </a:prstGeom>
        </p:spPr>
      </p:pic>
      <p:sp>
        <p:nvSpPr>
          <p:cNvPr id="12" name="Text 8"/>
          <p:cNvSpPr txBox="1"/>
          <p:nvPr/>
        </p:nvSpPr>
        <p:spPr>
          <a:xfrm>
            <a:off x="6784848" y="1938528"/>
            <a:ext cx="4855464" cy="91440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Plus précieuse que l'or affiné (</a:t>
            </a:r>
            <a:pPr indent="0" marL="0">
              <a:spcBef>
                <a:spcPts val="200"/>
              </a:spcBef>
              <a:buNone/>
            </a:pPr>
            <a:r>
              <a:rPr lang="fr-CA" altLang="en-US" sz="1800" b="1" i="1" dirty="0">
                <a:solidFill>
                  <a:srgbClr val="F4EDE4"/>
                </a:solidFill>
                <a:latin typeface="Calibri" pitchFamily="34" charset="0"/>
                <a:ea typeface="Calibri" pitchFamily="34" charset="-122"/>
                <a:cs typeface="Calibri" pitchFamily="34" charset="-120"/>
              </a:rPr>
              <a:t>paz</a:t>
            </a:r>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Le bien suprême d'ici‑bas :</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le plus grand bien qu'on puisse posséder.</a:t>
            </a:r>
            <a:endParaRPr lang="fr-CA" sz="1500" dirty="0"/>
          </a:p>
        </p:txBody>
      </p:sp>
      <p:sp>
        <p:nvSpPr>
          <p:cNvPr id="13" name="Shape 9"/>
          <p:cNvSpPr/>
          <p:nvPr/>
        </p:nvSpPr>
        <p:spPr>
          <a:xfrm>
            <a:off x="6035040" y="2926080"/>
            <a:ext cx="566928" cy="566928"/>
          </a:xfrm>
          <a:prstGeom prst="ellipse">
            <a:avLst/>
          </a:prstGeom>
          <a:solidFill>
            <a:srgbClr val="2A1A10"/>
          </a:solidFill>
          <a:ln w="12700">
            <a:solidFill>
              <a:srgbClr val="CC5500"/>
            </a:solidFill>
            <a:prstDash val="solid"/>
          </a:ln>
        </p:spPr>
      </p:sp>
      <p:pic>
        <p:nvPicPr>
          <p:cNvPr id="14" name="Image 2" descr="Icône : rayon de miel">    </p:cNvPr>
          <p:cNvPicPr>
            <a:picLocks noChangeAspect="1"/>
          </p:cNvPicPr>
          <p:nvPr/>
        </p:nvPicPr>
        <p:blipFill>
          <a:blip r:embed="rId3"/>
          <a:stretch>
            <a:fillRect/>
          </a:stretch>
        </p:blipFill>
        <p:spPr>
          <a:xfrm>
            <a:off x="6148426" y="3039466"/>
            <a:ext cx="340157" cy="340157"/>
          </a:xfrm>
          <a:prstGeom prst="rect">
            <a:avLst/>
          </a:prstGeom>
        </p:spPr>
      </p:pic>
      <p:sp>
        <p:nvSpPr>
          <p:cNvPr id="15" name="Text 10"/>
          <p:cNvSpPr txBox="1"/>
          <p:nvPr/>
        </p:nvSpPr>
        <p:spPr>
          <a:xfrm>
            <a:off x="6784848" y="2898648"/>
            <a:ext cx="4855464" cy="91440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Plus douce que le miel des rayons</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Le délice des délices :</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le plus grand plaisir qu'on puisse goûter.</a:t>
            </a:r>
            <a:endParaRPr lang="fr-CA" sz="1500" dirty="0"/>
          </a:p>
        </p:txBody>
      </p:sp>
      <p:sp>
        <p:nvSpPr>
          <p:cNvPr id="16" name="Shape 11"/>
          <p:cNvSpPr/>
          <p:nvPr/>
        </p:nvSpPr>
        <p:spPr>
          <a:xfrm>
            <a:off x="6035040" y="3886200"/>
            <a:ext cx="566928" cy="566928"/>
          </a:xfrm>
          <a:prstGeom prst="ellipse">
            <a:avLst/>
          </a:prstGeom>
          <a:solidFill>
            <a:srgbClr val="2A1A10"/>
          </a:solidFill>
          <a:ln w="12700">
            <a:solidFill>
              <a:srgbClr val="CC5500"/>
            </a:solidFill>
            <a:prstDash val="solid"/>
          </a:ln>
        </p:spPr>
      </p:sp>
      <p:pic>
        <p:nvPicPr>
          <p:cNvPr id="17" name="Image 3" descr="Icône : panneau d'avertissement">    </p:cNvPr>
          <p:cNvPicPr>
            <a:picLocks noChangeAspect="1"/>
          </p:cNvPicPr>
          <p:nvPr/>
        </p:nvPicPr>
        <p:blipFill>
          <a:blip r:embed="rId4"/>
          <a:stretch>
            <a:fillRect/>
          </a:stretch>
        </p:blipFill>
        <p:spPr>
          <a:xfrm>
            <a:off x="6148426" y="3999586"/>
            <a:ext cx="340157" cy="340157"/>
          </a:xfrm>
          <a:prstGeom prst="rect">
            <a:avLst/>
          </a:prstGeom>
        </p:spPr>
      </p:pic>
      <p:sp>
        <p:nvSpPr>
          <p:cNvPr id="18" name="Text 12"/>
          <p:cNvSpPr txBox="1"/>
          <p:nvPr/>
        </p:nvSpPr>
        <p:spPr>
          <a:xfrm>
            <a:off x="6784848" y="3858768"/>
            <a:ext cx="4855464" cy="91440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Elle avertit</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 La Parole de Dieu est pleine d'avertissements » (MacArthur).</a:t>
            </a:r>
            <a:endParaRPr lang="fr-CA" sz="1500" dirty="0"/>
          </a:p>
        </p:txBody>
      </p:sp>
      <p:sp>
        <p:nvSpPr>
          <p:cNvPr id="19" name="Shape 13"/>
          <p:cNvSpPr/>
          <p:nvPr/>
        </p:nvSpPr>
        <p:spPr>
          <a:xfrm>
            <a:off x="6035040" y="4846320"/>
            <a:ext cx="566928" cy="566928"/>
          </a:xfrm>
          <a:prstGeom prst="ellipse">
            <a:avLst/>
          </a:prstGeom>
          <a:solidFill>
            <a:srgbClr val="2A1A10"/>
          </a:solidFill>
          <a:ln w="12700">
            <a:solidFill>
              <a:srgbClr val="CC5500"/>
            </a:solidFill>
            <a:prstDash val="solid"/>
          </a:ln>
        </p:spPr>
      </p:sp>
      <p:pic>
        <p:nvPicPr>
          <p:cNvPr id="20" name="Image 4" descr="Icône : drapeau d'arrivée">    </p:cNvPr>
          <p:cNvPicPr>
            <a:picLocks noChangeAspect="1"/>
          </p:cNvPicPr>
          <p:nvPr/>
        </p:nvPicPr>
        <p:blipFill>
          <a:blip r:embed="rId5"/>
          <a:stretch>
            <a:fillRect/>
          </a:stretch>
        </p:blipFill>
        <p:spPr>
          <a:xfrm>
            <a:off x="6148426" y="4959706"/>
            <a:ext cx="340157" cy="340157"/>
          </a:xfrm>
          <a:prstGeom prst="rect">
            <a:avLst/>
          </a:prstGeom>
        </p:spPr>
      </p:pic>
      <p:sp>
        <p:nvSpPr>
          <p:cNvPr id="21" name="Text 14"/>
          <p:cNvSpPr txBox="1"/>
          <p:nvPr/>
        </p:nvSpPr>
        <p:spPr>
          <a:xfrm>
            <a:off x="6784848" y="4818888"/>
            <a:ext cx="4855464" cy="96012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Une grande récompense</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 En les gardant, il y a la fin » :</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non ici et maintenant, mais la bénédiction éternelle.</a:t>
            </a:r>
            <a:endParaRPr lang="fr-CA" sz="1500" dirty="0"/>
          </a:p>
        </p:txBody>
      </p:sp>
      <p:sp>
        <p:nvSpPr>
          <p:cNvPr id="22" name="Text 15"/>
          <p:cNvSpPr txBox="1"/>
          <p:nvPr/>
        </p:nvSpPr>
        <p:spPr>
          <a:xfrm>
            <a:off x="6035040" y="5943600"/>
            <a:ext cx="5605272" cy="411480"/>
          </a:xfrm>
          <a:prstGeom prst="rect">
            <a:avLst/>
          </a:prstGeom>
          <a:noFill/>
          <a:ln/>
        </p:spPr>
        <p:txBody>
          <a:bodyPr wrap="square" lIns="0" tIns="0" rIns="0" bIns="0" rtlCol="0" anchor="t"/>
          <a:lstStyle/>
          <a:p>
            <a:pPr indent="0" marL="0">
              <a:buNone/>
            </a:pPr>
            <a:r>
              <a:rPr lang="fr-CA" altLang="en-US" sz="2000" i="1" dirty="0">
                <a:solidFill>
                  <a:srgbClr val="E8742A"/>
                </a:solidFill>
                <a:latin typeface="Calibri" pitchFamily="34" charset="0"/>
                <a:ea typeface="Calibri" pitchFamily="34" charset="-122"/>
                <a:cs typeface="Calibri" pitchFamily="34" charset="-120"/>
              </a:rPr>
              <a:t>Votre agenda dit ce qui est votre or.</a:t>
            </a:r>
            <a:endParaRPr lang="fr-CA" sz="2000" dirty="0"/>
          </a:p>
        </p:txBody>
      </p:sp>
      <p:grpSp>
        <p:nvGrpSpPr>
          <p:cNvPr id="1010" name="Barre de progression"/>
          <p:cNvGrpSpPr/>
          <p:nvPr/>
        </p:nvGrpSpPr>
        <p:grpSpPr>
          <a:xfrm>
            <a:off x="546100" y="6527800"/>
            <a:ext cx="11099800" cy="63500"/>
            <a:chOff x="546100" y="6527800"/>
            <a:chExt cx="11099800" cy="63500"/>
          </a:xfrm>
        </p:grpSpPr>
        <p:sp>
          <p:nvSpPr>
            <p:cNvPr id="23" name="Progression 1"/>
            <p:cNvSpPr/>
            <p:nvPr/>
          </p:nvSpPr>
          <p:spPr>
            <a:xfrm>
              <a:off x="546100" y="6527800"/>
              <a:ext cx="668867" cy="63500"/>
            </a:xfrm>
            <a:prstGeom prst="rect">
              <a:avLst/>
            </a:prstGeom>
            <a:solidFill>
              <a:srgbClr val="E8742A"/>
            </a:solidFill>
            <a:ln/>
          </p:spPr>
        </p:sp>
        <p:sp>
          <p:nvSpPr>
            <p:cNvPr id="24" name="Progression 2"/>
            <p:cNvSpPr/>
            <p:nvPr/>
          </p:nvSpPr>
          <p:spPr>
            <a:xfrm>
              <a:off x="1291167" y="6527800"/>
              <a:ext cx="668867" cy="63500"/>
            </a:xfrm>
            <a:prstGeom prst="rect">
              <a:avLst/>
            </a:prstGeom>
            <a:solidFill>
              <a:srgbClr val="E8742A"/>
            </a:solidFill>
            <a:ln/>
          </p:spPr>
        </p:sp>
        <p:sp>
          <p:nvSpPr>
            <p:cNvPr id="25" name="Progression 3"/>
            <p:cNvSpPr/>
            <p:nvPr/>
          </p:nvSpPr>
          <p:spPr>
            <a:xfrm>
              <a:off x="2036233" y="6527800"/>
              <a:ext cx="668867" cy="63500"/>
            </a:xfrm>
            <a:prstGeom prst="rect">
              <a:avLst/>
            </a:prstGeom>
            <a:solidFill>
              <a:srgbClr val="E8742A"/>
            </a:solidFill>
            <a:ln/>
          </p:spPr>
        </p:sp>
        <p:sp>
          <p:nvSpPr>
            <p:cNvPr id="26" name="Progression 4"/>
            <p:cNvSpPr/>
            <p:nvPr/>
          </p:nvSpPr>
          <p:spPr>
            <a:xfrm>
              <a:off x="2781300" y="6527800"/>
              <a:ext cx="668867" cy="63500"/>
            </a:xfrm>
            <a:prstGeom prst="rect">
              <a:avLst/>
            </a:prstGeom>
            <a:solidFill>
              <a:srgbClr val="E8742A"/>
            </a:solidFill>
            <a:ln/>
          </p:spPr>
        </p:sp>
        <p:sp>
          <p:nvSpPr>
            <p:cNvPr id="27" name="Progression 5"/>
            <p:cNvSpPr/>
            <p:nvPr/>
          </p:nvSpPr>
          <p:spPr>
            <a:xfrm>
              <a:off x="3526367" y="6527800"/>
              <a:ext cx="668867" cy="63500"/>
            </a:xfrm>
            <a:prstGeom prst="rect">
              <a:avLst/>
            </a:prstGeom>
            <a:solidFill>
              <a:srgbClr val="E8742A"/>
            </a:solidFill>
            <a:ln/>
          </p:spPr>
        </p:sp>
        <p:sp>
          <p:nvSpPr>
            <p:cNvPr id="28" name="Progression 6"/>
            <p:cNvSpPr/>
            <p:nvPr/>
          </p:nvSpPr>
          <p:spPr>
            <a:xfrm>
              <a:off x="4271433" y="6527800"/>
              <a:ext cx="668867" cy="63500"/>
            </a:xfrm>
            <a:prstGeom prst="rect">
              <a:avLst/>
            </a:prstGeom>
            <a:solidFill>
              <a:srgbClr val="E8742A"/>
            </a:solidFill>
            <a:ln/>
          </p:spPr>
        </p:sp>
        <p:sp>
          <p:nvSpPr>
            <p:cNvPr id="29" name="Progression 7"/>
            <p:cNvSpPr/>
            <p:nvPr/>
          </p:nvSpPr>
          <p:spPr>
            <a:xfrm>
              <a:off x="5016500" y="6527800"/>
              <a:ext cx="668867" cy="63500"/>
            </a:xfrm>
            <a:prstGeom prst="rect">
              <a:avLst/>
            </a:prstGeom>
            <a:solidFill>
              <a:srgbClr val="E8742A"/>
            </a:solidFill>
            <a:ln/>
          </p:spPr>
        </p:sp>
        <p:sp>
          <p:nvSpPr>
            <p:cNvPr id="30" name="Progression 8"/>
            <p:cNvSpPr/>
            <p:nvPr/>
          </p:nvSpPr>
          <p:spPr>
            <a:xfrm>
              <a:off x="5761567" y="6527800"/>
              <a:ext cx="668867" cy="63500"/>
            </a:xfrm>
            <a:prstGeom prst="rect">
              <a:avLst/>
            </a:prstGeom>
            <a:solidFill>
              <a:srgbClr val="E8742A"/>
            </a:solidFill>
            <a:ln/>
          </p:spPr>
        </p:sp>
        <p:sp>
          <p:nvSpPr>
            <p:cNvPr id="31" name="Progression 9"/>
            <p:cNvSpPr/>
            <p:nvPr/>
          </p:nvSpPr>
          <p:spPr>
            <a:xfrm>
              <a:off x="6506633" y="6527800"/>
              <a:ext cx="668867" cy="63500"/>
            </a:xfrm>
            <a:prstGeom prst="rect">
              <a:avLst/>
            </a:prstGeom>
            <a:solidFill>
              <a:srgbClr val="E8742A"/>
            </a:solidFill>
            <a:ln/>
          </p:spPr>
        </p:sp>
        <p:sp>
          <p:nvSpPr>
            <p:cNvPr id="32" name="Progression 10"/>
            <p:cNvSpPr/>
            <p:nvPr/>
          </p:nvSpPr>
          <p:spPr>
            <a:xfrm>
              <a:off x="7251700" y="6527800"/>
              <a:ext cx="668867" cy="63500"/>
            </a:xfrm>
            <a:prstGeom prst="rect">
              <a:avLst/>
            </a:prstGeom>
            <a:solidFill>
              <a:srgbClr val="E8742A"/>
            </a:solidFill>
            <a:ln/>
          </p:spPr>
        </p:sp>
        <p:sp>
          <p:nvSpPr>
            <p:cNvPr id="33" name="Progression 11"/>
            <p:cNvSpPr/>
            <p:nvPr/>
          </p:nvSpPr>
          <p:spPr>
            <a:xfrm>
              <a:off x="7996767" y="6527800"/>
              <a:ext cx="668867" cy="63500"/>
            </a:xfrm>
            <a:prstGeom prst="rect">
              <a:avLst/>
            </a:prstGeom>
            <a:solidFill>
              <a:srgbClr val="E8742A"/>
            </a:solidFill>
            <a:ln/>
          </p:spPr>
        </p:sp>
        <p:sp>
          <p:nvSpPr>
            <p:cNvPr id="34" name="Progression 12"/>
            <p:cNvSpPr/>
            <p:nvPr/>
          </p:nvSpPr>
          <p:spPr>
            <a:xfrm>
              <a:off x="8741833" y="6527800"/>
              <a:ext cx="668867" cy="63500"/>
            </a:xfrm>
            <a:prstGeom prst="rect">
              <a:avLst/>
            </a:prstGeom>
            <a:solidFill>
              <a:srgbClr val="3A312C"/>
            </a:solidFill>
            <a:ln/>
          </p:spPr>
        </p:sp>
        <p:sp>
          <p:nvSpPr>
            <p:cNvPr id="35" name="Progression 13"/>
            <p:cNvSpPr/>
            <p:nvPr/>
          </p:nvSpPr>
          <p:spPr>
            <a:xfrm>
              <a:off x="9486900" y="6527800"/>
              <a:ext cx="668867" cy="63500"/>
            </a:xfrm>
            <a:prstGeom prst="rect">
              <a:avLst/>
            </a:prstGeom>
            <a:solidFill>
              <a:srgbClr val="3A312C"/>
            </a:solidFill>
            <a:ln/>
          </p:spPr>
        </p:sp>
        <p:sp>
          <p:nvSpPr>
            <p:cNvPr id="36" name="Progression 14"/>
            <p:cNvSpPr/>
            <p:nvPr/>
          </p:nvSpPr>
          <p:spPr>
            <a:xfrm>
              <a:off x="10231967" y="6527800"/>
              <a:ext cx="668867" cy="63500"/>
            </a:xfrm>
            <a:prstGeom prst="rect">
              <a:avLst/>
            </a:prstGeom>
            <a:solidFill>
              <a:srgbClr val="3A312C"/>
            </a:solidFill>
            <a:ln/>
          </p:spPr>
        </p:sp>
        <p:sp>
          <p:nvSpPr>
            <p:cNvPr id="37"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Repère de section"/>
          <p:cNvSpPr txBox="1"/>
          <p:nvPr/>
        </p:nvSpPr>
        <p:spPr>
          <a:xfrm>
            <a:off x="548640" y="384048"/>
            <a:ext cx="676656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IV · PSAUME 19.13‑14 / NOMBRES 15.22‑31</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Le cœur sondé et gardé</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La Parole qui me montre mon péché me conduit à mon Rédempteur</a:t>
            </a:r>
            <a:endParaRPr lang="fr-CA" sz="1900" dirty="0"/>
          </a:p>
        </p:txBody>
      </p:sp>
      <p:sp>
        <p:nvSpPr>
          <p:cNvPr id="5" name="Navigation : le ciel"/>
          <p:cNvSpPr txBox="1"/>
          <p:nvPr/>
        </p:nvSpPr>
        <p:spPr>
          <a:xfrm>
            <a:off x="7756855" y="384048"/>
            <a:ext cx="7772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ciel</a:t>
            </a:r>
            <a:endParaRPr lang="fr-CA" sz="1400" dirty="0"/>
          </a:p>
        </p:txBody>
      </p:sp>
      <p:sp>
        <p:nvSpPr>
          <p:cNvPr id="6" name="Navigation : la Parole"/>
          <p:cNvSpPr txBox="1"/>
          <p:nvPr/>
        </p:nvSpPr>
        <p:spPr>
          <a:xfrm>
            <a:off x="8671255" y="384048"/>
            <a:ext cx="10058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la Parole</a:t>
            </a:r>
            <a:endParaRPr lang="fr-CA" sz="1400" dirty="0"/>
          </a:p>
        </p:txBody>
      </p:sp>
      <p:sp>
        <p:nvSpPr>
          <p:cNvPr id="7" name="Navigation : le désir"/>
          <p:cNvSpPr txBox="1"/>
          <p:nvPr/>
        </p:nvSpPr>
        <p:spPr>
          <a:xfrm>
            <a:off x="9814255" y="384048"/>
            <a:ext cx="86868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désir</a:t>
            </a:r>
            <a:endParaRPr lang="fr-CA" sz="1400" dirty="0"/>
          </a:p>
        </p:txBody>
      </p:sp>
      <p:sp>
        <p:nvSpPr>
          <p:cNvPr id="8" name="Navigation : le cœur"/>
          <p:cNvSpPr txBox="1"/>
          <p:nvPr/>
        </p:nvSpPr>
        <p:spPr>
          <a:xfrm>
            <a:off x="10820095" y="384048"/>
            <a:ext cx="822960" cy="292608"/>
          </a:xfrm>
          <a:prstGeom prst="rect">
            <a:avLst/>
          </a:prstGeom>
          <a:noFill/>
          <a:ln/>
        </p:spPr>
        <p:txBody>
          <a:bodyPr wrap="square" lIns="0" tIns="0" rIns="0" bIns="0" rtlCol="0" anchor="t"/>
          <a:lstStyle/>
          <a:p>
            <a:pPr algn="ctr" indent="0" marL="0">
              <a:buNone/>
            </a:pPr>
            <a:r>
              <a:rPr lang="fr-CA" altLang="en-US" sz="1400" b="1" dirty="0">
                <a:solidFill>
                  <a:srgbClr val="E8742A"/>
                </a:solidFill>
                <a:latin typeface="Calibri" pitchFamily="34" charset="0"/>
                <a:ea typeface="Calibri" pitchFamily="34" charset="-122"/>
                <a:cs typeface="Calibri" pitchFamily="34" charset="-120"/>
              </a:rPr>
              <a:t>le cœur</a:t>
            </a:r>
            <a:endParaRPr lang="fr-CA" sz="1400" dirty="0"/>
          </a:p>
        </p:txBody>
      </p:sp>
      <p:sp>
        <p:nvSpPr>
          <p:cNvPr id="9" name="Degré 1"/>
          <p:cNvSpPr/>
          <p:nvPr/>
        </p:nvSpPr>
        <p:spPr>
          <a:xfrm>
            <a:off x="548640" y="1874520"/>
            <a:ext cx="3520440" cy="2834640"/>
          </a:xfrm>
          <a:prstGeom prst="roundRect">
            <a:avLst>
              <a:gd name="adj" fmla="val 3871"/>
            </a:avLst>
          </a:prstGeom>
          <a:solidFill>
            <a:srgbClr val="1A1411"/>
          </a:solidFill>
          <a:ln w="12700">
            <a:solidFill>
              <a:srgbClr val="6E5A4C"/>
            </a:solidFill>
            <a:prstDash val="solid"/>
          </a:ln>
        </p:spPr>
      </p:sp>
      <p:sp>
        <p:nvSpPr>
          <p:cNvPr id="10" name="Shape 8"/>
          <p:cNvSpPr/>
          <p:nvPr/>
        </p:nvSpPr>
        <p:spPr>
          <a:xfrm>
            <a:off x="804672" y="2075688"/>
            <a:ext cx="603504" cy="603504"/>
          </a:xfrm>
          <a:prstGeom prst="ellipse">
            <a:avLst/>
          </a:prstGeom>
          <a:solidFill>
            <a:srgbClr val="2A1A10"/>
          </a:solidFill>
          <a:ln w="12700">
            <a:solidFill>
              <a:srgbClr val="CC5500"/>
            </a:solidFill>
            <a:prstDash val="solid"/>
          </a:ln>
        </p:spPr>
      </p:sp>
      <p:pic>
        <p:nvPicPr>
          <p:cNvPr id="11" name="Image 0" descr="Icône : œil barré">    </p:cNvPr>
          <p:cNvPicPr>
            <a:picLocks noChangeAspect="1"/>
          </p:cNvPicPr>
          <p:nvPr/>
        </p:nvPicPr>
        <p:blipFill>
          <a:blip r:embed="rId1"/>
          <a:stretch>
            <a:fillRect/>
          </a:stretch>
        </p:blipFill>
        <p:spPr>
          <a:xfrm>
            <a:off x="925373" y="2196389"/>
            <a:ext cx="362102" cy="362102"/>
          </a:xfrm>
          <a:prstGeom prst="rect">
            <a:avLst/>
          </a:prstGeom>
        </p:spPr>
      </p:pic>
      <p:sp>
        <p:nvSpPr>
          <p:cNvPr id="12" name="Text 9"/>
          <p:cNvSpPr txBox="1"/>
          <p:nvPr/>
        </p:nvSpPr>
        <p:spPr>
          <a:xfrm>
            <a:off x="3383280" y="2057400"/>
            <a:ext cx="457200" cy="457200"/>
          </a:xfrm>
          <a:prstGeom prst="rect">
            <a:avLst/>
          </a:prstGeom>
          <a:noFill/>
          <a:ln/>
        </p:spPr>
        <p:txBody>
          <a:bodyPr wrap="square" lIns="0" tIns="0" rIns="0" bIns="0" rtlCol="0" anchor="t"/>
          <a:lstStyle/>
          <a:p>
            <a:pPr algn="r" indent="0" marL="0">
              <a:buNone/>
            </a:pPr>
            <a:r>
              <a:rPr lang="fr-CA" altLang="en-US" sz="2600" b="1" dirty="0">
                <a:solidFill>
                  <a:srgbClr val="968A80"/>
                </a:solidFill>
                <a:latin typeface="Cambria" pitchFamily="34" charset="0"/>
                <a:ea typeface="Cambria" pitchFamily="34" charset="-122"/>
                <a:cs typeface="Cambria" pitchFamily="34" charset="-120"/>
              </a:rPr>
              <a:t>1</a:t>
            </a:r>
            <a:endParaRPr lang="fr-CA" sz="2600" dirty="0"/>
          </a:p>
        </p:txBody>
      </p:sp>
      <p:sp>
        <p:nvSpPr>
          <p:cNvPr id="13" name="Text 10"/>
          <p:cNvSpPr txBox="1"/>
          <p:nvPr/>
        </p:nvSpPr>
        <p:spPr>
          <a:xfrm>
            <a:off x="804672" y="2788920"/>
            <a:ext cx="3017520" cy="1097280"/>
          </a:xfrm>
          <a:prstGeom prst="rect">
            <a:avLst/>
          </a:prstGeom>
          <a:noFill/>
          <a:ln/>
        </p:spPr>
        <p:txBody>
          <a:bodyPr wrap="square" lIns="0" tIns="0" rIns="0" bIns="0" rtlCol="0" anchor="t"/>
          <a:lstStyle/>
          <a:p>
            <a:pPr indent="0" marL="0">
              <a:buNone/>
            </a:pPr>
            <a:r>
              <a:rPr lang="fr-CA" altLang="en-US" sz="2000" b="1" dirty="0">
                <a:solidFill>
                  <a:srgbClr val="F4EDE4"/>
                </a:solidFill>
                <a:latin typeface="Calibri" pitchFamily="34" charset="0"/>
                <a:ea typeface="Calibri" pitchFamily="34" charset="-122"/>
                <a:cs typeface="Calibri" pitchFamily="34" charset="-120"/>
              </a:rPr>
              <a:t>Égarements</a:t>
            </a:r>
            <a:endParaRPr lang="fr-CA" sz="1500" dirty="0"/>
          </a:p>
          <a:p>
            <a:pPr indent="0" marL="0">
              <a:buNone/>
            </a:pPr>
            <a:r>
              <a:rPr lang="fr-CA" altLang="en-US" sz="1500" dirty="0">
                <a:solidFill>
                  <a:srgbClr val="A89A8C"/>
                </a:solidFill>
                <a:latin typeface="Calibri" pitchFamily="34" charset="0"/>
                <a:ea typeface="Calibri" pitchFamily="34" charset="-122"/>
                <a:cs typeface="Calibri" pitchFamily="34" charset="-120"/>
              </a:rPr>
              <a:t>Péchés d'ignorance, non intentionnels.</a:t>
            </a:r>
            <a:endParaRPr lang="fr-CA" sz="1500" dirty="0"/>
          </a:p>
        </p:txBody>
      </p:sp>
      <p:sp>
        <p:nvSpPr>
          <p:cNvPr id="14" name="Shape 11"/>
          <p:cNvSpPr/>
          <p:nvPr/>
        </p:nvSpPr>
        <p:spPr>
          <a:xfrm>
            <a:off x="804672" y="3886200"/>
            <a:ext cx="2990088" cy="384048"/>
          </a:xfrm>
          <a:prstGeom prst="roundRect">
            <a:avLst>
              <a:gd name="adj" fmla="val 47619"/>
            </a:avLst>
          </a:prstGeom>
          <a:solidFill>
            <a:srgbClr val="0D0B0A"/>
          </a:solidFill>
          <a:ln w="12700">
            <a:solidFill>
              <a:srgbClr val="6E5A4C"/>
            </a:solidFill>
            <a:prstDash val="solid"/>
          </a:ln>
        </p:spPr>
      </p:sp>
      <p:sp>
        <p:nvSpPr>
          <p:cNvPr id="15" name="Text 12"/>
          <p:cNvSpPr txBox="1"/>
          <p:nvPr/>
        </p:nvSpPr>
        <p:spPr>
          <a:xfrm>
            <a:off x="804672" y="3886200"/>
            <a:ext cx="2990088" cy="384048"/>
          </a:xfrm>
          <a:prstGeom prst="rect">
            <a:avLst/>
          </a:prstGeom>
          <a:noFill/>
          <a:ln/>
        </p:spPr>
        <p:txBody>
          <a:bodyPr wrap="none" lIns="0" tIns="0" rIns="0" bIns="0" rtlCol="0" anchor="ctr"/>
          <a:lstStyle/>
          <a:p>
            <a:pPr algn="ctr" indent="0" marL="0">
              <a:buNone/>
            </a:pPr>
            <a:r>
              <a:rPr lang="fr-CA" altLang="en-US" sz="1500" dirty="0">
                <a:solidFill>
                  <a:srgbClr val="F4EDE4"/>
                </a:solidFill>
                <a:latin typeface="Calibri" pitchFamily="34" charset="0"/>
                <a:ea typeface="Calibri" pitchFamily="34" charset="-122"/>
                <a:cs typeface="Calibri" pitchFamily="34" charset="-120"/>
              </a:rPr>
              <a:t>Lévitique 4 : un sacrifice prévu</a:t>
            </a:r>
            <a:endParaRPr lang="fr-CA" sz="1500" dirty="0"/>
          </a:p>
        </p:txBody>
      </p:sp>
      <p:sp>
        <p:nvSpPr>
          <p:cNvPr id="16" name="Text 13"/>
          <p:cNvSpPr txBox="1"/>
          <p:nvPr/>
        </p:nvSpPr>
        <p:spPr>
          <a:xfrm>
            <a:off x="804672" y="4325112"/>
            <a:ext cx="3017520" cy="347472"/>
          </a:xfrm>
          <a:prstGeom prst="rect">
            <a:avLst/>
          </a:prstGeom>
          <a:noFill/>
          <a:ln/>
        </p:spPr>
        <p:txBody>
          <a:bodyPr wrap="square" lIns="0" tIns="0" rIns="0" bIns="0" rtlCol="0" anchor="t"/>
          <a:lstStyle/>
          <a:p>
            <a:pPr indent="0" marL="0">
              <a:buNone/>
            </a:pPr>
            <a:r>
              <a:rPr lang="fr-CA" altLang="en-US" sz="1500" i="1" dirty="0">
                <a:solidFill>
                  <a:srgbClr val="E8742A"/>
                </a:solidFill>
                <a:latin typeface="Calibri" pitchFamily="34" charset="0"/>
                <a:ea typeface="Calibri" pitchFamily="34" charset="-122"/>
                <a:cs typeface="Calibri" pitchFamily="34" charset="-120"/>
              </a:rPr>
              <a:t>« Pardonne‑moi » : acquitte‑moi</a:t>
            </a:r>
            <a:endParaRPr lang="fr-CA" sz="1500" dirty="0"/>
          </a:p>
        </p:txBody>
      </p:sp>
      <p:sp>
        <p:nvSpPr>
          <p:cNvPr id="17" name="Shape 14"/>
          <p:cNvSpPr/>
          <p:nvPr/>
        </p:nvSpPr>
        <p:spPr>
          <a:xfrm>
            <a:off x="4096512" y="3246120"/>
            <a:ext cx="219456" cy="182880"/>
          </a:xfrm>
          <a:prstGeom prst="line">
            <a:avLst/>
          </a:prstGeom>
          <a:noFill/>
          <a:ln w="25400">
            <a:solidFill>
              <a:srgbClr val="E8742A"/>
            </a:solidFill>
            <a:prstDash val="solid"/>
            <a:tailEnd type="triangle"/>
          </a:ln>
        </p:spPr>
      </p:sp>
      <p:sp>
        <p:nvSpPr>
          <p:cNvPr id="18" name="Degré 2"/>
          <p:cNvSpPr/>
          <p:nvPr/>
        </p:nvSpPr>
        <p:spPr>
          <a:xfrm>
            <a:off x="4334256" y="2057400"/>
            <a:ext cx="3520440" cy="2834640"/>
          </a:xfrm>
          <a:prstGeom prst="roundRect">
            <a:avLst>
              <a:gd name="adj" fmla="val 3871"/>
            </a:avLst>
          </a:prstGeom>
          <a:solidFill>
            <a:srgbClr val="22150F"/>
          </a:solidFill>
          <a:ln w="19050">
            <a:solidFill>
              <a:srgbClr val="CC5500"/>
            </a:solidFill>
            <a:prstDash val="solid"/>
          </a:ln>
        </p:spPr>
      </p:sp>
      <p:sp>
        <p:nvSpPr>
          <p:cNvPr id="19" name="Shape 16"/>
          <p:cNvSpPr/>
          <p:nvPr/>
        </p:nvSpPr>
        <p:spPr>
          <a:xfrm>
            <a:off x="4590288" y="2258568"/>
            <a:ext cx="603504" cy="603504"/>
          </a:xfrm>
          <a:prstGeom prst="ellipse">
            <a:avLst/>
          </a:prstGeom>
          <a:solidFill>
            <a:srgbClr val="2A1A10"/>
          </a:solidFill>
          <a:ln w="12700">
            <a:solidFill>
              <a:srgbClr val="CC5500"/>
            </a:solidFill>
            <a:prstDash val="solid"/>
          </a:ln>
        </p:spPr>
      </p:sp>
      <p:pic>
        <p:nvPicPr>
          <p:cNvPr id="20" name="Image 1" descr="Icône : cible">    </p:cNvPr>
          <p:cNvPicPr>
            <a:picLocks noChangeAspect="1"/>
          </p:cNvPicPr>
          <p:nvPr/>
        </p:nvPicPr>
        <p:blipFill>
          <a:blip r:embed="rId2"/>
          <a:stretch>
            <a:fillRect/>
          </a:stretch>
        </p:blipFill>
        <p:spPr>
          <a:xfrm>
            <a:off x="4710989" y="2379269"/>
            <a:ext cx="362102" cy="362102"/>
          </a:xfrm>
          <a:prstGeom prst="rect">
            <a:avLst/>
          </a:prstGeom>
        </p:spPr>
      </p:pic>
      <p:sp>
        <p:nvSpPr>
          <p:cNvPr id="21" name="Text 17"/>
          <p:cNvSpPr txBox="1"/>
          <p:nvPr/>
        </p:nvSpPr>
        <p:spPr>
          <a:xfrm>
            <a:off x="7168896" y="2240280"/>
            <a:ext cx="457200" cy="457200"/>
          </a:xfrm>
          <a:prstGeom prst="rect">
            <a:avLst/>
          </a:prstGeom>
          <a:noFill/>
          <a:ln/>
        </p:spPr>
        <p:txBody>
          <a:bodyPr wrap="square" lIns="0" tIns="0" rIns="0" bIns="0" rtlCol="0" anchor="t"/>
          <a:lstStyle/>
          <a:p>
            <a:pPr algn="r" indent="0" marL="0">
              <a:buNone/>
            </a:pPr>
            <a:r>
              <a:rPr lang="fr-CA" altLang="en-US" sz="2600" b="1" dirty="0">
                <a:solidFill>
                  <a:srgbClr val="CC5500"/>
                </a:solidFill>
                <a:latin typeface="Cambria" pitchFamily="34" charset="0"/>
                <a:ea typeface="Cambria" pitchFamily="34" charset="-122"/>
                <a:cs typeface="Cambria" pitchFamily="34" charset="-120"/>
              </a:rPr>
              <a:t>2</a:t>
            </a:r>
            <a:endParaRPr lang="fr-CA" sz="2600" dirty="0"/>
          </a:p>
        </p:txBody>
      </p:sp>
      <p:sp>
        <p:nvSpPr>
          <p:cNvPr id="22" name="Text 18"/>
          <p:cNvSpPr txBox="1"/>
          <p:nvPr/>
        </p:nvSpPr>
        <p:spPr>
          <a:xfrm>
            <a:off x="4590288" y="2971800"/>
            <a:ext cx="3017520" cy="1097280"/>
          </a:xfrm>
          <a:prstGeom prst="rect">
            <a:avLst/>
          </a:prstGeom>
          <a:noFill/>
          <a:ln/>
        </p:spPr>
        <p:txBody>
          <a:bodyPr wrap="square" lIns="0" tIns="0" rIns="0" bIns="0" rtlCol="0" anchor="t"/>
          <a:lstStyle/>
          <a:p>
            <a:pPr indent="0" marL="0">
              <a:buNone/>
            </a:pPr>
            <a:r>
              <a:rPr lang="fr-CA" altLang="en-US" sz="2000" b="1" dirty="0">
                <a:solidFill>
                  <a:srgbClr val="F4EDE4"/>
                </a:solidFill>
                <a:latin typeface="Calibri" pitchFamily="34" charset="0"/>
                <a:ea typeface="Calibri" pitchFamily="34" charset="-122"/>
                <a:cs typeface="Calibri" pitchFamily="34" charset="-120"/>
              </a:rPr>
              <a:t>Péchés présomptueux</a:t>
            </a:r>
            <a:endParaRPr lang="fr-CA" sz="1500" dirty="0"/>
          </a:p>
          <a:p>
            <a:pPr indent="0" marL="0">
              <a:buNone/>
            </a:pPr>
            <a:r>
              <a:rPr lang="fr-CA" altLang="en-US" sz="1500" dirty="0">
                <a:solidFill>
                  <a:srgbClr val="A89A8C"/>
                </a:solidFill>
                <a:latin typeface="Calibri" pitchFamily="34" charset="0"/>
                <a:ea typeface="Calibri" pitchFamily="34" charset="-122"/>
                <a:cs typeface="Calibri" pitchFamily="34" charset="-120"/>
              </a:rPr>
              <a:t>Délibérés : ceux que je vois, prémédite et planifie.</a:t>
            </a:r>
            <a:endParaRPr lang="fr-CA" sz="1500" dirty="0"/>
          </a:p>
        </p:txBody>
      </p:sp>
      <p:sp>
        <p:nvSpPr>
          <p:cNvPr id="23" name="Shape 19"/>
          <p:cNvSpPr/>
          <p:nvPr/>
        </p:nvSpPr>
        <p:spPr>
          <a:xfrm>
            <a:off x="4590288" y="4069080"/>
            <a:ext cx="2990088" cy="384048"/>
          </a:xfrm>
          <a:prstGeom prst="roundRect">
            <a:avLst>
              <a:gd name="adj" fmla="val 47619"/>
            </a:avLst>
          </a:prstGeom>
          <a:solidFill>
            <a:srgbClr val="0D0B0A"/>
          </a:solidFill>
          <a:ln w="12700">
            <a:solidFill>
              <a:srgbClr val="CC5500"/>
            </a:solidFill>
            <a:prstDash val="solid"/>
          </a:ln>
        </p:spPr>
      </p:sp>
      <p:sp>
        <p:nvSpPr>
          <p:cNvPr id="24" name="Text 20"/>
          <p:cNvSpPr txBox="1"/>
          <p:nvPr/>
        </p:nvSpPr>
        <p:spPr>
          <a:xfrm>
            <a:off x="4590288" y="4069080"/>
            <a:ext cx="2990088" cy="384048"/>
          </a:xfrm>
          <a:prstGeom prst="rect">
            <a:avLst/>
          </a:prstGeom>
          <a:noFill/>
          <a:ln/>
        </p:spPr>
        <p:txBody>
          <a:bodyPr wrap="none" lIns="0" tIns="0" rIns="0" bIns="0" rtlCol="0" anchor="ctr"/>
          <a:lstStyle/>
          <a:p>
            <a:pPr algn="ctr" indent="0" marL="0">
              <a:buNone/>
            </a:pPr>
            <a:r>
              <a:rPr lang="fr-CA" altLang="en-US" sz="1500" dirty="0">
                <a:solidFill>
                  <a:srgbClr val="F4EDE4"/>
                </a:solidFill>
                <a:latin typeface="Calibri" pitchFamily="34" charset="0"/>
                <a:ea typeface="Calibri" pitchFamily="34" charset="-122"/>
                <a:cs typeface="Calibri" pitchFamily="34" charset="-120"/>
              </a:rPr>
              <a:t>Nombres 15.30‑31 : aucun sacrifice</a:t>
            </a:r>
            <a:endParaRPr lang="fr-CA" sz="1500" dirty="0"/>
          </a:p>
        </p:txBody>
      </p:sp>
      <p:sp>
        <p:nvSpPr>
          <p:cNvPr id="25" name="Text 21"/>
          <p:cNvSpPr txBox="1"/>
          <p:nvPr/>
        </p:nvSpPr>
        <p:spPr>
          <a:xfrm>
            <a:off x="4590288" y="4507992"/>
            <a:ext cx="3017520" cy="347472"/>
          </a:xfrm>
          <a:prstGeom prst="rect">
            <a:avLst/>
          </a:prstGeom>
          <a:noFill/>
          <a:ln/>
        </p:spPr>
        <p:txBody>
          <a:bodyPr wrap="square" lIns="0" tIns="0" rIns="0" bIns="0" rtlCol="0" anchor="t"/>
          <a:lstStyle/>
          <a:p>
            <a:pPr indent="0" marL="0">
              <a:buNone/>
            </a:pPr>
            <a:r>
              <a:rPr lang="fr-CA" altLang="en-US" sz="1500" i="1" dirty="0">
                <a:solidFill>
                  <a:srgbClr val="E8742A"/>
                </a:solidFill>
                <a:latin typeface="Calibri" pitchFamily="34" charset="0"/>
                <a:ea typeface="Calibri" pitchFamily="34" charset="-122"/>
                <a:cs typeface="Calibri" pitchFamily="34" charset="-120"/>
              </a:rPr>
              <a:t>« Préserve aussi ton serviteur »</a:t>
            </a:r>
            <a:endParaRPr lang="fr-CA" sz="1500" dirty="0"/>
          </a:p>
        </p:txBody>
      </p:sp>
      <p:sp>
        <p:nvSpPr>
          <p:cNvPr id="26" name="Shape 22"/>
          <p:cNvSpPr/>
          <p:nvPr/>
        </p:nvSpPr>
        <p:spPr>
          <a:xfrm>
            <a:off x="7882128" y="3429000"/>
            <a:ext cx="219456" cy="182880"/>
          </a:xfrm>
          <a:prstGeom prst="line">
            <a:avLst/>
          </a:prstGeom>
          <a:noFill/>
          <a:ln w="25400">
            <a:solidFill>
              <a:srgbClr val="E8742A"/>
            </a:solidFill>
            <a:prstDash val="solid"/>
            <a:tailEnd type="triangle"/>
          </a:ln>
        </p:spPr>
      </p:sp>
      <p:sp>
        <p:nvSpPr>
          <p:cNvPr id="27" name="Degré 3"/>
          <p:cNvSpPr/>
          <p:nvPr/>
        </p:nvSpPr>
        <p:spPr>
          <a:xfrm>
            <a:off x="8119872" y="2240280"/>
            <a:ext cx="3520440" cy="2834640"/>
          </a:xfrm>
          <a:prstGeom prst="roundRect">
            <a:avLst>
              <a:gd name="adj" fmla="val 3871"/>
            </a:avLst>
          </a:prstGeom>
          <a:solidFill>
            <a:srgbClr val="2A1A10"/>
          </a:solidFill>
          <a:ln w="31750">
            <a:solidFill>
              <a:srgbClr val="E8742A"/>
            </a:solidFill>
            <a:prstDash val="solid"/>
          </a:ln>
        </p:spPr>
      </p:sp>
      <p:sp>
        <p:nvSpPr>
          <p:cNvPr id="28" name="Shape 24"/>
          <p:cNvSpPr/>
          <p:nvPr/>
        </p:nvSpPr>
        <p:spPr>
          <a:xfrm>
            <a:off x="8375904" y="2441448"/>
            <a:ext cx="603504" cy="603504"/>
          </a:xfrm>
          <a:prstGeom prst="ellipse">
            <a:avLst/>
          </a:prstGeom>
          <a:solidFill>
            <a:srgbClr val="2A1A10"/>
          </a:solidFill>
          <a:ln w="12700">
            <a:solidFill>
              <a:srgbClr val="CC5500"/>
            </a:solidFill>
            <a:prstDash val="solid"/>
          </a:ln>
        </p:spPr>
      </p:sp>
      <p:pic>
        <p:nvPicPr>
          <p:cNvPr id="29" name="Image 2" descr="Icône : personne qui s'éloigne">    </p:cNvPr>
          <p:cNvPicPr>
            <a:picLocks noChangeAspect="1"/>
          </p:cNvPicPr>
          <p:nvPr/>
        </p:nvPicPr>
        <p:blipFill>
          <a:blip r:embed="rId3"/>
          <a:stretch>
            <a:fillRect/>
          </a:stretch>
        </p:blipFill>
        <p:spPr>
          <a:xfrm>
            <a:off x="8496605" y="2562149"/>
            <a:ext cx="362102" cy="362102"/>
          </a:xfrm>
          <a:prstGeom prst="rect">
            <a:avLst/>
          </a:prstGeom>
        </p:spPr>
      </p:pic>
      <p:sp>
        <p:nvSpPr>
          <p:cNvPr id="30" name="Text 25"/>
          <p:cNvSpPr txBox="1"/>
          <p:nvPr/>
        </p:nvSpPr>
        <p:spPr>
          <a:xfrm>
            <a:off x="10954512" y="2423160"/>
            <a:ext cx="457200" cy="457200"/>
          </a:xfrm>
          <a:prstGeom prst="rect">
            <a:avLst/>
          </a:prstGeom>
          <a:noFill/>
          <a:ln/>
        </p:spPr>
        <p:txBody>
          <a:bodyPr wrap="square" lIns="0" tIns="0" rIns="0" bIns="0" rtlCol="0" anchor="t"/>
          <a:lstStyle/>
          <a:p>
            <a:pPr algn="r" indent="0" marL="0">
              <a:buNone/>
            </a:pPr>
            <a:r>
              <a:rPr lang="fr-CA" altLang="en-US" sz="2600" b="1" dirty="0">
                <a:solidFill>
                  <a:srgbClr val="E8742A"/>
                </a:solidFill>
                <a:latin typeface="Cambria" pitchFamily="34" charset="0"/>
                <a:ea typeface="Cambria" pitchFamily="34" charset="-122"/>
                <a:cs typeface="Cambria" pitchFamily="34" charset="-120"/>
              </a:rPr>
              <a:t>3</a:t>
            </a:r>
            <a:endParaRPr lang="fr-CA" sz="2600" dirty="0"/>
          </a:p>
        </p:txBody>
      </p:sp>
      <p:sp>
        <p:nvSpPr>
          <p:cNvPr id="31" name="Text 26"/>
          <p:cNvSpPr txBox="1"/>
          <p:nvPr/>
        </p:nvSpPr>
        <p:spPr>
          <a:xfrm>
            <a:off x="8375904" y="3154680"/>
            <a:ext cx="3017520" cy="1097280"/>
          </a:xfrm>
          <a:prstGeom prst="rect">
            <a:avLst/>
          </a:prstGeom>
          <a:noFill/>
          <a:ln/>
        </p:spPr>
        <p:txBody>
          <a:bodyPr wrap="square" lIns="0" tIns="0" rIns="0" bIns="0" rtlCol="0" anchor="t"/>
          <a:lstStyle/>
          <a:p>
            <a:pPr indent="0" marL="0">
              <a:buNone/>
            </a:pPr>
            <a:r>
              <a:rPr lang="fr-CA" altLang="en-US" sz="2000" b="1" dirty="0">
                <a:solidFill>
                  <a:srgbClr val="F4EDE4"/>
                </a:solidFill>
                <a:latin typeface="Calibri" pitchFamily="34" charset="0"/>
                <a:ea typeface="Calibri" pitchFamily="34" charset="-122"/>
                <a:cs typeface="Calibri" pitchFamily="34" charset="-120"/>
              </a:rPr>
              <a:t>Grande transgression</a:t>
            </a:r>
            <a:endParaRPr lang="fr-CA" sz="1500" dirty="0"/>
          </a:p>
          <a:p>
            <a:pPr indent="0" marL="0">
              <a:buNone/>
            </a:pPr>
            <a:r>
              <a:rPr lang="fr-CA" altLang="en-US" sz="1500" dirty="0">
                <a:solidFill>
                  <a:srgbClr val="A89A8C"/>
                </a:solidFill>
                <a:latin typeface="Calibri" pitchFamily="34" charset="0"/>
                <a:ea typeface="Calibri" pitchFamily="34" charset="-122"/>
                <a:cs typeface="Calibri" pitchFamily="34" charset="-120"/>
              </a:rPr>
              <a:t>La rébellion ouverte :</a:t>
            </a:r>
            <a:endParaRPr lang="fr-CA" sz="1500" dirty="0"/>
          </a:p>
          <a:p>
            <a:pPr indent="0" marL="0">
              <a:buNone/>
            </a:pPr>
            <a:r>
              <a:rPr lang="fr-CA" altLang="en-US" sz="1500" dirty="0">
                <a:solidFill>
                  <a:srgbClr val="A89A8C"/>
                </a:solidFill>
                <a:latin typeface="Calibri" pitchFamily="34" charset="0"/>
                <a:ea typeface="Calibri" pitchFamily="34" charset="-122"/>
                <a:cs typeface="Calibri" pitchFamily="34" charset="-120"/>
              </a:rPr>
              <a:t>se détourner du Seigneur.</a:t>
            </a:r>
            <a:endParaRPr lang="fr-CA" sz="1500" dirty="0"/>
          </a:p>
        </p:txBody>
      </p:sp>
      <p:sp>
        <p:nvSpPr>
          <p:cNvPr id="32" name="Shape 27"/>
          <p:cNvSpPr/>
          <p:nvPr/>
        </p:nvSpPr>
        <p:spPr>
          <a:xfrm>
            <a:off x="8375904" y="4251960"/>
            <a:ext cx="2990088" cy="384048"/>
          </a:xfrm>
          <a:prstGeom prst="roundRect">
            <a:avLst>
              <a:gd name="adj" fmla="val 47619"/>
            </a:avLst>
          </a:prstGeom>
          <a:solidFill>
            <a:srgbClr val="0D0B0A"/>
          </a:solidFill>
          <a:ln w="12700">
            <a:solidFill>
              <a:srgbClr val="E8742A"/>
            </a:solidFill>
            <a:prstDash val="solid"/>
          </a:ln>
        </p:spPr>
      </p:sp>
      <p:sp>
        <p:nvSpPr>
          <p:cNvPr id="33" name="Text 28"/>
          <p:cNvSpPr txBox="1"/>
          <p:nvPr/>
        </p:nvSpPr>
        <p:spPr>
          <a:xfrm>
            <a:off x="8375904" y="4251960"/>
            <a:ext cx="2990088" cy="384048"/>
          </a:xfrm>
          <a:prstGeom prst="rect">
            <a:avLst/>
          </a:prstGeom>
          <a:noFill/>
          <a:ln/>
        </p:spPr>
        <p:txBody>
          <a:bodyPr wrap="none" lIns="0" tIns="0" rIns="0" bIns="0" rtlCol="0" anchor="ctr"/>
          <a:lstStyle/>
          <a:p>
            <a:pPr algn="ctr" indent="0" marL="0">
              <a:buNone/>
            </a:pPr>
            <a:r>
              <a:rPr lang="fr-CA" altLang="en-US" sz="1500" dirty="0">
                <a:solidFill>
                  <a:srgbClr val="F4EDE4"/>
                </a:solidFill>
                <a:latin typeface="Calibri" pitchFamily="34" charset="0"/>
                <a:ea typeface="Calibri" pitchFamily="34" charset="-122"/>
                <a:cs typeface="Calibri" pitchFamily="34" charset="-120"/>
              </a:rPr>
              <a:t>Le terme de la pente</a:t>
            </a:r>
            <a:endParaRPr lang="fr-CA" sz="1500" dirty="0"/>
          </a:p>
        </p:txBody>
      </p:sp>
      <p:sp>
        <p:nvSpPr>
          <p:cNvPr id="34" name="Text 29"/>
          <p:cNvSpPr txBox="1"/>
          <p:nvPr/>
        </p:nvSpPr>
        <p:spPr>
          <a:xfrm>
            <a:off x="8375904" y="4690872"/>
            <a:ext cx="3017520" cy="347472"/>
          </a:xfrm>
          <a:prstGeom prst="rect">
            <a:avLst/>
          </a:prstGeom>
          <a:noFill/>
          <a:ln/>
        </p:spPr>
        <p:txBody>
          <a:bodyPr wrap="square" lIns="0" tIns="0" rIns="0" bIns="0" rtlCol="0" anchor="t"/>
          <a:lstStyle/>
          <a:p>
            <a:pPr indent="0" marL="0">
              <a:buNone/>
            </a:pPr>
            <a:r>
              <a:rPr lang="fr-CA" altLang="en-US" sz="1500" i="1" dirty="0">
                <a:solidFill>
                  <a:srgbClr val="E8742A"/>
                </a:solidFill>
                <a:latin typeface="Calibri" pitchFamily="34" charset="0"/>
                <a:ea typeface="Calibri" pitchFamily="34" charset="-122"/>
                <a:cs typeface="Calibri" pitchFamily="34" charset="-120"/>
              </a:rPr>
              <a:t>« Innocent de grands péchés »</a:t>
            </a:r>
            <a:endParaRPr lang="fr-CA" sz="1500" dirty="0"/>
          </a:p>
        </p:txBody>
      </p:sp>
      <p:sp>
        <p:nvSpPr>
          <p:cNvPr id="35" name="Shape 30"/>
          <p:cNvSpPr/>
          <p:nvPr/>
        </p:nvSpPr>
        <p:spPr>
          <a:xfrm>
            <a:off x="548640" y="5303520"/>
            <a:ext cx="5440680" cy="1051560"/>
          </a:xfrm>
          <a:prstGeom prst="roundRect">
            <a:avLst>
              <a:gd name="adj" fmla="val 10435"/>
            </a:avLst>
          </a:prstGeom>
          <a:solidFill>
            <a:srgbClr val="1A1411"/>
          </a:solidFill>
          <a:ln w="9525">
            <a:solidFill>
              <a:srgbClr val="2E211A"/>
            </a:solidFill>
            <a:prstDash val="solid"/>
          </a:ln>
        </p:spPr>
      </p:sp>
      <p:sp>
        <p:nvSpPr>
          <p:cNvPr id="36" name="Shape 31"/>
          <p:cNvSpPr/>
          <p:nvPr/>
        </p:nvSpPr>
        <p:spPr>
          <a:xfrm>
            <a:off x="777240" y="5458968"/>
            <a:ext cx="566928" cy="566928"/>
          </a:xfrm>
          <a:prstGeom prst="ellipse">
            <a:avLst/>
          </a:prstGeom>
          <a:solidFill>
            <a:srgbClr val="2A1A10"/>
          </a:solidFill>
          <a:ln w="12700">
            <a:solidFill>
              <a:srgbClr val="CC5500"/>
            </a:solidFill>
            <a:prstDash val="solid"/>
          </a:ln>
        </p:spPr>
      </p:sp>
      <p:pic>
        <p:nvPicPr>
          <p:cNvPr id="37" name="Image 3" descr="Icône : chaîne">    </p:cNvPr>
          <p:cNvPicPr>
            <a:picLocks noChangeAspect="1"/>
          </p:cNvPicPr>
          <p:nvPr/>
        </p:nvPicPr>
        <p:blipFill>
          <a:blip r:embed="rId4"/>
          <a:stretch>
            <a:fillRect/>
          </a:stretch>
        </p:blipFill>
        <p:spPr>
          <a:xfrm>
            <a:off x="890626" y="5572354"/>
            <a:ext cx="340157" cy="340157"/>
          </a:xfrm>
          <a:prstGeom prst="rect">
            <a:avLst/>
          </a:prstGeom>
        </p:spPr>
      </p:pic>
      <p:sp>
        <p:nvSpPr>
          <p:cNvPr id="38" name="Text 32"/>
          <p:cNvSpPr txBox="1"/>
          <p:nvPr/>
        </p:nvSpPr>
        <p:spPr>
          <a:xfrm>
            <a:off x="1527048" y="5431536"/>
            <a:ext cx="4279392" cy="822960"/>
          </a:xfrm>
          <a:prstGeom prst="rect">
            <a:avLst/>
          </a:prstGeom>
          <a:noFill/>
          <a:ln/>
        </p:spPr>
        <p:txBody>
          <a:bodyPr wrap="square" lIns="0" tIns="0" rIns="0" bIns="0" rtlCol="0" anchor="t"/>
          <a:lstStyle/>
          <a:p>
            <a:pPr indent="0" marL="0">
              <a:spcBef>
                <a:spcPts val="200"/>
              </a:spcBef>
              <a:buNone/>
            </a:pPr>
            <a:r>
              <a:rPr lang="fr-CA" altLang="en-US" sz="1700" b="1" dirty="0">
                <a:solidFill>
                  <a:srgbClr val="F4EDE4"/>
                </a:solidFill>
                <a:latin typeface="Calibri" pitchFamily="34" charset="0"/>
                <a:ea typeface="Calibri" pitchFamily="34" charset="-122"/>
                <a:cs typeface="Calibri" pitchFamily="34" charset="-120"/>
              </a:rPr>
              <a:t>« Qu'ils ne dominent point sur moi! »</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Les péchés connus asservissent (Street).</a:t>
            </a:r>
            <a:endParaRPr lang="fr-CA" sz="1500" dirty="0"/>
          </a:p>
        </p:txBody>
      </p:sp>
      <p:sp>
        <p:nvSpPr>
          <p:cNvPr id="39" name="Shape 33"/>
          <p:cNvSpPr/>
          <p:nvPr/>
        </p:nvSpPr>
        <p:spPr>
          <a:xfrm>
            <a:off x="6199632" y="5303520"/>
            <a:ext cx="5440680" cy="1051560"/>
          </a:xfrm>
          <a:prstGeom prst="roundRect">
            <a:avLst>
              <a:gd name="adj" fmla="val 10435"/>
            </a:avLst>
          </a:prstGeom>
          <a:solidFill>
            <a:srgbClr val="1A1411"/>
          </a:solidFill>
          <a:ln w="19050">
            <a:solidFill>
              <a:srgbClr val="CC5500"/>
            </a:solidFill>
            <a:prstDash val="solid"/>
          </a:ln>
        </p:spPr>
      </p:sp>
      <p:sp>
        <p:nvSpPr>
          <p:cNvPr id="40" name="Shape 34"/>
          <p:cNvSpPr/>
          <p:nvPr/>
        </p:nvSpPr>
        <p:spPr>
          <a:xfrm>
            <a:off x="6428232" y="5458968"/>
            <a:ext cx="566928" cy="566928"/>
          </a:xfrm>
          <a:prstGeom prst="ellipse">
            <a:avLst/>
          </a:prstGeom>
          <a:solidFill>
            <a:srgbClr val="2A1A10"/>
          </a:solidFill>
          <a:ln w="12700">
            <a:solidFill>
              <a:srgbClr val="CC5500"/>
            </a:solidFill>
            <a:prstDash val="solid"/>
          </a:ln>
        </p:spPr>
      </p:sp>
      <p:pic>
        <p:nvPicPr>
          <p:cNvPr id="41" name="Image 4" descr="Icône : colombe">    </p:cNvPr>
          <p:cNvPicPr>
            <a:picLocks noChangeAspect="1"/>
          </p:cNvPicPr>
          <p:nvPr/>
        </p:nvPicPr>
        <p:blipFill>
          <a:blip r:embed="rId5"/>
          <a:stretch>
            <a:fillRect/>
          </a:stretch>
        </p:blipFill>
        <p:spPr>
          <a:xfrm>
            <a:off x="6541618" y="5572354"/>
            <a:ext cx="340157" cy="340157"/>
          </a:xfrm>
          <a:prstGeom prst="rect">
            <a:avLst/>
          </a:prstGeom>
        </p:spPr>
      </p:pic>
      <p:sp>
        <p:nvSpPr>
          <p:cNvPr id="42" name="Text 35"/>
          <p:cNvSpPr txBox="1"/>
          <p:nvPr/>
        </p:nvSpPr>
        <p:spPr>
          <a:xfrm>
            <a:off x="7178040" y="5431536"/>
            <a:ext cx="4279392" cy="822960"/>
          </a:xfrm>
          <a:prstGeom prst="rect">
            <a:avLst/>
          </a:prstGeom>
          <a:noFill/>
          <a:ln/>
        </p:spPr>
        <p:txBody>
          <a:bodyPr wrap="square" lIns="0" tIns="0" rIns="0" bIns="0" rtlCol="0" anchor="t"/>
          <a:lstStyle/>
          <a:p>
            <a:pPr indent="0" marL="0">
              <a:spcBef>
                <a:spcPts val="200"/>
              </a:spcBef>
              <a:buNone/>
            </a:pPr>
            <a:r>
              <a:rPr lang="fr-CA" altLang="en-US" sz="1700" b="1" dirty="0">
                <a:solidFill>
                  <a:srgbClr val="E8742A"/>
                </a:solidFill>
                <a:latin typeface="Calibri" pitchFamily="34" charset="0"/>
                <a:ea typeface="Calibri" pitchFamily="34" charset="-122"/>
                <a:cs typeface="Calibri" pitchFamily="34" charset="-120"/>
              </a:rPr>
              <a:t>Un disciple mûr, non un scrupuleux</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que la grâce et les ressources de Dieu amènent à reconnaître et à combattre ses péchés.</a:t>
            </a:r>
            <a:endParaRPr lang="fr-CA" sz="1500" dirty="0"/>
          </a:p>
        </p:txBody>
      </p:sp>
      <p:grpSp>
        <p:nvGrpSpPr>
          <p:cNvPr id="1011" name="Barre de progression"/>
          <p:cNvGrpSpPr/>
          <p:nvPr/>
        </p:nvGrpSpPr>
        <p:grpSpPr>
          <a:xfrm>
            <a:off x="546100" y="6527800"/>
            <a:ext cx="11099800" cy="63500"/>
            <a:chOff x="546100" y="6527800"/>
            <a:chExt cx="11099800" cy="63500"/>
          </a:xfrm>
        </p:grpSpPr>
        <p:sp>
          <p:nvSpPr>
            <p:cNvPr id="43" name="Progression 1"/>
            <p:cNvSpPr/>
            <p:nvPr/>
          </p:nvSpPr>
          <p:spPr>
            <a:xfrm>
              <a:off x="546100" y="6527800"/>
              <a:ext cx="668867" cy="63500"/>
            </a:xfrm>
            <a:prstGeom prst="rect">
              <a:avLst/>
            </a:prstGeom>
            <a:solidFill>
              <a:srgbClr val="E8742A"/>
            </a:solidFill>
            <a:ln/>
          </p:spPr>
        </p:sp>
        <p:sp>
          <p:nvSpPr>
            <p:cNvPr id="44" name="Progression 2"/>
            <p:cNvSpPr/>
            <p:nvPr/>
          </p:nvSpPr>
          <p:spPr>
            <a:xfrm>
              <a:off x="1291167" y="6527800"/>
              <a:ext cx="668867" cy="63500"/>
            </a:xfrm>
            <a:prstGeom prst="rect">
              <a:avLst/>
            </a:prstGeom>
            <a:solidFill>
              <a:srgbClr val="E8742A"/>
            </a:solidFill>
            <a:ln/>
          </p:spPr>
        </p:sp>
        <p:sp>
          <p:nvSpPr>
            <p:cNvPr id="45" name="Progression 3"/>
            <p:cNvSpPr/>
            <p:nvPr/>
          </p:nvSpPr>
          <p:spPr>
            <a:xfrm>
              <a:off x="2036233" y="6527800"/>
              <a:ext cx="668867" cy="63500"/>
            </a:xfrm>
            <a:prstGeom prst="rect">
              <a:avLst/>
            </a:prstGeom>
            <a:solidFill>
              <a:srgbClr val="E8742A"/>
            </a:solidFill>
            <a:ln/>
          </p:spPr>
        </p:sp>
        <p:sp>
          <p:nvSpPr>
            <p:cNvPr id="46" name="Progression 4"/>
            <p:cNvSpPr/>
            <p:nvPr/>
          </p:nvSpPr>
          <p:spPr>
            <a:xfrm>
              <a:off x="2781300" y="6527800"/>
              <a:ext cx="668867" cy="63500"/>
            </a:xfrm>
            <a:prstGeom prst="rect">
              <a:avLst/>
            </a:prstGeom>
            <a:solidFill>
              <a:srgbClr val="E8742A"/>
            </a:solidFill>
            <a:ln/>
          </p:spPr>
        </p:sp>
        <p:sp>
          <p:nvSpPr>
            <p:cNvPr id="47" name="Progression 5"/>
            <p:cNvSpPr/>
            <p:nvPr/>
          </p:nvSpPr>
          <p:spPr>
            <a:xfrm>
              <a:off x="3526367" y="6527800"/>
              <a:ext cx="668867" cy="63500"/>
            </a:xfrm>
            <a:prstGeom prst="rect">
              <a:avLst/>
            </a:prstGeom>
            <a:solidFill>
              <a:srgbClr val="E8742A"/>
            </a:solidFill>
            <a:ln/>
          </p:spPr>
        </p:sp>
        <p:sp>
          <p:nvSpPr>
            <p:cNvPr id="48" name="Progression 6"/>
            <p:cNvSpPr/>
            <p:nvPr/>
          </p:nvSpPr>
          <p:spPr>
            <a:xfrm>
              <a:off x="4271433" y="6527800"/>
              <a:ext cx="668867" cy="63500"/>
            </a:xfrm>
            <a:prstGeom prst="rect">
              <a:avLst/>
            </a:prstGeom>
            <a:solidFill>
              <a:srgbClr val="E8742A"/>
            </a:solidFill>
            <a:ln/>
          </p:spPr>
        </p:sp>
        <p:sp>
          <p:nvSpPr>
            <p:cNvPr id="49" name="Progression 7"/>
            <p:cNvSpPr/>
            <p:nvPr/>
          </p:nvSpPr>
          <p:spPr>
            <a:xfrm>
              <a:off x="5016500" y="6527800"/>
              <a:ext cx="668867" cy="63500"/>
            </a:xfrm>
            <a:prstGeom prst="rect">
              <a:avLst/>
            </a:prstGeom>
            <a:solidFill>
              <a:srgbClr val="E8742A"/>
            </a:solidFill>
            <a:ln/>
          </p:spPr>
        </p:sp>
        <p:sp>
          <p:nvSpPr>
            <p:cNvPr id="50" name="Progression 8"/>
            <p:cNvSpPr/>
            <p:nvPr/>
          </p:nvSpPr>
          <p:spPr>
            <a:xfrm>
              <a:off x="5761567" y="6527800"/>
              <a:ext cx="668867" cy="63500"/>
            </a:xfrm>
            <a:prstGeom prst="rect">
              <a:avLst/>
            </a:prstGeom>
            <a:solidFill>
              <a:srgbClr val="E8742A"/>
            </a:solidFill>
            <a:ln/>
          </p:spPr>
        </p:sp>
        <p:sp>
          <p:nvSpPr>
            <p:cNvPr id="51" name="Progression 9"/>
            <p:cNvSpPr/>
            <p:nvPr/>
          </p:nvSpPr>
          <p:spPr>
            <a:xfrm>
              <a:off x="6506633" y="6527800"/>
              <a:ext cx="668867" cy="63500"/>
            </a:xfrm>
            <a:prstGeom prst="rect">
              <a:avLst/>
            </a:prstGeom>
            <a:solidFill>
              <a:srgbClr val="E8742A"/>
            </a:solidFill>
            <a:ln/>
          </p:spPr>
        </p:sp>
        <p:sp>
          <p:nvSpPr>
            <p:cNvPr id="52" name="Progression 10"/>
            <p:cNvSpPr/>
            <p:nvPr/>
          </p:nvSpPr>
          <p:spPr>
            <a:xfrm>
              <a:off x="7251700" y="6527800"/>
              <a:ext cx="668867" cy="63500"/>
            </a:xfrm>
            <a:prstGeom prst="rect">
              <a:avLst/>
            </a:prstGeom>
            <a:solidFill>
              <a:srgbClr val="E8742A"/>
            </a:solidFill>
            <a:ln/>
          </p:spPr>
        </p:sp>
        <p:sp>
          <p:nvSpPr>
            <p:cNvPr id="53" name="Progression 11"/>
            <p:cNvSpPr/>
            <p:nvPr/>
          </p:nvSpPr>
          <p:spPr>
            <a:xfrm>
              <a:off x="7996767" y="6527800"/>
              <a:ext cx="668867" cy="63500"/>
            </a:xfrm>
            <a:prstGeom prst="rect">
              <a:avLst/>
            </a:prstGeom>
            <a:solidFill>
              <a:srgbClr val="E8742A"/>
            </a:solidFill>
            <a:ln/>
          </p:spPr>
        </p:sp>
        <p:sp>
          <p:nvSpPr>
            <p:cNvPr id="54" name="Progression 12"/>
            <p:cNvSpPr/>
            <p:nvPr/>
          </p:nvSpPr>
          <p:spPr>
            <a:xfrm>
              <a:off x="8741833" y="6527800"/>
              <a:ext cx="668867" cy="63500"/>
            </a:xfrm>
            <a:prstGeom prst="rect">
              <a:avLst/>
            </a:prstGeom>
            <a:solidFill>
              <a:srgbClr val="E8742A"/>
            </a:solidFill>
            <a:ln/>
          </p:spPr>
        </p:sp>
        <p:sp>
          <p:nvSpPr>
            <p:cNvPr id="55" name="Progression 13"/>
            <p:cNvSpPr/>
            <p:nvPr/>
          </p:nvSpPr>
          <p:spPr>
            <a:xfrm>
              <a:off x="9486900" y="6527800"/>
              <a:ext cx="668867" cy="63500"/>
            </a:xfrm>
            <a:prstGeom prst="rect">
              <a:avLst/>
            </a:prstGeom>
            <a:solidFill>
              <a:srgbClr val="3A312C"/>
            </a:solidFill>
            <a:ln/>
          </p:spPr>
        </p:sp>
        <p:sp>
          <p:nvSpPr>
            <p:cNvPr id="56" name="Progression 14"/>
            <p:cNvSpPr/>
            <p:nvPr/>
          </p:nvSpPr>
          <p:spPr>
            <a:xfrm>
              <a:off x="10231967" y="6527800"/>
              <a:ext cx="668867" cy="63500"/>
            </a:xfrm>
            <a:prstGeom prst="rect">
              <a:avLst/>
            </a:prstGeom>
            <a:solidFill>
              <a:srgbClr val="3A312C"/>
            </a:solidFill>
            <a:ln/>
          </p:spPr>
        </p:sp>
        <p:sp>
          <p:nvSpPr>
            <p:cNvPr id="57"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Repère de section"/>
          <p:cNvSpPr txBox="1"/>
          <p:nvPr/>
        </p:nvSpPr>
        <p:spPr>
          <a:xfrm>
            <a:off x="548640" y="384048"/>
            <a:ext cx="676656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IV · PSAUME 19.15</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Le cœur qui s'offre</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 Reçois favorablement les paroles de ma bouche et les sentiments de mon cœur »</a:t>
            </a:r>
            <a:endParaRPr lang="fr-CA" sz="1900" dirty="0"/>
          </a:p>
        </p:txBody>
      </p:sp>
      <p:sp>
        <p:nvSpPr>
          <p:cNvPr id="5" name="Navigation : le ciel"/>
          <p:cNvSpPr txBox="1"/>
          <p:nvPr/>
        </p:nvSpPr>
        <p:spPr>
          <a:xfrm>
            <a:off x="7756855" y="384048"/>
            <a:ext cx="7772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ciel</a:t>
            </a:r>
            <a:endParaRPr lang="fr-CA" sz="1400" dirty="0"/>
          </a:p>
        </p:txBody>
      </p:sp>
      <p:sp>
        <p:nvSpPr>
          <p:cNvPr id="6" name="Navigation : la Parole"/>
          <p:cNvSpPr txBox="1"/>
          <p:nvPr/>
        </p:nvSpPr>
        <p:spPr>
          <a:xfrm>
            <a:off x="8671255" y="384048"/>
            <a:ext cx="10058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la Parole</a:t>
            </a:r>
            <a:endParaRPr lang="fr-CA" sz="1400" dirty="0"/>
          </a:p>
        </p:txBody>
      </p:sp>
      <p:sp>
        <p:nvSpPr>
          <p:cNvPr id="7" name="Navigation : le désir"/>
          <p:cNvSpPr txBox="1"/>
          <p:nvPr/>
        </p:nvSpPr>
        <p:spPr>
          <a:xfrm>
            <a:off x="9814255" y="384048"/>
            <a:ext cx="86868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désir</a:t>
            </a:r>
            <a:endParaRPr lang="fr-CA" sz="1400" dirty="0"/>
          </a:p>
        </p:txBody>
      </p:sp>
      <p:sp>
        <p:nvSpPr>
          <p:cNvPr id="8" name="Navigation : le cœur"/>
          <p:cNvSpPr txBox="1"/>
          <p:nvPr/>
        </p:nvSpPr>
        <p:spPr>
          <a:xfrm>
            <a:off x="10820095" y="384048"/>
            <a:ext cx="822960" cy="292608"/>
          </a:xfrm>
          <a:prstGeom prst="rect">
            <a:avLst/>
          </a:prstGeom>
          <a:noFill/>
          <a:ln/>
        </p:spPr>
        <p:txBody>
          <a:bodyPr wrap="square" lIns="0" tIns="0" rIns="0" bIns="0" rtlCol="0" anchor="t"/>
          <a:lstStyle/>
          <a:p>
            <a:pPr algn="ctr" indent="0" marL="0">
              <a:buNone/>
            </a:pPr>
            <a:r>
              <a:rPr lang="fr-CA" altLang="en-US" sz="1400" b="1" dirty="0">
                <a:solidFill>
                  <a:srgbClr val="E8742A"/>
                </a:solidFill>
                <a:latin typeface="Calibri" pitchFamily="34" charset="0"/>
                <a:ea typeface="Calibri" pitchFamily="34" charset="-122"/>
                <a:cs typeface="Calibri" pitchFamily="34" charset="-120"/>
              </a:rPr>
              <a:t>le cœur</a:t>
            </a:r>
            <a:endParaRPr lang="fr-CA" sz="1400" dirty="0"/>
          </a:p>
        </p:txBody>
      </p:sp>
      <p:pic>
        <p:nvPicPr>
          <p:cNvPr id="9" name="Image 0" descr="Autel de pierres où brûle une flamme; au-dessus s'élèvent un cœur et une bulle de parole">    </p:cNvPr>
          <p:cNvPicPr>
            <a:picLocks noChangeAspect="1"/>
          </p:cNvPicPr>
          <p:nvPr/>
        </p:nvPicPr>
        <p:blipFill>
          <a:blip r:embed="rId1"/>
          <a:stretch>
            <a:fillRect/>
          </a:stretch>
        </p:blipFill>
        <p:spPr>
          <a:xfrm>
            <a:off x="457200" y="1874520"/>
            <a:ext cx="4343400" cy="4343400"/>
          </a:xfrm>
          <a:prstGeom prst="rect">
            <a:avLst/>
          </a:prstGeom>
        </p:spPr>
      </p:pic>
      <p:sp>
        <p:nvSpPr>
          <p:cNvPr id="10" name="Shape 7"/>
          <p:cNvSpPr/>
          <p:nvPr/>
        </p:nvSpPr>
        <p:spPr>
          <a:xfrm>
            <a:off x="5120640" y="1965960"/>
            <a:ext cx="566928" cy="566928"/>
          </a:xfrm>
          <a:prstGeom prst="ellipse">
            <a:avLst/>
          </a:prstGeom>
          <a:solidFill>
            <a:srgbClr val="2A1A10"/>
          </a:solidFill>
          <a:ln w="12700">
            <a:solidFill>
              <a:srgbClr val="CC5500"/>
            </a:solidFill>
            <a:prstDash val="solid"/>
          </a:ln>
        </p:spPr>
      </p:sp>
      <p:pic>
        <p:nvPicPr>
          <p:cNvPr id="11" name="Image 1" descr="Icône : flamme">    </p:cNvPr>
          <p:cNvPicPr>
            <a:picLocks noChangeAspect="1"/>
          </p:cNvPicPr>
          <p:nvPr/>
        </p:nvPicPr>
        <p:blipFill>
          <a:blip r:embed="rId2"/>
          <a:stretch>
            <a:fillRect/>
          </a:stretch>
        </p:blipFill>
        <p:spPr>
          <a:xfrm>
            <a:off x="5234026" y="2079346"/>
            <a:ext cx="340157" cy="340157"/>
          </a:xfrm>
          <a:prstGeom prst="rect">
            <a:avLst/>
          </a:prstGeom>
        </p:spPr>
      </p:pic>
      <p:sp>
        <p:nvSpPr>
          <p:cNvPr id="12" name="Text 8"/>
          <p:cNvSpPr txBox="1"/>
          <p:nvPr/>
        </p:nvSpPr>
        <p:spPr>
          <a:xfrm>
            <a:off x="5870448" y="1938528"/>
            <a:ext cx="5769864" cy="91440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Reçois favorablement (</a:t>
            </a:r>
            <a:pPr indent="0" marL="0">
              <a:spcBef>
                <a:spcPts val="200"/>
              </a:spcBef>
              <a:buNone/>
            </a:pPr>
            <a:r>
              <a:rPr lang="fr-CA" altLang="en-US" sz="1800" b="1" i="1" dirty="0">
                <a:solidFill>
                  <a:srgbClr val="F4EDE4"/>
                </a:solidFill>
                <a:latin typeface="Calibri" pitchFamily="34" charset="0"/>
                <a:ea typeface="Calibri" pitchFamily="34" charset="-122"/>
                <a:cs typeface="Calibri" pitchFamily="34" charset="-120"/>
              </a:rPr>
              <a:t>leratson</a:t>
            </a:r>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Le vocabulaire des sacrifices agréés : David demande la grâce de déposer sur l'autel ses lèvres et sa vie.</a:t>
            </a:r>
            <a:endParaRPr lang="fr-CA" sz="1500" dirty="0"/>
          </a:p>
        </p:txBody>
      </p:sp>
      <p:sp>
        <p:nvSpPr>
          <p:cNvPr id="13" name="Shape 9"/>
          <p:cNvSpPr/>
          <p:nvPr/>
        </p:nvSpPr>
        <p:spPr>
          <a:xfrm>
            <a:off x="5120640" y="2971800"/>
            <a:ext cx="566928" cy="566928"/>
          </a:xfrm>
          <a:prstGeom prst="ellipse">
            <a:avLst/>
          </a:prstGeom>
          <a:solidFill>
            <a:srgbClr val="2A1A10"/>
          </a:solidFill>
          <a:ln w="12700">
            <a:solidFill>
              <a:srgbClr val="CC5500"/>
            </a:solidFill>
            <a:prstDash val="solid"/>
          </a:ln>
        </p:spPr>
      </p:sp>
      <p:pic>
        <p:nvPicPr>
          <p:cNvPr id="14" name="Image 2" descr="Icône : parchemin">    </p:cNvPr>
          <p:cNvPicPr>
            <a:picLocks noChangeAspect="1"/>
          </p:cNvPicPr>
          <p:nvPr/>
        </p:nvPicPr>
        <p:blipFill>
          <a:blip r:embed="rId3"/>
          <a:stretch>
            <a:fillRect/>
          </a:stretch>
        </p:blipFill>
        <p:spPr>
          <a:xfrm>
            <a:off x="5234026" y="3085186"/>
            <a:ext cx="340157" cy="340157"/>
          </a:xfrm>
          <a:prstGeom prst="rect">
            <a:avLst/>
          </a:prstGeom>
        </p:spPr>
      </p:pic>
      <p:sp>
        <p:nvSpPr>
          <p:cNvPr id="15" name="Text 10"/>
          <p:cNvSpPr txBox="1"/>
          <p:nvPr/>
        </p:nvSpPr>
        <p:spPr>
          <a:xfrm>
            <a:off x="5870448" y="2944368"/>
            <a:ext cx="5769864" cy="91440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Bouche et méditation</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L'écho de Josué 1.8 : la loi méditée jour et nuit.</a:t>
            </a:r>
            <a:endParaRPr lang="fr-CA" sz="1500" dirty="0"/>
          </a:p>
        </p:txBody>
      </p:sp>
      <p:sp>
        <p:nvSpPr>
          <p:cNvPr id="16" name="Shape 11"/>
          <p:cNvSpPr/>
          <p:nvPr/>
        </p:nvSpPr>
        <p:spPr>
          <a:xfrm>
            <a:off x="5120640" y="3977640"/>
            <a:ext cx="566928" cy="566928"/>
          </a:xfrm>
          <a:prstGeom prst="ellipse">
            <a:avLst/>
          </a:prstGeom>
          <a:solidFill>
            <a:srgbClr val="2A1A10"/>
          </a:solidFill>
          <a:ln w="12700">
            <a:solidFill>
              <a:srgbClr val="CC5500"/>
            </a:solidFill>
            <a:prstDash val="solid"/>
          </a:ln>
        </p:spPr>
      </p:sp>
      <p:pic>
        <p:nvPicPr>
          <p:cNvPr id="17" name="Image 3" descr="Icône : rocher">    </p:cNvPr>
          <p:cNvPicPr>
            <a:picLocks noChangeAspect="1"/>
          </p:cNvPicPr>
          <p:nvPr/>
        </p:nvPicPr>
        <p:blipFill>
          <a:blip r:embed="rId4"/>
          <a:stretch>
            <a:fillRect/>
          </a:stretch>
        </p:blipFill>
        <p:spPr>
          <a:xfrm>
            <a:off x="5234026" y="4091026"/>
            <a:ext cx="340157" cy="340157"/>
          </a:xfrm>
          <a:prstGeom prst="rect">
            <a:avLst/>
          </a:prstGeom>
        </p:spPr>
      </p:pic>
      <p:sp>
        <p:nvSpPr>
          <p:cNvPr id="18" name="Text 12"/>
          <p:cNvSpPr txBox="1"/>
          <p:nvPr/>
        </p:nvSpPr>
        <p:spPr>
          <a:xfrm>
            <a:off x="5870448" y="3950208"/>
            <a:ext cx="5769864" cy="91440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Mon rocher et mon rédempteur</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Le </a:t>
            </a:r>
            <a:pPr indent="0" marL="0">
              <a:spcBef>
                <a:spcPts val="200"/>
              </a:spcBef>
              <a:buNone/>
            </a:pPr>
            <a:r>
              <a:rPr lang="fr-CA" altLang="en-US" sz="1500" i="1" dirty="0">
                <a:solidFill>
                  <a:srgbClr val="A89A8C"/>
                </a:solidFill>
                <a:latin typeface="Calibri" pitchFamily="34" charset="0"/>
                <a:ea typeface="Calibri" pitchFamily="34" charset="-122"/>
                <a:cs typeface="Calibri" pitchFamily="34" charset="-120"/>
              </a:rPr>
              <a:t>goel</a:t>
            </a:r>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 : le parent proche qui paie pour racheter (Lévitique 25.25).</a:t>
            </a:r>
            <a:endParaRPr lang="fr-CA" sz="1500" dirty="0"/>
          </a:p>
        </p:txBody>
      </p:sp>
      <p:sp>
        <p:nvSpPr>
          <p:cNvPr id="19" name="Shape 13"/>
          <p:cNvSpPr/>
          <p:nvPr/>
        </p:nvSpPr>
        <p:spPr>
          <a:xfrm>
            <a:off x="5120640" y="4983480"/>
            <a:ext cx="566928" cy="566928"/>
          </a:xfrm>
          <a:prstGeom prst="ellipse">
            <a:avLst/>
          </a:prstGeom>
          <a:solidFill>
            <a:srgbClr val="2A1A10"/>
          </a:solidFill>
          <a:ln w="12700">
            <a:solidFill>
              <a:srgbClr val="CC5500"/>
            </a:solidFill>
            <a:prstDash val="solid"/>
          </a:ln>
        </p:spPr>
      </p:sp>
      <p:pic>
        <p:nvPicPr>
          <p:cNvPr id="20" name="Image 4" descr="Icône : croix">    </p:cNvPr>
          <p:cNvPicPr>
            <a:picLocks noChangeAspect="1"/>
          </p:cNvPicPr>
          <p:nvPr/>
        </p:nvPicPr>
        <p:blipFill>
          <a:blip r:embed="rId5"/>
          <a:stretch>
            <a:fillRect/>
          </a:stretch>
        </p:blipFill>
        <p:spPr>
          <a:xfrm>
            <a:off x="5234026" y="5096866"/>
            <a:ext cx="340157" cy="340157"/>
          </a:xfrm>
          <a:prstGeom prst="rect">
            <a:avLst/>
          </a:prstGeom>
        </p:spPr>
      </p:pic>
      <p:sp>
        <p:nvSpPr>
          <p:cNvPr id="21" name="Text 14"/>
          <p:cNvSpPr txBox="1"/>
          <p:nvPr/>
        </p:nvSpPr>
        <p:spPr>
          <a:xfrm>
            <a:off x="5870448" y="4956048"/>
            <a:ext cx="5769864" cy="914400"/>
          </a:xfrm>
          <a:prstGeom prst="rect">
            <a:avLst/>
          </a:prstGeom>
          <a:noFill/>
          <a:ln/>
        </p:spPr>
        <p:txBody>
          <a:bodyPr wrap="square" lIns="0" tIns="0" rIns="0" bIns="0" rtlCol="0" anchor="t"/>
          <a:lstStyle/>
          <a:p>
            <a:pPr indent="0" marL="0">
              <a:spcBef>
                <a:spcPts val="200"/>
              </a:spcBef>
              <a:buNone/>
            </a:pPr>
            <a:r>
              <a:rPr lang="fr-CA" altLang="en-US" sz="1800" b="1" dirty="0">
                <a:solidFill>
                  <a:srgbClr val="E8742A"/>
                </a:solidFill>
                <a:latin typeface="Calibri" pitchFamily="34" charset="0"/>
                <a:ea typeface="Calibri" pitchFamily="34" charset="-122"/>
                <a:cs typeface="Calibri" pitchFamily="34" charset="-120"/>
              </a:rPr>
              <a:t>Il conduit à Christ</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Christ s'est donné pour nous racheter (Tite 2.14); par lui, le sacrifice de louange (Hébreux 13.15).</a:t>
            </a:r>
            <a:endParaRPr lang="fr-CA" sz="1500" dirty="0"/>
          </a:p>
        </p:txBody>
      </p:sp>
      <p:sp>
        <p:nvSpPr>
          <p:cNvPr id="22" name="Text 15"/>
          <p:cNvSpPr txBox="1"/>
          <p:nvPr/>
        </p:nvSpPr>
        <p:spPr>
          <a:xfrm>
            <a:off x="5120640" y="5989320"/>
            <a:ext cx="6519672"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Demandez à Dieu de vous sonder (Psaume 139.23‑24).</a:t>
            </a:r>
            <a:endParaRPr lang="fr-CA" sz="1900" dirty="0"/>
          </a:p>
        </p:txBody>
      </p:sp>
      <p:grpSp>
        <p:nvGrpSpPr>
          <p:cNvPr id="1012" name="Barre de progression"/>
          <p:cNvGrpSpPr/>
          <p:nvPr/>
        </p:nvGrpSpPr>
        <p:grpSpPr>
          <a:xfrm>
            <a:off x="546100" y="6527800"/>
            <a:ext cx="11099800" cy="63500"/>
            <a:chOff x="546100" y="6527800"/>
            <a:chExt cx="11099800" cy="63500"/>
          </a:xfrm>
        </p:grpSpPr>
        <p:sp>
          <p:nvSpPr>
            <p:cNvPr id="23" name="Progression 1"/>
            <p:cNvSpPr/>
            <p:nvPr/>
          </p:nvSpPr>
          <p:spPr>
            <a:xfrm>
              <a:off x="546100" y="6527800"/>
              <a:ext cx="668867" cy="63500"/>
            </a:xfrm>
            <a:prstGeom prst="rect">
              <a:avLst/>
            </a:prstGeom>
            <a:solidFill>
              <a:srgbClr val="E8742A"/>
            </a:solidFill>
            <a:ln/>
          </p:spPr>
        </p:sp>
        <p:sp>
          <p:nvSpPr>
            <p:cNvPr id="24" name="Progression 2"/>
            <p:cNvSpPr/>
            <p:nvPr/>
          </p:nvSpPr>
          <p:spPr>
            <a:xfrm>
              <a:off x="1291167" y="6527800"/>
              <a:ext cx="668867" cy="63500"/>
            </a:xfrm>
            <a:prstGeom prst="rect">
              <a:avLst/>
            </a:prstGeom>
            <a:solidFill>
              <a:srgbClr val="E8742A"/>
            </a:solidFill>
            <a:ln/>
          </p:spPr>
        </p:sp>
        <p:sp>
          <p:nvSpPr>
            <p:cNvPr id="25" name="Progression 3"/>
            <p:cNvSpPr/>
            <p:nvPr/>
          </p:nvSpPr>
          <p:spPr>
            <a:xfrm>
              <a:off x="2036233" y="6527800"/>
              <a:ext cx="668867" cy="63500"/>
            </a:xfrm>
            <a:prstGeom prst="rect">
              <a:avLst/>
            </a:prstGeom>
            <a:solidFill>
              <a:srgbClr val="E8742A"/>
            </a:solidFill>
            <a:ln/>
          </p:spPr>
        </p:sp>
        <p:sp>
          <p:nvSpPr>
            <p:cNvPr id="26" name="Progression 4"/>
            <p:cNvSpPr/>
            <p:nvPr/>
          </p:nvSpPr>
          <p:spPr>
            <a:xfrm>
              <a:off x="2781300" y="6527800"/>
              <a:ext cx="668867" cy="63500"/>
            </a:xfrm>
            <a:prstGeom prst="rect">
              <a:avLst/>
            </a:prstGeom>
            <a:solidFill>
              <a:srgbClr val="E8742A"/>
            </a:solidFill>
            <a:ln/>
          </p:spPr>
        </p:sp>
        <p:sp>
          <p:nvSpPr>
            <p:cNvPr id="27" name="Progression 5"/>
            <p:cNvSpPr/>
            <p:nvPr/>
          </p:nvSpPr>
          <p:spPr>
            <a:xfrm>
              <a:off x="3526367" y="6527800"/>
              <a:ext cx="668867" cy="63500"/>
            </a:xfrm>
            <a:prstGeom prst="rect">
              <a:avLst/>
            </a:prstGeom>
            <a:solidFill>
              <a:srgbClr val="E8742A"/>
            </a:solidFill>
            <a:ln/>
          </p:spPr>
        </p:sp>
        <p:sp>
          <p:nvSpPr>
            <p:cNvPr id="28" name="Progression 6"/>
            <p:cNvSpPr/>
            <p:nvPr/>
          </p:nvSpPr>
          <p:spPr>
            <a:xfrm>
              <a:off x="4271433" y="6527800"/>
              <a:ext cx="668867" cy="63500"/>
            </a:xfrm>
            <a:prstGeom prst="rect">
              <a:avLst/>
            </a:prstGeom>
            <a:solidFill>
              <a:srgbClr val="E8742A"/>
            </a:solidFill>
            <a:ln/>
          </p:spPr>
        </p:sp>
        <p:sp>
          <p:nvSpPr>
            <p:cNvPr id="29" name="Progression 7"/>
            <p:cNvSpPr/>
            <p:nvPr/>
          </p:nvSpPr>
          <p:spPr>
            <a:xfrm>
              <a:off x="5016500" y="6527800"/>
              <a:ext cx="668867" cy="63500"/>
            </a:xfrm>
            <a:prstGeom prst="rect">
              <a:avLst/>
            </a:prstGeom>
            <a:solidFill>
              <a:srgbClr val="E8742A"/>
            </a:solidFill>
            <a:ln/>
          </p:spPr>
        </p:sp>
        <p:sp>
          <p:nvSpPr>
            <p:cNvPr id="30" name="Progression 8"/>
            <p:cNvSpPr/>
            <p:nvPr/>
          </p:nvSpPr>
          <p:spPr>
            <a:xfrm>
              <a:off x="5761567" y="6527800"/>
              <a:ext cx="668867" cy="63500"/>
            </a:xfrm>
            <a:prstGeom prst="rect">
              <a:avLst/>
            </a:prstGeom>
            <a:solidFill>
              <a:srgbClr val="E8742A"/>
            </a:solidFill>
            <a:ln/>
          </p:spPr>
        </p:sp>
        <p:sp>
          <p:nvSpPr>
            <p:cNvPr id="31" name="Progression 9"/>
            <p:cNvSpPr/>
            <p:nvPr/>
          </p:nvSpPr>
          <p:spPr>
            <a:xfrm>
              <a:off x="6506633" y="6527800"/>
              <a:ext cx="668867" cy="63500"/>
            </a:xfrm>
            <a:prstGeom prst="rect">
              <a:avLst/>
            </a:prstGeom>
            <a:solidFill>
              <a:srgbClr val="E8742A"/>
            </a:solidFill>
            <a:ln/>
          </p:spPr>
        </p:sp>
        <p:sp>
          <p:nvSpPr>
            <p:cNvPr id="32" name="Progression 10"/>
            <p:cNvSpPr/>
            <p:nvPr/>
          </p:nvSpPr>
          <p:spPr>
            <a:xfrm>
              <a:off x="7251700" y="6527800"/>
              <a:ext cx="668867" cy="63500"/>
            </a:xfrm>
            <a:prstGeom prst="rect">
              <a:avLst/>
            </a:prstGeom>
            <a:solidFill>
              <a:srgbClr val="E8742A"/>
            </a:solidFill>
            <a:ln/>
          </p:spPr>
        </p:sp>
        <p:sp>
          <p:nvSpPr>
            <p:cNvPr id="33" name="Progression 11"/>
            <p:cNvSpPr/>
            <p:nvPr/>
          </p:nvSpPr>
          <p:spPr>
            <a:xfrm>
              <a:off x="7996767" y="6527800"/>
              <a:ext cx="668867" cy="63500"/>
            </a:xfrm>
            <a:prstGeom prst="rect">
              <a:avLst/>
            </a:prstGeom>
            <a:solidFill>
              <a:srgbClr val="E8742A"/>
            </a:solidFill>
            <a:ln/>
          </p:spPr>
        </p:sp>
        <p:sp>
          <p:nvSpPr>
            <p:cNvPr id="34" name="Progression 12"/>
            <p:cNvSpPr/>
            <p:nvPr/>
          </p:nvSpPr>
          <p:spPr>
            <a:xfrm>
              <a:off x="8741833" y="6527800"/>
              <a:ext cx="668867" cy="63500"/>
            </a:xfrm>
            <a:prstGeom prst="rect">
              <a:avLst/>
            </a:prstGeom>
            <a:solidFill>
              <a:srgbClr val="E8742A"/>
            </a:solidFill>
            <a:ln/>
          </p:spPr>
        </p:sp>
        <p:sp>
          <p:nvSpPr>
            <p:cNvPr id="35" name="Progression 13"/>
            <p:cNvSpPr/>
            <p:nvPr/>
          </p:nvSpPr>
          <p:spPr>
            <a:xfrm>
              <a:off x="9486900" y="6527800"/>
              <a:ext cx="668867" cy="63500"/>
            </a:xfrm>
            <a:prstGeom prst="rect">
              <a:avLst/>
            </a:prstGeom>
            <a:solidFill>
              <a:srgbClr val="E8742A"/>
            </a:solidFill>
            <a:ln/>
          </p:spPr>
        </p:sp>
        <p:sp>
          <p:nvSpPr>
            <p:cNvPr id="36" name="Progression 14"/>
            <p:cNvSpPr/>
            <p:nvPr/>
          </p:nvSpPr>
          <p:spPr>
            <a:xfrm>
              <a:off x="10231967" y="6527800"/>
              <a:ext cx="668867" cy="63500"/>
            </a:xfrm>
            <a:prstGeom prst="rect">
              <a:avLst/>
            </a:prstGeom>
            <a:solidFill>
              <a:srgbClr val="3A312C"/>
            </a:solidFill>
            <a:ln/>
          </p:spPr>
        </p:sp>
        <p:sp>
          <p:nvSpPr>
            <p:cNvPr id="37"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Repère de section"/>
          <p:cNvSpPr txBox="1"/>
          <p:nvPr/>
        </p:nvSpPr>
        <p:spPr>
          <a:xfrm>
            <a:off x="548640" y="384048"/>
            <a:ext cx="1106424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CONCLUSION ET APPEL · ROMAINS 10.17</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La Parole qui conduit au Rédempteur</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Les cieux suffisent à condamner; la Parole suffit à sauver</a:t>
            </a:r>
            <a:endParaRPr lang="fr-CA" sz="1900" dirty="0"/>
          </a:p>
        </p:txBody>
      </p:sp>
      <p:sp>
        <p:nvSpPr>
          <p:cNvPr id="5" name="Shape 3"/>
          <p:cNvSpPr/>
          <p:nvPr/>
        </p:nvSpPr>
        <p:spPr>
          <a:xfrm>
            <a:off x="1554480" y="2331720"/>
            <a:ext cx="8503920" cy="0"/>
          </a:xfrm>
          <a:prstGeom prst="line">
            <a:avLst/>
          </a:prstGeom>
          <a:noFill/>
          <a:ln w="25400">
            <a:solidFill>
              <a:srgbClr val="CC5500"/>
            </a:solidFill>
            <a:prstDash val="dash"/>
          </a:ln>
        </p:spPr>
      </p:sp>
      <p:sp>
        <p:nvSpPr>
          <p:cNvPr id="6" name="Shape 4"/>
          <p:cNvSpPr/>
          <p:nvPr/>
        </p:nvSpPr>
        <p:spPr>
          <a:xfrm>
            <a:off x="1188720" y="1938528"/>
            <a:ext cx="777240" cy="777240"/>
          </a:xfrm>
          <a:prstGeom prst="ellipse">
            <a:avLst/>
          </a:prstGeom>
          <a:solidFill>
            <a:srgbClr val="2A1A10"/>
          </a:solidFill>
          <a:ln w="12700">
            <a:solidFill>
              <a:srgbClr val="CC5500"/>
            </a:solidFill>
            <a:prstDash val="solid"/>
          </a:ln>
        </p:spPr>
      </p:sp>
      <p:pic>
        <p:nvPicPr>
          <p:cNvPr id="7" name="Image 0" descr="Icône : soleil">    </p:cNvPr>
          <p:cNvPicPr>
            <a:picLocks noChangeAspect="1"/>
          </p:cNvPicPr>
          <p:nvPr/>
        </p:nvPicPr>
        <p:blipFill>
          <a:blip r:embed="rId1"/>
          <a:stretch>
            <a:fillRect/>
          </a:stretch>
        </p:blipFill>
        <p:spPr>
          <a:xfrm>
            <a:off x="1344168" y="2093976"/>
            <a:ext cx="466344" cy="466344"/>
          </a:xfrm>
          <a:prstGeom prst="rect">
            <a:avLst/>
          </a:prstGeom>
        </p:spPr>
      </p:pic>
      <p:sp>
        <p:nvSpPr>
          <p:cNvPr id="8" name="Text 5"/>
          <p:cNvSpPr txBox="1"/>
          <p:nvPr/>
        </p:nvSpPr>
        <p:spPr>
          <a:xfrm>
            <a:off x="571500" y="2944368"/>
            <a:ext cx="2011680" cy="365760"/>
          </a:xfrm>
          <a:prstGeom prst="rect">
            <a:avLst/>
          </a:prstGeom>
          <a:noFill/>
          <a:ln/>
        </p:spPr>
        <p:txBody>
          <a:bodyPr wrap="square" lIns="0" tIns="0" rIns="0" bIns="0" rtlCol="0" anchor="t"/>
          <a:lstStyle/>
          <a:p>
            <a:pPr algn="ctr" indent="0" marL="0">
              <a:buNone/>
            </a:pPr>
            <a:r>
              <a:rPr lang="fr-CA" altLang="en-US" sz="1500" dirty="0">
                <a:solidFill>
                  <a:srgbClr val="A89A8C"/>
                </a:solidFill>
                <a:latin typeface="Calibri" pitchFamily="34" charset="0"/>
                <a:ea typeface="Calibri" pitchFamily="34" charset="-122"/>
                <a:cs typeface="Calibri" pitchFamily="34" charset="-120"/>
              </a:rPr>
              <a:t>le ciel qui parle</a:t>
            </a:r>
            <a:endParaRPr lang="fr-CA" sz="1500" dirty="0"/>
          </a:p>
        </p:txBody>
      </p:sp>
      <p:sp>
        <p:nvSpPr>
          <p:cNvPr id="9" name="Shape 6"/>
          <p:cNvSpPr/>
          <p:nvPr/>
        </p:nvSpPr>
        <p:spPr>
          <a:xfrm>
            <a:off x="3429000" y="1938528"/>
            <a:ext cx="777240" cy="777240"/>
          </a:xfrm>
          <a:prstGeom prst="ellipse">
            <a:avLst/>
          </a:prstGeom>
          <a:solidFill>
            <a:srgbClr val="2A1A10"/>
          </a:solidFill>
          <a:ln w="12700">
            <a:solidFill>
              <a:srgbClr val="CC5500"/>
            </a:solidFill>
            <a:prstDash val="solid"/>
          </a:ln>
        </p:spPr>
      </p:sp>
      <p:pic>
        <p:nvPicPr>
          <p:cNvPr id="10" name="Image 1" descr="Icône : livre ouvert">    </p:cNvPr>
          <p:cNvPicPr>
            <a:picLocks noChangeAspect="1"/>
          </p:cNvPicPr>
          <p:nvPr/>
        </p:nvPicPr>
        <p:blipFill>
          <a:blip r:embed="rId2"/>
          <a:stretch>
            <a:fillRect/>
          </a:stretch>
        </p:blipFill>
        <p:spPr>
          <a:xfrm>
            <a:off x="3584448" y="2093976"/>
            <a:ext cx="466344" cy="466344"/>
          </a:xfrm>
          <a:prstGeom prst="rect">
            <a:avLst/>
          </a:prstGeom>
        </p:spPr>
      </p:pic>
      <p:sp>
        <p:nvSpPr>
          <p:cNvPr id="11" name="Text 7"/>
          <p:cNvSpPr txBox="1"/>
          <p:nvPr/>
        </p:nvSpPr>
        <p:spPr>
          <a:xfrm>
            <a:off x="2811780" y="2944368"/>
            <a:ext cx="2011680" cy="365760"/>
          </a:xfrm>
          <a:prstGeom prst="rect">
            <a:avLst/>
          </a:prstGeom>
          <a:noFill/>
          <a:ln/>
        </p:spPr>
        <p:txBody>
          <a:bodyPr wrap="square" lIns="0" tIns="0" rIns="0" bIns="0" rtlCol="0" anchor="t"/>
          <a:lstStyle/>
          <a:p>
            <a:pPr algn="ctr" indent="0" marL="0">
              <a:buNone/>
            </a:pPr>
            <a:r>
              <a:rPr lang="fr-CA" altLang="en-US" sz="1500" dirty="0">
                <a:solidFill>
                  <a:srgbClr val="A89A8C"/>
                </a:solidFill>
                <a:latin typeface="Calibri" pitchFamily="34" charset="0"/>
                <a:ea typeface="Calibri" pitchFamily="34" charset="-122"/>
                <a:cs typeface="Calibri" pitchFamily="34" charset="-120"/>
              </a:rPr>
              <a:t>la Parole qui suffit</a:t>
            </a:r>
            <a:endParaRPr lang="fr-CA" sz="1500" dirty="0"/>
          </a:p>
        </p:txBody>
      </p:sp>
      <p:sp>
        <p:nvSpPr>
          <p:cNvPr id="12" name="Shape 8"/>
          <p:cNvSpPr/>
          <p:nvPr/>
        </p:nvSpPr>
        <p:spPr>
          <a:xfrm>
            <a:off x="5669280" y="1938528"/>
            <a:ext cx="777240" cy="777240"/>
          </a:xfrm>
          <a:prstGeom prst="ellipse">
            <a:avLst/>
          </a:prstGeom>
          <a:solidFill>
            <a:srgbClr val="2A1A10"/>
          </a:solidFill>
          <a:ln w="12700">
            <a:solidFill>
              <a:srgbClr val="CC5500"/>
            </a:solidFill>
            <a:prstDash val="solid"/>
          </a:ln>
        </p:spPr>
      </p:sp>
      <p:pic>
        <p:nvPicPr>
          <p:cNvPr id="13" name="Image 2" descr="Icône : lingots d'or">    </p:cNvPr>
          <p:cNvPicPr>
            <a:picLocks noChangeAspect="1"/>
          </p:cNvPicPr>
          <p:nvPr/>
        </p:nvPicPr>
        <p:blipFill>
          <a:blip r:embed="rId3"/>
          <a:stretch>
            <a:fillRect/>
          </a:stretch>
        </p:blipFill>
        <p:spPr>
          <a:xfrm>
            <a:off x="5824728" y="2093976"/>
            <a:ext cx="466344" cy="466344"/>
          </a:xfrm>
          <a:prstGeom prst="rect">
            <a:avLst/>
          </a:prstGeom>
        </p:spPr>
      </p:pic>
      <p:sp>
        <p:nvSpPr>
          <p:cNvPr id="14" name="Text 9"/>
          <p:cNvSpPr txBox="1"/>
          <p:nvPr/>
        </p:nvSpPr>
        <p:spPr>
          <a:xfrm>
            <a:off x="5052060" y="2944368"/>
            <a:ext cx="2011680" cy="365760"/>
          </a:xfrm>
          <a:prstGeom prst="rect">
            <a:avLst/>
          </a:prstGeom>
          <a:noFill/>
          <a:ln/>
        </p:spPr>
        <p:txBody>
          <a:bodyPr wrap="square" lIns="0" tIns="0" rIns="0" bIns="0" rtlCol="0" anchor="t"/>
          <a:lstStyle/>
          <a:p>
            <a:pPr algn="ctr" indent="0" marL="0">
              <a:buNone/>
            </a:pPr>
            <a:r>
              <a:rPr lang="fr-CA" altLang="en-US" sz="1500" dirty="0">
                <a:solidFill>
                  <a:srgbClr val="A89A8C"/>
                </a:solidFill>
                <a:latin typeface="Calibri" pitchFamily="34" charset="0"/>
                <a:ea typeface="Calibri" pitchFamily="34" charset="-122"/>
                <a:cs typeface="Calibri" pitchFamily="34" charset="-120"/>
              </a:rPr>
              <a:t>la Parole qu'on désire</a:t>
            </a:r>
            <a:endParaRPr lang="fr-CA" sz="1500" dirty="0"/>
          </a:p>
        </p:txBody>
      </p:sp>
      <p:sp>
        <p:nvSpPr>
          <p:cNvPr id="15" name="Shape 10"/>
          <p:cNvSpPr/>
          <p:nvPr/>
        </p:nvSpPr>
        <p:spPr>
          <a:xfrm>
            <a:off x="7909560" y="1938528"/>
            <a:ext cx="777240" cy="777240"/>
          </a:xfrm>
          <a:prstGeom prst="ellipse">
            <a:avLst/>
          </a:prstGeom>
          <a:solidFill>
            <a:srgbClr val="2A1A10"/>
          </a:solidFill>
          <a:ln w="12700">
            <a:solidFill>
              <a:srgbClr val="CC5500"/>
            </a:solidFill>
            <a:prstDash val="solid"/>
          </a:ln>
        </p:spPr>
      </p:sp>
      <p:pic>
        <p:nvPicPr>
          <p:cNvPr id="16" name="Image 3" descr="Icône : cœur">    </p:cNvPr>
          <p:cNvPicPr>
            <a:picLocks noChangeAspect="1"/>
          </p:cNvPicPr>
          <p:nvPr/>
        </p:nvPicPr>
        <p:blipFill>
          <a:blip r:embed="rId4"/>
          <a:stretch>
            <a:fillRect/>
          </a:stretch>
        </p:blipFill>
        <p:spPr>
          <a:xfrm>
            <a:off x="8065008" y="2093976"/>
            <a:ext cx="466344" cy="466344"/>
          </a:xfrm>
          <a:prstGeom prst="rect">
            <a:avLst/>
          </a:prstGeom>
        </p:spPr>
      </p:pic>
      <p:sp>
        <p:nvSpPr>
          <p:cNvPr id="17" name="Text 11"/>
          <p:cNvSpPr txBox="1"/>
          <p:nvPr/>
        </p:nvSpPr>
        <p:spPr>
          <a:xfrm>
            <a:off x="7292340" y="2944368"/>
            <a:ext cx="2011680" cy="365760"/>
          </a:xfrm>
          <a:prstGeom prst="rect">
            <a:avLst/>
          </a:prstGeom>
          <a:noFill/>
          <a:ln/>
        </p:spPr>
        <p:txBody>
          <a:bodyPr wrap="square" lIns="0" tIns="0" rIns="0" bIns="0" rtlCol="0" anchor="t"/>
          <a:lstStyle/>
          <a:p>
            <a:pPr algn="ctr" indent="0" marL="0">
              <a:buNone/>
            </a:pPr>
            <a:r>
              <a:rPr lang="fr-CA" altLang="en-US" sz="1500" dirty="0">
                <a:solidFill>
                  <a:srgbClr val="A89A8C"/>
                </a:solidFill>
                <a:latin typeface="Calibri" pitchFamily="34" charset="0"/>
                <a:ea typeface="Calibri" pitchFamily="34" charset="-122"/>
                <a:cs typeface="Calibri" pitchFamily="34" charset="-120"/>
              </a:rPr>
              <a:t>le cœur qui s'offre</a:t>
            </a:r>
            <a:endParaRPr lang="fr-CA" sz="1500" dirty="0"/>
          </a:p>
        </p:txBody>
      </p:sp>
      <p:sp>
        <p:nvSpPr>
          <p:cNvPr id="18" name="Shape 12"/>
          <p:cNvSpPr/>
          <p:nvPr/>
        </p:nvSpPr>
        <p:spPr>
          <a:xfrm>
            <a:off x="10058400" y="1810512"/>
            <a:ext cx="1051560" cy="1051560"/>
          </a:xfrm>
          <a:prstGeom prst="ellipse">
            <a:avLst/>
          </a:prstGeom>
          <a:solidFill>
            <a:srgbClr val="CC5500"/>
          </a:solidFill>
          <a:ln w="25400">
            <a:solidFill>
              <a:srgbClr val="E8742A"/>
            </a:solidFill>
            <a:prstDash val="solid"/>
          </a:ln>
        </p:spPr>
      </p:sp>
      <p:pic>
        <p:nvPicPr>
          <p:cNvPr id="19" name="Image 4" descr="Icône : croix">    </p:cNvPr>
          <p:cNvPicPr>
            <a:picLocks noChangeAspect="1"/>
          </p:cNvPicPr>
          <p:nvPr/>
        </p:nvPicPr>
        <p:blipFill>
          <a:blip r:embed="rId5"/>
          <a:stretch>
            <a:fillRect/>
          </a:stretch>
        </p:blipFill>
        <p:spPr>
          <a:xfrm>
            <a:off x="10287000" y="2039112"/>
            <a:ext cx="594360" cy="594360"/>
          </a:xfrm>
          <a:prstGeom prst="rect">
            <a:avLst/>
          </a:prstGeom>
        </p:spPr>
      </p:pic>
      <p:sp>
        <p:nvSpPr>
          <p:cNvPr id="20" name="Text 13"/>
          <p:cNvSpPr txBox="1"/>
          <p:nvPr/>
        </p:nvSpPr>
        <p:spPr>
          <a:xfrm>
            <a:off x="9578340" y="2944368"/>
            <a:ext cx="2011680" cy="365760"/>
          </a:xfrm>
          <a:prstGeom prst="rect">
            <a:avLst/>
          </a:prstGeom>
          <a:noFill/>
          <a:ln/>
        </p:spPr>
        <p:txBody>
          <a:bodyPr wrap="square" lIns="0" tIns="0" rIns="0" bIns="0" rtlCol="0" anchor="t"/>
          <a:lstStyle/>
          <a:p>
            <a:pPr algn="ctr" indent="0" marL="0">
              <a:buNone/>
            </a:pPr>
            <a:r>
              <a:rPr lang="fr-CA" altLang="en-US" sz="1600" b="1" dirty="0">
                <a:solidFill>
                  <a:srgbClr val="E8742A"/>
                </a:solidFill>
                <a:latin typeface="Calibri" pitchFamily="34" charset="0"/>
                <a:ea typeface="Calibri" pitchFamily="34" charset="-122"/>
                <a:cs typeface="Calibri" pitchFamily="34" charset="-120"/>
              </a:rPr>
              <a:t>le Rédempteur</a:t>
            </a:r>
            <a:endParaRPr lang="fr-CA" sz="1600" dirty="0"/>
          </a:p>
        </p:txBody>
      </p:sp>
      <p:sp>
        <p:nvSpPr>
          <p:cNvPr id="21" name="Shape 14"/>
          <p:cNvSpPr/>
          <p:nvPr/>
        </p:nvSpPr>
        <p:spPr>
          <a:xfrm>
            <a:off x="548640" y="3520440"/>
            <a:ext cx="3547872" cy="2834640"/>
          </a:xfrm>
          <a:prstGeom prst="roundRect">
            <a:avLst>
              <a:gd name="adj" fmla="val 3871"/>
            </a:avLst>
          </a:prstGeom>
          <a:solidFill>
            <a:srgbClr val="1A1411"/>
          </a:solidFill>
          <a:ln w="19050">
            <a:solidFill>
              <a:srgbClr val="CC5500"/>
            </a:solidFill>
            <a:prstDash val="solid"/>
          </a:ln>
        </p:spPr>
      </p:sp>
      <p:sp>
        <p:nvSpPr>
          <p:cNvPr id="22" name="Text 15"/>
          <p:cNvSpPr txBox="1"/>
          <p:nvPr/>
        </p:nvSpPr>
        <p:spPr>
          <a:xfrm>
            <a:off x="822960" y="3657600"/>
            <a:ext cx="3017520" cy="411480"/>
          </a:xfrm>
          <a:prstGeom prst="rect">
            <a:avLst/>
          </a:prstGeom>
          <a:noFill/>
          <a:ln/>
        </p:spPr>
        <p:txBody>
          <a:bodyPr wrap="square" lIns="0" tIns="0" rIns="0" bIns="0" rtlCol="0" anchor="t"/>
          <a:lstStyle/>
          <a:p>
            <a:pPr indent="0" marL="0">
              <a:buNone/>
            </a:pPr>
            <a:r>
              <a:rPr lang="fr-CA" altLang="en-US" sz="1900" b="1" dirty="0">
                <a:solidFill>
                  <a:srgbClr val="E8742A"/>
                </a:solidFill>
                <a:latin typeface="Calibri" pitchFamily="34" charset="0"/>
                <a:ea typeface="Calibri" pitchFamily="34" charset="-122"/>
                <a:cs typeface="Calibri" pitchFamily="34" charset="-120"/>
              </a:rPr>
              <a:t>Le Rédempteur a un nom</a:t>
            </a:r>
            <a:endParaRPr lang="fr-CA" sz="1900" dirty="0"/>
          </a:p>
        </p:txBody>
      </p:sp>
      <p:sp>
        <p:nvSpPr>
          <p:cNvPr id="23" name="Text 16"/>
          <p:cNvSpPr txBox="1"/>
          <p:nvPr/>
        </p:nvSpPr>
        <p:spPr>
          <a:xfrm>
            <a:off x="822960" y="4114800"/>
            <a:ext cx="3017520" cy="2148840"/>
          </a:xfrm>
          <a:prstGeom prst="rect">
            <a:avLst/>
          </a:prstGeom>
          <a:noFill/>
          <a:ln/>
        </p:spPr>
        <p:txBody>
          <a:bodyPr wrap="square" lIns="0" tIns="0" rIns="0" bIns="0" rtlCol="0" anchor="t"/>
          <a:lstStyle/>
          <a:p>
            <a:pPr indent="0" marL="0">
              <a:buNone/>
            </a:pPr>
            <a:r>
              <a:rPr lang="fr-CA" altLang="en-US" sz="1500" dirty="0">
                <a:solidFill>
                  <a:srgbClr val="F4EDE4"/>
                </a:solidFill>
                <a:latin typeface="Calibri" pitchFamily="34" charset="0"/>
                <a:ea typeface="Calibri" pitchFamily="34" charset="-122"/>
                <a:cs typeface="Calibri" pitchFamily="34" charset="-120"/>
              </a:rPr>
              <a:t>Dieu nous a parlé par le Fils (Hébreux 1.1‑2).</a:t>
            </a:r>
            <a:endParaRPr lang="fr-CA" sz="1500" dirty="0"/>
          </a:p>
          <a:p>
            <a:pPr indent="0" marL="0">
              <a:spcBef>
                <a:spcPts val="600"/>
              </a:spcBef>
              <a:buNone/>
            </a:pPr>
            <a:r>
              <a:rPr lang="fr-CA" altLang="en-US" sz="1500" dirty="0">
                <a:solidFill>
                  <a:srgbClr val="A89A8C"/>
                </a:solidFill>
                <a:latin typeface="Calibri" pitchFamily="34" charset="0"/>
                <a:ea typeface="Calibri" pitchFamily="34" charset="-122"/>
                <a:cs typeface="Calibri" pitchFamily="34" charset="-120"/>
              </a:rPr>
              <a:t>« Personne ne peut être sauvé, régénéré, né de nouveau sans comprendre la Parole de Dieu, en particulier la Parole de Dieu concernant la personne de Jésus‑Christ » (MacArthur).</a:t>
            </a:r>
            <a:endParaRPr lang="fr-CA" sz="1500" dirty="0"/>
          </a:p>
        </p:txBody>
      </p:sp>
      <p:sp>
        <p:nvSpPr>
          <p:cNvPr id="24" name="Shape 17"/>
          <p:cNvSpPr/>
          <p:nvPr/>
        </p:nvSpPr>
        <p:spPr>
          <a:xfrm>
            <a:off x="4320540" y="3520440"/>
            <a:ext cx="3547872" cy="2834640"/>
          </a:xfrm>
          <a:prstGeom prst="roundRect">
            <a:avLst>
              <a:gd name="adj" fmla="val 3871"/>
            </a:avLst>
          </a:prstGeom>
          <a:solidFill>
            <a:srgbClr val="1A1411"/>
          </a:solidFill>
          <a:ln w="9525">
            <a:solidFill>
              <a:srgbClr val="2E211A"/>
            </a:solidFill>
            <a:prstDash val="solid"/>
          </a:ln>
        </p:spPr>
      </p:sp>
      <p:sp>
        <p:nvSpPr>
          <p:cNvPr id="25" name="Text 18"/>
          <p:cNvSpPr txBox="1"/>
          <p:nvPr/>
        </p:nvSpPr>
        <p:spPr>
          <a:xfrm>
            <a:off x="4594860" y="3657600"/>
            <a:ext cx="3017520" cy="411480"/>
          </a:xfrm>
          <a:prstGeom prst="rect">
            <a:avLst/>
          </a:prstGeom>
          <a:noFill/>
          <a:ln/>
        </p:spPr>
        <p:txBody>
          <a:bodyPr wrap="square" lIns="0" tIns="0" rIns="0" bIns="0" rtlCol="0" anchor="t"/>
          <a:lstStyle/>
          <a:p>
            <a:pPr indent="0" marL="0">
              <a:buNone/>
            </a:pPr>
            <a:r>
              <a:rPr lang="fr-CA" altLang="en-US" sz="1900" b="1" dirty="0">
                <a:solidFill>
                  <a:srgbClr val="E8742A"/>
                </a:solidFill>
                <a:latin typeface="Calibri" pitchFamily="34" charset="0"/>
                <a:ea typeface="Calibri" pitchFamily="34" charset="-122"/>
                <a:cs typeface="Calibri" pitchFamily="34" charset="-120"/>
              </a:rPr>
              <a:t>À l'incroyant</a:t>
            </a:r>
            <a:endParaRPr lang="fr-CA" sz="1900" dirty="0"/>
          </a:p>
        </p:txBody>
      </p:sp>
      <p:sp>
        <p:nvSpPr>
          <p:cNvPr id="26" name="Text 19"/>
          <p:cNvSpPr txBox="1"/>
          <p:nvPr/>
        </p:nvSpPr>
        <p:spPr>
          <a:xfrm>
            <a:off x="4594860" y="4114800"/>
            <a:ext cx="3017520" cy="2148840"/>
          </a:xfrm>
          <a:prstGeom prst="rect">
            <a:avLst/>
          </a:prstGeom>
          <a:noFill/>
          <a:ln/>
        </p:spPr>
        <p:txBody>
          <a:bodyPr wrap="square" lIns="0" tIns="0" rIns="0" bIns="0" rtlCol="0" anchor="t"/>
          <a:lstStyle/>
          <a:p>
            <a:pPr indent="0" marL="0">
              <a:buNone/>
            </a:pPr>
            <a:r>
              <a:rPr lang="fr-CA" altLang="en-US" sz="1500" dirty="0">
                <a:solidFill>
                  <a:srgbClr val="F4EDE4"/>
                </a:solidFill>
                <a:latin typeface="Calibri" pitchFamily="34" charset="0"/>
                <a:ea typeface="Calibri" pitchFamily="34" charset="-122"/>
                <a:cs typeface="Calibri" pitchFamily="34" charset="-120"/>
              </a:rPr>
              <a:t>Les cieux vous ont parlé toute votre vie : vous êtes sans excuse. Christ est mort pour nos péchés et il est ressuscité (1 Corinthiens 15.3‑4).</a:t>
            </a:r>
            <a:endParaRPr lang="fr-CA" sz="1500" dirty="0"/>
          </a:p>
          <a:p>
            <a:pPr indent="0" marL="0">
              <a:spcBef>
                <a:spcPts val="600"/>
              </a:spcBef>
              <a:buNone/>
            </a:pPr>
            <a:r>
              <a:rPr lang="fr-CA" altLang="en-US" sz="1700" b="1" dirty="0">
                <a:solidFill>
                  <a:srgbClr val="F4EDE4"/>
                </a:solidFill>
                <a:latin typeface="Calibri" pitchFamily="34" charset="0"/>
                <a:ea typeface="Calibri" pitchFamily="34" charset="-122"/>
                <a:cs typeface="Calibri" pitchFamily="34" charset="-120"/>
              </a:rPr>
              <a:t>Repentez‑vous, croyez en Christ et soumettez‑vous à lui comme Seigneur.</a:t>
            </a:r>
            <a:endParaRPr lang="fr-CA" sz="1500" dirty="0"/>
          </a:p>
        </p:txBody>
      </p:sp>
      <p:sp>
        <p:nvSpPr>
          <p:cNvPr id="27" name="Shape 20"/>
          <p:cNvSpPr/>
          <p:nvPr/>
        </p:nvSpPr>
        <p:spPr>
          <a:xfrm>
            <a:off x="8092440" y="3520440"/>
            <a:ext cx="3547872" cy="2834640"/>
          </a:xfrm>
          <a:prstGeom prst="roundRect">
            <a:avLst>
              <a:gd name="adj" fmla="val 3871"/>
            </a:avLst>
          </a:prstGeom>
          <a:solidFill>
            <a:srgbClr val="1A1411"/>
          </a:solidFill>
          <a:ln w="9525">
            <a:solidFill>
              <a:srgbClr val="2E211A"/>
            </a:solidFill>
            <a:prstDash val="solid"/>
          </a:ln>
        </p:spPr>
      </p:sp>
      <p:sp>
        <p:nvSpPr>
          <p:cNvPr id="28" name="Text 21"/>
          <p:cNvSpPr txBox="1"/>
          <p:nvPr/>
        </p:nvSpPr>
        <p:spPr>
          <a:xfrm>
            <a:off x="8366760" y="3657600"/>
            <a:ext cx="3017520" cy="411480"/>
          </a:xfrm>
          <a:prstGeom prst="rect">
            <a:avLst/>
          </a:prstGeom>
          <a:noFill/>
          <a:ln/>
        </p:spPr>
        <p:txBody>
          <a:bodyPr wrap="square" lIns="0" tIns="0" rIns="0" bIns="0" rtlCol="0" anchor="t"/>
          <a:lstStyle/>
          <a:p>
            <a:pPr indent="0" marL="0">
              <a:buNone/>
            </a:pPr>
            <a:r>
              <a:rPr lang="fr-CA" altLang="en-US" sz="1900" b="1" dirty="0">
                <a:solidFill>
                  <a:srgbClr val="E8742A"/>
                </a:solidFill>
                <a:latin typeface="Calibri" pitchFamily="34" charset="0"/>
                <a:ea typeface="Calibri" pitchFamily="34" charset="-122"/>
                <a:cs typeface="Calibri" pitchFamily="34" charset="-120"/>
              </a:rPr>
              <a:t>Au croyant</a:t>
            </a:r>
            <a:endParaRPr lang="fr-CA" sz="1900" dirty="0"/>
          </a:p>
        </p:txBody>
      </p:sp>
      <p:sp>
        <p:nvSpPr>
          <p:cNvPr id="29" name="Text 22"/>
          <p:cNvSpPr txBox="1"/>
          <p:nvPr/>
        </p:nvSpPr>
        <p:spPr>
          <a:xfrm>
            <a:off x="8366760" y="4114800"/>
            <a:ext cx="3017520" cy="2148840"/>
          </a:xfrm>
          <a:prstGeom prst="rect">
            <a:avLst/>
          </a:prstGeom>
          <a:noFill/>
          <a:ln/>
        </p:spPr>
        <p:txBody>
          <a:bodyPr wrap="square" lIns="0" tIns="0" rIns="0" bIns="0" rtlCol="0" anchor="t"/>
          <a:lstStyle/>
          <a:p>
            <a:pPr indent="0" marL="0">
              <a:buNone/>
            </a:pPr>
            <a:r>
              <a:rPr lang="fr-CA" altLang="en-US" sz="1500" dirty="0">
                <a:solidFill>
                  <a:srgbClr val="F4EDE4"/>
                </a:solidFill>
                <a:latin typeface="Calibri" pitchFamily="34" charset="0"/>
                <a:ea typeface="Calibri" pitchFamily="34" charset="-122"/>
                <a:cs typeface="Calibri" pitchFamily="34" charset="-120"/>
              </a:rPr>
              <a:t>Ne cherchez pas ailleurs ce que la Parole vous donne. Désirez‑la, laissez‑la vous sonder, offrez‑vous à Dieu.</a:t>
            </a:r>
            <a:endParaRPr lang="fr-CA" sz="1500" dirty="0"/>
          </a:p>
          <a:p>
            <a:pPr indent="0" marL="0">
              <a:spcBef>
                <a:spcPts val="600"/>
              </a:spcBef>
              <a:buNone/>
            </a:pPr>
            <a:r>
              <a:rPr lang="fr-CA" altLang="en-US" sz="1500" dirty="0">
                <a:solidFill>
                  <a:srgbClr val="A89A8C"/>
                </a:solidFill>
                <a:latin typeface="Calibri" pitchFamily="34" charset="0"/>
                <a:ea typeface="Calibri" pitchFamily="34" charset="-122"/>
                <a:cs typeface="Calibri" pitchFamily="34" charset="-120"/>
              </a:rPr>
              <a:t>« Dans votre cœur, en ce moment, pouvez‑vous prendre devant le Seigneur un engagement renouvelé à vous vouer à sa Parole? » (MacArthur)</a:t>
            </a:r>
            <a:endParaRPr lang="fr-CA" sz="1500" dirty="0"/>
          </a:p>
        </p:txBody>
      </p:sp>
      <p:grpSp>
        <p:nvGrpSpPr>
          <p:cNvPr id="1013" name="Barre de progression"/>
          <p:cNvGrpSpPr/>
          <p:nvPr/>
        </p:nvGrpSpPr>
        <p:grpSpPr>
          <a:xfrm>
            <a:off x="546100" y="6527800"/>
            <a:ext cx="11099800" cy="63500"/>
            <a:chOff x="546100" y="6527800"/>
            <a:chExt cx="11099800" cy="63500"/>
          </a:xfrm>
        </p:grpSpPr>
        <p:sp>
          <p:nvSpPr>
            <p:cNvPr id="30" name="Progression 1"/>
            <p:cNvSpPr/>
            <p:nvPr/>
          </p:nvSpPr>
          <p:spPr>
            <a:xfrm>
              <a:off x="546100" y="6527800"/>
              <a:ext cx="668867" cy="63500"/>
            </a:xfrm>
            <a:prstGeom prst="rect">
              <a:avLst/>
            </a:prstGeom>
            <a:solidFill>
              <a:srgbClr val="E8742A"/>
            </a:solidFill>
            <a:ln/>
          </p:spPr>
        </p:sp>
        <p:sp>
          <p:nvSpPr>
            <p:cNvPr id="31" name="Progression 2"/>
            <p:cNvSpPr/>
            <p:nvPr/>
          </p:nvSpPr>
          <p:spPr>
            <a:xfrm>
              <a:off x="1291167" y="6527800"/>
              <a:ext cx="668867" cy="63500"/>
            </a:xfrm>
            <a:prstGeom prst="rect">
              <a:avLst/>
            </a:prstGeom>
            <a:solidFill>
              <a:srgbClr val="E8742A"/>
            </a:solidFill>
            <a:ln/>
          </p:spPr>
        </p:sp>
        <p:sp>
          <p:nvSpPr>
            <p:cNvPr id="32" name="Progression 3"/>
            <p:cNvSpPr/>
            <p:nvPr/>
          </p:nvSpPr>
          <p:spPr>
            <a:xfrm>
              <a:off x="2036233" y="6527800"/>
              <a:ext cx="668867" cy="63500"/>
            </a:xfrm>
            <a:prstGeom prst="rect">
              <a:avLst/>
            </a:prstGeom>
            <a:solidFill>
              <a:srgbClr val="E8742A"/>
            </a:solidFill>
            <a:ln/>
          </p:spPr>
        </p:sp>
        <p:sp>
          <p:nvSpPr>
            <p:cNvPr id="33" name="Progression 4"/>
            <p:cNvSpPr/>
            <p:nvPr/>
          </p:nvSpPr>
          <p:spPr>
            <a:xfrm>
              <a:off x="2781300" y="6527800"/>
              <a:ext cx="668867" cy="63500"/>
            </a:xfrm>
            <a:prstGeom prst="rect">
              <a:avLst/>
            </a:prstGeom>
            <a:solidFill>
              <a:srgbClr val="E8742A"/>
            </a:solidFill>
            <a:ln/>
          </p:spPr>
        </p:sp>
        <p:sp>
          <p:nvSpPr>
            <p:cNvPr id="34" name="Progression 5"/>
            <p:cNvSpPr/>
            <p:nvPr/>
          </p:nvSpPr>
          <p:spPr>
            <a:xfrm>
              <a:off x="3526367" y="6527800"/>
              <a:ext cx="668867" cy="63500"/>
            </a:xfrm>
            <a:prstGeom prst="rect">
              <a:avLst/>
            </a:prstGeom>
            <a:solidFill>
              <a:srgbClr val="E8742A"/>
            </a:solidFill>
            <a:ln/>
          </p:spPr>
        </p:sp>
        <p:sp>
          <p:nvSpPr>
            <p:cNvPr id="35" name="Progression 6"/>
            <p:cNvSpPr/>
            <p:nvPr/>
          </p:nvSpPr>
          <p:spPr>
            <a:xfrm>
              <a:off x="4271433" y="6527800"/>
              <a:ext cx="668867" cy="63500"/>
            </a:xfrm>
            <a:prstGeom prst="rect">
              <a:avLst/>
            </a:prstGeom>
            <a:solidFill>
              <a:srgbClr val="E8742A"/>
            </a:solidFill>
            <a:ln/>
          </p:spPr>
        </p:sp>
        <p:sp>
          <p:nvSpPr>
            <p:cNvPr id="36" name="Progression 7"/>
            <p:cNvSpPr/>
            <p:nvPr/>
          </p:nvSpPr>
          <p:spPr>
            <a:xfrm>
              <a:off x="5016500" y="6527800"/>
              <a:ext cx="668867" cy="63500"/>
            </a:xfrm>
            <a:prstGeom prst="rect">
              <a:avLst/>
            </a:prstGeom>
            <a:solidFill>
              <a:srgbClr val="E8742A"/>
            </a:solidFill>
            <a:ln/>
          </p:spPr>
        </p:sp>
        <p:sp>
          <p:nvSpPr>
            <p:cNvPr id="37" name="Progression 8"/>
            <p:cNvSpPr/>
            <p:nvPr/>
          </p:nvSpPr>
          <p:spPr>
            <a:xfrm>
              <a:off x="5761567" y="6527800"/>
              <a:ext cx="668867" cy="63500"/>
            </a:xfrm>
            <a:prstGeom prst="rect">
              <a:avLst/>
            </a:prstGeom>
            <a:solidFill>
              <a:srgbClr val="E8742A"/>
            </a:solidFill>
            <a:ln/>
          </p:spPr>
        </p:sp>
        <p:sp>
          <p:nvSpPr>
            <p:cNvPr id="38" name="Progression 9"/>
            <p:cNvSpPr/>
            <p:nvPr/>
          </p:nvSpPr>
          <p:spPr>
            <a:xfrm>
              <a:off x="6506633" y="6527800"/>
              <a:ext cx="668867" cy="63500"/>
            </a:xfrm>
            <a:prstGeom prst="rect">
              <a:avLst/>
            </a:prstGeom>
            <a:solidFill>
              <a:srgbClr val="E8742A"/>
            </a:solidFill>
            <a:ln/>
          </p:spPr>
        </p:sp>
        <p:sp>
          <p:nvSpPr>
            <p:cNvPr id="39" name="Progression 10"/>
            <p:cNvSpPr/>
            <p:nvPr/>
          </p:nvSpPr>
          <p:spPr>
            <a:xfrm>
              <a:off x="7251700" y="6527800"/>
              <a:ext cx="668867" cy="63500"/>
            </a:xfrm>
            <a:prstGeom prst="rect">
              <a:avLst/>
            </a:prstGeom>
            <a:solidFill>
              <a:srgbClr val="E8742A"/>
            </a:solidFill>
            <a:ln/>
          </p:spPr>
        </p:sp>
        <p:sp>
          <p:nvSpPr>
            <p:cNvPr id="40" name="Progression 11"/>
            <p:cNvSpPr/>
            <p:nvPr/>
          </p:nvSpPr>
          <p:spPr>
            <a:xfrm>
              <a:off x="7996767" y="6527800"/>
              <a:ext cx="668867" cy="63500"/>
            </a:xfrm>
            <a:prstGeom prst="rect">
              <a:avLst/>
            </a:prstGeom>
            <a:solidFill>
              <a:srgbClr val="E8742A"/>
            </a:solidFill>
            <a:ln/>
          </p:spPr>
        </p:sp>
        <p:sp>
          <p:nvSpPr>
            <p:cNvPr id="41" name="Progression 12"/>
            <p:cNvSpPr/>
            <p:nvPr/>
          </p:nvSpPr>
          <p:spPr>
            <a:xfrm>
              <a:off x="8741833" y="6527800"/>
              <a:ext cx="668867" cy="63500"/>
            </a:xfrm>
            <a:prstGeom prst="rect">
              <a:avLst/>
            </a:prstGeom>
            <a:solidFill>
              <a:srgbClr val="E8742A"/>
            </a:solidFill>
            <a:ln/>
          </p:spPr>
        </p:sp>
        <p:sp>
          <p:nvSpPr>
            <p:cNvPr id="42" name="Progression 13"/>
            <p:cNvSpPr/>
            <p:nvPr/>
          </p:nvSpPr>
          <p:spPr>
            <a:xfrm>
              <a:off x="9486900" y="6527800"/>
              <a:ext cx="668867" cy="63500"/>
            </a:xfrm>
            <a:prstGeom prst="rect">
              <a:avLst/>
            </a:prstGeom>
            <a:solidFill>
              <a:srgbClr val="E8742A"/>
            </a:solidFill>
            <a:ln/>
          </p:spPr>
        </p:sp>
        <p:sp>
          <p:nvSpPr>
            <p:cNvPr id="43" name="Progression 14"/>
            <p:cNvSpPr/>
            <p:nvPr/>
          </p:nvSpPr>
          <p:spPr>
            <a:xfrm>
              <a:off x="10231967" y="6527800"/>
              <a:ext cx="668867" cy="63500"/>
            </a:xfrm>
            <a:prstGeom prst="rect">
              <a:avLst/>
            </a:prstGeom>
            <a:solidFill>
              <a:srgbClr val="E8742A"/>
            </a:solidFill>
            <a:ln/>
          </p:spPr>
        </p:sp>
        <p:sp>
          <p:nvSpPr>
            <p:cNvPr id="44"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Repère de section"/>
          <p:cNvSpPr txBox="1"/>
          <p:nvPr/>
        </p:nvSpPr>
        <p:spPr>
          <a:xfrm>
            <a:off x="548640" y="384048"/>
            <a:ext cx="1106424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PRIÈRE · PSAUME 19.15</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Prions ensemble</a:t>
            </a:r>
            <a:endParaRPr lang="fr-CA" sz="3800" dirty="0"/>
          </a:p>
        </p:txBody>
      </p:sp>
      <p:sp>
        <p:nvSpPr>
          <p:cNvPr id="4" name="Shape 2"/>
          <p:cNvSpPr/>
          <p:nvPr/>
        </p:nvSpPr>
        <p:spPr>
          <a:xfrm>
            <a:off x="548640" y="1874520"/>
            <a:ext cx="7223760" cy="4480560"/>
          </a:xfrm>
          <a:prstGeom prst="roundRect">
            <a:avLst>
              <a:gd name="adj" fmla="val 2449"/>
            </a:avLst>
          </a:prstGeom>
          <a:solidFill>
            <a:srgbClr val="1A1411"/>
          </a:solidFill>
          <a:ln w="19050">
            <a:solidFill>
              <a:srgbClr val="CC5500"/>
            </a:solidFill>
            <a:prstDash val="solid"/>
          </a:ln>
        </p:spPr>
      </p:sp>
      <p:sp>
        <p:nvSpPr>
          <p:cNvPr id="5" name="Prière"/>
          <p:cNvSpPr txBox="1"/>
          <p:nvPr/>
        </p:nvSpPr>
        <p:spPr>
          <a:xfrm>
            <a:off x="914400" y="1874520"/>
            <a:ext cx="6492240" cy="4480560"/>
          </a:xfrm>
          <a:prstGeom prst="rect">
            <a:avLst/>
          </a:prstGeom>
          <a:noFill/>
          <a:ln/>
        </p:spPr>
        <p:txBody>
          <a:bodyPr wrap="square" lIns="0" tIns="0" rIns="0" bIns="0" rtlCol="0" anchor="ctr"/>
          <a:lstStyle/>
          <a:p>
            <a:pPr indent="0" marL="0">
              <a:lnSpc>
                <a:spcPct val="105000"/>
              </a:lnSpc>
              <a:buNone/>
            </a:pPr>
            <a:r>
              <a:rPr lang="fr-CA" altLang="en-US" sz="3200" i="1" dirty="0">
                <a:solidFill>
                  <a:srgbClr val="F4EDE4"/>
                </a:solidFill>
                <a:latin typeface="Cambria" pitchFamily="34" charset="0"/>
                <a:ea typeface="Cambria" pitchFamily="34" charset="-122"/>
                <a:cs typeface="Cambria" pitchFamily="34" charset="-120"/>
              </a:rPr>
              <a:t>Reçois favorablement</a:t>
            </a:r>
            <a:endParaRPr lang="fr-CA" sz="3200" dirty="0"/>
          </a:p>
          <a:p>
            <a:pPr indent="0" marL="0">
              <a:lnSpc>
                <a:spcPct val="105000"/>
              </a:lnSpc>
              <a:buNone/>
            </a:pPr>
            <a:r>
              <a:rPr lang="fr-CA" altLang="en-US" sz="3200" i="1" dirty="0">
                <a:solidFill>
                  <a:srgbClr val="F4EDE4"/>
                </a:solidFill>
                <a:latin typeface="Cambria" pitchFamily="34" charset="0"/>
                <a:ea typeface="Cambria" pitchFamily="34" charset="-122"/>
                <a:cs typeface="Cambria" pitchFamily="34" charset="-120"/>
              </a:rPr>
              <a:t>les paroles de ma bouche</a:t>
            </a:r>
            <a:endParaRPr lang="fr-CA" sz="3200" dirty="0"/>
          </a:p>
          <a:p>
            <a:pPr indent="0" marL="0">
              <a:lnSpc>
                <a:spcPct val="105000"/>
              </a:lnSpc>
              <a:buNone/>
            </a:pPr>
            <a:r>
              <a:rPr lang="fr-CA" altLang="en-US" sz="3200" i="1" dirty="0">
                <a:solidFill>
                  <a:srgbClr val="F4EDE4"/>
                </a:solidFill>
                <a:latin typeface="Cambria" pitchFamily="34" charset="0"/>
                <a:ea typeface="Cambria" pitchFamily="34" charset="-122"/>
                <a:cs typeface="Cambria" pitchFamily="34" charset="-120"/>
              </a:rPr>
              <a:t>et les sentiments de mon cœur,</a:t>
            </a:r>
            <a:endParaRPr lang="fr-CA" sz="3200" dirty="0"/>
          </a:p>
          <a:p>
            <a:pPr indent="0" marL="0">
              <a:lnSpc>
                <a:spcPct val="105000"/>
              </a:lnSpc>
              <a:buNone/>
            </a:pPr>
            <a:r>
              <a:rPr lang="fr-CA" altLang="en-US" sz="3200" i="1" dirty="0">
                <a:solidFill>
                  <a:srgbClr val="E8742A"/>
                </a:solidFill>
                <a:latin typeface="Cambria" pitchFamily="34" charset="0"/>
                <a:ea typeface="Cambria" pitchFamily="34" charset="-122"/>
                <a:cs typeface="Cambria" pitchFamily="34" charset="-120"/>
              </a:rPr>
              <a:t>Ô Éternel, mon rocher</a:t>
            </a:r>
            <a:endParaRPr lang="fr-CA" sz="3200" dirty="0"/>
          </a:p>
          <a:p>
            <a:pPr indent="0" marL="0">
              <a:lnSpc>
                <a:spcPct val="105000"/>
              </a:lnSpc>
              <a:buNone/>
            </a:pPr>
            <a:r>
              <a:rPr lang="fr-CA" altLang="en-US" sz="3200" i="1" dirty="0">
                <a:solidFill>
                  <a:srgbClr val="E8742A"/>
                </a:solidFill>
                <a:latin typeface="Cambria" pitchFamily="34" charset="0"/>
                <a:ea typeface="Cambria" pitchFamily="34" charset="-122"/>
                <a:cs typeface="Cambria" pitchFamily="34" charset="-120"/>
              </a:rPr>
              <a:t>et mon rédempteur!</a:t>
            </a:r>
            <a:endParaRPr lang="fr-CA" sz="3200" dirty="0"/>
          </a:p>
          <a:p>
            <a:pPr indent="0" marL="0">
              <a:lnSpc>
                <a:spcPct val="105000"/>
              </a:lnSpc>
              <a:spcBef>
                <a:spcPts val="1400"/>
              </a:spcBef>
              <a:buNone/>
            </a:pPr>
            <a:r>
              <a:rPr lang="fr-CA" altLang="en-US" sz="1500" i="1" dirty="0">
                <a:solidFill>
                  <a:srgbClr val="968A80"/>
                </a:solidFill>
                <a:latin typeface="Calibri" pitchFamily="34" charset="0"/>
                <a:ea typeface="Calibri" pitchFamily="34" charset="-122"/>
                <a:cs typeface="Calibri" pitchFamily="34" charset="-120"/>
              </a:rPr>
              <a:t>Psaume 19.15</a:t>
            </a:r>
            <a:endParaRPr lang="fr-CA" sz="3200" dirty="0"/>
          </a:p>
        </p:txBody>
      </p:sp>
      <p:pic>
        <p:nvPicPr>
          <p:cNvPr id="6" name="Illustration" descr="Médaillon rayonnant : le ciel étoilé et le soleil au-dessus d'un livre ouvert">    </p:cNvPr>
          <p:cNvPicPr>
            <a:picLocks noChangeAspect="1"/>
          </p:cNvPicPr>
          <p:nvPr/>
        </p:nvPicPr>
        <p:blipFill>
          <a:blip r:embed="rId1"/>
          <a:stretch>
            <a:fillRect/>
          </a:stretch>
        </p:blipFill>
        <p:spPr>
          <a:xfrm>
            <a:off x="8065008" y="2011680"/>
            <a:ext cx="3520440" cy="3520440"/>
          </a:xfrm>
          <a:prstGeom prst="rect">
            <a:avLst/>
          </a:prstGeom>
        </p:spPr>
      </p:pic>
      <p:sp>
        <p:nvSpPr>
          <p:cNvPr id="7" name="Text 4"/>
          <p:cNvSpPr txBox="1"/>
          <p:nvPr/>
        </p:nvSpPr>
        <p:spPr>
          <a:xfrm>
            <a:off x="8001000" y="5596128"/>
            <a:ext cx="3639312" cy="731520"/>
          </a:xfrm>
          <a:prstGeom prst="rect">
            <a:avLst/>
          </a:prstGeom>
          <a:noFill/>
          <a:ln/>
        </p:spPr>
        <p:txBody>
          <a:bodyPr wrap="square" lIns="0" tIns="0" rIns="0" bIns="0" rtlCol="0" anchor="t"/>
          <a:lstStyle/>
          <a:p>
            <a:pPr algn="ctr" indent="0" marL="0">
              <a:buNone/>
            </a:pPr>
            <a:r>
              <a:rPr lang="fr-CA" altLang="en-US" sz="1500" i="1" dirty="0">
                <a:solidFill>
                  <a:srgbClr val="A89A8C"/>
                </a:solidFill>
                <a:latin typeface="Calibri" pitchFamily="34" charset="0"/>
                <a:ea typeface="Calibri" pitchFamily="34" charset="-122"/>
                <a:cs typeface="Calibri" pitchFamily="34" charset="-120"/>
              </a:rPr>
              <a:t>De la lumière des étoiles à l'autel du cœur,</a:t>
            </a:r>
            <a:endParaRPr lang="fr-CA" sz="1500" dirty="0"/>
          </a:p>
          <a:p>
            <a:pPr algn="ctr" indent="0" marL="0">
              <a:buNone/>
            </a:pPr>
            <a:r>
              <a:rPr lang="fr-CA" altLang="en-US" sz="1500" i="1" dirty="0">
                <a:solidFill>
                  <a:srgbClr val="A89A8C"/>
                </a:solidFill>
                <a:latin typeface="Calibri" pitchFamily="34" charset="0"/>
                <a:ea typeface="Calibri" pitchFamily="34" charset="-122"/>
                <a:cs typeface="Calibri" pitchFamily="34" charset="-120"/>
              </a:rPr>
              <a:t>la Parole de l'Éternel suffit.</a:t>
            </a:r>
            <a:endParaRPr lang="fr-CA" sz="1500" dirty="0"/>
          </a:p>
        </p:txBody>
      </p:sp>
      <p:grpSp>
        <p:nvGrpSpPr>
          <p:cNvPr id="1014" name="Barre de progression"/>
          <p:cNvGrpSpPr/>
          <p:nvPr/>
        </p:nvGrpSpPr>
        <p:grpSpPr>
          <a:xfrm>
            <a:off x="546100" y="6527800"/>
            <a:ext cx="11099800" cy="63500"/>
            <a:chOff x="546100" y="6527800"/>
            <a:chExt cx="11099800" cy="63500"/>
          </a:xfrm>
        </p:grpSpPr>
        <p:sp>
          <p:nvSpPr>
            <p:cNvPr id="8" name="Progression 1"/>
            <p:cNvSpPr/>
            <p:nvPr/>
          </p:nvSpPr>
          <p:spPr>
            <a:xfrm>
              <a:off x="546100" y="6527800"/>
              <a:ext cx="668867" cy="63500"/>
            </a:xfrm>
            <a:prstGeom prst="rect">
              <a:avLst/>
            </a:prstGeom>
            <a:solidFill>
              <a:srgbClr val="E8742A"/>
            </a:solidFill>
            <a:ln/>
          </p:spPr>
        </p:sp>
        <p:sp>
          <p:nvSpPr>
            <p:cNvPr id="9" name="Progression 2"/>
            <p:cNvSpPr/>
            <p:nvPr/>
          </p:nvSpPr>
          <p:spPr>
            <a:xfrm>
              <a:off x="1291167" y="6527800"/>
              <a:ext cx="668867" cy="63500"/>
            </a:xfrm>
            <a:prstGeom prst="rect">
              <a:avLst/>
            </a:prstGeom>
            <a:solidFill>
              <a:srgbClr val="E8742A"/>
            </a:solidFill>
            <a:ln/>
          </p:spPr>
        </p:sp>
        <p:sp>
          <p:nvSpPr>
            <p:cNvPr id="10" name="Progression 3"/>
            <p:cNvSpPr/>
            <p:nvPr/>
          </p:nvSpPr>
          <p:spPr>
            <a:xfrm>
              <a:off x="2036233" y="6527800"/>
              <a:ext cx="668867" cy="63500"/>
            </a:xfrm>
            <a:prstGeom prst="rect">
              <a:avLst/>
            </a:prstGeom>
            <a:solidFill>
              <a:srgbClr val="E8742A"/>
            </a:solidFill>
            <a:ln/>
          </p:spPr>
        </p:sp>
        <p:sp>
          <p:nvSpPr>
            <p:cNvPr id="11" name="Progression 4"/>
            <p:cNvSpPr/>
            <p:nvPr/>
          </p:nvSpPr>
          <p:spPr>
            <a:xfrm>
              <a:off x="2781300" y="6527800"/>
              <a:ext cx="668867" cy="63500"/>
            </a:xfrm>
            <a:prstGeom prst="rect">
              <a:avLst/>
            </a:prstGeom>
            <a:solidFill>
              <a:srgbClr val="E8742A"/>
            </a:solidFill>
            <a:ln/>
          </p:spPr>
        </p:sp>
        <p:sp>
          <p:nvSpPr>
            <p:cNvPr id="12" name="Progression 5"/>
            <p:cNvSpPr/>
            <p:nvPr/>
          </p:nvSpPr>
          <p:spPr>
            <a:xfrm>
              <a:off x="3526367" y="6527800"/>
              <a:ext cx="668867" cy="63500"/>
            </a:xfrm>
            <a:prstGeom prst="rect">
              <a:avLst/>
            </a:prstGeom>
            <a:solidFill>
              <a:srgbClr val="E8742A"/>
            </a:solidFill>
            <a:ln/>
          </p:spPr>
        </p:sp>
        <p:sp>
          <p:nvSpPr>
            <p:cNvPr id="13" name="Progression 6"/>
            <p:cNvSpPr/>
            <p:nvPr/>
          </p:nvSpPr>
          <p:spPr>
            <a:xfrm>
              <a:off x="4271433" y="6527800"/>
              <a:ext cx="668867" cy="63500"/>
            </a:xfrm>
            <a:prstGeom prst="rect">
              <a:avLst/>
            </a:prstGeom>
            <a:solidFill>
              <a:srgbClr val="E8742A"/>
            </a:solidFill>
            <a:ln/>
          </p:spPr>
        </p:sp>
        <p:sp>
          <p:nvSpPr>
            <p:cNvPr id="14" name="Progression 7"/>
            <p:cNvSpPr/>
            <p:nvPr/>
          </p:nvSpPr>
          <p:spPr>
            <a:xfrm>
              <a:off x="5016500" y="6527800"/>
              <a:ext cx="668867" cy="63500"/>
            </a:xfrm>
            <a:prstGeom prst="rect">
              <a:avLst/>
            </a:prstGeom>
            <a:solidFill>
              <a:srgbClr val="E8742A"/>
            </a:solidFill>
            <a:ln/>
          </p:spPr>
        </p:sp>
        <p:sp>
          <p:nvSpPr>
            <p:cNvPr id="15" name="Progression 8"/>
            <p:cNvSpPr/>
            <p:nvPr/>
          </p:nvSpPr>
          <p:spPr>
            <a:xfrm>
              <a:off x="5761567" y="6527800"/>
              <a:ext cx="668867" cy="63500"/>
            </a:xfrm>
            <a:prstGeom prst="rect">
              <a:avLst/>
            </a:prstGeom>
            <a:solidFill>
              <a:srgbClr val="E8742A"/>
            </a:solidFill>
            <a:ln/>
          </p:spPr>
        </p:sp>
        <p:sp>
          <p:nvSpPr>
            <p:cNvPr id="16" name="Progression 9"/>
            <p:cNvSpPr/>
            <p:nvPr/>
          </p:nvSpPr>
          <p:spPr>
            <a:xfrm>
              <a:off x="6506633" y="6527800"/>
              <a:ext cx="668867" cy="63500"/>
            </a:xfrm>
            <a:prstGeom prst="rect">
              <a:avLst/>
            </a:prstGeom>
            <a:solidFill>
              <a:srgbClr val="E8742A"/>
            </a:solidFill>
            <a:ln/>
          </p:spPr>
        </p:sp>
        <p:sp>
          <p:nvSpPr>
            <p:cNvPr id="17" name="Progression 10"/>
            <p:cNvSpPr/>
            <p:nvPr/>
          </p:nvSpPr>
          <p:spPr>
            <a:xfrm>
              <a:off x="7251700" y="6527800"/>
              <a:ext cx="668867" cy="63500"/>
            </a:xfrm>
            <a:prstGeom prst="rect">
              <a:avLst/>
            </a:prstGeom>
            <a:solidFill>
              <a:srgbClr val="E8742A"/>
            </a:solidFill>
            <a:ln/>
          </p:spPr>
        </p:sp>
        <p:sp>
          <p:nvSpPr>
            <p:cNvPr id="18" name="Progression 11"/>
            <p:cNvSpPr/>
            <p:nvPr/>
          </p:nvSpPr>
          <p:spPr>
            <a:xfrm>
              <a:off x="7996767" y="6527800"/>
              <a:ext cx="668867" cy="63500"/>
            </a:xfrm>
            <a:prstGeom prst="rect">
              <a:avLst/>
            </a:prstGeom>
            <a:solidFill>
              <a:srgbClr val="E8742A"/>
            </a:solidFill>
            <a:ln/>
          </p:spPr>
        </p:sp>
        <p:sp>
          <p:nvSpPr>
            <p:cNvPr id="19" name="Progression 12"/>
            <p:cNvSpPr/>
            <p:nvPr/>
          </p:nvSpPr>
          <p:spPr>
            <a:xfrm>
              <a:off x="8741833" y="6527800"/>
              <a:ext cx="668867" cy="63500"/>
            </a:xfrm>
            <a:prstGeom prst="rect">
              <a:avLst/>
            </a:prstGeom>
            <a:solidFill>
              <a:srgbClr val="E8742A"/>
            </a:solidFill>
            <a:ln/>
          </p:spPr>
        </p:sp>
        <p:sp>
          <p:nvSpPr>
            <p:cNvPr id="20" name="Progression 13"/>
            <p:cNvSpPr/>
            <p:nvPr/>
          </p:nvSpPr>
          <p:spPr>
            <a:xfrm>
              <a:off x="9486900" y="6527800"/>
              <a:ext cx="668867" cy="63500"/>
            </a:xfrm>
            <a:prstGeom prst="rect">
              <a:avLst/>
            </a:prstGeom>
            <a:solidFill>
              <a:srgbClr val="E8742A"/>
            </a:solidFill>
            <a:ln/>
          </p:spPr>
        </p:sp>
        <p:sp>
          <p:nvSpPr>
            <p:cNvPr id="21" name="Progression 14"/>
            <p:cNvSpPr/>
            <p:nvPr/>
          </p:nvSpPr>
          <p:spPr>
            <a:xfrm>
              <a:off x="10231967" y="6527800"/>
              <a:ext cx="668867" cy="63500"/>
            </a:xfrm>
            <a:prstGeom prst="rect">
              <a:avLst/>
            </a:prstGeom>
            <a:solidFill>
              <a:srgbClr val="E8742A"/>
            </a:solidFill>
            <a:ln/>
          </p:spPr>
        </p:sp>
        <p:sp>
          <p:nvSpPr>
            <p:cNvPr id="22" name="Progression 15"/>
            <p:cNvSpPr/>
            <p:nvPr/>
          </p:nvSpPr>
          <p:spPr>
            <a:xfrm>
              <a:off x="10977033" y="6527800"/>
              <a:ext cx="668867" cy="63500"/>
            </a:xfrm>
            <a:prstGeom prst="rect">
              <a:avLst/>
            </a:prstGeom>
            <a:solidFill>
              <a:srgbClr val="E8742A"/>
            </a:solidFill>
            <a:ln/>
          </p:spPr>
        </p:sp>
      </p:grpSp>
    </p:spTree>
  </p:cSld>
  <p:clrMapOvr>
    <a:masterClrMapping/>
  </p:clrMapOvr>
</p:sld>
</file>

<file path=ppt/theme/theme1.xml><?xml version="1.0" encoding="utf-8"?>
<a:theme xmlns:a="http://schemas.openxmlformats.org/drawingml/2006/main" name="Black Dark Orange Brûlée">
  <a:themeElements>
    <a:clrScheme name="Black Dark Orange Brûlée">
      <a:dk1>
        <a:srgbClr val="0D0B0A"/>
      </a:dk1>
      <a:lt1>
        <a:srgbClr val="F4EDE4"/>
      </a:lt1>
      <a:dk2>
        <a:srgbClr val="1A1411"/>
      </a:dk2>
      <a:lt2>
        <a:srgbClr val="A89A8C"/>
      </a:lt2>
      <a:accent1>
        <a:srgbClr val="CC5500"/>
      </a:accent1>
      <a:accent2>
        <a:srgbClr val="E8742A"/>
      </a:accent2>
      <a:accent3>
        <a:srgbClr val="7A3310"/>
      </a:accent3>
      <a:accent4>
        <a:srgbClr val="6E5A4C"/>
      </a:accent4>
      <a:accent5>
        <a:srgbClr val="2A1A10"/>
      </a:accent5>
      <a:accent6>
        <a:srgbClr val="968A80"/>
      </a:accent6>
      <a:hlink>
        <a:srgbClr val="E8742A"/>
      </a:hlink>
      <a:folHlink>
        <a:srgbClr val="A89A8C"/>
      </a:folHlink>
    </a:clrScheme>
    <a:fontScheme name="Black Dark Orange Brûlé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Du ciel qui parle à la Parole qui suffit</dc:title>
  <dc:subject>Prédication sur le Psaume 19</dc:subject>
  <dc:creator>André-Guy Bruneau</dc:creator>
  <cp:lastModifiedBy>André-Guy Bruneau</cp:lastModifiedBy>
  <cp:revision>1</cp:revision>
  <dcterms:created xsi:type="dcterms:W3CDTF">2026-10-02T13:46:14Z</dcterms:created>
  <dcterms:modified xsi:type="dcterms:W3CDTF">2026-10-02T13:46:14Z</dcterms:modified>
</cp:coreProperties>
</file>