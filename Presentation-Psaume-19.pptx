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99823da-7cb6-e957-3de3-cfc9bbca1152}">
          <p14:sldIdLst>
            <p14:sldId id="256"/>
            <p14:sldId id="257"/>
            <p14:sldId id="258"/>
          </p14:sldIdLst>
        </p14:section>
        <p14:section name="I. Le ciel qui parle" id="{b120d76f-de8c-f66d-91b1-d50f432e6077}">
          <p14:sldIdLst>
            <p14:sldId id="259"/>
            <p14:sldId id="260"/>
            <p14:sldId id="261"/>
            <p14:sldId id="262"/>
          </p14:sldIdLst>
        </p14:section>
        <p14:section name="II. La Parole qui transforme" id="{7d5ac933-8569-47ad-0c00-bcb5796a1910}">
          <p14:sldIdLst>
            <p14:sldId id="263"/>
            <p14:sldId id="264"/>
            <p14:sldId id="265"/>
            <p14:sldId id="266"/>
          </p14:sldIdLst>
        </p14:section>
        <p14:section name="III. La Parole qu'on désire" id="{6be60be6-fcfe-5dee-8871-b3c399b7037e}">
          <p14:sldIdLst>
            <p14:sldId id="267"/>
          </p14:sldIdLst>
        </p14:section>
        <p14:section name="IV. Le cœur sondé et offert" id="{10ccc569-0436-9e12-b008-406bfe4d72a5}">
          <p14:sldIdLst>
            <p14:sldId id="268"/>
            <p14:sldId id="269"/>
            <p14:sldId id="270"/>
            <p14:sldId id="271"/>
          </p14:sldIdLst>
        </p14:section>
        <p14:section name="Conclusion" id="{a92e64a2-5e87-50c5-cccd-8a0747aa903f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publique du Psaume 19 en entier avant l'introduction (environ 2 min), avec à l'écran le schéma des trois mouvements (diapositive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seul hymne en trois mouvements. Dans la première partie, Dieu n'est nommé qu'une fois, El (19.2); dans la seconde, sept fois l'Éternel, le nom de l'alliance (Kidner). La création fait connaître le Créateur; la loi fait connaître le Dieu qui se lie à son peuple. Le mot « caché » relie le soleil (19.7) et les fautes cachées (19.13) : on y reviendra au point 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2 Rois 23.11. Question : quand l'angoisse monte ou qu'une décision presse, où cherchez-vous la vérité : dans ce que vous voyez, dans ce que vous ressentez, ou dans ce que Dieu a dit? Parcours : le ciel qui parle, la Parole qui transforme, la Parole qu'on désire, le cœur sondé et offert.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clé : la création vous a parlé de Dieu chaque jour de votre vie. Psaume 19.2-7; Romains 1.18-20. Environ 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participes, « racontent », « manifeste », présentent l'action comme en cours; le jour « fait jaillir » le message comme une source (BDB). Dieu se déclare dans sa création « chaque jour et chaque nuit, sans relâche » (80-308). La « gloire » : la splendeur de Dieu qui se manifeste; ne pas s'appuyer sur l'étymologie du « poids ». Le paradoxe : pas de paroles, et pourtant toute la terre l'entend. Paul reprendra ces mots d'après le grec, « leur voix » (Romains 10.18).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Dieu lui a « dressé une tente » : le soleil a un logis qu'il n'a pas choisi. L'époux : l'éclat d'un jour de noces (Joël 2.16 emploie le même mot pour la chambre nuptiale). Le héros : la force que rien n'arrête. Il ne choisit pas sa route; il obéit. Retenir le mot « dérobe » (caché) : il reviendra au point IV. Ne pas allégoriser l'époux ni le héros.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Les perfections invisibles de Dieu […] se voient comme à l'œil nu […] Ils sont donc inexcusables » (Romains 1.20). Mais l'homme retient « injustement la vérité captive » (Romains 1.18). Application : personne n'est un incroyant innocent; « je trouve Dieu dans la nature » ne suffit pas, car la nature ne dit ni le péché, ni le pardon, ni le Rédempteur. Transition : Kant s'émerveillait du ciel étoilé et de la loi morale en lui; David regarde le même ciel, mais il reçoit la loi de l'Éternel (Kidner). Au verset 8, le psaume passe de la révélation naturelle à la révélation verbale (80-249).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clé : ce que la création ne peut pas faire, la Parole le fait. Psaume 19.8-10. Environ 12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ligne suit le même moule : un nom de la Parole, « de l'Éternel », une qualité, un effet. MacArthur y lit « le témoignage de Dieu lui-même sur sa propre révélation », sur la suffisance de sa Parole (90-340). Lire le tableau ligne par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texte touche toute la personne : l'âme, le simple, le cœur, les yeux, l'adoration (la crainte de l'Éternel, l'Écriture nommée par ce qu'elle produit), la justice. Le simple : celui qui « manque de discernement », qui « ne sait pas quand fermer la porte » (FRA-80-19). Ordonnances droites : « Elles indiquent le bon chemin ». Commandements purs : « la meilleure traduction est « clairs » ». Crainte : « l'Écriture nous instruit pour que nous sachions qui adorer et comment l'adorer ». Jugements : « Elle est totalement juste » (FRA-80-19).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Parfaite » : complète. « Ce qui signifie donc que l'Écriture couvre toutes choses » (FRA-80-19). « Restaure » : BDB donne, pour ce verset, ranimer, rafraîchir; MacArthur en dégage la transformation de toute la personne, décision d'interprétation que la largeur du verbe (revenir, se convertir) rend possible. Application : avant de chercher la solution d'un problème de l'âme dans un livre, un balado ou une thérapie, ouvrir le Livre qui restaure l'âme (Street). Ne pas promettre un changement instantané.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clé : on reconnaît ce qu'on aime à ce qu'on est prêt à lâcher pour l'avoir. L'or fin le plus pur, le miel le plus doux que l'auditoire connaissait. La protection : « face à la tentation, au péché et à l'ignorance » (FRA-80-19). « Ton serviteur » (19.12) : le psaume passe du « il » au « je ». Application : la question n'est pas combien de minutes vous lisez la Bible, mais si vous la désirez plus que ce que vous désirez le plus. Un roi devait lire la loi « tous les jours de sa vie » (Deutéronome 17.18-19).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clé : rien ne se dérobe au soleil; rien ne se dérobe à la Parole. Psaume 19.13-15; Nombres 15.27-31. Environ 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Même verbe, même mode : nistār (19.7) et nistārôt (19.13). Ce que le soleil fait au monde, la Parole le fait au cœur (Kidner). « Qui connaît ses égarements? » : personne. « Je ne connais pas mes propres fautes secrètes […] C'est ta Parole qui me purifie, qui me convainc » (90-341).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Fautes cachées : « ceux que je ne prévois pas, que je n'ai pas prémédités » (FRA-80-19). Péchés d'orgueil : « des péchés que je vois et prémédite, je les planifie et je les connais » (FRA-80-19). La loi faisait déjà cette distinction (Nombres 15.27, 30); aucun des deux n'est toléré. Si la question vient : BDB penche pour des hommes présomptueux; MacArthur et la KJF lisent des péchés; le contexte (19.13 parle de fautes, 19.14 conclut sur « grands péchés ») appuie la lecture retenue. Application : pour le péché qui domine, la prière n'est pas « je vais me surveiller », mais « préserve ton serviteur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Reçois favorablement » : le mot de l'agrément des sacrifices (BDB, Exode 28.38), appliqué ici à des paroles. Quelles paroles et quelles pensées sont agréables à Dieu? MacArthur renvoie à Josué 1.8, que tout Israël connaissait (90-341). « Mon rocher et mon rédempteur » : le gōʾēl rachète ce que son frère a perdu (Lévitique 25.25). Application : demandez à Dieu de vous montrer par sa Parole ce que vous ne voyez pas, et de vous retenir de ce que vous voyez trop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: les cieux parlent à tous, assez pour condamner; la Parole parle à qui l'écoute, assez pour transformer; elle vaut plus que l'or et conduit le serviteur à Dieu, son rocher et son rédempteur. Le gōʾēl de Lévitique 25 rachetait ce que son frère avait perdu; la révélation ultérieure montre en Christ celui qui rachète son peuple. Garder la conclusion à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Prière finale : lire ensemble le Psaume 19.15.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585216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5852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75488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148840"/>
            <a:ext cx="6583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4008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257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Psaume 19 · Les cieux parlent, la Parole transforme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371600"/>
            <a:ext cx="996696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eil anneau externe"/>
          <p:cNvSpPr/>
          <p:nvPr/>
        </p:nvSpPr>
        <p:spPr>
          <a:xfrm>
            <a:off x="6825996" y="836676"/>
            <a:ext cx="5184648" cy="5184648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3" name="Soleil anneau"/>
          <p:cNvSpPr/>
          <p:nvPr/>
        </p:nvSpPr>
        <p:spPr>
          <a:xfrm>
            <a:off x="7504938" y="1515618"/>
            <a:ext cx="3826764" cy="3826764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4" name="Soleil"/>
          <p:cNvSpPr/>
          <p:nvPr/>
        </p:nvSpPr>
        <p:spPr>
          <a:xfrm>
            <a:off x="8183880" y="219456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1463040"/>
            <a:ext cx="5852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cieux parlent, la Parole transforme</a:t>
            </a:r>
            <a:endParaRPr lang="en-US" sz="44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41148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</a:rPr>
              <a:t>Psaume 19</a:t>
            </a:r>
            <a:endParaRPr lang="en-US" sz="24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731520" y="4754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André-Guy Bruneau · Prédication expositive · NEG79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Lecture du Psaume 19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psaume, trois mouvements</a:t>
            </a:r>
            <a:endParaRPr lang="en-US" sz="3000" dirty="0"/>
          </a:p>
        </p:txBody>
      </p:sp>
      <p:sp>
        <p:nvSpPr>
          <p:cNvPr id="4" name="Mouvement 1"/>
          <p:cNvSpPr/>
          <p:nvPr/>
        </p:nvSpPr>
        <p:spPr>
          <a:xfrm>
            <a:off x="548640" y="1645920"/>
            <a:ext cx="3383280" cy="2697480"/>
          </a:xfrm>
          <a:prstGeom prst="roundRect">
            <a:avLst>
              <a:gd name="adj" fmla="val 2712"/>
            </a:avLst>
          </a:prstGeom>
          <a:solidFill>
            <a:schemeClr val="tx2"/>
          </a:solidFill>
          <a:ln/>
        </p:spPr>
      </p:sp>
      <p:sp>
        <p:nvSpPr>
          <p:cNvPr id="5" name="Pastille 1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38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19.2-7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cosmos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Dieu parle sans paroles : assez pour rendre tout homme inexcusable.</a:t>
            </a:r>
            <a:endParaRPr lang="en-US" sz="1600" dirty="0"/>
          </a:p>
        </p:txBody>
      </p:sp>
      <p:sp>
        <p:nvSpPr>
          <p:cNvPr id="9" name="Flèche 1"/>
          <p:cNvSpPr/>
          <p:nvPr/>
        </p:nvSpPr>
        <p:spPr>
          <a:xfrm>
            <a:off x="3995928" y="2990088"/>
            <a:ext cx="329184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Mouvement 2"/>
          <p:cNvSpPr/>
          <p:nvPr/>
        </p:nvSpPr>
        <p:spPr>
          <a:xfrm>
            <a:off x="4389120" y="1645920"/>
            <a:ext cx="3383280" cy="2697480"/>
          </a:xfrm>
          <a:prstGeom prst="roundRect">
            <a:avLst>
              <a:gd name="adj" fmla="val 2712"/>
            </a:avLst>
          </a:prstGeom>
          <a:solidFill>
            <a:schemeClr val="tx2"/>
          </a:solidFill>
          <a:ln/>
        </p:spPr>
      </p:sp>
      <p:sp>
        <p:nvSpPr>
          <p:cNvPr id="11" name="Pastille 2"/>
          <p:cNvSpPr/>
          <p:nvPr/>
        </p:nvSpPr>
        <p:spPr>
          <a:xfrm>
            <a:off x="4663440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1938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19.8-12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L'Écriture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108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Dieu parle avec des paroles : assez pour restaurer l'âme.</a:t>
            </a:r>
            <a:endParaRPr lang="en-US" sz="1600" dirty="0"/>
          </a:p>
        </p:txBody>
      </p:sp>
      <p:sp>
        <p:nvSpPr>
          <p:cNvPr id="15" name="Flèche 2"/>
          <p:cNvSpPr/>
          <p:nvPr/>
        </p:nvSpPr>
        <p:spPr>
          <a:xfrm>
            <a:off x="7836408" y="2990088"/>
            <a:ext cx="329184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Mouvement 3"/>
          <p:cNvSpPr/>
          <p:nvPr/>
        </p:nvSpPr>
        <p:spPr>
          <a:xfrm>
            <a:off x="8229600" y="1645920"/>
            <a:ext cx="3383280" cy="2697480"/>
          </a:xfrm>
          <a:prstGeom prst="roundRect">
            <a:avLst>
              <a:gd name="adj" fmla="val 2712"/>
            </a:avLst>
          </a:prstGeom>
          <a:solidFill>
            <a:schemeClr val="tx2"/>
          </a:solidFill>
          <a:ln/>
        </p:spPr>
      </p:sp>
      <p:sp>
        <p:nvSpPr>
          <p:cNvPr id="17" name="Pastille 3"/>
          <p:cNvSpPr/>
          <p:nvPr/>
        </p:nvSpPr>
        <p:spPr>
          <a:xfrm>
            <a:off x="8503920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1938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19.13-15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108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serviteur sondé par la Parole répond et s'offre à Dieu.</a:t>
            </a:r>
            <a:endParaRPr lang="en-US" sz="1600" dirty="0"/>
          </a:p>
        </p:txBody>
      </p:sp>
      <p:sp>
        <p:nvSpPr>
          <p:cNvPr id="21" name="Nom El"/>
          <p:cNvSpPr/>
          <p:nvPr/>
        </p:nvSpPr>
        <p:spPr>
          <a:xfrm>
            <a:off x="548640" y="4526280"/>
            <a:ext cx="338328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chemeClr val="accent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Dieu nommé une fois : El</a:t>
            </a:r>
            <a:endParaRPr lang="en-US" sz="1500" dirty="0"/>
          </a:p>
        </p:txBody>
      </p:sp>
      <p:sp>
        <p:nvSpPr>
          <p:cNvPr id="22" name="Nom YHWH"/>
          <p:cNvSpPr/>
          <p:nvPr/>
        </p:nvSpPr>
        <p:spPr>
          <a:xfrm>
            <a:off x="4389120" y="4526280"/>
            <a:ext cx="72237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« l'Éternel » nommé sept fois : le nom de l'alliance</a:t>
            </a:r>
            <a:endParaRPr lang="en-US" sz="1500" dirty="0"/>
          </a:p>
        </p:txBody>
      </p:sp>
      <p:sp>
        <p:nvSpPr>
          <p:cNvPr id="23" name="Mot-crochet"/>
          <p:cNvSpPr/>
          <p:nvPr/>
        </p:nvSpPr>
        <p:spPr>
          <a:xfrm>
            <a:off x="548640" y="5257800"/>
            <a:ext cx="11064240" cy="5486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Mot-crochet : « rien ne se dérobe » (nistār, 19.7)  ↔  « ceux que j'ignore » (nistārôt, 19.13)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Introduction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cherchez-vous la vérité qui gouverne votre vie?</a:t>
            </a:r>
            <a:endParaRPr lang="en-US" sz="3000" dirty="0"/>
          </a:p>
        </p:txBody>
      </p:sp>
      <p:sp>
        <p:nvSpPr>
          <p:cNvPr id="4" name="Source 1"/>
          <p:cNvSpPr/>
          <p:nvPr/>
        </p:nvSpPr>
        <p:spPr>
          <a:xfrm>
            <a:off x="1143000" y="1691640"/>
            <a:ext cx="2377440" cy="237744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accent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je vois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le ciel, la nature, les astres</a:t>
            </a:r>
            <a:endParaRPr lang="en-US" sz="1500" dirty="0"/>
          </a:p>
        </p:txBody>
      </p:sp>
      <p:sp>
        <p:nvSpPr>
          <p:cNvPr id="6" name="Source 2"/>
          <p:cNvSpPr/>
          <p:nvPr/>
        </p:nvSpPr>
        <p:spPr>
          <a:xfrm>
            <a:off x="4709160" y="1691640"/>
            <a:ext cx="2377440" cy="237744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accent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je ressens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le cœur, l'intuition, l'expérience</a:t>
            </a:r>
            <a:endParaRPr lang="en-US" sz="1500" dirty="0"/>
          </a:p>
        </p:txBody>
      </p:sp>
      <p:sp>
        <p:nvSpPr>
          <p:cNvPr id="8" name="Source 3"/>
          <p:cNvSpPr/>
          <p:nvPr/>
        </p:nvSpPr>
        <p:spPr>
          <a:xfrm>
            <a:off x="8275320" y="1691640"/>
            <a:ext cx="2377440" cy="23774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Dieu a dit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sa Parole écrite (19.8)</a:t>
            </a:r>
            <a:endParaRPr lang="en-US" sz="1500" dirty="0"/>
          </a:p>
        </p:txBody>
      </p:sp>
      <p:sp>
        <p:nvSpPr>
          <p:cNvPr id="10" name="Accroche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11" name="Petit soleil anneau externe"/>
          <p:cNvSpPr/>
          <p:nvPr/>
        </p:nvSpPr>
        <p:spPr>
          <a:xfrm>
            <a:off x="797357" y="5140757"/>
            <a:ext cx="691286" cy="691286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Petit soleil anneau"/>
          <p:cNvSpPr/>
          <p:nvPr/>
        </p:nvSpPr>
        <p:spPr>
          <a:xfrm>
            <a:off x="887882" y="5231282"/>
            <a:ext cx="510235" cy="510235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13" name="Petit soleil"/>
          <p:cNvSpPr/>
          <p:nvPr/>
        </p:nvSpPr>
        <p:spPr>
          <a:xfrm>
            <a:off x="978408" y="532180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783080" y="5029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Des rois de Juda avaient consacré au soleil des chevaux et des chars; Josias dut brûler « les chars du soleil » (2 Rois 23.11). David chante le même soleil, mais il l'installe sous une tente que Dieu a dressée (19.5) et garde son plus grand chant pour la loi de l'Éternel (19.8).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eil section I anneau externe"/>
          <p:cNvSpPr/>
          <p:nvPr/>
        </p:nvSpPr>
        <p:spPr>
          <a:xfrm>
            <a:off x="7772400" y="1280160"/>
            <a:ext cx="3840480" cy="3840480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3" name="Soleil section I anneau"/>
          <p:cNvSpPr/>
          <p:nvPr/>
        </p:nvSpPr>
        <p:spPr>
          <a:xfrm>
            <a:off x="8275320" y="1783080"/>
            <a:ext cx="2834640" cy="283464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4" name="Soleil section I"/>
          <p:cNvSpPr/>
          <p:nvPr/>
        </p:nvSpPr>
        <p:spPr>
          <a:xfrm>
            <a:off x="8778240" y="2286000"/>
            <a:ext cx="1828800" cy="1828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Étoile 1"/>
          <p:cNvSpPr/>
          <p:nvPr/>
        </p:nvSpPr>
        <p:spPr>
          <a:xfrm>
            <a:off x="7589520" y="109728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6" name="Étoile 2"/>
          <p:cNvSpPr/>
          <p:nvPr/>
        </p:nvSpPr>
        <p:spPr>
          <a:xfrm>
            <a:off x="8595360" y="64008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7" name="Étoile 3"/>
          <p:cNvSpPr/>
          <p:nvPr/>
        </p:nvSpPr>
        <p:spPr>
          <a:xfrm>
            <a:off x="11247120" y="100584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8" name="Étoile 4"/>
          <p:cNvSpPr/>
          <p:nvPr/>
        </p:nvSpPr>
        <p:spPr>
          <a:xfrm>
            <a:off x="11521440" y="512064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9" name="Étoile 5"/>
          <p:cNvSpPr/>
          <p:nvPr/>
        </p:nvSpPr>
        <p:spPr>
          <a:xfrm>
            <a:off x="7315200" y="539496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0" name="Étoile 6"/>
          <p:cNvSpPr/>
          <p:nvPr/>
        </p:nvSpPr>
        <p:spPr>
          <a:xfrm>
            <a:off x="10515600" y="603504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1" name="Étoile 7"/>
          <p:cNvSpPr/>
          <p:nvPr/>
        </p:nvSpPr>
        <p:spPr>
          <a:xfrm>
            <a:off x="7955280" y="274320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2" name="Étoile 8"/>
          <p:cNvSpPr/>
          <p:nvPr/>
        </p:nvSpPr>
        <p:spPr>
          <a:xfrm>
            <a:off x="11338560" y="3108960"/>
            <a:ext cx="82296" cy="82296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3" name="Text 0"/>
          <p:cNvSpPr/>
          <p:nvPr>
            <p:ph idx="100" type="body" hasCustomPrompt="1"/>
          </p:nvPr>
        </p:nvSpPr>
        <p:spPr>
          <a:xfrm>
            <a:off x="731520" y="1097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6600" dirty="0"/>
          </a:p>
        </p:txBody>
      </p:sp>
      <p:sp>
        <p:nvSpPr>
          <p:cNvPr id="14" name="Text 0"/>
          <p:cNvSpPr/>
          <p:nvPr>
            <p:ph idx="101" type="title" hasCustomPrompt="1"/>
          </p:nvPr>
        </p:nvSpPr>
        <p:spPr>
          <a:xfrm>
            <a:off x="731520" y="21488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ciel qui parle</a:t>
            </a:r>
            <a:endParaRPr lang="en-US" sz="40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731520" y="338328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Les cieux racontent la gloire de Dieu,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l'étendue manifeste l'œuvre de ses mains. »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3" type="body" hasCustomPrompt="1"/>
          </p:nvPr>
        </p:nvSpPr>
        <p:spPr>
          <a:xfrm>
            <a:off x="731520" y="5257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Psaume 19.2 · Assez pour condamner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 · Le ciel qui parle · 19.2-7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discours sans relâche et sans paroles</a:t>
            </a:r>
            <a:endParaRPr lang="en-US" sz="3000" dirty="0"/>
          </a:p>
        </p:txBody>
      </p:sp>
      <p:sp>
        <p:nvSpPr>
          <p:cNvPr id="4" name="Trait 1"/>
          <p:cNvSpPr/>
          <p:nvPr/>
        </p:nvSpPr>
        <p:spPr>
          <a:xfrm>
            <a:off x="548640" y="1645920"/>
            <a:ext cx="2560320" cy="297180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/>
        </p:spPr>
      </p:sp>
      <p:sp>
        <p:nvSpPr>
          <p:cNvPr id="5" name="Pastille 1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Incessant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Le jour en instruit un autre jour, La nuit en donne connaissance à une autre nuit. »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19.3</a:t>
            </a:r>
            <a:endParaRPr lang="en-US" sz="1400" dirty="0"/>
          </a:p>
        </p:txBody>
      </p:sp>
      <p:sp>
        <p:nvSpPr>
          <p:cNvPr id="9" name="Trait 2"/>
          <p:cNvSpPr/>
          <p:nvPr/>
        </p:nvSpPr>
        <p:spPr>
          <a:xfrm>
            <a:off x="3383280" y="1645920"/>
            <a:ext cx="2560320" cy="297180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/>
        </p:spPr>
      </p:sp>
      <p:sp>
        <p:nvSpPr>
          <p:cNvPr id="10" name="Pastille 2"/>
          <p:cNvSpPr/>
          <p:nvPr/>
        </p:nvSpPr>
        <p:spPr>
          <a:xfrm>
            <a:off x="3611880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mots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0632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Ce n'est pas un langage, ce ne sont pas des paroles »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19.4</a:t>
            </a:r>
            <a:endParaRPr lang="en-US" sz="1400" dirty="0"/>
          </a:p>
        </p:txBody>
      </p:sp>
      <p:sp>
        <p:nvSpPr>
          <p:cNvPr id="14" name="Trait 3"/>
          <p:cNvSpPr/>
          <p:nvPr/>
        </p:nvSpPr>
        <p:spPr>
          <a:xfrm>
            <a:off x="6217920" y="1645920"/>
            <a:ext cx="2560320" cy="297180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/>
        </p:spPr>
      </p:sp>
      <p:sp>
        <p:nvSpPr>
          <p:cNvPr id="15" name="Pastille 3"/>
          <p:cNvSpPr/>
          <p:nvPr/>
        </p:nvSpPr>
        <p:spPr>
          <a:xfrm>
            <a:off x="6446520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Universel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0632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Leur retentissement parcourt toute la terre »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19.5</a:t>
            </a:r>
            <a:endParaRPr lang="en-US" sz="1400" dirty="0"/>
          </a:p>
        </p:txBody>
      </p:sp>
      <p:sp>
        <p:nvSpPr>
          <p:cNvPr id="19" name="Trait 4"/>
          <p:cNvSpPr/>
          <p:nvPr/>
        </p:nvSpPr>
        <p:spPr>
          <a:xfrm>
            <a:off x="9052560" y="1645920"/>
            <a:ext cx="2560320" cy="297180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/>
        </p:spPr>
      </p:sp>
      <p:sp>
        <p:nvSpPr>
          <p:cNvPr id="20" name="Pastille 4"/>
          <p:cNvSpPr/>
          <p:nvPr/>
        </p:nvSpPr>
        <p:spPr>
          <a:xfrm>
            <a:off x="9281160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Inévitable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30632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Rien ne se dérobe à sa chaleur. »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19.7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Qui ne conclurait pas que Dieu est tout glorieux en regardant les cieux? »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John MacArthur, sermon 90-340 (trad.)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 · Le ciel qui parle · 19.5-7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soleil : une créature qui obéit</a:t>
            </a:r>
            <a:endParaRPr lang="en-US" sz="3000" dirty="0"/>
          </a:p>
        </p:txBody>
      </p:sp>
      <p:sp>
        <p:nvSpPr>
          <p:cNvPr id="4" name="Horizon"/>
          <p:cNvSpPr/>
          <p:nvPr/>
        </p:nvSpPr>
        <p:spPr>
          <a:xfrm>
            <a:off x="822960" y="4983480"/>
            <a:ext cx="1051560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Course du soleil"/>
          <p:cNvSpPr/>
          <p:nvPr/>
        </p:nvSpPr>
        <p:spPr>
          <a:xfrm>
            <a:off x="1737360" y="2057400"/>
            <a:ext cx="8686800" cy="5852160"/>
          </a:xfrm>
          <a:prstGeom prst="arc">
            <a:avLst>
              <a:gd name="adj1" fmla="val 10800000"/>
              <a:gd name="adj2" fmla="val 21600000"/>
            </a:avLst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6" name="Soleil au zénith"/>
          <p:cNvSpPr/>
          <p:nvPr/>
        </p:nvSpPr>
        <p:spPr>
          <a:xfrm>
            <a:off x="566928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nte"/>
          <p:cNvSpPr/>
          <p:nvPr/>
        </p:nvSpPr>
        <p:spPr>
          <a:xfrm>
            <a:off x="1325880" y="4343400"/>
            <a:ext cx="822960" cy="640080"/>
          </a:xfrm>
          <a:prstGeom prst="triangle">
            <a:avLst/>
          </a:prstGeom>
          <a:solidFill>
            <a:schemeClr val="accent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86000" y="43434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« une tente pour le soleil » (19.5)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8803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Comme un époux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qui sort de sa chambre : l'éclat et la joie des noces (19.6)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8803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Comme un héros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qui s'élance dans la carrière : la force, la course (19.6)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411480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D'une extrémité des cieux à l'autre : « Rien ne se dérobe à sa chaleur » (19.7)</a:t>
            </a:r>
            <a:endParaRPr lang="en-US" sz="1500" dirty="0"/>
          </a:p>
        </p:txBody>
      </p:sp>
      <p:sp>
        <p:nvSpPr>
          <p:cNvPr id="12" name="Créature, non dieu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349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Une créature qui obéit, non un dieu qu'on adore : Israël ne devait pas se prosterner devant « le soleil, la lune et les étoiles » (Deutéronome 4.19).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 · Le ciel qui parle · Romains 1.18-20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Assez pour condamner, jamais pour sauver</a:t>
            </a:r>
            <a:endParaRPr lang="en-US" sz="3000" dirty="0"/>
          </a:p>
        </p:txBody>
      </p:sp>
      <p:sp>
        <p:nvSpPr>
          <p:cNvPr id="4" name="Icône création anneau externe"/>
          <p:cNvSpPr/>
          <p:nvPr/>
        </p:nvSpPr>
        <p:spPr>
          <a:xfrm>
            <a:off x="2736799" y="1548079"/>
            <a:ext cx="652882" cy="652882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5" name="Icône création anneau"/>
          <p:cNvSpPr/>
          <p:nvPr/>
        </p:nvSpPr>
        <p:spPr>
          <a:xfrm>
            <a:off x="2822296" y="1633576"/>
            <a:ext cx="481889" cy="481889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6" name="Icône création"/>
          <p:cNvSpPr/>
          <p:nvPr/>
        </p:nvSpPr>
        <p:spPr>
          <a:xfrm>
            <a:off x="2907792" y="171907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20440" y="1691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création (19.2-7)</a:t>
            </a:r>
            <a:endParaRPr lang="en-US" sz="2000" dirty="0"/>
          </a:p>
        </p:txBody>
      </p:sp>
      <p:sp>
        <p:nvSpPr>
          <p:cNvPr id="8" name="Icône Parole page gauche"/>
          <p:cNvSpPr/>
          <p:nvPr/>
        </p:nvSpPr>
        <p:spPr>
          <a:xfrm>
            <a:off x="7315200" y="1719072"/>
            <a:ext cx="224028" cy="311810"/>
          </a:xfrm>
          <a:prstGeom prst="roundRect">
            <a:avLst>
              <a:gd name="adj" fmla="val 20408"/>
            </a:avLst>
          </a:prstGeom>
          <a:solidFill>
            <a:schemeClr val="bg1"/>
          </a:solidFill>
          <a:ln/>
        </p:spPr>
      </p:sp>
      <p:sp>
        <p:nvSpPr>
          <p:cNvPr id="9" name="Icône Parole page droite"/>
          <p:cNvSpPr/>
          <p:nvPr/>
        </p:nvSpPr>
        <p:spPr>
          <a:xfrm>
            <a:off x="7594092" y="1719072"/>
            <a:ext cx="224028" cy="311810"/>
          </a:xfrm>
          <a:prstGeom prst="roundRect">
            <a:avLst>
              <a:gd name="adj" fmla="val 20408"/>
            </a:avLst>
          </a:prstGeom>
          <a:solidFill>
            <a:schemeClr val="bg1"/>
          </a:solidFill>
          <a:ln/>
        </p:spPr>
      </p:sp>
      <p:sp>
        <p:nvSpPr>
          <p:cNvPr id="10" name="Icône Parole ligne g1"/>
          <p:cNvSpPr/>
          <p:nvPr/>
        </p:nvSpPr>
        <p:spPr>
          <a:xfrm>
            <a:off x="7350404" y="1793313"/>
            <a:ext cx="170993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Icône Parole ligne d1"/>
          <p:cNvSpPr/>
          <p:nvPr/>
        </p:nvSpPr>
        <p:spPr>
          <a:xfrm>
            <a:off x="7611923" y="1793313"/>
            <a:ext cx="170993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Icône Parole ligne g2"/>
          <p:cNvSpPr/>
          <p:nvPr/>
        </p:nvSpPr>
        <p:spPr>
          <a:xfrm>
            <a:off x="7350404" y="1867553"/>
            <a:ext cx="170993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Icône Parole ligne d2"/>
          <p:cNvSpPr/>
          <p:nvPr/>
        </p:nvSpPr>
        <p:spPr>
          <a:xfrm>
            <a:off x="7611923" y="1867553"/>
            <a:ext cx="170993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4" name="Icône Parole ligne g3"/>
          <p:cNvSpPr/>
          <p:nvPr/>
        </p:nvSpPr>
        <p:spPr>
          <a:xfrm>
            <a:off x="7350404" y="1941794"/>
            <a:ext cx="170993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Icône Parole ligne d3"/>
          <p:cNvSpPr/>
          <p:nvPr/>
        </p:nvSpPr>
        <p:spPr>
          <a:xfrm>
            <a:off x="7611923" y="1941794"/>
            <a:ext cx="170993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6" name="Icône Parole reliure"/>
          <p:cNvSpPr/>
          <p:nvPr/>
        </p:nvSpPr>
        <p:spPr>
          <a:xfrm>
            <a:off x="7539228" y="1682496"/>
            <a:ext cx="54864" cy="38496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010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(19.8-15)</a:t>
            </a:r>
            <a:endParaRPr lang="en-US" sz="2000" dirty="0"/>
          </a:p>
        </p:txBody>
      </p:sp>
      <p:sp>
        <p:nvSpPr>
          <p:cNvPr id="18" name="Ligne 1"/>
          <p:cNvSpPr/>
          <p:nvPr/>
        </p:nvSpPr>
        <p:spPr>
          <a:xfrm>
            <a:off x="548640" y="228600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Langage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22860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« Ce n'est pas un langage » (19.4)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2860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« Il rend sage l'ignorant » (19.8)</a:t>
            </a:r>
            <a:endParaRPr lang="en-US" sz="1500" dirty="0"/>
          </a:p>
        </p:txBody>
      </p:sp>
      <p:sp>
        <p:nvSpPr>
          <p:cNvPr id="22" name="Ligne 2"/>
          <p:cNvSpPr/>
          <p:nvPr/>
        </p:nvSpPr>
        <p:spPr>
          <a:xfrm>
            <a:off x="548640" y="2907792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29077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Nom de Dieu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29077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El, une fois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29077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l'Éternel, sept fois</a:t>
            </a:r>
            <a:endParaRPr lang="en-US" sz="1500" dirty="0"/>
          </a:p>
        </p:txBody>
      </p:sp>
      <p:sp>
        <p:nvSpPr>
          <p:cNvPr id="26" name="Ligne 3"/>
          <p:cNvSpPr/>
          <p:nvPr/>
        </p:nvSpPr>
        <p:spPr>
          <a:xfrm>
            <a:off x="548640" y="3529584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352958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Portée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352958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toute la terre (19.5)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352958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« ton serviteur » (19.12)</a:t>
            </a:r>
            <a:endParaRPr lang="en-US" sz="1500" dirty="0"/>
          </a:p>
        </p:txBody>
      </p:sp>
      <p:sp>
        <p:nvSpPr>
          <p:cNvPr id="30" name="Ligne 4"/>
          <p:cNvSpPr/>
          <p:nvPr/>
        </p:nvSpPr>
        <p:spPr>
          <a:xfrm>
            <a:off x="548640" y="4151376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77240" y="41513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Effet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2880360" y="415137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rend inexcusable (Romains 1.20)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415137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« elle restaure l'âme » (19.8)</a:t>
            </a:r>
            <a:endParaRPr lang="en-US" sz="1500" dirty="0"/>
          </a:p>
        </p:txBody>
      </p:sp>
      <p:sp>
        <p:nvSpPr>
          <p:cNvPr id="34" name="Citation 80-420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accent3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La révélation de Dieu dans le monde suffit à condamner, suffit à damner. La révélation dans la Parole suffit à sauver. »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John MacArthur, sermon 80-420 (trad.)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lo section II anneau externe"/>
          <p:cNvSpPr/>
          <p:nvPr/>
        </p:nvSpPr>
        <p:spPr>
          <a:xfrm>
            <a:off x="7388352" y="987552"/>
            <a:ext cx="4608576" cy="4608576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3" name="Halo section II anneau"/>
          <p:cNvSpPr/>
          <p:nvPr/>
        </p:nvSpPr>
        <p:spPr>
          <a:xfrm>
            <a:off x="7991856" y="1591056"/>
            <a:ext cx="3401568" cy="3401568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4" name="Halo section II"/>
          <p:cNvSpPr/>
          <p:nvPr/>
        </p:nvSpPr>
        <p:spPr>
          <a:xfrm>
            <a:off x="8595360" y="219456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Livre section II page gauche"/>
          <p:cNvSpPr/>
          <p:nvPr/>
        </p:nvSpPr>
        <p:spPr>
          <a:xfrm>
            <a:off x="8686800" y="2670048"/>
            <a:ext cx="978408" cy="1247242"/>
          </a:xfrm>
          <a:prstGeom prst="roundRect">
            <a:avLst>
              <a:gd name="adj" fmla="val 4673"/>
            </a:avLst>
          </a:prstGeom>
          <a:solidFill>
            <a:schemeClr val="bg1"/>
          </a:solidFill>
          <a:ln/>
        </p:spPr>
      </p:sp>
      <p:sp>
        <p:nvSpPr>
          <p:cNvPr id="6" name="Livre section II page droite"/>
          <p:cNvSpPr/>
          <p:nvPr/>
        </p:nvSpPr>
        <p:spPr>
          <a:xfrm>
            <a:off x="9720072" y="2670048"/>
            <a:ext cx="978408" cy="1247242"/>
          </a:xfrm>
          <a:prstGeom prst="roundRect">
            <a:avLst>
              <a:gd name="adj" fmla="val 4673"/>
            </a:avLst>
          </a:prstGeom>
          <a:solidFill>
            <a:schemeClr val="bg1"/>
          </a:solidFill>
          <a:ln/>
        </p:spPr>
      </p:sp>
      <p:sp>
        <p:nvSpPr>
          <p:cNvPr id="7" name="Livre section II ligne g1"/>
          <p:cNvSpPr/>
          <p:nvPr/>
        </p:nvSpPr>
        <p:spPr>
          <a:xfrm>
            <a:off x="8827618" y="2967010"/>
            <a:ext cx="68397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8" name="Livre section II ligne d1"/>
          <p:cNvSpPr/>
          <p:nvPr/>
        </p:nvSpPr>
        <p:spPr>
          <a:xfrm>
            <a:off x="9873691" y="2967010"/>
            <a:ext cx="68397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Livre section II ligne g2"/>
          <p:cNvSpPr/>
          <p:nvPr/>
        </p:nvSpPr>
        <p:spPr>
          <a:xfrm>
            <a:off x="8827618" y="3263973"/>
            <a:ext cx="68397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0" name="Livre section II ligne d2"/>
          <p:cNvSpPr/>
          <p:nvPr/>
        </p:nvSpPr>
        <p:spPr>
          <a:xfrm>
            <a:off x="9873691" y="3263973"/>
            <a:ext cx="68397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Livre section II ligne g3"/>
          <p:cNvSpPr/>
          <p:nvPr/>
        </p:nvSpPr>
        <p:spPr>
          <a:xfrm>
            <a:off x="8827618" y="3560935"/>
            <a:ext cx="68397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Livre section II ligne d3"/>
          <p:cNvSpPr/>
          <p:nvPr/>
        </p:nvSpPr>
        <p:spPr>
          <a:xfrm>
            <a:off x="9873691" y="3560935"/>
            <a:ext cx="68397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Livre section II reliure"/>
          <p:cNvSpPr/>
          <p:nvPr/>
        </p:nvSpPr>
        <p:spPr>
          <a:xfrm>
            <a:off x="9665208" y="2633472"/>
            <a:ext cx="54864" cy="132039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Text 0"/>
          <p:cNvSpPr/>
          <p:nvPr>
            <p:ph idx="100" type="body" hasCustomPrompt="1"/>
          </p:nvPr>
        </p:nvSpPr>
        <p:spPr>
          <a:xfrm>
            <a:off x="731520" y="1097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6600" dirty="0"/>
          </a:p>
        </p:txBody>
      </p:sp>
      <p:sp>
        <p:nvSpPr>
          <p:cNvPr id="15" name="Text 0"/>
          <p:cNvSpPr/>
          <p:nvPr>
            <p:ph idx="101" type="title" hasCustomPrompt="1"/>
          </p:nvPr>
        </p:nvSpPr>
        <p:spPr>
          <a:xfrm>
            <a:off x="731520" y="21488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transforme</a:t>
            </a:r>
            <a:endParaRPr lang="en-US" sz="40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731520" y="338328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La loi de l'Éternel est parfaite, elle restaure l'âme;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témoignage de l'Éternel est véritable, il rend sage l'ignorant. »</a:t>
            </a:r>
            <a:endParaRPr lang="en-US" sz="20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731520" y="5257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Psaume 19.8 · Assez pour sauver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II · La Parole qui transforme · 19.8-10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énoncés, un seul auteur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Nom de la Parole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88620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de l'Éternel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Qualité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0100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Ce qu'elle fait</a:t>
            </a:r>
            <a:endParaRPr lang="en-US" sz="1400" dirty="0"/>
          </a:p>
        </p:txBody>
      </p:sp>
      <p:sp>
        <p:nvSpPr>
          <p:cNvPr id="8" name="Énoncé 1"/>
          <p:cNvSpPr/>
          <p:nvPr/>
        </p:nvSpPr>
        <p:spPr>
          <a:xfrm>
            <a:off x="548640" y="1965960"/>
            <a:ext cx="1106424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loi  </a:t>
            </a:r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tôrâ</a:t>
            </a:r>
            <a:endParaRPr lang="en-US" sz="1600" dirty="0"/>
          </a:p>
        </p:txBody>
      </p:sp>
      <p:sp>
        <p:nvSpPr>
          <p:cNvPr id="10" name="de l&amp;apos;Éternel 1"/>
          <p:cNvSpPr/>
          <p:nvPr/>
        </p:nvSpPr>
        <p:spPr>
          <a:xfrm>
            <a:off x="3840480" y="2066544"/>
            <a:ext cx="16002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 l'Éternel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19659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parfaite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19659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restaure l'âme</a:t>
            </a:r>
            <a:endParaRPr lang="en-US" sz="1700" dirty="0"/>
          </a:p>
        </p:txBody>
      </p:sp>
      <p:sp>
        <p:nvSpPr>
          <p:cNvPr id="13" name="Énoncé 2"/>
          <p:cNvSpPr/>
          <p:nvPr/>
        </p:nvSpPr>
        <p:spPr>
          <a:xfrm>
            <a:off x="548640" y="2606040"/>
            <a:ext cx="11064240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26060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témoignage  </a:t>
            </a:r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ʿēdût</a:t>
            </a:r>
            <a:endParaRPr lang="en-US" sz="1600" dirty="0"/>
          </a:p>
        </p:txBody>
      </p:sp>
      <p:sp>
        <p:nvSpPr>
          <p:cNvPr id="15" name="de l&amp;apos;Éternel 2"/>
          <p:cNvSpPr/>
          <p:nvPr/>
        </p:nvSpPr>
        <p:spPr>
          <a:xfrm>
            <a:off x="3840480" y="2706624"/>
            <a:ext cx="16002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 l'Éternel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806440" y="26060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véritable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0" y="26060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rend sage l'ignorant</a:t>
            </a:r>
            <a:endParaRPr lang="en-US" sz="1700" dirty="0"/>
          </a:p>
        </p:txBody>
      </p:sp>
      <p:sp>
        <p:nvSpPr>
          <p:cNvPr id="18" name="Énoncé 3"/>
          <p:cNvSpPr/>
          <p:nvPr/>
        </p:nvSpPr>
        <p:spPr>
          <a:xfrm>
            <a:off x="548640" y="3246120"/>
            <a:ext cx="1106424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2461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ordonnances  </a:t>
            </a:r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piqqûdîm</a:t>
            </a:r>
            <a:endParaRPr lang="en-US" sz="1600" dirty="0"/>
          </a:p>
        </p:txBody>
      </p:sp>
      <p:sp>
        <p:nvSpPr>
          <p:cNvPr id="20" name="de l&amp;apos;Éternel 3"/>
          <p:cNvSpPr/>
          <p:nvPr/>
        </p:nvSpPr>
        <p:spPr>
          <a:xfrm>
            <a:off x="3840480" y="3346704"/>
            <a:ext cx="16002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 l'Éternel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32461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droites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2461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réjouissent le cœur</a:t>
            </a:r>
            <a:endParaRPr lang="en-US" sz="1700" dirty="0"/>
          </a:p>
        </p:txBody>
      </p:sp>
      <p:sp>
        <p:nvSpPr>
          <p:cNvPr id="23" name="Énoncé 4"/>
          <p:cNvSpPr/>
          <p:nvPr/>
        </p:nvSpPr>
        <p:spPr>
          <a:xfrm>
            <a:off x="548640" y="3886200"/>
            <a:ext cx="11064240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38862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commandements  </a:t>
            </a:r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miṣwâ</a:t>
            </a:r>
            <a:endParaRPr lang="en-US" sz="1600" dirty="0"/>
          </a:p>
        </p:txBody>
      </p:sp>
      <p:sp>
        <p:nvSpPr>
          <p:cNvPr id="25" name="de l&amp;apos;Éternel 4"/>
          <p:cNvSpPr/>
          <p:nvPr/>
        </p:nvSpPr>
        <p:spPr>
          <a:xfrm>
            <a:off x="3840480" y="3986784"/>
            <a:ext cx="16002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 l'Éternel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8862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purs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388620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éclairent les yeux</a:t>
            </a:r>
            <a:endParaRPr lang="en-US" sz="1700" dirty="0"/>
          </a:p>
        </p:txBody>
      </p:sp>
      <p:sp>
        <p:nvSpPr>
          <p:cNvPr id="28" name="Énoncé 5"/>
          <p:cNvSpPr/>
          <p:nvPr/>
        </p:nvSpPr>
        <p:spPr>
          <a:xfrm>
            <a:off x="548640" y="4526280"/>
            <a:ext cx="1106424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45262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crainte  </a:t>
            </a:r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yirʾâ</a:t>
            </a:r>
            <a:endParaRPr lang="en-US" sz="1600" dirty="0"/>
          </a:p>
        </p:txBody>
      </p:sp>
      <p:sp>
        <p:nvSpPr>
          <p:cNvPr id="30" name="de l&amp;apos;Éternel 5"/>
          <p:cNvSpPr/>
          <p:nvPr/>
        </p:nvSpPr>
        <p:spPr>
          <a:xfrm>
            <a:off x="3840480" y="4626864"/>
            <a:ext cx="16002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 l'Éternel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45262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pure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45262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subsiste à toujours</a:t>
            </a:r>
            <a:endParaRPr lang="en-US" sz="1700" dirty="0"/>
          </a:p>
        </p:txBody>
      </p:sp>
      <p:sp>
        <p:nvSpPr>
          <p:cNvPr id="33" name="Énoncé 6"/>
          <p:cNvSpPr/>
          <p:nvPr/>
        </p:nvSpPr>
        <p:spPr>
          <a:xfrm>
            <a:off x="548640" y="5166360"/>
            <a:ext cx="11064240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1663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jugements  </a:t>
            </a:r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mišpāṭîm</a:t>
            </a:r>
            <a:endParaRPr lang="en-US" sz="1600" dirty="0"/>
          </a:p>
        </p:txBody>
      </p:sp>
      <p:sp>
        <p:nvSpPr>
          <p:cNvPr id="35" name="de l&amp;apos;Éternel 6"/>
          <p:cNvSpPr/>
          <p:nvPr/>
        </p:nvSpPr>
        <p:spPr>
          <a:xfrm>
            <a:off x="3840480" y="5266944"/>
            <a:ext cx="16002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 l'Éternel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806440" y="51663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vrais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001000" y="5166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sont tous justes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Six fois « de l'Éternel » : nul ne peut se tromper sur l'auteur (MacArthur, 90-340).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II · La Parole qui transforme · 19.8-10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Parole pour toute la personne</a:t>
            </a:r>
            <a:endParaRPr lang="en-US" sz="3000" dirty="0"/>
          </a:p>
        </p:txBody>
      </p:sp>
      <p:sp>
        <p:nvSpPr>
          <p:cNvPr id="4" name="Moyeu"/>
          <p:cNvSpPr/>
          <p:nvPr/>
        </p:nvSpPr>
        <p:spPr>
          <a:xfrm>
            <a:off x="5047488" y="2743200"/>
            <a:ext cx="2103120" cy="21031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loi de l'Éternel est parfaite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complète</a:t>
            </a:r>
            <a:endParaRPr lang="en-US" sz="1700" dirty="0"/>
          </a:p>
        </p:txBody>
      </p:sp>
      <p:sp>
        <p:nvSpPr>
          <p:cNvPr id="5" name="Rayon 1"/>
          <p:cNvSpPr/>
          <p:nvPr/>
        </p:nvSpPr>
        <p:spPr>
          <a:xfrm>
            <a:off x="548640" y="1691640"/>
            <a:ext cx="29260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L'âme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67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elle restaure »</a:t>
            </a:r>
            <a:endParaRPr lang="en-US" sz="1500" dirty="0"/>
          </a:p>
        </p:txBody>
      </p:sp>
      <p:sp>
        <p:nvSpPr>
          <p:cNvPr id="8" name="Rayon 2"/>
          <p:cNvSpPr/>
          <p:nvPr/>
        </p:nvSpPr>
        <p:spPr>
          <a:xfrm>
            <a:off x="548640" y="3337560"/>
            <a:ext cx="29260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Le simple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13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il rend sage »</a:t>
            </a:r>
            <a:endParaRPr lang="en-US" sz="1500" dirty="0"/>
          </a:p>
        </p:txBody>
      </p:sp>
      <p:sp>
        <p:nvSpPr>
          <p:cNvPr id="11" name="Rayon 3"/>
          <p:cNvSpPr/>
          <p:nvPr/>
        </p:nvSpPr>
        <p:spPr>
          <a:xfrm>
            <a:off x="548640" y="4983480"/>
            <a:ext cx="29260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Le cœur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589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elles réjouissent »</a:t>
            </a:r>
            <a:endParaRPr lang="en-US" sz="1500" dirty="0"/>
          </a:p>
        </p:txBody>
      </p:sp>
      <p:sp>
        <p:nvSpPr>
          <p:cNvPr id="14" name="Rayon 4"/>
          <p:cNvSpPr/>
          <p:nvPr/>
        </p:nvSpPr>
        <p:spPr>
          <a:xfrm>
            <a:off x="8714232" y="1691640"/>
            <a:ext cx="29260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42832" y="1783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Les yeux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42832" y="2167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ils éclairent »</a:t>
            </a:r>
            <a:endParaRPr lang="en-US" sz="1500" dirty="0"/>
          </a:p>
        </p:txBody>
      </p:sp>
      <p:sp>
        <p:nvSpPr>
          <p:cNvPr id="17" name="Rayon 5"/>
          <p:cNvSpPr/>
          <p:nvPr/>
        </p:nvSpPr>
        <p:spPr>
          <a:xfrm>
            <a:off x="8714232" y="3337560"/>
            <a:ext cx="29260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42832" y="3429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L'adoration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42832" y="3813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elle subsiste à toujours »</a:t>
            </a:r>
            <a:endParaRPr lang="en-US" sz="1500" dirty="0"/>
          </a:p>
        </p:txBody>
      </p:sp>
      <p:sp>
        <p:nvSpPr>
          <p:cNvPr id="20" name="Rayon 6"/>
          <p:cNvSpPr/>
          <p:nvPr/>
        </p:nvSpPr>
        <p:spPr>
          <a:xfrm>
            <a:off x="8714232" y="4983480"/>
            <a:ext cx="29260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942832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La justice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942832" y="54589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« ils sont tous justes »</a:t>
            </a:r>
            <a:endParaRPr lang="en-US" sz="1500" dirty="0"/>
          </a:p>
        </p:txBody>
      </p:sp>
      <p:sp>
        <p:nvSpPr>
          <p:cNvPr id="23" name="Lien âme"/>
          <p:cNvSpPr/>
          <p:nvPr/>
        </p:nvSpPr>
        <p:spPr>
          <a:xfrm>
            <a:off x="3474720" y="2148840"/>
            <a:ext cx="1783080" cy="10515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4" name="Lien simple"/>
          <p:cNvSpPr/>
          <p:nvPr/>
        </p:nvSpPr>
        <p:spPr>
          <a:xfrm>
            <a:off x="3474720" y="3794760"/>
            <a:ext cx="1572768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5" name="Lien cœur"/>
          <p:cNvSpPr/>
          <p:nvPr/>
        </p:nvSpPr>
        <p:spPr>
          <a:xfrm flipV="1">
            <a:off x="3474720" y="4389120"/>
            <a:ext cx="1783080" cy="10515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6" name="Lien yeux"/>
          <p:cNvSpPr/>
          <p:nvPr/>
        </p:nvSpPr>
        <p:spPr>
          <a:xfrm flipH="1">
            <a:off x="6949440" y="2148840"/>
            <a:ext cx="1764792" cy="10515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7" name="Lien adoration"/>
          <p:cNvSpPr/>
          <p:nvPr/>
        </p:nvSpPr>
        <p:spPr>
          <a:xfrm>
            <a:off x="7150608" y="3794760"/>
            <a:ext cx="1563624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8" name="Lien justice"/>
          <p:cNvSpPr/>
          <p:nvPr/>
        </p:nvSpPr>
        <p:spPr>
          <a:xfrm flipH="1" flipV="1">
            <a:off x="6949440" y="4389120"/>
            <a:ext cx="1764792" cy="10515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60520" y="5074920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« Ce qui signifie donc que l'Écriture couvre toutes choses. Il ne lui échappe rien. »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60520" y="5715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MacArthur, FRA-80-19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II · La Parole qui transforme · 19.8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mots qui portent le verset 8</a:t>
            </a:r>
            <a:endParaRPr lang="en-US" sz="3000" dirty="0"/>
          </a:p>
        </p:txBody>
      </p:sp>
      <p:sp>
        <p:nvSpPr>
          <p:cNvPr id="4" name="Mot parfaite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parfaite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68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temîmâ (tāmîm) : complète, entière, intègre (BDB)</a:t>
            </a:r>
            <a:endParaRPr lang="en-US" sz="1500" dirty="0"/>
          </a:p>
        </p:txBody>
      </p:sp>
      <p:sp>
        <p:nvSpPr>
          <p:cNvPr id="7" name="Jauge vide"/>
          <p:cNvSpPr/>
          <p:nvPr/>
        </p:nvSpPr>
        <p:spPr>
          <a:xfrm>
            <a:off x="868680" y="3154680"/>
            <a:ext cx="4754880" cy="411480"/>
          </a:xfrm>
          <a:prstGeom prst="roundRect">
            <a:avLst>
              <a:gd name="adj" fmla="val 48889"/>
            </a:avLst>
          </a:prstGeom>
          <a:solidFill>
            <a:schemeClr val="accent4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Jauge pleine"/>
          <p:cNvSpPr/>
          <p:nvPr/>
        </p:nvSpPr>
        <p:spPr>
          <a:xfrm>
            <a:off x="868680" y="3154680"/>
            <a:ext cx="475488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incomplet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639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complet : rien n'y manque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160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« parfait non par opposition à imparfait, mais par opposition à incomplet »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166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MacArthur, sermon 90-340 (trad.)</a:t>
            </a:r>
            <a:endParaRPr lang="en-US" sz="1300" dirty="0"/>
          </a:p>
        </p:txBody>
      </p:sp>
      <p:sp>
        <p:nvSpPr>
          <p:cNvPr id="13" name="Mot restaure"/>
          <p:cNvSpPr/>
          <p:nvPr/>
        </p:nvSpPr>
        <p:spPr>
          <a:xfrm>
            <a:off x="621792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828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restaure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68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mešîbat (šûb) : faire revenir; avec « âme », ranimer (BDB)</a:t>
            </a:r>
            <a:endParaRPr lang="en-US" sz="1500" dirty="0"/>
          </a:p>
        </p:txBody>
      </p:sp>
      <p:sp>
        <p:nvSpPr>
          <p:cNvPr id="16" name="Flèche de retour"/>
          <p:cNvSpPr/>
          <p:nvPr/>
        </p:nvSpPr>
        <p:spPr>
          <a:xfrm>
            <a:off x="6583680" y="3017520"/>
            <a:ext cx="1188720" cy="1188720"/>
          </a:xfrm>
          <a:prstGeom prst="circularArrow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0" y="324612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L'âme ramenée, ranimée, transformée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1605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« La Parole est donc si complète qu'elle peut totalement transformer votre être intérieur, votre personne dans son entier. »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5166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MacArthur, FRA-80-19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III · La Parole qu'on désire · 19.11-12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précieux que l'or, plus doux que le miel</a:t>
            </a:r>
            <a:endParaRPr lang="en-US" sz="3000" dirty="0"/>
          </a:p>
        </p:txBody>
      </p:sp>
      <p:sp>
        <p:nvSpPr>
          <p:cNvPr id="4" name="Socle"/>
          <p:cNvSpPr/>
          <p:nvPr/>
        </p:nvSpPr>
        <p:spPr>
          <a:xfrm>
            <a:off x="2514600" y="4617720"/>
            <a:ext cx="731520" cy="548640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5" name="Pilier"/>
          <p:cNvSpPr/>
          <p:nvPr/>
        </p:nvSpPr>
        <p:spPr>
          <a:xfrm>
            <a:off x="2834640" y="2514600"/>
            <a:ext cx="91440" cy="214884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Fléau"/>
          <p:cNvSpPr/>
          <p:nvPr/>
        </p:nvSpPr>
        <p:spPr>
          <a:xfrm>
            <a:off x="1188720" y="2194560"/>
            <a:ext cx="3383280" cy="640080"/>
          </a:xfrm>
          <a:prstGeom prst="line">
            <a:avLst/>
          </a:prstGeom>
          <a:noFill/>
          <a:ln w="38100">
            <a:solidFill>
              <a:schemeClr val="bg1"/>
            </a:solidFill>
            <a:prstDash val="solid"/>
          </a:ln>
        </p:spPr>
      </p:sp>
      <p:sp>
        <p:nvSpPr>
          <p:cNvPr id="7" name="Pivot"/>
          <p:cNvSpPr/>
          <p:nvPr/>
        </p:nvSpPr>
        <p:spPr>
          <a:xfrm>
            <a:off x="2770632" y="242316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Fil gauche"/>
          <p:cNvSpPr/>
          <p:nvPr/>
        </p:nvSpPr>
        <p:spPr>
          <a:xfrm>
            <a:off x="1188720" y="2194560"/>
            <a:ext cx="0" cy="109728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9" name="Fil droit"/>
          <p:cNvSpPr/>
          <p:nvPr/>
        </p:nvSpPr>
        <p:spPr>
          <a:xfrm>
            <a:off x="4572000" y="2834640"/>
            <a:ext cx="0" cy="109728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</a:ln>
        </p:spPr>
      </p:sp>
      <p:sp>
        <p:nvSpPr>
          <p:cNvPr id="10" name="Plateau or"/>
          <p:cNvSpPr/>
          <p:nvPr/>
        </p:nvSpPr>
        <p:spPr>
          <a:xfrm>
            <a:off x="548640" y="3291840"/>
            <a:ext cx="128016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or fin · miel</a:t>
            </a:r>
            <a:endParaRPr lang="en-US" sz="1400" dirty="0"/>
          </a:p>
        </p:txBody>
      </p:sp>
      <p:sp>
        <p:nvSpPr>
          <p:cNvPr id="11" name="Plateau Parole"/>
          <p:cNvSpPr/>
          <p:nvPr/>
        </p:nvSpPr>
        <p:spPr>
          <a:xfrm>
            <a:off x="3931920" y="3931920"/>
            <a:ext cx="128016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 Parole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92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 Ils sont plus précieux que l'or, que beaucoup d'or fin;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Ils sont plus doux que le miel, que celui qui coule des rayons. » (19.11)</a:t>
            </a:r>
            <a:endParaRPr lang="en-US" sz="1400" dirty="0"/>
          </a:p>
        </p:txBody>
      </p:sp>
      <p:sp>
        <p:nvSpPr>
          <p:cNvPr id="13" name="Valeur 1"/>
          <p:cNvSpPr/>
          <p:nvPr/>
        </p:nvSpPr>
        <p:spPr>
          <a:xfrm>
            <a:off x="5669280" y="164592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4" name="Pastille 1"/>
          <p:cNvSpPr/>
          <p:nvPr/>
        </p:nvSpPr>
        <p:spPr>
          <a:xfrm>
            <a:off x="5870448" y="18470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La possession la plus précieuse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1214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 plus précieux que l'or, que beaucoup d'or fin » (19.11)</a:t>
            </a:r>
            <a:endParaRPr lang="en-US" sz="1400" dirty="0"/>
          </a:p>
        </p:txBody>
      </p:sp>
      <p:sp>
        <p:nvSpPr>
          <p:cNvPr id="17" name="Valeur 2"/>
          <p:cNvSpPr/>
          <p:nvPr/>
        </p:nvSpPr>
        <p:spPr>
          <a:xfrm>
            <a:off x="5669280" y="269748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8" name="Pastille 2"/>
          <p:cNvSpPr/>
          <p:nvPr/>
        </p:nvSpPr>
        <p:spPr>
          <a:xfrm>
            <a:off x="5870448" y="2898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788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Le plus grand plaisir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1729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 plus doux que le miel » (19.11)</a:t>
            </a:r>
            <a:endParaRPr lang="en-US" sz="1400" dirty="0"/>
          </a:p>
        </p:txBody>
      </p:sp>
      <p:sp>
        <p:nvSpPr>
          <p:cNvPr id="21" name="Valeur 3"/>
          <p:cNvSpPr/>
          <p:nvPr/>
        </p:nvSpPr>
        <p:spPr>
          <a:xfrm>
            <a:off x="5669280" y="374904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22" name="Pastille 3"/>
          <p:cNvSpPr/>
          <p:nvPr/>
        </p:nvSpPr>
        <p:spPr>
          <a:xfrm>
            <a:off x="5870448" y="39502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840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La plus grande protection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 Ton serviteur aussi en reçoit instruction » (19.12)</a:t>
            </a:r>
            <a:endParaRPr lang="en-US" sz="1400" dirty="0"/>
          </a:p>
        </p:txBody>
      </p:sp>
      <p:sp>
        <p:nvSpPr>
          <p:cNvPr id="25" name="Valeur 4"/>
          <p:cNvSpPr/>
          <p:nvPr/>
        </p:nvSpPr>
        <p:spPr>
          <a:xfrm>
            <a:off x="5669280" y="480060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26" name="Pastille 4"/>
          <p:cNvSpPr/>
          <p:nvPr/>
        </p:nvSpPr>
        <p:spPr>
          <a:xfrm>
            <a:off x="5870448" y="5001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Le plus grand profit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5276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 Pour qui les observe la récompense est grande » (19.12)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5897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D'après MacArthur, FRA-80-19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lo section IV anneau externe"/>
          <p:cNvSpPr/>
          <p:nvPr/>
        </p:nvSpPr>
        <p:spPr>
          <a:xfrm>
            <a:off x="7388352" y="987552"/>
            <a:ext cx="4608576" cy="4608576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3" name="Halo section IV anneau"/>
          <p:cNvSpPr/>
          <p:nvPr/>
        </p:nvSpPr>
        <p:spPr>
          <a:xfrm>
            <a:off x="7991856" y="1591056"/>
            <a:ext cx="3401568" cy="3401568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4" name="Halo section IV"/>
          <p:cNvSpPr/>
          <p:nvPr/>
        </p:nvSpPr>
        <p:spPr>
          <a:xfrm>
            <a:off x="8595360" y="219456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œur"/>
          <p:cNvSpPr/>
          <p:nvPr/>
        </p:nvSpPr>
        <p:spPr>
          <a:xfrm>
            <a:off x="8915400" y="2606040"/>
            <a:ext cx="1554480" cy="1417320"/>
          </a:xfrm>
          <a:prstGeom prst="heart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0"/>
          <p:cNvSpPr/>
          <p:nvPr>
            <p:ph idx="100" type="body" hasCustomPrompt="1"/>
          </p:nvPr>
        </p:nvSpPr>
        <p:spPr>
          <a:xfrm>
            <a:off x="731520" y="1097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6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731520" y="21488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sondé et offert</a:t>
            </a:r>
            <a:endParaRPr lang="en-US" sz="4000" dirty="0"/>
          </a:p>
        </p:txBody>
      </p:sp>
      <p:sp>
        <p:nvSpPr>
          <p:cNvPr id="8" name="Text 0"/>
          <p:cNvSpPr/>
          <p:nvPr>
            <p:ph idx="102" type="body" hasCustomPrompt="1"/>
          </p:nvPr>
        </p:nvSpPr>
        <p:spPr>
          <a:xfrm>
            <a:off x="731520" y="338328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Qui connaît ses égarements?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Pardonne-moi ceux que j'ignore. »</a:t>
            </a:r>
            <a:endParaRPr lang="en-US" sz="2000" dirty="0"/>
          </a:p>
        </p:txBody>
      </p:sp>
      <p:sp>
        <p:nvSpPr>
          <p:cNvPr id="9" name="Text 0"/>
          <p:cNvSpPr/>
          <p:nvPr>
            <p:ph idx="103" type="body" hasCustomPrompt="1"/>
          </p:nvPr>
        </p:nvSpPr>
        <p:spPr>
          <a:xfrm>
            <a:off x="731520" y="5257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Psaume 19.13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IV · Le cœur sondé et offert · 19.7 et 19.13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Rien ne se dérobe</a:t>
            </a:r>
            <a:endParaRPr lang="en-US" sz="3000" dirty="0"/>
          </a:p>
        </p:txBody>
      </p:sp>
      <p:sp>
        <p:nvSpPr>
          <p:cNvPr id="4" name="Panneau soleil"/>
          <p:cNvSpPr/>
          <p:nvPr/>
        </p:nvSpPr>
        <p:spPr>
          <a:xfrm>
            <a:off x="548640" y="1645920"/>
            <a:ext cx="4937760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5" name="Icône soleil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737360" y="19659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soleil (19.7)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3464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« Rien ne se dérobe à sa chaleur »</a:t>
            </a:r>
            <a:endParaRPr lang="en-US" sz="2000" dirty="0"/>
          </a:p>
        </p:txBody>
      </p:sp>
      <p:sp>
        <p:nvSpPr>
          <p:cNvPr id="8" name="Pastille nistar"/>
          <p:cNvSpPr/>
          <p:nvPr/>
        </p:nvSpPr>
        <p:spPr>
          <a:xfrm>
            <a:off x="868680" y="393192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nistār : caché</a:t>
            </a:r>
            <a:endParaRPr lang="en-US" sz="1500" dirty="0"/>
          </a:p>
        </p:txBody>
      </p:sp>
      <p:sp>
        <p:nvSpPr>
          <p:cNvPr id="9" name="Panneau Parole"/>
          <p:cNvSpPr/>
          <p:nvPr/>
        </p:nvSpPr>
        <p:spPr>
          <a:xfrm>
            <a:off x="6675120" y="1645920"/>
            <a:ext cx="4937760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10" name="Icône livre page gauche"/>
          <p:cNvSpPr/>
          <p:nvPr/>
        </p:nvSpPr>
        <p:spPr>
          <a:xfrm>
            <a:off x="6995160" y="2011680"/>
            <a:ext cx="384048" cy="510235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/>
        </p:spPr>
      </p:sp>
      <p:sp>
        <p:nvSpPr>
          <p:cNvPr id="11" name="Icône livre page droite"/>
          <p:cNvSpPr/>
          <p:nvPr/>
        </p:nvSpPr>
        <p:spPr>
          <a:xfrm>
            <a:off x="7434072" y="2011680"/>
            <a:ext cx="384048" cy="510235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/>
        </p:spPr>
      </p:sp>
      <p:sp>
        <p:nvSpPr>
          <p:cNvPr id="12" name="Icône livre ligne g1"/>
          <p:cNvSpPr/>
          <p:nvPr/>
        </p:nvSpPr>
        <p:spPr>
          <a:xfrm>
            <a:off x="7052767" y="2133165"/>
            <a:ext cx="279806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Icône livre ligne d1"/>
          <p:cNvSpPr/>
          <p:nvPr/>
        </p:nvSpPr>
        <p:spPr>
          <a:xfrm>
            <a:off x="7480706" y="2133165"/>
            <a:ext cx="279806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4" name="Icône livre ligne g2"/>
          <p:cNvSpPr/>
          <p:nvPr/>
        </p:nvSpPr>
        <p:spPr>
          <a:xfrm>
            <a:off x="7052767" y="2254649"/>
            <a:ext cx="279806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Icône livre ligne d2"/>
          <p:cNvSpPr/>
          <p:nvPr/>
        </p:nvSpPr>
        <p:spPr>
          <a:xfrm>
            <a:off x="7480706" y="2254649"/>
            <a:ext cx="279806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6" name="Icône livre ligne g3"/>
          <p:cNvSpPr/>
          <p:nvPr/>
        </p:nvSpPr>
        <p:spPr>
          <a:xfrm>
            <a:off x="7052767" y="2376134"/>
            <a:ext cx="279806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7" name="Icône livre ligne d3"/>
          <p:cNvSpPr/>
          <p:nvPr/>
        </p:nvSpPr>
        <p:spPr>
          <a:xfrm>
            <a:off x="7480706" y="2376134"/>
            <a:ext cx="279806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8" name="Icône livre reliure"/>
          <p:cNvSpPr/>
          <p:nvPr/>
        </p:nvSpPr>
        <p:spPr>
          <a:xfrm>
            <a:off x="7379208" y="1975104"/>
            <a:ext cx="54864" cy="583387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01000" y="19659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(19.13)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283464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« Pardonne-moi ceux que j'ignore »</a:t>
            </a:r>
            <a:endParaRPr lang="en-US" sz="2000" dirty="0"/>
          </a:p>
        </p:txBody>
      </p:sp>
      <p:sp>
        <p:nvSpPr>
          <p:cNvPr id="21" name="Pastille nistarot"/>
          <p:cNvSpPr/>
          <p:nvPr/>
        </p:nvSpPr>
        <p:spPr>
          <a:xfrm>
            <a:off x="6995160" y="3931920"/>
            <a:ext cx="329184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nistārôt : les fautes cachées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788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même mot</a:t>
            </a:r>
            <a:endParaRPr lang="en-US" sz="1400" dirty="0"/>
          </a:p>
        </p:txBody>
      </p:sp>
      <p:sp>
        <p:nvSpPr>
          <p:cNvPr id="23" name="Lien même mot"/>
          <p:cNvSpPr/>
          <p:nvPr/>
        </p:nvSpPr>
        <p:spPr>
          <a:xfrm>
            <a:off x="5596128" y="3246120"/>
            <a:ext cx="96926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soleil fait au monde, la Parole le fait au cœur.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« C'est ta Parole qui me purifie, qui me convainc » (MacArthur, sermon 90-341, trad.)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IV · Le cœur sondé et offert · 19.13-14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sortes de péchés, une même Parole</a:t>
            </a:r>
            <a:endParaRPr lang="en-US" sz="3000" dirty="0"/>
          </a:p>
        </p:txBody>
      </p:sp>
      <p:sp>
        <p:nvSpPr>
          <p:cNvPr id="4" name="Péché 1"/>
          <p:cNvSpPr/>
          <p:nvPr/>
        </p:nvSpPr>
        <p:spPr>
          <a:xfrm>
            <a:off x="548640" y="1600200"/>
            <a:ext cx="5303520" cy="2697480"/>
          </a:xfrm>
          <a:prstGeom prst="roundRect">
            <a:avLst>
              <a:gd name="adj" fmla="val 2712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fautes cachées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« Pardonne-moi ceux que j'ignore » (19.13)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ignorées : « que je n'ai pas prémédités » (MacArthur)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La loi : le péché « involontaire » (Nombres 15.27)</a:t>
            </a:r>
            <a:endParaRPr lang="en-US" sz="1500" dirty="0"/>
          </a:p>
        </p:txBody>
      </p:sp>
      <p:sp>
        <p:nvSpPr>
          <p:cNvPr id="8" name="Prière 1"/>
          <p:cNvSpPr/>
          <p:nvPr/>
        </p:nvSpPr>
        <p:spPr>
          <a:xfrm>
            <a:off x="822960" y="3657600"/>
            <a:ext cx="475488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Prière : « Pardonne-moi »</a:t>
            </a:r>
            <a:endParaRPr lang="en-US" sz="1500" dirty="0"/>
          </a:p>
        </p:txBody>
      </p:sp>
      <p:sp>
        <p:nvSpPr>
          <p:cNvPr id="9" name="Péché 2"/>
          <p:cNvSpPr/>
          <p:nvPr/>
        </p:nvSpPr>
        <p:spPr>
          <a:xfrm>
            <a:off x="6309360" y="1600200"/>
            <a:ext cx="5303520" cy="2697480"/>
          </a:xfrm>
          <a:prstGeom prst="roundRect">
            <a:avLst>
              <a:gd name="adj" fmla="val 2712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péchés d'orgueil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240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« Qu'ils ne dominent point sur moi! » (19.14)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97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connus : « que je vois et prémédite » (MacArthur)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La loi : le péché « la main levée » (Nombres 15.30)</a:t>
            </a:r>
            <a:endParaRPr lang="en-US" sz="1500" dirty="0"/>
          </a:p>
        </p:txBody>
      </p:sp>
      <p:sp>
        <p:nvSpPr>
          <p:cNvPr id="13" name="Prière 2"/>
          <p:cNvSpPr/>
          <p:nvPr/>
        </p:nvSpPr>
        <p:spPr>
          <a:xfrm>
            <a:off x="6583680" y="3657600"/>
            <a:ext cx="475488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Prière : « Préserve ton serviteur »</a:t>
            </a:r>
            <a:endParaRPr lang="en-US" sz="1500" dirty="0"/>
          </a:p>
        </p:txBody>
      </p:sp>
      <p:sp>
        <p:nvSpPr>
          <p:cNvPr id="14" name="Vers intègre 1"/>
          <p:cNvSpPr/>
          <p:nvPr/>
        </p:nvSpPr>
        <p:spPr>
          <a:xfrm>
            <a:off x="3200400" y="4315968"/>
            <a:ext cx="1280160" cy="54864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Vers intègre 2"/>
          <p:cNvSpPr/>
          <p:nvPr/>
        </p:nvSpPr>
        <p:spPr>
          <a:xfrm flipH="1">
            <a:off x="7708392" y="4315968"/>
            <a:ext cx="1280160" cy="54864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Intègre"/>
          <p:cNvSpPr/>
          <p:nvPr/>
        </p:nvSpPr>
        <p:spPr>
          <a:xfrm>
            <a:off x="2377440" y="4892040"/>
            <a:ext cx="740664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Alors je serai intègre »  (êtām, 19.14)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même famille que « parfaite » (temîmâ, 19.8) : la loi parfaite rend le serviteur intègre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IV · Le cœur sondé et offert · 19.15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prière offerte comme un sacrifice</a:t>
            </a:r>
            <a:endParaRPr lang="en-US" sz="3000" dirty="0"/>
          </a:p>
        </p:txBody>
      </p:sp>
      <p:sp>
        <p:nvSpPr>
          <p:cNvPr id="4" name="Paroles"/>
          <p:cNvSpPr/>
          <p:nvPr/>
        </p:nvSpPr>
        <p:spPr>
          <a:xfrm>
            <a:off x="548640" y="1691640"/>
            <a:ext cx="301752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paroles de ma bouche</a:t>
            </a:r>
            <a:endParaRPr lang="en-US" sz="1700" dirty="0"/>
          </a:p>
        </p:txBody>
      </p:sp>
      <p:sp>
        <p:nvSpPr>
          <p:cNvPr id="5" name="Sentiments"/>
          <p:cNvSpPr/>
          <p:nvPr/>
        </p:nvSpPr>
        <p:spPr>
          <a:xfrm>
            <a:off x="548640" y="2971800"/>
            <a:ext cx="301752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sentiments de mon cœur</a:t>
            </a:r>
            <a:endParaRPr lang="en-US" sz="1700" dirty="0"/>
          </a:p>
        </p:txBody>
      </p:sp>
      <p:sp>
        <p:nvSpPr>
          <p:cNvPr id="6" name="Paroles vers offrande"/>
          <p:cNvSpPr/>
          <p:nvPr/>
        </p:nvSpPr>
        <p:spPr>
          <a:xfrm>
            <a:off x="3611880" y="2130552"/>
            <a:ext cx="685800" cy="45720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Sentiments vers offrande"/>
          <p:cNvSpPr/>
          <p:nvPr/>
        </p:nvSpPr>
        <p:spPr>
          <a:xfrm flipV="1">
            <a:off x="3611880" y="2953512"/>
            <a:ext cx="685800" cy="45720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8" name="Offrande"/>
          <p:cNvSpPr/>
          <p:nvPr/>
        </p:nvSpPr>
        <p:spPr>
          <a:xfrm>
            <a:off x="4343400" y="1828800"/>
            <a:ext cx="3383280" cy="1874520"/>
          </a:xfrm>
          <a:prstGeom prst="roundRect">
            <a:avLst>
              <a:gd name="adj" fmla="val 3902"/>
            </a:avLst>
          </a:prstGeom>
          <a:solidFill>
            <a:schemeClr val="accent3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Reçois favorablement »</a:t>
            </a:r>
            <a:endParaRPr lang="en-US" sz="19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lerāṣôn : l'agrément d'un sacrifice (BDB; Exode 28.38)</a:t>
            </a:r>
            <a:endParaRPr lang="en-US" sz="1900" dirty="0"/>
          </a:p>
        </p:txBody>
      </p:sp>
      <p:sp>
        <p:nvSpPr>
          <p:cNvPr id="9" name="Offrande vers l'Éternel"/>
          <p:cNvSpPr/>
          <p:nvPr/>
        </p:nvSpPr>
        <p:spPr>
          <a:xfrm>
            <a:off x="7772400" y="2761488"/>
            <a:ext cx="457200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'Éternel"/>
          <p:cNvSpPr/>
          <p:nvPr/>
        </p:nvSpPr>
        <p:spPr>
          <a:xfrm>
            <a:off x="8366760" y="1508760"/>
            <a:ext cx="2743200" cy="25146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 Éternel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mon rocher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mon rédempteur</a:t>
            </a:r>
            <a:endParaRPr lang="en-US" sz="2200" dirty="0"/>
          </a:p>
        </p:txBody>
      </p:sp>
      <p:sp>
        <p:nvSpPr>
          <p:cNvPr id="11" name="Josué 1.8"/>
          <p:cNvSpPr/>
          <p:nvPr/>
        </p:nvSpPr>
        <p:spPr>
          <a:xfrm>
            <a:off x="548640" y="4343400"/>
            <a:ext cx="5394960" cy="1783080"/>
          </a:xfrm>
          <a:prstGeom prst="roundRect">
            <a:avLst>
              <a:gd name="adj" fmla="val 4103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480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Josué 1.8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920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« Que ce livre de la loi ne s'éloigne point de ta bouche; médite-le jour et nuit » : les paroles et les pensées agréées sont celles que nourrit la loi (MacArthur, 90-341).</a:t>
            </a:r>
            <a:endParaRPr lang="en-US" sz="1500" dirty="0"/>
          </a:p>
        </p:txBody>
      </p:sp>
      <p:sp>
        <p:nvSpPr>
          <p:cNvPr id="14" name="Rédempteur"/>
          <p:cNvSpPr/>
          <p:nvPr/>
        </p:nvSpPr>
        <p:spPr>
          <a:xfrm>
            <a:off x="6217920" y="4343400"/>
            <a:ext cx="5394960" cy="1783080"/>
          </a:xfrm>
          <a:prstGeom prst="roundRect">
            <a:avLst>
              <a:gd name="adj" fmla="val 4103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4480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Le rédempteur (gōʾēl)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8920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 proche parent qui rachète ce que son frère a perdu (Lévitique 25.25). Dieu est nommé refuge et défenseur, non accusateur ni juge (Kidner).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Conclusion et appel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faut retenir</a:t>
            </a:r>
            <a:endParaRPr lang="en-US" sz="3000" dirty="0"/>
          </a:p>
        </p:txBody>
      </p:sp>
      <p:sp>
        <p:nvSpPr>
          <p:cNvPr id="4" name="Soleil conclusion anneau externe"/>
          <p:cNvSpPr/>
          <p:nvPr/>
        </p:nvSpPr>
        <p:spPr>
          <a:xfrm>
            <a:off x="619963" y="1991563"/>
            <a:ext cx="1228954" cy="1228954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5" name="Soleil conclusion anneau"/>
          <p:cNvSpPr/>
          <p:nvPr/>
        </p:nvSpPr>
        <p:spPr>
          <a:xfrm>
            <a:off x="780898" y="2152498"/>
            <a:ext cx="907085" cy="907085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6" name="Soleil conclusion"/>
          <p:cNvSpPr/>
          <p:nvPr/>
        </p:nvSpPr>
        <p:spPr>
          <a:xfrm>
            <a:off x="941832" y="2313432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Livre conclusion page gauche"/>
          <p:cNvSpPr/>
          <p:nvPr/>
        </p:nvSpPr>
        <p:spPr>
          <a:xfrm>
            <a:off x="10195560" y="2331720"/>
            <a:ext cx="406908" cy="538582"/>
          </a:xfrm>
          <a:prstGeom prst="roundRect">
            <a:avLst>
              <a:gd name="adj" fmla="val 11236"/>
            </a:avLst>
          </a:prstGeom>
          <a:solidFill>
            <a:schemeClr val="bg1"/>
          </a:solidFill>
          <a:ln/>
        </p:spPr>
      </p:sp>
      <p:sp>
        <p:nvSpPr>
          <p:cNvPr id="8" name="Livre conclusion page droite"/>
          <p:cNvSpPr/>
          <p:nvPr/>
        </p:nvSpPr>
        <p:spPr>
          <a:xfrm>
            <a:off x="10657332" y="2331720"/>
            <a:ext cx="406908" cy="538582"/>
          </a:xfrm>
          <a:prstGeom prst="roundRect">
            <a:avLst>
              <a:gd name="adj" fmla="val 11236"/>
            </a:avLst>
          </a:prstGeom>
          <a:solidFill>
            <a:schemeClr val="bg1"/>
          </a:solidFill>
          <a:ln/>
        </p:spPr>
      </p:sp>
      <p:sp>
        <p:nvSpPr>
          <p:cNvPr id="9" name="Livre conclusion ligne g1"/>
          <p:cNvSpPr/>
          <p:nvPr/>
        </p:nvSpPr>
        <p:spPr>
          <a:xfrm>
            <a:off x="10256368" y="2459954"/>
            <a:ext cx="29535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0" name="Livre conclusion ligne d1"/>
          <p:cNvSpPr/>
          <p:nvPr/>
        </p:nvSpPr>
        <p:spPr>
          <a:xfrm>
            <a:off x="10708081" y="2459954"/>
            <a:ext cx="29535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Livre conclusion ligne g2"/>
          <p:cNvSpPr/>
          <p:nvPr/>
        </p:nvSpPr>
        <p:spPr>
          <a:xfrm>
            <a:off x="10256368" y="2588187"/>
            <a:ext cx="29535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Livre conclusion ligne d2"/>
          <p:cNvSpPr/>
          <p:nvPr/>
        </p:nvSpPr>
        <p:spPr>
          <a:xfrm>
            <a:off x="10708081" y="2588187"/>
            <a:ext cx="29535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Livre conclusion ligne g3"/>
          <p:cNvSpPr/>
          <p:nvPr/>
        </p:nvSpPr>
        <p:spPr>
          <a:xfrm>
            <a:off x="10256368" y="2716421"/>
            <a:ext cx="29535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4" name="Livre conclusion ligne d3"/>
          <p:cNvSpPr/>
          <p:nvPr/>
        </p:nvSpPr>
        <p:spPr>
          <a:xfrm>
            <a:off x="10708081" y="2716421"/>
            <a:ext cx="295351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Livre conclusion reliure"/>
          <p:cNvSpPr/>
          <p:nvPr/>
        </p:nvSpPr>
        <p:spPr>
          <a:xfrm>
            <a:off x="10602468" y="2295144"/>
            <a:ext cx="54864" cy="61173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94560" y="173736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cieux suffisent à condamner;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suffit à sauver.</a:t>
            </a:r>
            <a:endParaRPr lang="en-US" sz="3600" dirty="0"/>
          </a:p>
        </p:txBody>
      </p:sp>
      <p:sp>
        <p:nvSpPr>
          <p:cNvPr id="17" name="Appel 1"/>
          <p:cNvSpPr/>
          <p:nvPr/>
        </p:nvSpPr>
        <p:spPr>
          <a:xfrm>
            <a:off x="54864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977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À l'incroyant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480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ciel vous a déjà parlé, et vous a laissé sans excuse. Dieu a donné plus qu'un ciel : une Parole, et en elle un Rédempteur. Écoutez la Parole qui restaure l'âme.</a:t>
            </a:r>
            <a:endParaRPr lang="en-US" sz="1800" dirty="0"/>
          </a:p>
        </p:txBody>
      </p:sp>
      <p:sp>
        <p:nvSpPr>
          <p:cNvPr id="20" name="Appel 2"/>
          <p:cNvSpPr/>
          <p:nvPr/>
        </p:nvSpPr>
        <p:spPr>
          <a:xfrm>
            <a:off x="621792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3977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Au croyant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480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Cessez de chercher ailleurs ce que la Parole vous donne. Désirez-la plus que l'or, laissez-la sonder vos fautes cachées, offrez à Dieu vos paroles et vos pensées.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eil levant anneau externe"/>
          <p:cNvSpPr/>
          <p:nvPr/>
        </p:nvSpPr>
        <p:spPr>
          <a:xfrm>
            <a:off x="4658868" y="5509260"/>
            <a:ext cx="2880360" cy="2880360"/>
          </a:xfrm>
          <a:prstGeom prst="ellips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3" name="Soleil levant anneau"/>
          <p:cNvSpPr/>
          <p:nvPr/>
        </p:nvSpPr>
        <p:spPr>
          <a:xfrm>
            <a:off x="5036058" y="5886450"/>
            <a:ext cx="2125980" cy="212598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4" name="Soleil levant"/>
          <p:cNvSpPr/>
          <p:nvPr/>
        </p:nvSpPr>
        <p:spPr>
          <a:xfrm>
            <a:off x="5413248" y="62636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1097280" y="1371600"/>
            <a:ext cx="9966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Reçois favorablement les paroles de ma bouche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les sentiments de mon cœur,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 Éternel, mon rocher et mon rédempteur! »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Psaume 19.15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ir et orange brûlé">
  <a:themeElements>
    <a:clrScheme name="Noir et orange brûlé">
      <a:dk1>
        <a:srgbClr val="0E0D0C"/>
      </a:dk1>
      <a:lt1>
        <a:srgbClr val="F5EFE6"/>
      </a:lt1>
      <a:dk2>
        <a:srgbClr val="1F1C1A"/>
      </a:dk2>
      <a:lt2>
        <a:srgbClr val="A69C91"/>
      </a:lt2>
      <a:accent1>
        <a:srgbClr val="CC5500"/>
      </a:accent1>
      <a:accent2>
        <a:srgbClr val="E8833A"/>
      </a:accent2>
      <a:accent3>
        <a:srgbClr val="8A3A0E"/>
      </a:accent3>
      <a:accent4>
        <a:srgbClr val="2C2724"/>
      </a:accent4>
      <a:accent5>
        <a:srgbClr val="F4B783"/>
      </a:accent5>
      <a:accent6>
        <a:srgbClr val="5C534C"/>
      </a:accent6>
      <a:hlink>
        <a:srgbClr val="E8833A"/>
      </a:hlink>
      <a:folHlink>
        <a:srgbClr val="A69C91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Psaume 19 : Les cieux parlent, la Parole transforme</dc:title>
  <dc:subject>PptxGenJS Presentation</dc:subject>
  <dc:creator>André-Guy Bruneau</dc:creator>
  <cp:lastModifiedBy>André-Guy Bruneau</cp:lastModifiedBy>
  <cp:revision>1</cp:revision>
  <dcterms:created xsi:type="dcterms:W3CDTF">2026-10-03T16:57:51Z</dcterms:created>
  <dcterms:modified xsi:type="dcterms:W3CDTF">2026-10-03T16:57:51Z</dcterms:modified>
</cp:coreProperties>
</file>