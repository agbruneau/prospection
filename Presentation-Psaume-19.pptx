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e73308b-331f-8530-73cb-97906b768366}">
          <p14:sldIdLst>
            <p14:sldId id="256"/>
            <p14:sldId id="257"/>
            <p14:sldId id="258"/>
            <p14:sldId id="259"/>
          </p14:sldIdLst>
        </p14:section>
        <p14:section name="I. Le ciel qui parle" id="{b128673a-6448-f014-1391-e37fc41f15e3}">
          <p14:sldIdLst>
            <p14:sldId id="260"/>
            <p14:sldId id="261"/>
          </p14:sldIdLst>
        </p14:section>
        <p14:section name="II. La Parole qui suffit" id="{edf6b329-f805-7e60-afe7-3ce14d42b25d}">
          <p14:sldIdLst>
            <p14:sldId id="262"/>
            <p14:sldId id="263"/>
            <p14:sldId id="264"/>
            <p14:sldId id="265"/>
          </p14:sldIdLst>
        </p14:section>
        <p14:section name="III. La Parole qu'on désire" id="{3b3dc1a1-9178-2c8d-9e23-e0b398f5627a}">
          <p14:sldIdLst>
            <p14:sldId id="266"/>
          </p14:sldIdLst>
        </p14:section>
        <p14:section name="IV. Le cœur qui s'offre" id="{978bf33d-a206-6fc7-cdb2-c980801854be}">
          <p14:sldIdLst>
            <p14:sldId id="267"/>
            <p14:sldId id="268"/>
          </p14:sldIdLst>
        </p14:section>
        <p14:section name="Conclusion" id="{5ad16ede-654b-61f6-67b9-a79a9b47cd3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Avant de commencer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Lecture publique : </a:t>
            </a:r>
            <a:r>
              <a:rPr lang="fr-CA" sz="1400" dirty="0"/>
              <a:t>Psaume 19 (en entier), avec à l'écran ses trois mouvements (diapositive 2) : le cosmos (19.2-7), l'Écriture (19.8-12), le cœur (19.13-15).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Durée visée : </a:t>
            </a:r>
            <a:r>
              <a:rPr lang="fr-CA" sz="1400" dirty="0"/>
              <a:t>45 minutes.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à faire retenir : </a:t>
            </a:r>
            <a:r>
              <a:rPr lang="fr-CA" sz="1400" dirty="0"/>
              <a:t>Les cieux suffisent à condamner; la Parole suffit à sauver.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But : </a:t>
            </a:r>
            <a:r>
              <a:rPr lang="fr-CA" sz="1400" dirty="0"/>
              <a:t>que l'incroyant comprenne que la création le rend inexcusable sans pouvoir le sauver, et qu'il écoute la Parole qui convertit l'âme; que le croyant cesse de chercher ailleurs ce que la Parole lui donne, la désire plus que l'or, la laisse sonder son cœur et offre à Dieu ses paroles et ses pensées.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Citations : </a:t>
            </a:r>
            <a:r>
              <a:rPr lang="fr-CA" sz="1400" dirty="0"/>
              <a:t>NEG79. Les sermons de MacArthur comptent la suscription hors des versets : leurs « versets 7 à 9 » sont les versets 8 à 10 de la NEG79.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Attribuer à MacArthur les propos de Street : les citer sous son nom.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Numérotation : les « versets 7 à 9 » des sermons de MacArthur sont les versets 8 à 10 de la NEG79.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Avant de monter en chaire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Relire à voix haute les citations bibliques dans votre Bible NEG79.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citations de MacArthur sont des traductions de passages relus dans les transcriptions de gty.org. Avant de les prononcer, réécouter ou relire au moins 80-420, 80-308 et TM19-6.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tableau du point II affiche les mots de la NEG79; MacArthur lit « claire » et « nette » : le dire à voix haute.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Préparer à l'écran le tableau des six lignes (diapositive 7) et, pour l'accroche, la photo de la stèle de Hammurabi (diapositive 3).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Chronométrer une répétition : le point II est le plus long; les sous-points I.A et III sont les plus faciles à raccourcir.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Imprimer la version PDF de ce plan.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Sur les diapositives : </a:t>
            </a:r>
            <a:r>
              <a:rPr lang="fr-CA" sz="1400" dirty="0"/>
              <a:t>aucun code de sermon; les sources sont dans ces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2 min · Rappel : 2 Timothée 3.16-17 (sans diapositive)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Lire </a:t>
            </a:r>
            <a:r>
              <a:rPr lang="fr-CA" sz="1400" dirty="0"/>
              <a:t>2 Timothée 3.16-17.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Theopneustos : </a:t>
            </a:r>
            <a:r>
              <a:rPr lang="fr-CA" sz="1400" dirty="0"/>
              <a:t>« soufflée par Dieu ». « Ce que l'Écriture dit, Dieu le dit » (55-17).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Quatre œuvres : </a:t>
            </a:r>
            <a:r>
              <a:rPr lang="fr-CA" sz="1400" dirty="0"/>
              <a:t>enseigner, convaincre, corriger, instruire dans la justice; pour que l'homme de Dieu soit propre non à la plupart des bonnes œuvres, mais à toutes (55-19).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Pont : </a:t>
            </a:r>
            <a:r>
              <a:rPr lang="fr-CA" sz="1400" dirty="0"/>
              <a:t>un psaume de David dit la même chose dix siècles plus tôt; c'est le texte que MacArthur tient pour le plus grand sur la suffisance de l'Écriture.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Lecture recommandée : </a:t>
            </a:r>
            <a:r>
              <a:rPr lang="fr-CA" sz="1400" dirty="0"/>
              <a:t>Introduction au counseling biblique (Éditions Impact, 2021), chapitre de John Street sur le Psaume 19.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Vue d'ensemble · lecture publique du Psaume 19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À laisser à l'écran </a:t>
            </a:r>
            <a:r>
              <a:rPr lang="fr-CA" sz="1400" dirty="0"/>
              <a:t>pendant la lecture publique du Psaume 19 (en entier) : l'assemblée voit d'avance les trois mouvements du texte.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cosmos (19.2-7) : </a:t>
            </a:r>
            <a:r>
              <a:rPr lang="fr-CA" sz="1400" dirty="0"/>
              <a:t>la révélation générale; le nom court El, la puissance du Créateur (BEM, 19.1-15).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L'Écriture (19.8-12) : </a:t>
            </a:r>
            <a:r>
              <a:rPr lang="fr-CA" sz="1400" dirty="0"/>
              <a:t>la révélation spéciale; l'Éternel, le Dieu de l'alliance. « Six fois, nous avons le nom de l'alliance, l'Éternel, comme source de la Parole de Dieu » (TM19-6).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cœur (19.13-15) : </a:t>
            </a:r>
            <a:r>
              <a:rPr lang="fr-CA" sz="1400" dirty="0"/>
              <a:t>l'application; le cœur sondé, gardé, offert à l'Éternel, son rocher et son rédempteur.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Les quatre points du message </a:t>
            </a:r>
            <a:r>
              <a:rPr lang="fr-CA" sz="1400" dirty="0"/>
              <a:t>s'y logent : I au premier mouvement, II et III au deuxième, IV au troisième. Plan de la BEM : I. Révélation générale (19.2-7); II. Révélation spéciale (19.8-15) : attributs, appréciation,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4 min · Psaume 19.5, 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Accroche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Au Louvre, la stèle du code de Hammurabi montre le roi debout devant Shamash, le dieu-soleil et dieu de la justice, qui lui remet les insignes du pouvoir : la loi du roi se réclame du soleil.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Psaume 19 parle lui aussi du soleil et de la loi; mais il loge le soleil sous une tente que Dieu a dressée (19.5), et il ne place la loi qu'entre les mains de l'Éternel (19.8).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Question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Où allez-vous chercher la vérité qui gouverne votre vie, quand l'angoisse monte ou qu'une décision presse?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Le texte et le parcours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Je pense que c'est le plus grand passage, à lui seul, sur la suffisance de l'Écriture dans toute la Bible » (80-18).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Un seul hymne, deux révélations : </a:t>
            </a:r>
            <a:r>
              <a:rPr lang="fr-CA" sz="1400" dirty="0"/>
              <a:t>le nom court El, la puissance du Créateur (19.2); puis l'Éternel, le Dieu de l'alliance (19.8-15) (BEM, 19.1-15).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Six fois, nous avons le nom de l'alliance, l'Éternel, comme source de la Parole de Dieu » (TM19-6); une septième fois en 19.15.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Plan de la BEM : </a:t>
            </a:r>
            <a:r>
              <a:rPr lang="fr-CA" sz="1400" dirty="0"/>
              <a:t>I. Révélation générale (19.2-7) : proclamation des cieux, importance du soleil. II. Révélation spéciale (19.8-15) : attributs, appréciation, application.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Parcours : </a:t>
            </a:r>
            <a:r>
              <a:rPr lang="fr-CA" sz="1400" dirty="0"/>
              <a:t>le ciel qui parle, la Parole qui suffit, la Parole qu'on désire, le cœur qui s'offre.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9 min (avec la diapositive suivante) · Psaume 19.2-7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la création vous a parlé de Dieu chaque jour de votre vie.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Une proclamation incessante (19.2-5b)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cieux et l'étendue, deux éléments décisifs de la création de Genèse 1 (BEM, 19.2). « Racontent », « manifeste » : la révélation ne s'interrompt jamais (BEM, 19.2); Street y voit une action en cours.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Kavod : </a:t>
            </a:r>
            <a:r>
              <a:rPr lang="fr-CA" sz="1400" dirty="0"/>
              <a:t>la « gloire », c'est d'abord le poids; le ciel nocturne fait sentir le poids de Dieu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Bouillonner : </a:t>
            </a:r>
            <a:r>
              <a:rPr lang="fr-CA" sz="1400" dirty="0"/>
              <a:t>le jour « en instruit » un autre; le verbe veut dire bouillonner, la révélation jaillit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Sans paroles, et pourtant partout (19.4-5) : </a:t>
            </a:r>
            <a:r>
              <a:rPr lang="fr-CA" sz="1400" dirty="0"/>
              <a:t>la contradiction n'est qu'apparente, le message ne passe pas par des mots au sens littéral (BEM, 19.3-4). Paul cite le verset 5 en Romains 10.18.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Un soleil qui n'est pas un dieu (19.5c-7)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L'époux qui sort de sa chambre, le héros qui court sa carrière : régularité, puissance, détermination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Ni le soleil ni les cieux ne sont divinisés, comme dans les religions païennes : Dieu est le créateur et le chef de toute la création (BEM, 19.5c-7). Retour à l'accroche.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Rien ne se dérobe à sa chaleur » (19.7) : nul ne peut fuir ce message (Street).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I.C · Assez pour condamner, jamais pour sauver (Romains 1.18-20)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témoignage est clair et cohérent, mais l'humanité pécheresse lui résiste; il ne peut donc pas convertir, mais il rend entièrement responsable (BEM, 19.2-7).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Quand ils étouffent la vérité de Dieu, ils sont sans excuse, et cette révélation suffit à condamner le monde à l'enfer » (80-420).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Selon Romains 1, on peut connaître sa divinité et sa puissance en regardant la création. Ce qu'on ne peut pas connaître, c'est la sagesse qui sauve » (TM19-6).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La révélation de Dieu dans le monde : assez pour condamner, assez pour damner. La révélation dans la Parole : suffisante pour sauver, suffisante pour sauver » (80-420).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Personne n'est un incroyant innocent : les cieux ont parlé à chacun. « Je trouve Dieu dans la nature » ne suffit pas, car le cœur retient la vérité captive (Romains 1.18).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croyant adore devant le ciel étoilé, mais ne lui demande ni le salut ni la direction de son âme.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Le psalmiste passe du monde à la Parole au verset 7 » (80-420; verset 8 de la NEG79), et El devient l'Éternel. Où entendre la sagesse qui sauve?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Traiter les versets 2 à 7 comme une simple introduction poétique, ou, à l'inverse, comme une révélation qui sauve : elle rend inexcusable, sans convertir (BEM, 19.2-7).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Oublier la résistance du cœur pécheur : le problème n'est pas que la création soit obscure, mais que l'homme retient la vérité captive.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13 min (avec les trois diapositives suivantes) · Psaume 19.8-10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il ne manque rien à la Parole, et il ne manque rien à celui qu'elle instruit.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cadre : </a:t>
            </a:r>
            <a:r>
              <a:rPr lang="fr-CA" sz="1400" dirty="0"/>
              <a:t>six titres, six qualités, six bienfaits (80-19; 80-308); « six fois, nous avons le nom de l'alliance, l'Éternel, comme source de la Parole de Dieu » (TM19-6).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Ce que désigne chaque titre : </a:t>
            </a:r>
            <a:r>
              <a:rPr lang="fr-CA" sz="1400" dirty="0"/>
              <a:t>la loi, l'enseignement (BEM, 19.8); le témoignage, qui témoigne de son auteur divin (BEM, 19.8); les ordonnances, moyens par lesquels Dieu gouverne (BEM, 19.9); les commandements, qui lient; la crainte, l'Écriture comme guide pour l'adoration (BEM, 19.10); les jugements, verdicts de Dieu (BEM, 19.10).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Lecture de MacArthur : </a:t>
            </a:r>
            <a:r>
              <a:rPr lang="fr-CA" sz="1400" dirty="0"/>
              <a:t>parfaite, sûre, droite, claire, nette, vraie (80-308). Le tableau affiche les mots de la NEG79; dire à voix haute « claire » et « nette ».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Montrer </a:t>
            </a:r>
            <a:r>
              <a:rPr lang="fr-CA" sz="1400" dirty="0"/>
              <a:t>que le bienfait découle chaque fois de la qualité : parce qu'elle est complète, elle restaure; parce qu'elle est sûre, elle rend sage; et ainsi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II.A · Restaure l'âme (19.8a)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Restaure l'âme » : « une instruction divine si complète qu'elle peut transformer totalement l'homme intérieur tout entier » (80-420).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C'est « une déclaration d'une portée immense sur le pouvoir de la Bible de convertir, de transformer, de régénérer par l'œuvre de l'Esprit de Dieu au moyen de son propre témoignage » (80-308).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Meshivat nephesh : </a:t>
            </a:r>
            <a:r>
              <a:rPr lang="fr-CA" sz="1400" dirty="0"/>
              <a:t>le verbe shouv, à la forme causative, veut dire faire revenir, ramener; il couvre ranimer, restaurer, convertir. MacArthur comprend nephesh comme la personne entière, l'être intérieur (80-19; 80-420).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montrer : </a:t>
            </a:r>
            <a:r>
              <a:rPr lang="fr-CA" sz="1400" dirty="0"/>
              <a:t>la S21 dit « donne du réconfort »; la Parole fait bien plus que consoler.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Street </a:t>
            </a:r>
            <a:r>
              <a:rPr lang="fr-CA" sz="1400" dirty="0"/>
              <a:t>rapproche Hébreux 4.12 : la Parole juge les pensées et les intentions du cœur.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Affaiblir « restaure l'âme » en simple réconfort : c'est la conversion et la transformation de la personne entière (80-308).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Elle est complète et transforme (19.8a)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« loi » serait mieux rendue par « enseignement » (BEM, 19.8; cf. Psaume 1.2).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Parfaite » (tamim) : « non pas au sens d'irréprochable, bien que ce soit absolument vrai, mais au sens de complétude » (80-308). « On ne peut rien lui retrancher; on ne peut rien lui ajouter » (80-420).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La Bible est complète, elle est parfaite en ce qu'elle fournit tout ce qu'il faut pour connaître la loi de Dieu, ce qui produit le bienfait de transformer totalement l'âme » (80-250).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Restaure l'âme » : voir la diapositive précédente (80-420; 80-308; S21; Hébreux 4.12).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Elle est sûre et claire (19.8b-9)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« témoignage » témoigne de son auteur divin (BEM, 19.8). « Il est fiable, digne de confiance. Et il y a beaucoup de livres dans le monde auxquels on ne peut pas se fier » (80-308).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Pierre, témoin de la transfiguration, tient la Parole pour plus sûre que ce qu'il a vu (2 Pierre 1.16-19; 80-250).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L'Écriture prend le naïf, l'inexpérimenté, l'homme sans discernement, le mal informé, et lui apporte la sagesse » (80-19). « Sage » (chakam) : « maîtriser l'art de vivre, vivre en parfait accord avec la connaissance de Dieu » (80-250).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« ordonnances », moyens par lesquels Dieu gouverne (BEM, 19.9) : « La Parole n'est pas seulement une lampe à nos pieds qui éclaire le sentier, la Parole est le sentier » (80-250).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« commandements » lient; MacArthur les lit « clairs » (S21 : « clairs »; NEG79 : « purs ») (80-308; TM19-6).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C. Elle est pure et vraie (19.10)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« crainte » : l'Écriture comme « guide pour l'adoration de Dieu » (BEM, 19.10); « La Bible est un manuel du culte; elle vous dit comment adorer le Seigneur en esprit et en vérité » (80-308).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Nette, « sans tache, sans défaut » (80-308), elle « subsiste à toujours » : jamais besoin de mise à jour (80-19).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« jugements », verdicts de Dieu (BEM, 19.10) : « Il est vrai. Je ne saurais trop insister. Dans un monde de mensonges, dans un monde de tromperie, il est vrai; il est absolument, sans équivoque, vrai » (80-308).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Synthèse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Parole « fournit tout ce qu'il faut » (80-250) : toute l'Écriture rend l'homme de Dieu accompli (2 Timothée 3.16-17). Retour au Rappel.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Réduire « parfaite » à « sans défaut » : MacArthur y entend d'abord la complétude (80-308).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Isoler la « crainte » de la liste : c'est l'Écriture comme guide de l'adoration.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En 1985, MacArthur passait en revue ce qui tient lieu de Parole dans l'Église : techniques de gestion, divertissement, mysticisme, psychologie, visualisation, confession positive (80-18).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Street : </a:t>
            </a:r>
            <a:r>
              <a:rPr lang="fr-CA" sz="1400" dirty="0"/>
              <a:t>la révélation générale n'autorise pas à chercher hors de l'Écriture l'autorité sur les problèmes de l'âme; ce serait ajouter à la Parole (Proverbes 30.5-6).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Question : </a:t>
            </a:r>
            <a:r>
              <a:rPr lang="fr-CA" sz="1400" dirty="0"/>
              <a:t>vers quoi vous tournez-vous en premier quand votre âme est troublée?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Faire de la suffisance un mépris des sciences : Street reconnaît les bienfaits de la révélation naturelle en sciences et en médecine; la suffisance vise le domaine de l'âme.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Si la Parole est tout cela, que vaut-elle à nos yeux?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5 min · Psaume 19.11-12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ce que vous désirez le plus révèle ce que vous estimez le plus.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Plus précieuse que l'or affiné (paz), plus douce que le miel des rayons (nopheth tsouphim, le miel qui s'égoutte du rayon) (19.11) : </a:t>
            </a:r>
            <a:r>
              <a:rPr lang="fr-CA" sz="1400" dirty="0"/>
              <a:t>« L'or, dans l'Antiquité, était le bien suprême d'ici-bas »; « le délice des délices, en ce temps-là, c'était le miel » (80-251). Le plus grand bien qu'on puisse posséder, le plus grand plaisir qu'on puisse goûter (80-19; TM19-6).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Elle avertit (19.12) : </a:t>
            </a:r>
            <a:r>
              <a:rPr lang="fr-CA" sz="1400" dirty="0"/>
              <a:t>« La Parole de Dieu est pleine d'avertissements. Et celui qui la connaît est dûment averti » (80-251). La KJF dit « est averti ».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Une récompense grande : </a:t>
            </a:r>
            <a:r>
              <a:rPr lang="fr-CA" sz="1400" dirty="0"/>
              <a:t>« La vraie récompense n'est pas ici et maintenant », ni la confession positive ni la visualisation de ce qu'on veut tout de suite (80-19). « L'hébreu se lit littéralement ainsi : en les gardant, il y a la fin. La fin » (80-251).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La douceur se goûte dans le respect : </a:t>
            </a:r>
            <a:r>
              <a:rPr lang="fr-CA" sz="1400" dirty="0"/>
              <a:t>les noms mêmes de la Parole commandent de l'aborder avec le plus grand respect, non avec désinvolture (Street).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Votre agenda dit ce qui est votre or. Si la Parole vous paraît fade, le diagnostic porte sur le cœur, non sur la Bible : demandez à Dieu de vous la rendre douce.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Lire « la récompense est grande » comme une prospérité terrestre (80-19; 80-251).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Parole qui éclaire les yeux tourne alors sa lumière vers le cœur du psalmiste.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8 min (avec la diapositive suivante) · Psaume 19.13-15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la Parole qui me montre mon péché me conduit à mon Rédempteur.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Les fautes que je ne vois pas (19.13)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Qui connaît ses égarements? » Réponse : personne, sans la Parole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Égarements : </a:t>
            </a:r>
            <a:r>
              <a:rPr lang="fr-CA" sz="1400" dirty="0"/>
              <a:t>péchés d'ignorance (TM19-6), non intentionnels, ceux pour lesquels la loi prévoyait un sacrifice (BEM, 19.13-14; Lévitique 4).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MacArthur lit « acquitte-moi des fautes cachées » (80-251; 80-308); la NEG79 dit « pardonne-moi », la KJF « nettoie-moi ».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Les fautes que je vois (19.14)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Les égarements sont des péchés d'ignorance. Les péchés présomptueux sont des péchés délibérés. La grande transgression est la rébellion ouverte » (TM19-6). David prie de ne jamais aller jusqu'à se détourner du Seigneur (80-251).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NEG79 dit « des orgueilleux »; la KJF, « des péchés présomptueux » : ceux que je vois, prémédite et planifie (80-19).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loi distinguait le péché par inadvertance, qui avait son sacrifice, et le péché commis par défi, qui n'en avait pas (Nombres 15.30-31); la BEM renvoie à Nombres 15.22ss (19.13-14).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Qu'ils ne dominent point sur moi! » : les péchés connus asservissent celui qui les commet en sachant que ce sont des péchés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Ce n'est pas du scrupule : c'est l'attitude d'un disciple mûr que la grâce et les ressources de Dieu amènent à reconnaître et à combattre ses péchés (BEM, 19.13-14).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Lire « des orgueilleux » (NEG79) comme des ennemis extérieurs, au détriment des péchés présomptueux.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C. Les paroles et le cœur offerts (19.15)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Reçois favorablement (leratson) : </a:t>
            </a:r>
            <a:r>
              <a:rPr lang="fr-CA" sz="1400" dirty="0"/>
              <a:t>un terme souvent associé à l'acceptation des sacrifices; David dépose sur l'autel le sacrifice de ses lèvres et de sa vie (BEM, 19.15). Il ne promet pas de se corriger par ses propres forces : il demande à Dieu la grâce et les capacités nécessaires (BEM, 19.15).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Bouche et méditation : </a:t>
            </a:r>
            <a:r>
              <a:rPr lang="fr-CA" sz="1400" dirty="0"/>
              <a:t>l'écho de Josué 1.8, la loi méditée jour et nuit (BEM, 19.15; TM19-6; 80-251).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Mon rocher et mon rédempteur : </a:t>
            </a:r>
            <a:r>
              <a:rPr lang="fr-CA" sz="1400" dirty="0"/>
              <a:t>le goel, le parent proche qui paie pour racheter (Lévitique 25.25). Il conduit à Christ, qui s'est donné pour nous racheter de toute iniquité (Tite 2.14); par lui, nous offrons à Dieu le sacrifice de louange, le fruit de nos lèvres (Hébreux 13.15).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Demandez à Dieu de vous sonder (Psaume 139.23-24), confessez les fautes qu'il vous montre et nommez le péché qui vous domine.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péché est le problème principal, non le seul : les faiblesses du corps et le péché des autres pèsent aussi (Street).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Quand la Parole fait son œuvre, on marche sans culpabilité, « intègre » (19.14).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Prêcher les versets 13 et 14 comme un appel à l'introspection anxieuse ou à l'effort moral : c'est la grâce qui rend le disciple lucide et combatif.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Finir sur le péché sans le Rédempteur : le psaume s'achève sur la grâce.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4 min · Romains 10.17; Psaume 19.15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Récapitulation : </a:t>
            </a:r>
            <a:r>
              <a:rPr lang="fr-CA" sz="1400" dirty="0"/>
              <a:t>le ciel qui parle, assez pour condamner; la Parole qui suffit, assez pour sauver; la Parole qu'on désire plus que l'or; le cœur qui s'offre à son Rédempteur.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Rédempteur a un nom : </a:t>
            </a:r>
            <a:r>
              <a:rPr lang="fr-CA" sz="1400" dirty="0"/>
              <a:t>Dieu qui a parlé autrefois par les prophètes nous a parlé en son Fils (Hébreux 1.1-2). « Personne ne peut être sauvé, régénéré, né de nouveau sans comprendre la Parole de Dieu, en particulier la Parole de Dieu concernant la personne de Jésus-Christ » (GTY143; Romains 10.17).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À l'incroyant : </a:t>
            </a:r>
            <a:r>
              <a:rPr lang="fr-CA" sz="1400" dirty="0"/>
              <a:t>les cieux vous ont parlé toute votre vie, et vous êtes sans excuse. Aujourd'hui, la Parole vous parle du Rédempteur : repentez-vous, croyez en Christ et soumettez-vous à lui comme Seigneur.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Au croyant : </a:t>
            </a:r>
            <a:r>
              <a:rPr lang="fr-CA" sz="1400" dirty="0"/>
              <a:t>ne cherchez pas ailleurs ce que la Parole vous donne. Désirez-la, laissez-la vous sonder, offrez-vous à Dieu. « Dans votre cœur, en ce moment, pouvez-vous prendre devant le Seigneur un engagement renouvelé à vous vouer à sa Parole? » (80-19).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Prière · Psaume 19.15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Prier ensemble le verset 15, lentement, à voix haute.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Échos du message : </a:t>
            </a:r>
            <a:r>
              <a:rPr lang="fr-CA" sz="1400" dirty="0"/>
              <a:t>les paroles de la bouche et les sentiments du cœur offerts comme un sacrifice (IV); l'Éternel, rocher et rédempteur, que le Nouveau Testament nomme en Christ (Tite 2.14).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CLUSION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0D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on" descr="Médaillon rayonnant : le ciel étoilé et le soleil au-dessus d'un livre ouv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22960"/>
            <a:ext cx="5212080" cy="5212080"/>
          </a:xfrm>
          <a:prstGeom prst="rect">
            <a:avLst/>
          </a:prstGeom>
        </p:spPr>
      </p:pic>
      <p:sp>
        <p:nvSpPr>
          <p:cNvPr id="3" name="Repère"/>
          <p:cNvSpPr txBox="1"/>
          <p:nvPr/>
        </p:nvSpPr>
        <p:spPr>
          <a:xfrm>
            <a:off x="73152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PRÉDICATION · PSAUME 19</a:t>
            </a:r>
            <a:endParaRPr lang="fr-CA" sz="1400" dirty="0"/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1645920"/>
            <a:ext cx="6035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fr-CA" altLang="en-US" sz="4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ciel qui parle</a:t>
            </a:r>
            <a:endParaRPr lang="fr-CA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fr-CA" altLang="en-US" sz="4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Parole</a:t>
            </a:r>
            <a:endParaRPr lang="fr-CA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fr-CA" altLang="en-US" sz="4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suffit</a:t>
            </a:r>
            <a:endParaRPr lang="fr-CA" sz="4800" dirty="0"/>
          </a:p>
        </p:txBody>
      </p:sp>
      <p:sp>
        <p:nvSpPr>
          <p:cNvPr id="5" name="Passage"/>
          <p:cNvSpPr txBox="1"/>
          <p:nvPr/>
        </p:nvSpPr>
        <p:spPr>
          <a:xfrm>
            <a:off x="73152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fr-CA" altLang="en-US" sz="26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 19</a:t>
            </a:r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la suffisance de l'Écriture</a:t>
            </a:r>
            <a:endParaRPr lang="fr-CA" sz="2600" dirty="0"/>
          </a:p>
        </p:txBody>
      </p:sp>
      <p:sp>
        <p:nvSpPr>
          <p:cNvPr id="6" name="Verset"/>
          <p:cNvSpPr txBox="1"/>
          <p:nvPr/>
        </p:nvSpPr>
        <p:spPr>
          <a:xfrm>
            <a:off x="731520" y="4526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fr-CA" altLang="en-US" sz="1800" i="1" dirty="0">
                <a:solidFill>
                  <a:srgbClr val="C9B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La loi de l'Éternel est parfaite, elle restaure l'âme; le témoignage de l'Éternel est véritable, il rend sage l'ignorant. »</a:t>
            </a:r>
            <a:endParaRPr lang="fr-CA" sz="1800" dirty="0"/>
          </a:p>
          <a:p>
            <a:pPr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</a:t>
            </a:r>
            <a:endParaRPr lang="fr-CA" sz="1800" dirty="0"/>
          </a:p>
        </p:txBody>
      </p:sp>
      <p:sp>
        <p:nvSpPr>
          <p:cNvPr id="7" name="Prédicateur"/>
          <p:cNvSpPr txBox="1"/>
          <p:nvPr/>
        </p:nvSpPr>
        <p:spPr>
          <a:xfrm>
            <a:off x="731520" y="612099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André-Guy Bruneau</a:t>
            </a:r>
            <a:endParaRPr lang="fr-CA" sz="1600" dirty="0"/>
          </a:p>
        </p:txBody>
      </p:sp>
      <p:grpSp>
        <p:nvGrpSpPr>
          <p:cNvPr id="1000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8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9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0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1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2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3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4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5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6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7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8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19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0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1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2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· PSAUME 19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mouvements, un seul Dieu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Dieu qui parle dans le ciel parle dans sa Parole, et conduit le cœur à s'offrir</a:t>
            </a:r>
            <a:endParaRPr lang="fr-CA" sz="1900" dirty="0"/>
          </a:p>
        </p:txBody>
      </p:sp>
      <p:sp>
        <p:nvSpPr>
          <p:cNvPr id="5" name="Fil des mouvements"/>
          <p:cNvSpPr/>
          <p:nvPr/>
        </p:nvSpPr>
        <p:spPr>
          <a:xfrm>
            <a:off x="548640" y="2990088"/>
            <a:ext cx="11091672" cy="0"/>
          </a:xfrm>
          <a:prstGeom prst="line">
            <a:avLst/>
          </a:prstGeom>
          <a:noFill/>
          <a:ln w="19050">
            <a:solidFill>
              <a:srgbClr val="7A3310"/>
            </a:solidFill>
            <a:prstDash val="solid"/>
          </a:ln>
        </p:spPr>
      </p:sp>
      <p:pic>
        <p:nvPicPr>
          <p:cNvPr id="6" name="Mouvement 1" descr="Médaillon : une étoile rayonnante dans le ciel étoil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92808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400" b="1" dirty="0">
                <a:solidFill>
                  <a:srgbClr val="96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CA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2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cosmos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19.2‑7</a:t>
            </a:r>
            <a:endParaRPr lang="fr-C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83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générale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 : la puissance du Créateur</a:t>
            </a:r>
            <a:endParaRPr lang="fr-CA" sz="1600" dirty="0"/>
          </a:p>
        </p:txBody>
      </p:sp>
      <p:sp>
        <p:nvSpPr>
          <p:cNvPr id="10" name="Shape 7"/>
          <p:cNvSpPr/>
          <p:nvPr/>
        </p:nvSpPr>
        <p:spPr>
          <a:xfrm>
            <a:off x="1005840" y="568756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9525">
            <a:solidFill>
              <a:srgbClr val="CC55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5687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Le ciel qui parle</a:t>
            </a:r>
            <a:endParaRPr lang="fr-CA" sz="1300" dirty="0"/>
          </a:p>
        </p:txBody>
      </p:sp>
      <p:pic>
        <p:nvPicPr>
          <p:cNvPr id="12" name="Mouvement 2" descr="Médaillon : un rouleau de l'Écriture déployé et rayonn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892808"/>
            <a:ext cx="2194560" cy="21945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1436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400" b="1" dirty="0">
                <a:solidFill>
                  <a:srgbClr val="96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CA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311396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2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L'Écriture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19.8‑12</a:t>
            </a:r>
            <a:endParaRPr lang="fr-CA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311396" y="4983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spéciale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l'Éternel : le Dieu de l'alliance</a:t>
            </a:r>
            <a:endParaRPr lang="fr-CA" sz="1600" dirty="0"/>
          </a:p>
        </p:txBody>
      </p:sp>
      <p:sp>
        <p:nvSpPr>
          <p:cNvPr id="16" name="Shape 12"/>
          <p:cNvSpPr/>
          <p:nvPr/>
        </p:nvSpPr>
        <p:spPr>
          <a:xfrm>
            <a:off x="4768596" y="568756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9525">
            <a:solidFill>
              <a:srgbClr val="CC55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68596" y="5687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La Parole qui suffit</a:t>
            </a:r>
            <a:endParaRPr lang="fr-CA" sz="1300" dirty="0"/>
          </a:p>
        </p:txBody>
      </p:sp>
      <p:sp>
        <p:nvSpPr>
          <p:cNvPr id="18" name="Shape 14"/>
          <p:cNvSpPr/>
          <p:nvPr/>
        </p:nvSpPr>
        <p:spPr>
          <a:xfrm>
            <a:off x="4768596" y="605332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9525">
            <a:solidFill>
              <a:srgbClr val="CC55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68596" y="6053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 Parole qu'on désire</a:t>
            </a:r>
            <a:endParaRPr lang="fr-CA" sz="1300" dirty="0"/>
          </a:p>
        </p:txBody>
      </p:sp>
      <p:pic>
        <p:nvPicPr>
          <p:cNvPr id="20" name="Mouvement 3" descr="Médaillon : un cœur au-dessus de la flamme de l'aut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1892808"/>
            <a:ext cx="2194560" cy="21945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94192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400" b="1" dirty="0">
                <a:solidFill>
                  <a:srgbClr val="96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CA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8074152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2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19.13‑15</a:t>
            </a:r>
            <a:endParaRPr lang="fr-CA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74152" y="4983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fr-CA" sz="1600" dirty="0"/>
          </a:p>
          <a:p>
            <a:pPr algn="ctr" indent="0" marL="0"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sondé, gardé, offert au Rédempteur</a:t>
            </a:r>
            <a:endParaRPr lang="fr-CA" sz="1600" dirty="0"/>
          </a:p>
        </p:txBody>
      </p:sp>
      <p:sp>
        <p:nvSpPr>
          <p:cNvPr id="24" name="Shape 19"/>
          <p:cNvSpPr/>
          <p:nvPr/>
        </p:nvSpPr>
        <p:spPr>
          <a:xfrm>
            <a:off x="8531352" y="568756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9525">
            <a:solidFill>
              <a:srgbClr val="CC550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31352" y="5687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Le cœur qui s'offre</a:t>
            </a:r>
            <a:endParaRPr lang="fr-CA" sz="1300" dirty="0"/>
          </a:p>
        </p:txBody>
      </p:sp>
      <p:grpSp>
        <p:nvGrpSpPr>
          <p:cNvPr id="1001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6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7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8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9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0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1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2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3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4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5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6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8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9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0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PSAUME 19.5, 8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vient la loi?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Babylone la fait se réclamer du dieu-soleil; le Psaume 19 la remet entre les mains de l'Éternel</a:t>
            </a:r>
            <a:endParaRPr lang="fr-CA" sz="1900" dirty="0"/>
          </a:p>
        </p:txBody>
      </p:sp>
      <p:pic>
        <p:nvPicPr>
          <p:cNvPr id="5" name="Photo de la stèle" descr="Photo : partie supérieure de la stèle de Hammurabi (Louvre), le roi debout devant Shamash assis sur son tr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920240"/>
            <a:ext cx="2185416" cy="29169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50292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Stèle de Hammurabi (Louvre)</a:t>
            </a:r>
            <a:endParaRPr lang="fr-CA" sz="1500" dirty="0"/>
          </a:p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roi devant Shamash, le dieu-soleil</a:t>
            </a:r>
            <a:endParaRPr lang="fr-CA" sz="15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fr-CA" altLang="en-US" sz="13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 : Sailko, CC BY 2.5, Wikimedia Commons</a:t>
            </a:r>
            <a:endParaRPr lang="fr-CA" sz="1500" dirty="0"/>
          </a:p>
        </p:txBody>
      </p:sp>
      <p:sp>
        <p:nvSpPr>
          <p:cNvPr id="7" name="Shape 4"/>
          <p:cNvSpPr/>
          <p:nvPr/>
        </p:nvSpPr>
        <p:spPr>
          <a:xfrm>
            <a:off x="4343400" y="224028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8" name="Image 1" descr="Icône : sole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786" y="2353666"/>
            <a:ext cx="340157" cy="34015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93208" y="221284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d'Israël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Shamash, dieu-soleil et dieu de la justice : la loi du roi se réclame de lui.</a:t>
            </a:r>
            <a:endParaRPr lang="fr-CA" sz="1500" dirty="0"/>
          </a:p>
        </p:txBody>
      </p:sp>
      <p:sp>
        <p:nvSpPr>
          <p:cNvPr id="10" name="Shape 6"/>
          <p:cNvSpPr/>
          <p:nvPr/>
        </p:nvSpPr>
        <p:spPr>
          <a:xfrm>
            <a:off x="4343400" y="361188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2" descr="Icône : livre ouv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86" y="3725266"/>
            <a:ext cx="340157" cy="34015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93208" y="358444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 19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soleil loge sous une tente que Dieu a dressée (19.5); la loi est celle de l'Éternel (19.8).</a:t>
            </a:r>
            <a:endParaRPr lang="fr-CA" sz="1500" dirty="0"/>
          </a:p>
        </p:txBody>
      </p:sp>
      <p:pic>
        <p:nvPicPr>
          <p:cNvPr id="13" name="Image 3" descr="Médaillon : le soleil sous une tente, et au-dessus un livre ouvert rayonn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20240"/>
            <a:ext cx="3108960" cy="31089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83880" y="5230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soleil brûle, mais ne légifère pas</a:t>
            </a:r>
            <a:endParaRPr lang="fr-CA" sz="1500" dirty="0"/>
          </a:p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créature sous la tente; la loi est à l'Éternel</a:t>
            </a:r>
            <a:endParaRPr lang="fr-CA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21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allez-vous chercher la vérité qui gouverne votre vie?</a:t>
            </a:r>
            <a:endParaRPr lang="fr-CA" sz="2100" dirty="0"/>
          </a:p>
        </p:txBody>
      </p:sp>
      <p:grpSp>
        <p:nvGrpSpPr>
          <p:cNvPr id="1002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16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7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8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9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0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1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2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3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4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5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6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7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8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29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0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· PSAUME 19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hymne, deux révélations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Dieu parle sans paroles, puis par des paroles qui suffisent</a:t>
            </a:r>
            <a:endParaRPr lang="fr-CA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12700">
            <a:solidFill>
              <a:srgbClr val="6E5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2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19.2‑7</a:t>
            </a:r>
            <a:endParaRPr lang="fr-C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générale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 · El, Dieu de puissance</a:t>
            </a:r>
            <a:endParaRPr lang="fr-CA" sz="1500" dirty="0"/>
          </a:p>
        </p:txBody>
      </p:sp>
      <p:sp>
        <p:nvSpPr>
          <p:cNvPr id="8" name="El 1"/>
          <p:cNvSpPr/>
          <p:nvPr/>
        </p:nvSpPr>
        <p:spPr>
          <a:xfrm>
            <a:off x="4343400" y="2514600"/>
            <a:ext cx="164592" cy="164592"/>
          </a:xfrm>
          <a:prstGeom prst="ellipse">
            <a:avLst/>
          </a:prstGeom>
          <a:solidFill>
            <a:srgbClr val="6E5A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500" b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× 1</a:t>
            </a:r>
            <a:endParaRPr lang="fr-CA" sz="1500" dirty="0"/>
          </a:p>
        </p:txBody>
      </p:sp>
      <p:sp>
        <p:nvSpPr>
          <p:cNvPr id="10" name="Shape 8"/>
          <p:cNvSpPr/>
          <p:nvPr/>
        </p:nvSpPr>
        <p:spPr>
          <a:xfrm>
            <a:off x="4983480" y="1920240"/>
            <a:ext cx="6656832" cy="1600200"/>
          </a:xfrm>
          <a:prstGeom prst="roundRect">
            <a:avLst>
              <a:gd name="adj" fmla="val 6857"/>
            </a:avLst>
          </a:prstGeom>
          <a:solidFill>
            <a:srgbClr val="2A1A10"/>
          </a:solidFill>
          <a:ln w="25400">
            <a:solidFill>
              <a:srgbClr val="E874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2084832"/>
            <a:ext cx="610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2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19.8‑15</a:t>
            </a:r>
            <a:endParaRPr lang="fr-C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395728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spéciale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 · l'Éternel, le Dieu de l'alliance</a:t>
            </a:r>
            <a:endParaRPr lang="fr-CA" sz="1500" dirty="0"/>
          </a:p>
        </p:txBody>
      </p:sp>
      <p:sp>
        <p:nvSpPr>
          <p:cNvPr id="13" name="l'Éternel 1"/>
          <p:cNvSpPr/>
          <p:nvPr/>
        </p:nvSpPr>
        <p:spPr>
          <a:xfrm>
            <a:off x="9747504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4" name="l'Éternel 2"/>
          <p:cNvSpPr/>
          <p:nvPr/>
        </p:nvSpPr>
        <p:spPr>
          <a:xfrm>
            <a:off x="9994392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5" name="l'Éternel 3"/>
          <p:cNvSpPr/>
          <p:nvPr/>
        </p:nvSpPr>
        <p:spPr>
          <a:xfrm>
            <a:off x="10241280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6" name="l'Éternel 4"/>
          <p:cNvSpPr/>
          <p:nvPr/>
        </p:nvSpPr>
        <p:spPr>
          <a:xfrm>
            <a:off x="10488168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7" name="l'Éternel 5"/>
          <p:cNvSpPr/>
          <p:nvPr/>
        </p:nvSpPr>
        <p:spPr>
          <a:xfrm>
            <a:off x="10735056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8" name="l'Éternel 6"/>
          <p:cNvSpPr/>
          <p:nvPr/>
        </p:nvSpPr>
        <p:spPr>
          <a:xfrm>
            <a:off x="10981944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9" name="l'Éternel 7"/>
          <p:cNvSpPr/>
          <p:nvPr/>
        </p:nvSpPr>
        <p:spPr>
          <a:xfrm>
            <a:off x="11228832" y="2514600"/>
            <a:ext cx="164592" cy="164592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20072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5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l'Éternel × 7</a:t>
            </a:r>
            <a:endParaRPr lang="fr-CA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3" name="Image 0" descr="Icône : sol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4045306"/>
            <a:ext cx="340157" cy="34015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81328" y="4005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CA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617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 qui parle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19.2‑7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Proclamation des cieux (19.2‑5b), importance du soleil (19.5c-7)</a:t>
            </a:r>
            <a:endParaRPr lang="fr-CA" sz="1500" dirty="0"/>
          </a:p>
        </p:txBody>
      </p:sp>
      <p:sp>
        <p:nvSpPr>
          <p:cNvPr id="26" name="Shape 23"/>
          <p:cNvSpPr/>
          <p:nvPr/>
        </p:nvSpPr>
        <p:spPr>
          <a:xfrm>
            <a:off x="4983480" y="3749040"/>
            <a:ext cx="2075688" cy="2148840"/>
          </a:xfrm>
          <a:prstGeom prst="roundRect">
            <a:avLst>
              <a:gd name="adj" fmla="val 528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12080" y="39319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8" name="Image 1" descr="Icône : livre ouv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466" y="4045306"/>
            <a:ext cx="340157" cy="34015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916168" y="4005072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fr-CA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5212080" y="46177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 qui suffit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19.8‑10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de la Parole</a:t>
            </a:r>
            <a:endParaRPr lang="fr-CA" sz="1500" dirty="0"/>
          </a:p>
        </p:txBody>
      </p:sp>
      <p:sp>
        <p:nvSpPr>
          <p:cNvPr id="31" name="Shape 27"/>
          <p:cNvSpPr/>
          <p:nvPr/>
        </p:nvSpPr>
        <p:spPr>
          <a:xfrm>
            <a:off x="7274052" y="3749040"/>
            <a:ext cx="2075688" cy="2148840"/>
          </a:xfrm>
          <a:prstGeom prst="roundRect">
            <a:avLst>
              <a:gd name="adj" fmla="val 528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502652" y="39319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33" name="Image 2" descr="Icône : lingots d'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038" y="4045306"/>
            <a:ext cx="340157" cy="34015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206740" y="4005072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fr-CA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7502652" y="46177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 qu'on désire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19.11‑12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</a:t>
            </a:r>
            <a:endParaRPr lang="fr-CA" sz="1500" dirty="0"/>
          </a:p>
        </p:txBody>
      </p:sp>
      <p:sp>
        <p:nvSpPr>
          <p:cNvPr id="36" name="Shape 31"/>
          <p:cNvSpPr/>
          <p:nvPr/>
        </p:nvSpPr>
        <p:spPr>
          <a:xfrm>
            <a:off x="9564624" y="3749040"/>
            <a:ext cx="2075688" cy="2148840"/>
          </a:xfrm>
          <a:prstGeom prst="roundRect">
            <a:avLst>
              <a:gd name="adj" fmla="val 528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793224" y="39319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38" name="Image 3" descr="Icône : cœu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610" y="4045306"/>
            <a:ext cx="340157" cy="340157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0497312" y="4005072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fr-CA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9793224" y="46177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qui s'offre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19.13‑15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fr-CA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6035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Je pense que c'est le plus grand passage, à lui seul, sur la suffisance de l'Écriture dans toute la Bible »  (MacArthur)</a:t>
            </a:r>
            <a:endParaRPr lang="fr-CA" sz="1400" dirty="0"/>
          </a:p>
        </p:txBody>
      </p:sp>
      <p:grpSp>
        <p:nvGrpSpPr>
          <p:cNvPr id="1003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42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3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4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5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6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7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8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9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0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1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2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3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4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5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6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PSAUME 19.2‑7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ciel qui parle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création vous a parlé de Dieu chaque jour de votre vie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pic>
        <p:nvPicPr>
          <p:cNvPr id="9" name="Image 0" descr="La course du soleil dans le ciel étoilé, d'une tente à l'horizon jusqu'à l'autre extrémité des cie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6400800" cy="36027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5577840"/>
            <a:ext cx="1828800" cy="731520"/>
          </a:xfrm>
          <a:prstGeom prst="roundRect">
            <a:avLst>
              <a:gd name="adj" fmla="val 25000"/>
            </a:avLst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577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L'époux et le héros</a:t>
            </a:r>
            <a:endParaRPr lang="fr-CA" sz="1400" dirty="0"/>
          </a:p>
          <a:p>
            <a:pPr algn="ctr" indent="0" marL="0">
              <a:buNone/>
            </a:pPr>
            <a:r>
              <a:rPr lang="fr-CA" altLang="en-US" sz="1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</a:t>
            </a:r>
            <a:endParaRPr lang="fr-CA" sz="1400" dirty="0"/>
          </a:p>
        </p:txBody>
      </p:sp>
      <p:sp>
        <p:nvSpPr>
          <p:cNvPr id="12" name="Shape 9"/>
          <p:cNvSpPr/>
          <p:nvPr/>
        </p:nvSpPr>
        <p:spPr>
          <a:xfrm>
            <a:off x="2468880" y="5577840"/>
            <a:ext cx="1920240" cy="731520"/>
          </a:xfrm>
          <a:prstGeom prst="roundRect">
            <a:avLst>
              <a:gd name="adj" fmla="val 25000"/>
            </a:avLst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0320" y="5577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dieu ni législateur</a:t>
            </a:r>
            <a:endParaRPr lang="fr-CA" sz="1400" dirty="0"/>
          </a:p>
          <a:p>
            <a:pPr algn="ctr" indent="0" marL="0">
              <a:buNone/>
            </a:pPr>
            <a:r>
              <a:rPr lang="fr-CA" altLang="en-US" sz="1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19.5c-7</a:t>
            </a:r>
            <a:endParaRPr lang="fr-CA" sz="1400" dirty="0"/>
          </a:p>
        </p:txBody>
      </p:sp>
      <p:sp>
        <p:nvSpPr>
          <p:cNvPr id="14" name="Shape 11"/>
          <p:cNvSpPr/>
          <p:nvPr/>
        </p:nvSpPr>
        <p:spPr>
          <a:xfrm>
            <a:off x="4480560" y="5577840"/>
            <a:ext cx="2514600" cy="731520"/>
          </a:xfrm>
          <a:prstGeom prst="roundRect">
            <a:avLst>
              <a:gd name="adj" fmla="val 25000"/>
            </a:avLst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5577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se dérobe à sa chaleur</a:t>
            </a:r>
            <a:endParaRPr lang="fr-CA" sz="1400" dirty="0"/>
          </a:p>
          <a:p>
            <a:pPr algn="ctr" indent="0" marL="0">
              <a:buNone/>
            </a:pPr>
            <a:r>
              <a:rPr lang="fr-CA" altLang="en-US" sz="1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</a:t>
            </a:r>
            <a:endParaRPr lang="fr-CA" sz="1400" dirty="0"/>
          </a:p>
        </p:txBody>
      </p:sp>
      <p:sp>
        <p:nvSpPr>
          <p:cNvPr id="16" name="Shape 13"/>
          <p:cNvSpPr/>
          <p:nvPr/>
        </p:nvSpPr>
        <p:spPr>
          <a:xfrm>
            <a:off x="7132320" y="196596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7" name="Image 1" descr="Icône : étoi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706" y="2079346"/>
            <a:ext cx="340157" cy="34015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882128" y="1938528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proclamation incessante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Racontent », « manifeste » : la révélation ne s'interrompt jamais.</a:t>
            </a:r>
            <a:endParaRPr lang="fr-CA" sz="1500" dirty="0"/>
          </a:p>
        </p:txBody>
      </p:sp>
      <p:sp>
        <p:nvSpPr>
          <p:cNvPr id="19" name="Shape 15"/>
          <p:cNvSpPr/>
          <p:nvPr/>
        </p:nvSpPr>
        <p:spPr>
          <a:xfrm>
            <a:off x="7132320" y="306324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0" name="Image 2" descr="Icône : poi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6" y="3176626"/>
            <a:ext cx="340157" cy="34015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882128" y="3035808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gloire, c'est le poids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Kavod : le ciel nocturne fait sentir le poids de Dieu (Street).</a:t>
            </a:r>
            <a:endParaRPr lang="fr-CA" sz="1500" dirty="0"/>
          </a:p>
        </p:txBody>
      </p:sp>
      <p:sp>
        <p:nvSpPr>
          <p:cNvPr id="22" name="Shape 17"/>
          <p:cNvSpPr/>
          <p:nvPr/>
        </p:nvSpPr>
        <p:spPr>
          <a:xfrm>
            <a:off x="7132320" y="41605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3" name="Image 3" descr="Icône : disque moitié clair, moitié sombre : le jour et la nu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706" y="4273906"/>
            <a:ext cx="340157" cy="34015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82128" y="4133088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 en instruit un autre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verbe veut dire bouillonner : la révélation jaillit (Street).</a:t>
            </a:r>
            <a:endParaRPr lang="fr-CA" sz="1500" dirty="0"/>
          </a:p>
        </p:txBody>
      </p:sp>
      <p:sp>
        <p:nvSpPr>
          <p:cNvPr id="25" name="Shape 19"/>
          <p:cNvSpPr/>
          <p:nvPr/>
        </p:nvSpPr>
        <p:spPr>
          <a:xfrm>
            <a:off x="7132320" y="52578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6" name="Image 4" descr="Icône : globe terrest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706" y="5371186"/>
            <a:ext cx="340157" cy="34015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82128" y="5230368"/>
            <a:ext cx="3758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paroles, et partout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mots au sens littéral, mais un message qui atteint toute la terre (Romains 10.18).</a:t>
            </a:r>
            <a:endParaRPr lang="fr-CA" sz="1500" dirty="0"/>
          </a:p>
        </p:txBody>
      </p:sp>
      <p:grpSp>
        <p:nvGrpSpPr>
          <p:cNvPr id="1004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8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9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0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3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4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5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6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8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9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0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1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2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PSAUME 19.2‑7 / ROMAINS 1.18‑20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Assez pour condamner, jamais pour sauver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Ce qu'on ne peut pas connaître, c'est la sagesse qui sauve »  (MacArthur)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394960" cy="2852928"/>
          </a:xfrm>
          <a:prstGeom prst="roundRect">
            <a:avLst>
              <a:gd name="adj" fmla="val 3846"/>
            </a:avLst>
          </a:prstGeom>
          <a:solidFill>
            <a:srgbClr val="1A1411"/>
          </a:solidFill>
          <a:ln w="12700">
            <a:solidFill>
              <a:srgbClr val="6E5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0" descr="Icône : sol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49424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9164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2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générale · sans paroles</a:t>
            </a:r>
            <a:endParaRPr lang="fr-CA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DIVIN</a:t>
            </a:r>
            <a:endParaRPr lang="fr-CA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El, Dieu de puissance</a:t>
            </a:r>
            <a:endParaRPr lang="fr-CA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401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CONNAÎTRE</a:t>
            </a:r>
            <a:endParaRPr lang="fr-CA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puissance et sa divinité</a:t>
            </a:r>
            <a:endParaRPr lang="fr-CA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831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</a:t>
            </a:r>
            <a:endParaRPr lang="fr-CA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l'homme inexcusable</a:t>
            </a:r>
            <a:endParaRPr lang="fr-CA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2611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fr-CA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743200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retient la vérité captive</a:t>
            </a:r>
            <a:endParaRPr lang="fr-CA" sz="1700" dirty="0"/>
          </a:p>
        </p:txBody>
      </p:sp>
      <p:sp>
        <p:nvSpPr>
          <p:cNvPr id="21" name="Shape 18"/>
          <p:cNvSpPr/>
          <p:nvPr/>
        </p:nvSpPr>
        <p:spPr>
          <a:xfrm>
            <a:off x="6245352" y="1920240"/>
            <a:ext cx="5394960" cy="2852928"/>
          </a:xfrm>
          <a:prstGeom prst="roundRect">
            <a:avLst>
              <a:gd name="adj" fmla="val 3846"/>
            </a:avLst>
          </a:prstGeom>
          <a:solidFill>
            <a:srgbClr val="2A1A10"/>
          </a:solidFill>
          <a:ln w="25400">
            <a:solidFill>
              <a:srgbClr val="E874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65392" y="2121408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3" name="Image 1" descr="Icône : livre ouv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49424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88352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2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spéciale · des paroles</a:t>
            </a:r>
            <a:endParaRPr lang="fr-CA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565392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DIVIN</a:t>
            </a:r>
            <a:endParaRPr lang="fr-CA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439912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l'Éternel, Dieu de l'alliance</a:t>
            </a:r>
            <a:endParaRPr lang="fr-CA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6565392" y="3401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CONNAÎTRE</a:t>
            </a:r>
            <a:endParaRPr lang="fr-CA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439912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sagesse qui sauve</a:t>
            </a:r>
            <a:endParaRPr lang="fr-CA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6565392" y="3831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</a:t>
            </a:r>
            <a:endParaRPr lang="fr-CA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439912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 et transforme</a:t>
            </a:r>
            <a:endParaRPr lang="fr-CA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6565392" y="42611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fr-CA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8439912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l'Esprit applique la Parole</a:t>
            </a:r>
            <a:endParaRPr lang="fr-CA" sz="1700" dirty="0"/>
          </a:p>
        </p:txBody>
      </p:sp>
      <p:sp>
        <p:nvSpPr>
          <p:cNvPr id="33" name="Shape 29"/>
          <p:cNvSpPr/>
          <p:nvPr/>
        </p:nvSpPr>
        <p:spPr>
          <a:xfrm>
            <a:off x="548640" y="493776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2960" y="4937760"/>
            <a:ext cx="10543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fr-CA" altLang="en-US" sz="2800" b="1" i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cieux suffisent à condamner; la Parole suffit à sauver.</a:t>
            </a:r>
            <a:endParaRPr lang="fr-CA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La révélation de Dieu dans le monde : assez pour condamner, assez pour damner. La révélation dans la Parole : suffisante pour sauver, suffisante pour sauver » (MacArthur)</a:t>
            </a:r>
            <a:endParaRPr lang="fr-CA" sz="1600" dirty="0"/>
          </a:p>
        </p:txBody>
      </p:sp>
      <p:grpSp>
        <p:nvGrpSpPr>
          <p:cNvPr id="1005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5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6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7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8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9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0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1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2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3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4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5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6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7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8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9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PSAUME 19.8‑10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Parole qui suffit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titres, six qualités, six bienfaits : six fois « l'Éternel »  (MacArthur)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· CE QU'IL DÉSIGNE</a:t>
            </a:r>
            <a:endParaRPr lang="fr-CA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· NEG79 / MACARTHUR</a:t>
            </a:r>
            <a:endParaRPr lang="fr-C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1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BIENFAIT</a:t>
            </a:r>
            <a:endParaRPr lang="fr-CA" sz="1300" dirty="0"/>
          </a:p>
        </p:txBody>
      </p:sp>
      <p:sp>
        <p:nvSpPr>
          <p:cNvPr id="12" name="Ligne 1"/>
          <p:cNvSpPr/>
          <p:nvPr/>
        </p:nvSpPr>
        <p:spPr>
          <a:xfrm>
            <a:off x="548640" y="2194560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1945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l'enseignement</a:t>
            </a:r>
            <a:endParaRPr lang="fr-CA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1945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complète</a:t>
            </a:r>
            <a:endParaRPr lang="fr-CA" sz="1600" dirty="0"/>
          </a:p>
        </p:txBody>
      </p:sp>
      <p:sp>
        <p:nvSpPr>
          <p:cNvPr id="15" name="Shape 13"/>
          <p:cNvSpPr/>
          <p:nvPr/>
        </p:nvSpPr>
        <p:spPr>
          <a:xfrm>
            <a:off x="6949440" y="2487168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2267712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7" name="Image 0" descr="Icône : cœ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3022" y="2355494"/>
            <a:ext cx="263347" cy="26334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229600" y="21945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 l'âme</a:t>
            </a:r>
            <a:endParaRPr lang="fr-CA" sz="1800" dirty="0"/>
          </a:p>
        </p:txBody>
      </p:sp>
      <p:sp>
        <p:nvSpPr>
          <p:cNvPr id="19" name="Ligne 2"/>
          <p:cNvSpPr/>
          <p:nvPr/>
        </p:nvSpPr>
        <p:spPr>
          <a:xfrm>
            <a:off x="548640" y="2871216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8712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témoignage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témoin de son auteur divin</a:t>
            </a:r>
            <a:endParaRPr lang="fr-C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287121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véritable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sûr</a:t>
            </a:r>
            <a:endParaRPr lang="fr-CA" sz="1600" dirty="0"/>
          </a:p>
        </p:txBody>
      </p:sp>
      <p:sp>
        <p:nvSpPr>
          <p:cNvPr id="22" name="Shape 19"/>
          <p:cNvSpPr/>
          <p:nvPr/>
        </p:nvSpPr>
        <p:spPr>
          <a:xfrm>
            <a:off x="6949440" y="3163824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635240" y="2944368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4" name="Image 1" descr="Icône : ampou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022" y="3032150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229600" y="28712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sage l'ignorant</a:t>
            </a:r>
            <a:endParaRPr lang="fr-CA" sz="1800" dirty="0"/>
          </a:p>
        </p:txBody>
      </p:sp>
      <p:sp>
        <p:nvSpPr>
          <p:cNvPr id="26" name="Ligne 3"/>
          <p:cNvSpPr/>
          <p:nvPr/>
        </p:nvSpPr>
        <p:spPr>
          <a:xfrm>
            <a:off x="548640" y="3547872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7240" y="35478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ordonnances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gouverne par elles</a:t>
            </a:r>
            <a:endParaRPr lang="fr-CA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4160520" y="3547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droites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le droit chemin</a:t>
            </a:r>
            <a:endParaRPr lang="fr-CA" sz="1600" dirty="0"/>
          </a:p>
        </p:txBody>
      </p:sp>
      <p:sp>
        <p:nvSpPr>
          <p:cNvPr id="29" name="Shape 25"/>
          <p:cNvSpPr/>
          <p:nvPr/>
        </p:nvSpPr>
        <p:spPr>
          <a:xfrm>
            <a:off x="6949440" y="3840480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635240" y="3621024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31" name="Image 2" descr="Icône : étincel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022" y="3708806"/>
            <a:ext cx="263347" cy="26334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229600" y="35478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réjouissent le cœur</a:t>
            </a:r>
            <a:endParaRPr lang="fr-CA" sz="1800" dirty="0"/>
          </a:p>
        </p:txBody>
      </p:sp>
      <p:sp>
        <p:nvSpPr>
          <p:cNvPr id="33" name="Ligne 4"/>
          <p:cNvSpPr/>
          <p:nvPr/>
        </p:nvSpPr>
        <p:spPr>
          <a:xfrm>
            <a:off x="548640" y="4224528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7240" y="422452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commandements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ordres qui lient</a:t>
            </a:r>
            <a:endParaRPr lang="fr-CA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4160520" y="422452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clairs</a:t>
            </a:r>
            <a:endParaRPr lang="fr-CA" sz="1600" dirty="0"/>
          </a:p>
        </p:txBody>
      </p:sp>
      <p:sp>
        <p:nvSpPr>
          <p:cNvPr id="36" name="Shape 31"/>
          <p:cNvSpPr/>
          <p:nvPr/>
        </p:nvSpPr>
        <p:spPr>
          <a:xfrm>
            <a:off x="6949440" y="4517136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7635240" y="4297680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38" name="Image 3" descr="Icône : œ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22" y="4385462"/>
            <a:ext cx="263347" cy="263347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229600" y="422452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éclairent les yeux</a:t>
            </a:r>
            <a:endParaRPr lang="fr-CA" sz="1800" dirty="0"/>
          </a:p>
        </p:txBody>
      </p:sp>
      <p:sp>
        <p:nvSpPr>
          <p:cNvPr id="40" name="Ligne 5"/>
          <p:cNvSpPr/>
          <p:nvPr/>
        </p:nvSpPr>
        <p:spPr>
          <a:xfrm>
            <a:off x="548640" y="4901184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7240" y="490118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crainte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de l'adoration</a:t>
            </a:r>
            <a:endParaRPr lang="fr-CA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4160520" y="490118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nette</a:t>
            </a:r>
            <a:endParaRPr lang="fr-CA" sz="1600" dirty="0"/>
          </a:p>
        </p:txBody>
      </p:sp>
      <p:sp>
        <p:nvSpPr>
          <p:cNvPr id="43" name="Shape 37"/>
          <p:cNvSpPr/>
          <p:nvPr/>
        </p:nvSpPr>
        <p:spPr>
          <a:xfrm>
            <a:off x="6949440" y="5193792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7635240" y="4974336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45" name="Image 4" descr="Icône : infin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022" y="5062118"/>
            <a:ext cx="263347" cy="263347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229600" y="490118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 à toujours</a:t>
            </a:r>
            <a:endParaRPr lang="fr-CA" sz="1800" dirty="0"/>
          </a:p>
        </p:txBody>
      </p:sp>
      <p:sp>
        <p:nvSpPr>
          <p:cNvPr id="47" name="Ligne 6"/>
          <p:cNvSpPr/>
          <p:nvPr/>
        </p:nvSpPr>
        <p:spPr>
          <a:xfrm>
            <a:off x="548640" y="5577840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77240" y="55778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jugements</a:t>
            </a:r>
            <a:pPr indent="0" marL="0">
              <a:lnSpc>
                <a:spcPct val="90000"/>
              </a:lnSpc>
              <a:buNone/>
            </a:pPr>
            <a:r>
              <a:rPr lang="fr-CA" altLang="en-US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l'Éternel</a:t>
            </a:r>
            <a:endParaRPr lang="fr-CA" sz="1600" dirty="0"/>
          </a:p>
          <a:p>
            <a:pPr indent="0" marL="0">
              <a:lnSpc>
                <a:spcPct val="90000"/>
              </a:lnSpc>
              <a:buNone/>
            </a:pPr>
            <a:r>
              <a:rPr lang="fr-CA" altLang="en-US" sz="13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verdicts de Dieu</a:t>
            </a:r>
            <a:endParaRPr lang="fr-CA" sz="1600" dirty="0"/>
          </a:p>
        </p:txBody>
      </p:sp>
      <p:sp>
        <p:nvSpPr>
          <p:cNvPr id="49" name="Text 42"/>
          <p:cNvSpPr txBox="1"/>
          <p:nvPr/>
        </p:nvSpPr>
        <p:spPr>
          <a:xfrm>
            <a:off x="4160520" y="557784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9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</a:t>
            </a:r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absolument vrais</a:t>
            </a:r>
            <a:endParaRPr lang="fr-CA" sz="1600" dirty="0"/>
          </a:p>
        </p:txBody>
      </p:sp>
      <p:sp>
        <p:nvSpPr>
          <p:cNvPr id="50" name="Shape 43"/>
          <p:cNvSpPr/>
          <p:nvPr/>
        </p:nvSpPr>
        <p:spPr>
          <a:xfrm>
            <a:off x="6949440" y="5870448"/>
            <a:ext cx="502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7635240" y="5650992"/>
            <a:ext cx="438912" cy="438912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52" name="Image 5" descr="Icône : bala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022" y="5738774"/>
            <a:ext cx="263347" cy="26334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229600" y="55778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justes</a:t>
            </a:r>
            <a:endParaRPr lang="fr-CA" sz="1800" dirty="0"/>
          </a:p>
        </p:txBody>
      </p:sp>
      <p:grpSp>
        <p:nvGrpSpPr>
          <p:cNvPr id="1006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54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5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6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7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8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9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60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61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2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3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4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5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6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7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68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PSAUME 19.8a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Réconfort ou conversion?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La loi de l'Éternel est parfaite, elle restaure l'âme »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1A1411"/>
          </a:solidFill>
          <a:ln w="12700">
            <a:solidFill>
              <a:srgbClr val="6E5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11" name="Image 0" descr="Icône : pans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459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200" kern="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</a:t>
            </a:r>
            <a:endParaRPr lang="fr-CA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400" i="1" dirty="0">
                <a:solidFill>
                  <a:srgbClr val="A89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Elle donne du réconfort »</a:t>
            </a:r>
            <a:endParaRPr lang="fr-CA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1089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baume : la Parole réduite à la consolation.</a:t>
            </a:r>
            <a:endParaRPr lang="fr-CA" sz="1600" dirty="0"/>
          </a:p>
          <a:p>
            <a:pPr indent="0" marL="0">
              <a:spcAft>
                <a:spcPts val="400"/>
              </a:spcAft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elle fait bien plus que consoler.</a:t>
            </a:r>
            <a:endParaRPr lang="fr-CA" sz="1600" dirty="0"/>
          </a:p>
        </p:txBody>
      </p:sp>
      <p:sp>
        <p:nvSpPr>
          <p:cNvPr id="15" name="Shape 12"/>
          <p:cNvSpPr/>
          <p:nvPr/>
        </p:nvSpPr>
        <p:spPr>
          <a:xfrm>
            <a:off x="6519672" y="196596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2A1A10"/>
          </a:solidFill>
          <a:ln w="25400">
            <a:solidFill>
              <a:srgbClr val="E874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93992" y="2194560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7" name="Image 1" descr="Icône : flèche de reto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32257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16952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300" b="1" spc="2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NEG79 · L'HÉBREU</a:t>
            </a:r>
            <a:endParaRPr lang="fr-CA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2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400" i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Elle restaure l'âme »</a:t>
            </a:r>
            <a:endParaRPr lang="fr-CA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793992" y="31089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fr-CA" altLang="en-US" sz="16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meshivat nephesh</a:t>
            </a:r>
            <a:pPr indent="0" marL="0">
              <a:spcAft>
                <a:spcPts val="400"/>
              </a:spcAft>
              <a:buNone/>
            </a:pPr>
            <a:r>
              <a:rPr lang="fr-CA" altLang="en-US" sz="16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faire revenir, ramener (</a:t>
            </a:r>
            <a:pPr indent="0" marL="0">
              <a:spcAft>
                <a:spcPts val="400"/>
              </a:spcAft>
              <a:buNone/>
            </a:pPr>
            <a:r>
              <a:rPr lang="fr-CA" altLang="en-US" sz="16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shouv</a:t>
            </a:r>
            <a:pPr indent="0" marL="0">
              <a:spcAft>
                <a:spcPts val="400"/>
              </a:spcAft>
              <a:buNone/>
            </a:pPr>
            <a:r>
              <a:rPr lang="fr-CA" altLang="en-US" sz="16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l'âme, la personne entière, l'être intérieur.</a:t>
            </a:r>
            <a:endParaRPr lang="fr-CA" sz="1600" dirty="0"/>
          </a:p>
          <a:p>
            <a:pPr indent="0" marL="0">
              <a:spcAft>
                <a:spcPts val="400"/>
              </a:spcAft>
              <a:buNone/>
            </a:pPr>
            <a:r>
              <a:rPr lang="fr-CA" altLang="en-US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verbe couvre ranimer, restaurer, convertir.</a:t>
            </a:r>
            <a:endParaRPr lang="fr-CA" sz="1600" dirty="0"/>
          </a:p>
        </p:txBody>
      </p:sp>
      <p:sp>
        <p:nvSpPr>
          <p:cNvPr id="21" name="Flèche : bien plus que consoler"/>
          <p:cNvSpPr/>
          <p:nvPr/>
        </p:nvSpPr>
        <p:spPr>
          <a:xfrm>
            <a:off x="5760720" y="3081528"/>
            <a:ext cx="667512" cy="0"/>
          </a:xfrm>
          <a:prstGeom prst="line">
            <a:avLst/>
          </a:prstGeom>
          <a:noFill/>
          <a:ln w="31750">
            <a:solidFill>
              <a:srgbClr val="E8742A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48640" y="443484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2960" y="443484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2200" i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Une instruction divine si complète qu'elle peut transformer totalement l'homme intérieur tout entier »  (MacArthur)</a:t>
            </a:r>
            <a:endParaRPr lang="fr-CA" sz="1600" dirty="0"/>
          </a:p>
          <a:p>
            <a:pPr indent="0" marL="0">
              <a:spcBef>
                <a:spcPts val="8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Convertir, transformer, régénérer par l'œuvre de l'Esprit. Street rapproche Hébreux 4.12 : la Parole juge les pensées et les intentions du cœur.</a:t>
            </a:r>
            <a:endParaRPr lang="fr-CA" sz="1600" dirty="0"/>
          </a:p>
        </p:txBody>
      </p:sp>
      <p:grpSp>
        <p:nvGrpSpPr>
          <p:cNvPr id="1007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4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5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6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7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8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9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0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3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4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5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6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8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PSAUME 19.8‑10 / 2 PIERRE 1.16‑19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Complète, sûre, pure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On ne peut rien lui retrancher; on ne peut rien lui ajouter »  (MacArthur)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12140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0" descr="Icône : livre ouv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242109"/>
            <a:ext cx="362102" cy="3621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72768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19.8a</a:t>
            </a:r>
            <a:endParaRPr lang="fr-CA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30175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Loi » : mieux rendue par « enseignement » (Bible d'étude).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Parfaite » : au sens de complétude, non seulement d'irréprochable.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Restaure l'âme » : convertir, transformer, régénérer par l'œuvre de l'Esprit.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Fournit tout ce qu'il faut » (MacArthur).</a:t>
            </a:r>
            <a:endParaRPr lang="fr-CA" sz="1500" dirty="0"/>
          </a:p>
        </p:txBody>
      </p:sp>
      <p:sp>
        <p:nvSpPr>
          <p:cNvPr id="14" name="Shape 11"/>
          <p:cNvSpPr/>
          <p:nvPr/>
        </p:nvSpPr>
        <p:spPr>
          <a:xfrm>
            <a:off x="4320540" y="192024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6572" y="212140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6" name="Image 1" descr="Icône : bousso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73" y="2242109"/>
            <a:ext cx="362102" cy="3621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44668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Sûre et claire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19.8b-9</a:t>
            </a:r>
            <a:endParaRPr lang="fr-CA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576572" y="30175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sûre que l'expérience : Pierre, témoin de la transfiguration (2 Pierre 1.16‑19).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L'« ignorant » : le naïf, sans discernement; l'Écriture lui apporte la sagesse.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Sage » : maîtriser l'art de vivre.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La Parole est le sentier » (MacArthur).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Purs » : clairs, ils éclairent les yeux.</a:t>
            </a:r>
            <a:endParaRPr lang="fr-CA" sz="1500" dirty="0"/>
          </a:p>
        </p:txBody>
      </p:sp>
      <p:sp>
        <p:nvSpPr>
          <p:cNvPr id="19" name="Shape 15"/>
          <p:cNvSpPr/>
          <p:nvPr/>
        </p:nvSpPr>
        <p:spPr>
          <a:xfrm>
            <a:off x="8092440" y="192024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48472" y="212140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1" name="Image 2" descr="Icône : mains join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242109"/>
            <a:ext cx="362102" cy="3621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16568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et vraie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19.10</a:t>
            </a:r>
            <a:endParaRPr lang="fr-CA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348472" y="30175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Crainte » : l'Écriture, guide pour l'adoration; « un manuel du culte » (MacArthur).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Nette, « sans tache, sans défaut » (MacArthur) : jamais de mise à jour.</a:t>
            </a:r>
            <a:endParaRPr lang="fr-CA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Absolument, sans équivoque, vrai » (MacArthur).</a:t>
            </a:r>
            <a:endParaRPr lang="fr-CA" sz="1500" dirty="0"/>
          </a:p>
        </p:txBody>
      </p:sp>
      <p:grpSp>
        <p:nvGrpSpPr>
          <p:cNvPr id="1008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4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5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6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7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8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9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0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3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4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5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6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8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APPLICATION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tient lieu de Parole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quoi vous tournez-vous en premier quand votre âme est troublée?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pic>
        <p:nvPicPr>
          <p:cNvPr id="9" name="Image 0" descr="Livre ouvert rayonnant au centre : la Parole qui suf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874520"/>
            <a:ext cx="2834640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19659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0665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12" name="Image 1" descr="Icône : graph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17627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 gestion</a:t>
            </a:r>
            <a:endParaRPr lang="fr-CA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" y="29809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16" name="Image 2" descr="Icône : masques de théât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090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8803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Divertissement</a:t>
            </a:r>
            <a:endParaRPr lang="fr-CA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4088" y="38953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20" name="Image 3" descr="Icône : boule de cris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00507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7947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Mysticisme</a:t>
            </a:r>
            <a:endParaRPr lang="fr-CA" sz="1800" dirty="0"/>
          </a:p>
        </p:txBody>
      </p:sp>
      <p:sp>
        <p:nvSpPr>
          <p:cNvPr id="22" name="Shape 16"/>
          <p:cNvSpPr/>
          <p:nvPr/>
        </p:nvSpPr>
        <p:spPr>
          <a:xfrm>
            <a:off x="7891272" y="19659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046720" y="20665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24" name="Image 4" descr="Icône : cervea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217627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759952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Psychologie</a:t>
            </a:r>
            <a:endParaRPr lang="fr-CA" sz="1800" dirty="0"/>
          </a:p>
        </p:txBody>
      </p:sp>
      <p:sp>
        <p:nvSpPr>
          <p:cNvPr id="26" name="Shape 19"/>
          <p:cNvSpPr/>
          <p:nvPr/>
        </p:nvSpPr>
        <p:spPr>
          <a:xfrm>
            <a:off x="7891272" y="28803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046720" y="29809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28" name="Image 5" descr="Icône : troisième œ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3090672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759952" y="28803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fr-CA" sz="1800" dirty="0"/>
          </a:p>
        </p:txBody>
      </p:sp>
      <p:sp>
        <p:nvSpPr>
          <p:cNvPr id="30" name="Shape 22"/>
          <p:cNvSpPr/>
          <p:nvPr/>
        </p:nvSpPr>
        <p:spPr>
          <a:xfrm>
            <a:off x="7891272" y="3794760"/>
            <a:ext cx="3749040" cy="749808"/>
          </a:xfrm>
          <a:prstGeom prst="roundRect">
            <a:avLst>
              <a:gd name="adj" fmla="val 14634"/>
            </a:avLst>
          </a:prstGeom>
          <a:solidFill>
            <a:srgbClr val="15110E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046720" y="3895344"/>
            <a:ext cx="548640" cy="548640"/>
          </a:xfrm>
          <a:prstGeom prst="ellipse">
            <a:avLst/>
          </a:prstGeom>
          <a:solidFill>
            <a:srgbClr val="1F1915"/>
          </a:solidFill>
          <a:ln w="12700">
            <a:solidFill>
              <a:srgbClr val="6E5A4C"/>
            </a:solidFill>
            <a:prstDash val="solid"/>
          </a:ln>
        </p:spPr>
      </p:sp>
      <p:pic>
        <p:nvPicPr>
          <p:cNvPr id="32" name="Image 6" descr="Icône : porte-voi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005072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759952" y="37947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8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Confession positive</a:t>
            </a:r>
            <a:endParaRPr lang="fr-CA" sz="18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4773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i="1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qui, dans l'Église, prend la place de la Parole : MacArthur, 1985</a:t>
            </a:r>
            <a:endParaRPr lang="fr-CA" sz="1400" dirty="0"/>
          </a:p>
        </p:txBody>
      </p:sp>
      <p:sp>
        <p:nvSpPr>
          <p:cNvPr id="35" name="Shape 26"/>
          <p:cNvSpPr/>
          <p:nvPr/>
        </p:nvSpPr>
        <p:spPr>
          <a:xfrm>
            <a:off x="548640" y="516636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822960" y="516636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CA" altLang="en-US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 : </a:t>
            </a:r>
            <a:pPr indent="0" marL="0">
              <a:buNone/>
            </a:pPr>
            <a:r>
              <a:rPr lang="fr-CA" alt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révélation générale n'autorise pas à chercher hors de l'Écriture l'autorité sur les problèmes de l'âme; ce serait ajouter à la Parole (Proverbes 30.5‑6).</a:t>
            </a:r>
            <a:endParaRPr lang="fr-CA" sz="1700" dirty="0"/>
          </a:p>
          <a:p>
            <a:pPr indent="0" marL="0">
              <a:spcBef>
                <a:spcPts val="4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et médecine restent des bienfaits de Dieu; la suffisance vise le domaine de l'âme.</a:t>
            </a:r>
            <a:endParaRPr lang="fr-CA" sz="1700" dirty="0"/>
          </a:p>
        </p:txBody>
      </p:sp>
      <p:grpSp>
        <p:nvGrpSpPr>
          <p:cNvPr id="1009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7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8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9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0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1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2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3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4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5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6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7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8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49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0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1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PSAUME 19.11‑12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précieuse que l'or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désirez le plus révèle ce que vous estimez le plus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pic>
        <p:nvPicPr>
          <p:cNvPr id="9" name="Image 0" descr="Balance : l'or et le miel d'un côté, plus légers que le livre ouvert de l'au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5212080" cy="434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35040" y="196596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1" descr="Icône : lingots d'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426" y="207934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84848" y="1938528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précieuse que l'or affiné (paz)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bien suprême d'ici-bas : le plus grand bien qu'on puisse posséder.</a:t>
            </a:r>
            <a:endParaRPr lang="fr-CA" sz="1500" dirty="0"/>
          </a:p>
        </p:txBody>
      </p:sp>
      <p:sp>
        <p:nvSpPr>
          <p:cNvPr id="13" name="Shape 9"/>
          <p:cNvSpPr/>
          <p:nvPr/>
        </p:nvSpPr>
        <p:spPr>
          <a:xfrm>
            <a:off x="6035040" y="292608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4" name="Image 2" descr="Icône : rayon de mi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426" y="3039466"/>
            <a:ext cx="340157" cy="34015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84848" y="2898648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douce que le miel des rayons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délice des délices : le plus grand plaisir qu'on puisse goûter.</a:t>
            </a:r>
            <a:endParaRPr lang="fr-CA" sz="1500" dirty="0"/>
          </a:p>
        </p:txBody>
      </p:sp>
      <p:sp>
        <p:nvSpPr>
          <p:cNvPr id="16" name="Shape 11"/>
          <p:cNvSpPr/>
          <p:nvPr/>
        </p:nvSpPr>
        <p:spPr>
          <a:xfrm>
            <a:off x="6035040" y="38862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7" name="Image 3" descr="Icône : panneau d'avertiss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426" y="3999586"/>
            <a:ext cx="340157" cy="34015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84848" y="3858768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avertit (19.12)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La Parole de Dieu est pleine d'avertissements » (MacArthur).</a:t>
            </a:r>
            <a:endParaRPr lang="fr-CA" sz="1500" dirty="0"/>
          </a:p>
        </p:txBody>
      </p:sp>
      <p:sp>
        <p:nvSpPr>
          <p:cNvPr id="19" name="Shape 13"/>
          <p:cNvSpPr/>
          <p:nvPr/>
        </p:nvSpPr>
        <p:spPr>
          <a:xfrm>
            <a:off x="6035040" y="484632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0" name="Image 4" descr="Icône : drapeau d'arrivé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426" y="4959706"/>
            <a:ext cx="340157" cy="34015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84848" y="4818888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grande récompense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En les gardant, il y a la fin » : non ici et maintenant, mais la gloire à venir.</a:t>
            </a:r>
            <a:endParaRPr lang="fr-CA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035040" y="5943600"/>
            <a:ext cx="5605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agenda dit ce qui est votre or.</a:t>
            </a:r>
            <a:endParaRPr lang="fr-CA" sz="2000" dirty="0"/>
          </a:p>
        </p:txBody>
      </p:sp>
      <p:grpSp>
        <p:nvGrpSpPr>
          <p:cNvPr id="1010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3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4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5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6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7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8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9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0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3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4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5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6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PSAUME 19.13‑14 / NOMBRES 15.22‑31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 sondé et gardé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Qui connaît ses égarements? » Réponse : personne, sans la Parole (Street)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sp>
        <p:nvSpPr>
          <p:cNvPr id="9" name="Degré 1"/>
          <p:cNvSpPr/>
          <p:nvPr/>
        </p:nvSpPr>
        <p:spPr>
          <a:xfrm>
            <a:off x="548640" y="1874520"/>
            <a:ext cx="3502152" cy="2834640"/>
          </a:xfrm>
          <a:prstGeom prst="roundRect">
            <a:avLst>
              <a:gd name="adj" fmla="val 3871"/>
            </a:avLst>
          </a:prstGeom>
          <a:solidFill>
            <a:srgbClr val="1A1411"/>
          </a:solidFill>
          <a:ln w="12700">
            <a:solidFill>
              <a:srgbClr val="6E5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7568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0" descr="Icône : œil barr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196389"/>
            <a:ext cx="362102" cy="3621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383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2600" b="1" dirty="0">
                <a:solidFill>
                  <a:srgbClr val="96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CA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Égarements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Péchés d'ignorance, non intentionnels.</a:t>
            </a:r>
            <a:endParaRPr lang="fr-CA" sz="1500" dirty="0"/>
          </a:p>
        </p:txBody>
      </p:sp>
      <p:sp>
        <p:nvSpPr>
          <p:cNvPr id="14" name="Shape 11"/>
          <p:cNvSpPr/>
          <p:nvPr/>
        </p:nvSpPr>
        <p:spPr>
          <a:xfrm>
            <a:off x="804672" y="3886200"/>
            <a:ext cx="2990088" cy="384048"/>
          </a:xfrm>
          <a:prstGeom prst="roundRect">
            <a:avLst>
              <a:gd name="adj" fmla="val 47619"/>
            </a:avLst>
          </a:prstGeom>
          <a:solidFill>
            <a:srgbClr val="0D0B0A"/>
          </a:solidFill>
          <a:ln w="12700">
            <a:solidFill>
              <a:srgbClr val="6E5A4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3886200"/>
            <a:ext cx="29900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Lévitique 4 : un sacrifice prévu</a:t>
            </a:r>
            <a:endParaRPr lang="fr-CA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4325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Pardonne-moi » : acquitte-moi</a:t>
            </a:r>
            <a:endParaRPr lang="fr-CA" sz="1500" dirty="0"/>
          </a:p>
        </p:txBody>
      </p:sp>
      <p:sp>
        <p:nvSpPr>
          <p:cNvPr id="17" name="Shape 14"/>
          <p:cNvSpPr/>
          <p:nvPr/>
        </p:nvSpPr>
        <p:spPr>
          <a:xfrm>
            <a:off x="4078224" y="3246120"/>
            <a:ext cx="219456" cy="228600"/>
          </a:xfrm>
          <a:prstGeom prst="line">
            <a:avLst/>
          </a:prstGeom>
          <a:noFill/>
          <a:ln w="25400">
            <a:solidFill>
              <a:srgbClr val="E8742A"/>
            </a:solidFill>
            <a:prstDash val="solid"/>
            <a:tailEnd type="triangle"/>
          </a:ln>
        </p:spPr>
      </p:sp>
      <p:sp>
        <p:nvSpPr>
          <p:cNvPr id="18" name="Degré 2"/>
          <p:cNvSpPr/>
          <p:nvPr/>
        </p:nvSpPr>
        <p:spPr>
          <a:xfrm>
            <a:off x="4320540" y="2103120"/>
            <a:ext cx="3502152" cy="2834640"/>
          </a:xfrm>
          <a:prstGeom prst="roundRect">
            <a:avLst>
              <a:gd name="adj" fmla="val 3871"/>
            </a:avLst>
          </a:prstGeom>
          <a:solidFill>
            <a:srgbClr val="22150F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6572" y="230428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0" name="Image 1" descr="Icône : ci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73" y="2424989"/>
            <a:ext cx="362102" cy="3621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1551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2600" b="1" dirty="0">
                <a:solidFill>
                  <a:srgbClr val="CC5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CA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576572" y="3017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Péchés présomptueux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Délibérés : ceux que je vois, prémédite et planifie.</a:t>
            </a:r>
            <a:endParaRPr lang="fr-CA" sz="1500" dirty="0"/>
          </a:p>
        </p:txBody>
      </p:sp>
      <p:sp>
        <p:nvSpPr>
          <p:cNvPr id="23" name="Shape 19"/>
          <p:cNvSpPr/>
          <p:nvPr/>
        </p:nvSpPr>
        <p:spPr>
          <a:xfrm>
            <a:off x="4576572" y="4114800"/>
            <a:ext cx="2990088" cy="384048"/>
          </a:xfrm>
          <a:prstGeom prst="roundRect">
            <a:avLst>
              <a:gd name="adj" fmla="val 47619"/>
            </a:avLst>
          </a:prstGeom>
          <a:solidFill>
            <a:srgbClr val="0D0B0A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6572" y="4114800"/>
            <a:ext cx="29900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 15.30‑31 : aucun sacrifice</a:t>
            </a:r>
            <a:endParaRPr lang="fr-CA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76572" y="4553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Préserve aussi ton serviteur »</a:t>
            </a:r>
            <a:endParaRPr lang="fr-CA" sz="1500" dirty="0"/>
          </a:p>
        </p:txBody>
      </p:sp>
      <p:sp>
        <p:nvSpPr>
          <p:cNvPr id="26" name="Shape 22"/>
          <p:cNvSpPr/>
          <p:nvPr/>
        </p:nvSpPr>
        <p:spPr>
          <a:xfrm>
            <a:off x="7850124" y="3474720"/>
            <a:ext cx="219456" cy="228600"/>
          </a:xfrm>
          <a:prstGeom prst="line">
            <a:avLst/>
          </a:prstGeom>
          <a:noFill/>
          <a:ln w="25400">
            <a:solidFill>
              <a:srgbClr val="E8742A"/>
            </a:solidFill>
            <a:prstDash val="solid"/>
            <a:tailEnd type="triangle"/>
          </a:ln>
        </p:spPr>
      </p:sp>
      <p:sp>
        <p:nvSpPr>
          <p:cNvPr id="27" name="Degré 3"/>
          <p:cNvSpPr/>
          <p:nvPr/>
        </p:nvSpPr>
        <p:spPr>
          <a:xfrm>
            <a:off x="8092440" y="2331720"/>
            <a:ext cx="3502152" cy="2834640"/>
          </a:xfrm>
          <a:prstGeom prst="roundRect">
            <a:avLst>
              <a:gd name="adj" fmla="val 3871"/>
            </a:avLst>
          </a:prstGeom>
          <a:solidFill>
            <a:srgbClr val="2A1A10"/>
          </a:solidFill>
          <a:ln w="31750">
            <a:solidFill>
              <a:srgbClr val="E8742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48472" y="2532888"/>
            <a:ext cx="603504" cy="60350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9" name="Image 2" descr="Icône : personne qui s'éloig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653589"/>
            <a:ext cx="362102" cy="36210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927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2600" b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CA" sz="2600" dirty="0"/>
          </a:p>
        </p:txBody>
      </p:sp>
      <p:sp>
        <p:nvSpPr>
          <p:cNvPr id="31" name="Text 26"/>
          <p:cNvSpPr txBox="1"/>
          <p:nvPr/>
        </p:nvSpPr>
        <p:spPr>
          <a:xfrm>
            <a:off x="8348472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20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transgression</a:t>
            </a:r>
            <a:endParaRPr lang="fr-CA" sz="1500" dirty="0"/>
          </a:p>
          <a:p>
            <a:pPr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rébellion ouverte : se détourner du Seigneur.</a:t>
            </a:r>
            <a:endParaRPr lang="fr-CA" sz="1500" dirty="0"/>
          </a:p>
        </p:txBody>
      </p:sp>
      <p:sp>
        <p:nvSpPr>
          <p:cNvPr id="32" name="Shape 27"/>
          <p:cNvSpPr/>
          <p:nvPr/>
        </p:nvSpPr>
        <p:spPr>
          <a:xfrm>
            <a:off x="8348472" y="4343400"/>
            <a:ext cx="2990088" cy="384048"/>
          </a:xfrm>
          <a:prstGeom prst="roundRect">
            <a:avLst>
              <a:gd name="adj" fmla="val 47619"/>
            </a:avLst>
          </a:prstGeom>
          <a:solidFill>
            <a:srgbClr val="0D0B0A"/>
          </a:solidFill>
          <a:ln w="12700">
            <a:solidFill>
              <a:srgbClr val="E8742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348472" y="4343400"/>
            <a:ext cx="29900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fr-CA" alt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terme de la pente</a:t>
            </a:r>
            <a:endParaRPr lang="fr-CA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8348472" y="4782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Innocent de grands péchés »</a:t>
            </a:r>
            <a:endParaRPr lang="fr-CA" sz="1500" dirty="0"/>
          </a:p>
        </p:txBody>
      </p:sp>
      <p:sp>
        <p:nvSpPr>
          <p:cNvPr id="35" name="Shape 30"/>
          <p:cNvSpPr/>
          <p:nvPr/>
        </p:nvSpPr>
        <p:spPr>
          <a:xfrm>
            <a:off x="548640" y="53035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77240" y="5458968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37" name="Image 3" descr="Icône : chaî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6" y="5572354"/>
            <a:ext cx="340157" cy="340157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527048" y="5431536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7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Qu'ils ne dominent point sur moi! »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péchés connus asservissent (Street).</a:t>
            </a:r>
            <a:endParaRPr lang="fr-CA" sz="1500" dirty="0"/>
          </a:p>
        </p:txBody>
      </p:sp>
      <p:sp>
        <p:nvSpPr>
          <p:cNvPr id="39" name="Shape 33"/>
          <p:cNvSpPr/>
          <p:nvPr/>
        </p:nvSpPr>
        <p:spPr>
          <a:xfrm>
            <a:off x="6199632" y="53035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428232" y="5458968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41" name="Image 4" descr="Icône : colom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5572354"/>
            <a:ext cx="340157" cy="34015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178040" y="5431536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disciple mûr, non un scrupuleux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grâce et les ressources de Dieu amènent à reconnaître et à combattre ses péchés.</a:t>
            </a:r>
            <a:endParaRPr lang="fr-CA" sz="1500" dirty="0"/>
          </a:p>
        </p:txBody>
      </p:sp>
      <p:grpSp>
        <p:nvGrpSpPr>
          <p:cNvPr id="1011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43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4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5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6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7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8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9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0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1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2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3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4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55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6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57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PSAUME 19.15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 qui s'offre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Reçois favorablement les paroles de ma bouche et les sentiments de mon cœur »</a:t>
            </a:r>
            <a:endParaRPr lang="fr-CA" sz="1900" dirty="0"/>
          </a:p>
        </p:txBody>
      </p:sp>
      <p:sp>
        <p:nvSpPr>
          <p:cNvPr id="5" name="Navigation : le ciel"/>
          <p:cNvSpPr txBox="1"/>
          <p:nvPr/>
        </p:nvSpPr>
        <p:spPr>
          <a:xfrm>
            <a:off x="7756855" y="384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</a:t>
            </a:r>
            <a:endParaRPr lang="fr-CA" sz="1400" dirty="0"/>
          </a:p>
        </p:txBody>
      </p:sp>
      <p:sp>
        <p:nvSpPr>
          <p:cNvPr id="6" name="Navigation : la Parole"/>
          <p:cNvSpPr txBox="1"/>
          <p:nvPr/>
        </p:nvSpPr>
        <p:spPr>
          <a:xfrm>
            <a:off x="867125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</a:t>
            </a:r>
            <a:endParaRPr lang="fr-CA" sz="1400" dirty="0"/>
          </a:p>
        </p:txBody>
      </p:sp>
      <p:sp>
        <p:nvSpPr>
          <p:cNvPr id="7" name="Navigation : le désir"/>
          <p:cNvSpPr txBox="1"/>
          <p:nvPr/>
        </p:nvSpPr>
        <p:spPr>
          <a:xfrm>
            <a:off x="9814255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désir</a:t>
            </a:r>
            <a:endParaRPr lang="fr-CA" sz="1400" dirty="0"/>
          </a:p>
        </p:txBody>
      </p:sp>
      <p:sp>
        <p:nvSpPr>
          <p:cNvPr id="8" name="Navigation : le cœur"/>
          <p:cNvSpPr txBox="1"/>
          <p:nvPr/>
        </p:nvSpPr>
        <p:spPr>
          <a:xfrm>
            <a:off x="10820095" y="384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fr-CA" sz="1400" dirty="0"/>
          </a:p>
        </p:txBody>
      </p:sp>
      <p:pic>
        <p:nvPicPr>
          <p:cNvPr id="9" name="Image 0" descr="Autel de pierres où brûle une flamme; au-dessus s'élèvent un cœur et une bulle de pa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4343400" cy="434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196596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1" name="Image 1" descr="Icône : flam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026" y="207934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70448" y="1938528"/>
            <a:ext cx="5769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Reçois favorablement (leratson)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des sacrifices agréés : David demande la grâce de déposer sur l'autel ses lèvres et sa vie.</a:t>
            </a:r>
            <a:endParaRPr lang="fr-CA" sz="1500" dirty="0"/>
          </a:p>
        </p:txBody>
      </p:sp>
      <p:sp>
        <p:nvSpPr>
          <p:cNvPr id="13" name="Shape 9"/>
          <p:cNvSpPr/>
          <p:nvPr/>
        </p:nvSpPr>
        <p:spPr>
          <a:xfrm>
            <a:off x="5120640" y="29718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4" name="Image 2" descr="Icône : parchem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026" y="3085186"/>
            <a:ext cx="340157" cy="34015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70448" y="2944368"/>
            <a:ext cx="5769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Bouche et méditation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L'écho de Josué 1.8 : la loi méditée jour et nuit.</a:t>
            </a:r>
            <a:endParaRPr lang="fr-CA" sz="1500" dirty="0"/>
          </a:p>
        </p:txBody>
      </p:sp>
      <p:sp>
        <p:nvSpPr>
          <p:cNvPr id="16" name="Shape 11"/>
          <p:cNvSpPr/>
          <p:nvPr/>
        </p:nvSpPr>
        <p:spPr>
          <a:xfrm>
            <a:off x="5120640" y="397764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7" name="Image 3" descr="Icône : ro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026" y="4091026"/>
            <a:ext cx="340157" cy="34015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70448" y="3950208"/>
            <a:ext cx="5769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rocher et mon rédempteur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goel : le parent proche qui paie pour racheter (Lévitique 25.25).</a:t>
            </a:r>
            <a:endParaRPr lang="fr-CA" sz="1500" dirty="0"/>
          </a:p>
        </p:txBody>
      </p:sp>
      <p:sp>
        <p:nvSpPr>
          <p:cNvPr id="19" name="Shape 13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20" name="Image 4" descr="Icône : croi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026" y="5096866"/>
            <a:ext cx="340157" cy="34015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70448" y="4956048"/>
            <a:ext cx="5769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fr-CA" altLang="en-US" sz="18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Rédempteur a un nom</a:t>
            </a:r>
            <a:endParaRPr lang="fr-CA" sz="1500" dirty="0"/>
          </a:p>
          <a:p>
            <a:pPr indent="0" marL="0">
              <a:spcBef>
                <a:spcPts val="2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s'est donné pour nous racheter (Tite 2.14); par lui, le sacrifice de louange (Hébreux 13.15).</a:t>
            </a:r>
            <a:endParaRPr lang="fr-CA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120640" y="598932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à Dieu de vous sonder (Psaume 139.23‑24).</a:t>
            </a:r>
            <a:endParaRPr lang="fr-CA" sz="1900" dirty="0"/>
          </a:p>
        </p:txBody>
      </p:sp>
      <p:grpSp>
        <p:nvGrpSpPr>
          <p:cNvPr id="1012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3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4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5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6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7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8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9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0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3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4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5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6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  <p:sp>
          <p:nvSpPr>
            <p:cNvPr id="37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APPEL · ROMAINS 10.17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Parole qui conduit au Rédempteur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cieux suffisent à condamner; la Parole suffit à sauver</a:t>
            </a:r>
            <a:endParaRPr lang="fr-CA" sz="1900" dirty="0"/>
          </a:p>
        </p:txBody>
      </p:sp>
      <p:sp>
        <p:nvSpPr>
          <p:cNvPr id="5" name="Shape 3"/>
          <p:cNvSpPr/>
          <p:nvPr/>
        </p:nvSpPr>
        <p:spPr>
          <a:xfrm>
            <a:off x="1554480" y="2331720"/>
            <a:ext cx="850392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88720" y="1938528"/>
            <a:ext cx="777240" cy="7772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7" name="Image 0" descr="Icône : sol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93976"/>
            <a:ext cx="466344" cy="4663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 qui parle</a:t>
            </a:r>
            <a:endParaRPr lang="fr-CA" sz="1500" dirty="0"/>
          </a:p>
        </p:txBody>
      </p:sp>
      <p:sp>
        <p:nvSpPr>
          <p:cNvPr id="9" name="Shape 6"/>
          <p:cNvSpPr/>
          <p:nvPr/>
        </p:nvSpPr>
        <p:spPr>
          <a:xfrm>
            <a:off x="3429000" y="1938528"/>
            <a:ext cx="777240" cy="7772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0" name="Image 1" descr="Icône : livre ouv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093976"/>
            <a:ext cx="466344" cy="4663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178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 qui suffit</a:t>
            </a:r>
            <a:endParaRPr lang="fr-CA" sz="1500" dirty="0"/>
          </a:p>
        </p:txBody>
      </p:sp>
      <p:sp>
        <p:nvSpPr>
          <p:cNvPr id="12" name="Shape 8"/>
          <p:cNvSpPr/>
          <p:nvPr/>
        </p:nvSpPr>
        <p:spPr>
          <a:xfrm>
            <a:off x="5669280" y="1938528"/>
            <a:ext cx="777240" cy="7772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3" name="Image 2" descr="Icône : lingots d'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093976"/>
            <a:ext cx="466344" cy="4663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5206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Parole qu'on désire</a:t>
            </a:r>
            <a:endParaRPr lang="fr-CA" sz="1500" dirty="0"/>
          </a:p>
        </p:txBody>
      </p:sp>
      <p:sp>
        <p:nvSpPr>
          <p:cNvPr id="15" name="Shape 10"/>
          <p:cNvSpPr/>
          <p:nvPr/>
        </p:nvSpPr>
        <p:spPr>
          <a:xfrm>
            <a:off x="7909560" y="1938528"/>
            <a:ext cx="777240" cy="7772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</p:sp>
      <p:pic>
        <p:nvPicPr>
          <p:cNvPr id="16" name="Image 3" descr="Icône : cœu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93976"/>
            <a:ext cx="466344" cy="4663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9234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qui s'offre</a:t>
            </a:r>
            <a:endParaRPr lang="fr-CA" sz="1500" dirty="0"/>
          </a:p>
        </p:txBody>
      </p:sp>
      <p:sp>
        <p:nvSpPr>
          <p:cNvPr id="18" name="Shape 12"/>
          <p:cNvSpPr/>
          <p:nvPr/>
        </p:nvSpPr>
        <p:spPr>
          <a:xfrm>
            <a:off x="10058400" y="1810512"/>
            <a:ext cx="1051560" cy="1051560"/>
          </a:xfrm>
          <a:prstGeom prst="ellipse">
            <a:avLst/>
          </a:prstGeom>
          <a:solidFill>
            <a:srgbClr val="CC5500"/>
          </a:solidFill>
          <a:ln w="25400">
            <a:solidFill>
              <a:srgbClr val="E8742A"/>
            </a:solidFill>
            <a:prstDash val="solid"/>
          </a:ln>
        </p:spPr>
      </p:sp>
      <p:pic>
        <p:nvPicPr>
          <p:cNvPr id="19" name="Image 4" descr="Icône : croi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039112"/>
            <a:ext cx="594360" cy="5943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7834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Rédempteur</a:t>
            </a:r>
            <a:endParaRPr lang="fr-CA" sz="1600" dirty="0"/>
          </a:p>
        </p:txBody>
      </p:sp>
      <p:sp>
        <p:nvSpPr>
          <p:cNvPr id="21" name="Shape 14"/>
          <p:cNvSpPr/>
          <p:nvPr/>
        </p:nvSpPr>
        <p:spPr>
          <a:xfrm>
            <a:off x="548640" y="3520440"/>
            <a:ext cx="3547872" cy="2834640"/>
          </a:xfrm>
          <a:prstGeom prst="roundRect">
            <a:avLst>
              <a:gd name="adj" fmla="val 3871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Rédempteur a un nom</a:t>
            </a:r>
            <a:endParaRPr lang="fr-C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11480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nous a parlé en son Fils (Hébreux 1.1‑2).</a:t>
            </a:r>
            <a:endParaRPr lang="fr-CA" sz="1500" dirty="0"/>
          </a:p>
          <a:p>
            <a:pPr indent="0" marL="0">
              <a:spcBef>
                <a:spcPts val="6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Personne ne peut être sauvé, régénéré, né de nouveau sans comprendre la Parole de Dieu, en particulier la Parole de Dieu concernant la personne de Jésus-Christ » (MacArthur).</a:t>
            </a:r>
            <a:endParaRPr lang="fr-CA" sz="1500" dirty="0"/>
          </a:p>
        </p:txBody>
      </p:sp>
      <p:sp>
        <p:nvSpPr>
          <p:cNvPr id="24" name="Shape 17"/>
          <p:cNvSpPr/>
          <p:nvPr/>
        </p:nvSpPr>
        <p:spPr>
          <a:xfrm>
            <a:off x="4320540" y="3520440"/>
            <a:ext cx="3547872" cy="2834640"/>
          </a:xfrm>
          <a:prstGeom prst="roundRect">
            <a:avLst>
              <a:gd name="adj" fmla="val 3871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59486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l'incroyant</a:t>
            </a:r>
            <a:endParaRPr lang="fr-CA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4594860" y="411480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cieux vous ont parlé toute votre vie : vous êtes sans excuse. Aujourd'hui, la Parole vous parle du Rédempteur.</a:t>
            </a:r>
            <a:endParaRPr lang="fr-CA" sz="1500" dirty="0"/>
          </a:p>
          <a:p>
            <a:pPr indent="0" marL="0">
              <a:spcBef>
                <a:spcPts val="600"/>
              </a:spcBef>
              <a:buNone/>
            </a:pPr>
            <a:r>
              <a:rPr lang="fr-CA" altLang="en-US" sz="15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Repentez-vous, croyez en Christ et soumettez-vous à lui comme Seigneur.</a:t>
            </a:r>
            <a:endParaRPr lang="fr-CA" sz="1500" dirty="0"/>
          </a:p>
        </p:txBody>
      </p:sp>
      <p:sp>
        <p:nvSpPr>
          <p:cNvPr id="27" name="Shape 20"/>
          <p:cNvSpPr/>
          <p:nvPr/>
        </p:nvSpPr>
        <p:spPr>
          <a:xfrm>
            <a:off x="8092440" y="3520440"/>
            <a:ext cx="3547872" cy="2834640"/>
          </a:xfrm>
          <a:prstGeom prst="roundRect">
            <a:avLst>
              <a:gd name="adj" fmla="val 3871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36676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9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croyant</a:t>
            </a:r>
            <a:endParaRPr lang="fr-CA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8366760" y="411480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cherchez pas ailleurs ce que la Parole vous donne. Désirez-la, laissez-la vous sonder, offrez-vous à Dieu.</a:t>
            </a:r>
            <a:endParaRPr lang="fr-CA" sz="1500" dirty="0"/>
          </a:p>
          <a:p>
            <a:pPr indent="0" marL="0">
              <a:spcBef>
                <a:spcPts val="600"/>
              </a:spcBef>
              <a:buNone/>
            </a:pPr>
            <a:r>
              <a:rPr lang="fr-CA" altLang="en-US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Dans votre cœur, en ce moment, pouvez-vous prendre devant le Seigneur un engagement renouvelé à vous vouer à sa Parole? » (MacArthur)</a:t>
            </a:r>
            <a:endParaRPr lang="fr-CA" sz="1500" dirty="0"/>
          </a:p>
        </p:txBody>
      </p:sp>
      <p:grpSp>
        <p:nvGrpSpPr>
          <p:cNvPr id="1013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0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1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2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3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4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5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6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7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8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39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0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1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2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3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44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3A312C"/>
            </a:solidFill>
            <a:ln/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CA" altLang="en-US" sz="1400" b="1" spc="300" kern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PRIÈRE · PSAUME 19.15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Prions ensemble</a:t>
            </a:r>
            <a:endParaRPr lang="fr-CA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223760" cy="4480560"/>
          </a:xfrm>
          <a:prstGeom prst="roundRect">
            <a:avLst>
              <a:gd name="adj" fmla="val 2449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</p:sp>
      <p:sp>
        <p:nvSpPr>
          <p:cNvPr id="5" name="Prière"/>
          <p:cNvSpPr txBox="1"/>
          <p:nvPr/>
        </p:nvSpPr>
        <p:spPr>
          <a:xfrm>
            <a:off x="914400" y="187452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fr-CA" altLang="en-US" sz="3200" i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Reçois favorablement</a:t>
            </a:r>
            <a:endParaRPr lang="fr-CA" sz="3200" dirty="0"/>
          </a:p>
          <a:p>
            <a:pPr indent="0" marL="0">
              <a:lnSpc>
                <a:spcPct val="105000"/>
              </a:lnSpc>
              <a:buNone/>
            </a:pPr>
            <a:r>
              <a:rPr lang="fr-CA" altLang="en-US" sz="3200" i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paroles de ma bouche</a:t>
            </a:r>
            <a:endParaRPr lang="fr-CA" sz="3200" dirty="0"/>
          </a:p>
          <a:p>
            <a:pPr indent="0" marL="0">
              <a:lnSpc>
                <a:spcPct val="105000"/>
              </a:lnSpc>
              <a:buNone/>
            </a:pPr>
            <a:r>
              <a:rPr lang="fr-CA" altLang="en-US" sz="3200" i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les sentiments de mon cœur,</a:t>
            </a:r>
            <a:endParaRPr lang="fr-CA" sz="3200" dirty="0"/>
          </a:p>
          <a:p>
            <a:pPr indent="0" marL="0">
              <a:lnSpc>
                <a:spcPct val="105000"/>
              </a:lnSpc>
              <a:buNone/>
            </a:pPr>
            <a:r>
              <a:rPr lang="fr-CA" altLang="en-US" sz="3200" i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 Éternel, mon rocher</a:t>
            </a:r>
            <a:endParaRPr lang="fr-CA" sz="3200" dirty="0"/>
          </a:p>
          <a:p>
            <a:pPr indent="0" marL="0">
              <a:lnSpc>
                <a:spcPct val="105000"/>
              </a:lnSpc>
              <a:buNone/>
            </a:pPr>
            <a:r>
              <a:rPr lang="fr-CA" altLang="en-US" sz="3200" i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mon rédempteur!</a:t>
            </a:r>
            <a:endParaRPr lang="fr-CA" sz="3200" dirty="0"/>
          </a:p>
          <a:p>
            <a:pPr indent="0" marL="0">
              <a:lnSpc>
                <a:spcPct val="105000"/>
              </a:lnSpc>
              <a:spcBef>
                <a:spcPts val="1400"/>
              </a:spcBef>
              <a:buNone/>
            </a:pPr>
            <a:r>
              <a:rPr lang="fr-CA" altLang="en-US" sz="1500" i="1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Psaume 19.15</a:t>
            </a:r>
            <a:endParaRPr lang="fr-CA" sz="3200" dirty="0"/>
          </a:p>
        </p:txBody>
      </p:sp>
      <p:pic>
        <p:nvPicPr>
          <p:cNvPr id="6" name="Illustration" descr="Médaillon rayonnant : le ciel étoilé et le soleil au-dessus d'un livre ouv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011680"/>
            <a:ext cx="352044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0" y="55961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5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lumière des étoiles à l'autel du cœur, la Parole de l'Éternel suffit.</a:t>
            </a:r>
            <a:endParaRPr lang="fr-CA" sz="1500" dirty="0"/>
          </a:p>
        </p:txBody>
      </p:sp>
      <p:grpSp>
        <p:nvGrpSpPr>
          <p:cNvPr id="1014" name="Barre de progression"/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8" name="Progression 1"/>
            <p:cNvSpPr/>
            <p:nvPr/>
          </p:nvSpPr>
          <p:spPr>
            <a:xfrm>
              <a:off x="5461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9" name="Progression 2"/>
            <p:cNvSpPr/>
            <p:nvPr/>
          </p:nvSpPr>
          <p:spPr>
            <a:xfrm>
              <a:off x="12911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0" name="Progression 3"/>
            <p:cNvSpPr/>
            <p:nvPr/>
          </p:nvSpPr>
          <p:spPr>
            <a:xfrm>
              <a:off x="20362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1" name="Progression 4"/>
            <p:cNvSpPr/>
            <p:nvPr/>
          </p:nvSpPr>
          <p:spPr>
            <a:xfrm>
              <a:off x="27813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2" name="Progression 5"/>
            <p:cNvSpPr/>
            <p:nvPr/>
          </p:nvSpPr>
          <p:spPr>
            <a:xfrm>
              <a:off x="35263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3" name="Progression 6"/>
            <p:cNvSpPr/>
            <p:nvPr/>
          </p:nvSpPr>
          <p:spPr>
            <a:xfrm>
              <a:off x="42714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4" name="Progression 7"/>
            <p:cNvSpPr/>
            <p:nvPr/>
          </p:nvSpPr>
          <p:spPr>
            <a:xfrm>
              <a:off x="50165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5" name="Progression 8"/>
            <p:cNvSpPr/>
            <p:nvPr/>
          </p:nvSpPr>
          <p:spPr>
            <a:xfrm>
              <a:off x="57615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6" name="Progression 9"/>
            <p:cNvSpPr/>
            <p:nvPr/>
          </p:nvSpPr>
          <p:spPr>
            <a:xfrm>
              <a:off x="65066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7" name="Progression 10"/>
            <p:cNvSpPr/>
            <p:nvPr/>
          </p:nvSpPr>
          <p:spPr>
            <a:xfrm>
              <a:off x="72517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8" name="Progression 11"/>
            <p:cNvSpPr/>
            <p:nvPr/>
          </p:nvSpPr>
          <p:spPr>
            <a:xfrm>
              <a:off x="79967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19" name="Progression 12"/>
            <p:cNvSpPr/>
            <p:nvPr/>
          </p:nvSpPr>
          <p:spPr>
            <a:xfrm>
              <a:off x="87418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0" name="Progression 13"/>
            <p:cNvSpPr/>
            <p:nvPr/>
          </p:nvSpPr>
          <p:spPr>
            <a:xfrm>
              <a:off x="9486900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1" name="Progression 14"/>
            <p:cNvSpPr/>
            <p:nvPr/>
          </p:nvSpPr>
          <p:spPr>
            <a:xfrm>
              <a:off x="10231967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  <p:sp>
          <p:nvSpPr>
            <p:cNvPr id="22" name="Progression 15"/>
            <p:cNvSpPr/>
            <p:nvPr/>
          </p:nvSpPr>
          <p:spPr>
            <a:xfrm>
              <a:off x="10977033" y="6527800"/>
              <a:ext cx="668867" cy="63500"/>
            </a:xfrm>
            <a:prstGeom prst="rect">
              <a:avLst/>
            </a:prstGeom>
            <a:solidFill>
              <a:srgbClr val="E8742A"/>
            </a:solidFill>
            <a:ln/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ack Dark Orange Brûlée">
  <a:themeElements>
    <a:clrScheme name="Black Dark Orange Brûlée">
      <a:dk1>
        <a:srgbClr val="0D0B0A"/>
      </a:dk1>
      <a:lt1>
        <a:srgbClr val="F4EDE4"/>
      </a:lt1>
      <a:dk2>
        <a:srgbClr val="1A1411"/>
      </a:dk2>
      <a:lt2>
        <a:srgbClr val="A89A8C"/>
      </a:lt2>
      <a:accent1>
        <a:srgbClr val="CC5500"/>
      </a:accent1>
      <a:accent2>
        <a:srgbClr val="E8742A"/>
      </a:accent2>
      <a:accent3>
        <a:srgbClr val="7A3310"/>
      </a:accent3>
      <a:accent4>
        <a:srgbClr val="6E5A4C"/>
      </a:accent4>
      <a:accent5>
        <a:srgbClr val="2A1A10"/>
      </a:accent5>
      <a:accent6>
        <a:srgbClr val="968A80"/>
      </a:accent6>
      <a:hlink>
        <a:srgbClr val="E8742A"/>
      </a:hlink>
      <a:folHlink>
        <a:srgbClr val="A89A8C"/>
      </a:folHlink>
    </a:clrScheme>
    <a:fontScheme name="Black Dark Orange Brûlé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 ciel qui parle à la Parole qui suffit</dc:title>
  <dc:subject>Prédication sur le Psaume 19</dc:subject>
  <dc:creator>André-Guy Bruneau</dc:creator>
  <cp:lastModifiedBy>André-Guy Bruneau</cp:lastModifiedBy>
  <cp:revision>1</cp:revision>
  <dcterms:created xsi:type="dcterms:W3CDTF">2026-10-02T12:58:00Z</dcterms:created>
  <dcterms:modified xsi:type="dcterms:W3CDTF">2026-10-02T12:58:00Z</dcterms:modified>
</cp:coreProperties>
</file>