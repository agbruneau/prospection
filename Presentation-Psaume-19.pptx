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f887675-8f8f-27e5-679d-eaa0deffcdc1}">
          <p14:sldIdLst>
            <p14:sldId id="256"/>
            <p14:sldId id="257"/>
            <p14:sldId id="258"/>
            <p14:sldId id="259"/>
          </p14:sldIdLst>
        </p14:section>
        <p14:section name="I. Le ciel qui parle" id="{2e6ee100-2e1c-b793-432e-608fe8f4aaac}">
          <p14:sldIdLst>
            <p14:sldId id="260"/>
            <p14:sldId id="261"/>
          </p14:sldIdLst>
        </p14:section>
        <p14:section name="II. La Parole qui suffit" id="{2c2ae0b4-da42-477f-0855-7487b1866b53}">
          <p14:sldIdLst>
            <p14:sldId id="262"/>
            <p14:sldId id="263"/>
            <p14:sldId id="264"/>
          </p14:sldIdLst>
        </p14:section>
        <p14:section name="III. La Parole qu'on désire" id="{b415ce79-ae1e-ca3c-57ce-8e3c7dac599e}">
          <p14:sldIdLst>
            <p14:sldId id="265"/>
          </p14:sldIdLst>
        </p14:section>
        <p14:section name="IV. Le cœur qui s'offre" id="{7f4a3d90-ea20-3325-00cc-54756ec45174}">
          <p14:sldIdLst>
            <p14:sldId id="266"/>
            <p14:sldId id="267"/>
          </p14:sldIdLst>
        </p14:section>
        <p14:section name="Conclusion" id="{5c04fa8c-51b1-3ebd-3cca-0366de327093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Psaume 19 (en entier).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Les cieux suffisent à condamner; la Parole suffit à sauver.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comprenne que la création le rend inexcusable sans pouvoir le sauver, et qu'il écoute la Parole qui convertit l'âme; que le croyant cesse de chercher ailleurs ce que la Parole lui donne, la désire plus que l'or, la laisse sonder son cœur et offre à Dieu ses paroles et ses pensées.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NEG79. Les sermons de MacArthur comptent la suscription hors des versets : leurs « versets 7 à 9 »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Attribuer à MacArthur les propos de Street : les citer sous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Numérotation : les « versets 7 à 9 » des sermons de MacArthur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monter en chaire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Relire à voix haute les citations bibliques dans votre Bible NEG79.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citations de MacArthur sont des traductions de passages relus dans les transcriptions de gty.org. Avant de les prononcer, réécouter ou relire au moins 80-420, 80-308 et TM19-6.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tableau du point II affiche les mots de la NEG79; MacArthur lit « claire » et « nette » : le dire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Préparer à l'écran le tableau des six lignes (diapositive 7) et, pour l'accroche, une image de la stèle de Hammurabi : la diapositive 3 en propose un dessin, à remplacer par une photo au besoin.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Chronométrer une répétition : le point II est le plus long; les sous-points I.A et III sont les plus faciles à raccourcir.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Imprimer la version PDF de ce plan.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Sur les diapositives : </a:t>
            </a:r>
            <a:r>
              <a:rPr lang="fr-CA" sz="1400" dirty="0"/>
              <a:t>aucun code de sermon; les sources sont dans ces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justice; pour 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Pont : </a:t>
            </a:r>
            <a:r>
              <a:rPr lang="fr-CA" sz="1400" dirty="0"/>
              <a:t>un psaume de David dit la même chose dix siècles plus tôt; c'est le texte que MacArthur tient pour le plus grand sur la suffisance de l'Écriture.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recommandée : </a:t>
            </a:r>
            <a:r>
              <a:rPr lang="fr-CA" sz="1400" dirty="0"/>
              <a:t>Introduction au counseling biblique (Éditions Impact, 2021), chapitre de John Street sur le Psaume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Psaume 19.5, 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 Louvre, la stèle du code de Hammurabi montre le roi debout devant Shamash, le dieu-soleil et dieu de la justice, qui lui remet les insignes du pouvoir : la loi du roi se réclame du soleil.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Psaume 19 parle lui aussi du soleil et de la loi; mais il loge le soleil sous une tente que Dieu a dressée (19.5), et il ne place la loi qu'entre les mains de l'Éternel (19.8).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allez-vous chercher la vérité qui gouverne votre vie, quand l'angoisse monte ou qu'une décision presse?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texte et le 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Je pense que c'est le plus grand passage, à lui seul, sur la suffisance de l'Écriture dans toute la Bible »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hymne, deux révélations : </a:t>
            </a:r>
            <a:r>
              <a:rPr lang="fr-CA" sz="1400" dirty="0"/>
              <a:t>le nom court El, la puissance du Créateur (19.2); puis l'Éternel, le Dieu de l'alliance (19.8-15) (BEM, 19.1-15).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Six fois, nous avons le nom de l'alliance, l'Éternel, comme source de la Parole de Dieu » (TM19-6); une septième fois en 19.15.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Plan de la BEM : </a:t>
            </a:r>
            <a:r>
              <a:rPr lang="fr-CA" sz="1400" dirty="0"/>
              <a:t>I. Révélation générale (19.2-7) : proclamation des cieux, importance du soleil. II. Révélation spéciale (19.8-15) : attributs, appréciation, application.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Parcours : </a:t>
            </a:r>
            <a:r>
              <a:rPr lang="fr-CA" sz="1400" dirty="0"/>
              <a:t>le ciel qui parle, la Parole qui suffit, la Parole qu'on désire, le cœur qui s'offre.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9 min (avec la diapositive suivante) · Psaume 19.2-7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création vous a parlé de Dieu chaque jour de votre vie.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Une proclamation incessante (19.2-5b)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cieux et l'étendue, deux éléments décisifs de la création de Genèse 1 (BEM, 19.2). « Racontent », « manifeste » : la révélation ne s'interrompt jamais (BEM, 19.2); Street y voit une action en cours.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Kavod : </a:t>
            </a:r>
            <a:r>
              <a:rPr lang="fr-CA" sz="1400" dirty="0"/>
              <a:t>la « gloire », c'est d'abord le poids; le ciel nocturne fait sentir le poids de Dieu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Bouillonner : </a:t>
            </a:r>
            <a:r>
              <a:rPr lang="fr-CA" sz="1400" dirty="0"/>
              <a:t>le jour « en instruit » un autre; le verbe veut dire bouillonner, la révélation jaillit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Sans paroles, et pourtant partout (19.4-5) : </a:t>
            </a:r>
            <a:r>
              <a:rPr lang="fr-CA" sz="1400" dirty="0"/>
              <a:t>la contradiction n'est qu'apparente, le message ne passe pas par des mots au sens littéral (BEM, 19.3-4). Paul cite le verset 5 en Romains 10.18.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Un soleil qui n'est pas un dieu (19.5c-7)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L'époux qui sort de sa chambre, le héros qui court sa carrière : régularité, puissance, détermination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Ni le soleil ni les cieux ne sont divinisés, comme dans les religions païennes : Dieu est le créateur et le chef de toute la création (BEM, 19.5c-7). Retour à l'accroche.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Rien ne se dérobe à sa chaleur » (19.7) : nul ne peut fuir ce message (Street).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I.C · Assez pour condamner, jamais pour sauver (Romains 1.18-20)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témoignage est clair et cohérent, mais l'humanité pécheresse lui résiste; il ne peut donc pas convertir, mais il rend entièrement responsable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Quand ils étouffent la vérité de Dieu, ils sont sans excuse, et cette révélation suffit à condamner le monde à l'enfer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Selon Romains 1, on peut connaître sa divinité et sa puissance en regardant la création. Ce qu'on ne peut pas connaître, c'est la sagesse qui sauve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révélation de Dieu dans le monde : assez pour condamner, assez pour damner. La révélation dans la Parole : suffisante pour sauver, suffisante pour sauver » (80-420).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n'est un incroyant innocent : les cieux ont parlé à chacun. « Je trouve Dieu dans la nature » ne suffit pas, car le cœur retient la vérité captive (Romains 1.18).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croyant adore devant le ciel étoilé, mais ne lui demande ni le salut ni la direction de son 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 psalmiste passe du monde à la Parole au verset 7 » (80-420; verset 8 de la NEG79), et El devient l'Éternel. Où entendre la sagesse qui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Traiter les versets 2 à 7 comme une simple introduction poétique, ou, à l'inverse, comme une révélation qui sauve : elle rend inexcusable, sans convertir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Oublier la résistance du cœur pécheur : le problème n'est pas que la création soit obscure, mais que l'homme retient la vérité captive.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13 min (avec les deux diapositives suivantes) · Psaume 19.8-10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il ne manque rien à la Parole, et il ne manque rien à celui qu'elle instruit.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cadre : </a:t>
            </a:r>
            <a:r>
              <a:rPr lang="fr-CA" sz="1400" dirty="0"/>
              <a:t>six titres, six qualités, six bienfaits (80-19; 80-308); « six fois, nous avons le nom de l'alliance, l'Éternel, comme source de la Parole de Dieu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de MacArthur : </a:t>
            </a:r>
            <a:r>
              <a:rPr lang="fr-CA" sz="1400" dirty="0"/>
              <a:t>parfaite, sûre, droite, claire, nette, vraie (80-308). Le tableau affiche les mots de la NEG79; dire à voix haute « claire » et « nette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Montrer </a:t>
            </a:r>
            <a:r>
              <a:rPr lang="fr-CA" sz="1400" dirty="0"/>
              <a:t>que le bienfait découle chaque fois de la qualité : parce qu'elle est complète, elle restaure; parce qu'elle est sûre, elle rend sage; et ainsi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Elle est complète et transforme (19.8a)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loi » serait mieux rendue par « enseignement » (BEM, 19.8; cf. Psaume 1.2).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Parfaite » (tamim) : « non pas au sens d'irréprochable, bien que ce soit absolument vrai, mais au sens de complétude » (80-308). « On ne peut rien lui retrancher; on ne peut rien lui ajouter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Bible est complète, elle est parfaite en ce qu'elle fournit tout ce qu'il faut pour connaître la loi de Dieu, ce qui produit le bienfait de transformer totalement l'âme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Restaure l'âme » : « une instruction divine si complète qu'elle peut transformer totalement l'homme intérieur tout entier » (80-420); « une déclaration d'une portée immense sur le pouvoir de la Bible de convertir, de transformer, de régénérer par l'œuvre de l'Esprit de Dieu au moyen de son propre témoignage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S21 dit « donne du réconfort » : la Parole fait bien plus que consoler. Street rapproche Hébreux 4.12.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Elle est sûre et claire (19.8b-9)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« témoignage » témoigne de son auteur divin (BEM, 19.8). « Il est fiable, digne de confiance. Et il y a beaucoup de livres dans le monde auxquels on ne peut pas se fier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Pierre, témoin de la transfiguration, tient la Parole pour plus sûre que ce qu'il a vu (2 Pierre 1.16-19; 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L'Écriture prend le naïf, l'inexpérimenté, l'homme sans discernement, le mal informé, et lui apporte la sagesse » (80-19). « Sage » (chakam) : « maîtriser l'art de vivre, vivre en parfait accord avec la connaissance de Dieu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ordonnances », moyens par lesquels Dieu gouverne (BEM, 19.9) : « La Parole n'est pas seulement une lampe à nos pieds qui éclaire le sentier, la Parole est le sentier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commandements » lient; MacArthur les lit « clairs » (S21 : « clairs »; NEG79 : « purs ») (80-308; TM19-6).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Elle est pure et vraie (19.10)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crainte » : l'Écriture comme « guide pour l'adoration de Dieu » (BEM, 19.10); « La Bible est un manuel du culte; elle vous dit comment adorer le Seigneur en esprit et en vérité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Nette, « sans tache, sans défaut » (80-308), elle « subsiste à toujours » : jamais besoin de mise à jour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jugements », verdicts de Dieu (BEM, 19.10) : « Il est vrai. Je ne saurais trop insister. Dans un monde de mensonges, dans un monde de tromperie, il est vrai; il est absolument, sans équivoque, vrai » (80-308).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Synthèse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« fournit tout ce qu'il faut » (80-250) : toute l'Écriture rend l'homme de Dieu accompli (2 Timothée 3.16-17). Retour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Affaiblir « restaure l'âme » en simple réconfort : c'est la conversion et la transformation de la personne entière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« parfaite » à « sans défaut » : MacArthur y entend d'abord la complétude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Isoler la « crainte » de la liste : c'est l'Écriture comme guide de l'adoration.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En 1985, MacArthur passait en revue ce qui tient lieu de Parole dans l'Église : techniques de gestion, divertissement, mysticisme, psychologie, visualisation, confession positive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Street : </a:t>
            </a:r>
            <a:r>
              <a:rPr lang="fr-CA" sz="1400" dirty="0"/>
              <a:t>la révélation générale n'autorise pas à chercher hors de l'Écriture l'autorité sur les problèmes de l'âme; ce serait ajouter à la Parole (Proverbes 30.5-6).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Question : </a:t>
            </a:r>
            <a:r>
              <a:rPr lang="fr-CA" sz="1400" dirty="0"/>
              <a:t>vers quoi vous tournez-vous en premier quand votre âme est troublée?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suffisance un mépris des sciences : Street reconnaît les bienfaits de la révélation naturelle en sciences et en médecine; la suffisance vise le domaine de l'âme.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la Parole est tout cela, que vaut-elle à nos yeux?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Psaume 19.11-12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 que vous désirez le plus révèle ce que vous estimez le plus.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Plus précieuse que l'or affiné (paz), plus douce que le miel des rayons (19.11) : </a:t>
            </a:r>
            <a:r>
              <a:rPr lang="fr-CA" sz="1400" dirty="0"/>
              <a:t>« L'or, dans l'Antiquité, était le bien suprême d'ici-bas »; « le délice des délices, en ce temps-là, c'était le miel » (80-251). Le plus grand bien qu'on puisse posséder, le plus grand plaisir qu'on puisse goûter (80-19; 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Elle avertit (19.12) : </a:t>
            </a:r>
            <a:r>
              <a:rPr lang="fr-CA" sz="1400" dirty="0"/>
              <a:t>« La Parole de Dieu est pleine d'avertissements. Et celui qui la connaît est dûment averti » (80-251). La KJF dit « est averti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Une récompense grande : </a:t>
            </a:r>
            <a:r>
              <a:rPr lang="fr-CA" sz="1400" dirty="0"/>
              <a:t>« La vraie récompense n'est pas ici et maintenant », ni la confession positive ni la visualisation de ce qu'on veut tout de suite (80-19). « L'hébreu se lit littéralement ainsi : en les gardant, il y a la fin. La fin »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douceur se goûte dans le respect : </a:t>
            </a:r>
            <a:r>
              <a:rPr lang="fr-CA" sz="1400" dirty="0"/>
              <a:t>les noms mêmes de la Parole commandent de l'aborder avec le plus grand respect, non avec désinvolture (Street).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Votre agenda dit ce qui est votre or. Si la Parole vous paraît fade, le diagnostic porte sur le cœur, non sur la Bible : demandez à Dieu de vous la rendre douce.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« la récompense est grande » comme une prospérité terrestre (80-19; 80-251).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qui éclaire les yeux tourne alors sa lumière vers le cœur du psalmiste.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(avec la diapositive suivante) · Psaume 19.13-15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Parole qui me montre mon péché me conduit à mon Rédempteur.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Les fautes que je ne vois pas (19.13)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Qui connaît ses égarements? » Réponse : personne, sans la Parole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Égarements : </a:t>
            </a:r>
            <a:r>
              <a:rPr lang="fr-CA" sz="1400" dirty="0"/>
              <a:t>péchés d'ignorance (TM19-6), non intentionnels, ceux pour lesquels la loi prévoyait un sacrifice (BEM, 19.13-14; Lévitique 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MacArthur lit « acquitte-moi des fautes cachées » (80-251; 80-308); la NEG79 dit « pardonne-moi », la KJF « nettoie-moi ».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Les fautes que je vois (19.14)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Les égarements sont des péchés d'ignorance. Les péchés présomptueux sont des péchés délibérés. La grande transgression est la rébellion ouverte » (TM19-6). David prie de ne jamais aller jusqu'à se détourner du Seigneur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NEG79 dit « des orgueilleux »; la KJF, « des péchés présomptueux » : ceux que je vois, prémédite et planifie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loi distinguait le péché par inadvertance, qui avait son sacrifice, et le péché commis par défi, qui n'en avait pas (Nombres 15.30-31); la BEM renvoie à Nombres 15.22ss (19.13-14).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Qu'ils ne dominent point sur moi! » : les péchés connus asservissent celui qui les commet en sachant que ce sont des péchés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n'est pas du scrupule : c'est l'attitude d'un disciple mûr que la grâce et les ressources de Dieu amènent à reconnaître et à combattre ses péchés (BEM, 19.13-14).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« des orgueilleux » (NEG79) comme des ennemis extérieurs, au détriment des péchés présomptueux.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Les paroles et le cœur offerts (19.15)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Reçois favorablement : </a:t>
            </a:r>
            <a:r>
              <a:rPr lang="fr-CA" sz="1400" dirty="0"/>
              <a:t>un terme souvent associé à l'acceptation des sacrifices; David dépose sur l'autel le sacrifice de ses lèvres et de sa vie (BEM, 19.15).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Bouche et méditation : </a:t>
            </a:r>
            <a:r>
              <a:rPr lang="fr-CA" sz="1400" dirty="0"/>
              <a:t>l'écho de Josué 1.8, la loi méditée jour et nuit (BEM, 19.15; TM19-6; 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 rocher et mon rédempteur : </a:t>
            </a:r>
            <a:r>
              <a:rPr lang="fr-CA" sz="1400" dirty="0"/>
              <a:t>le goel, le parent proche qui paie pour racheter (Lévitique 25.25). Il conduit à Christ, qui s'est donné pour nous racheter de toute iniquité (Tite 2.14); par lui, nous offrons à Dieu le sacrifice de louange, le fruit de nos lèvres (Hébreux 13.15).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Demandez à Dieu de vous sonder (Psaume 139.23-24), confessez les fautes qu'il vous montre et nommez le péché qui vous domine.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péché est le problème principal, non le seul : les faiblesses du corps et le péché des autres pèsent aussi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Quand la Parole fait son œuvre, on marche sans culpabilité, « intègre » (19.14).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les versets 13 et 14 comme un appel à l'introspection anxieuse ou à l'effort moral : c'est la grâce qui rend le disciple lucide et combatif.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Finir sur le péché sans le Rédempteur : le psaume s'achève sur la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Romains 10.17;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Récapitulation : </a:t>
            </a:r>
            <a:r>
              <a:rPr lang="fr-CA" sz="1400" dirty="0"/>
              <a:t>le ciel qui parle, assez pour condamner; la Parole qui suffit, assez pour sauver; la Parole qu'on désire plus que l'or; le cœur qui s'offre à son Rédempteur.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Rédempteur a un nom : </a:t>
            </a:r>
            <a:r>
              <a:rPr lang="fr-CA" sz="1400" dirty="0"/>
              <a:t>Dieu qui a parlé autrefois par les prophètes nous a parlé en son Fils (Hébreux 1.1-2). « Personne ne peut être sauvé, régénéré, né de nouveau sans comprendre la Parole de Dieu, en particulier la Parole de Dieu concernant la personne de Jésus-Christ » (GTY143; Romains 10.17).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les cieux vous ont parlé toute votre vie, et vous êtes sans excuse. Aujourd'hui, la Parole vous parle du Rédempteur : repentez-vous, croyez en Christ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ne cherchez pas ailleurs ce que la Parole vous donne. Désirez-la, laissez-la vous sonder, offrez-vous à Dieu. « Dans votre cœur, en ce moment, pouvez-vous prendre devant le Seigneur un engagement renouvelé à vous vouer à sa Parole? » (80-19).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Prier ensemble le verset 15, lentement,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 </a:t>
            </a:r>
            <a:r>
              <a:rPr lang="fr-CA" sz="1400" dirty="0"/>
              <a:t>les paroles de la bouche et les sentiments du cœur offerts comme un sacrifice (IV); l'Éternel, rocher et rédempteur, que le Nouveau Testament nomme en Christ (Tite 2.14).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CLUSION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Médaillon rayonnant : le ciel étoilé et le soleil au-dessus d'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234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PSAUME 19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645920"/>
            <a:ext cx="6035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ciel qui parle</a:t>
            </a:r>
            <a:endParaRPr lang="fr-CA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la Parole</a:t>
            </a:r>
            <a:endParaRPr lang="fr-CA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suffit</a:t>
            </a:r>
            <a:endParaRPr lang="fr-CA" sz="48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8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loi de l'Éternel est parfaite, elle restaure l'âme; le témoignage de l'Éternel est véritable, il rend sage l'ignorant. »</a:t>
            </a:r>
            <a:endParaRPr lang="fr-CA" sz="1800" dirty="0"/>
          </a:p>
          <a:p>
            <a:pPr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</a:t>
            </a:r>
            <a:endParaRPr lang="fr-CA" sz="18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00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9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0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1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3.16‑17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2514600" cy="2514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5720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endParaRPr lang="fr-CA" sz="1700" dirty="0"/>
          </a:p>
          <a:p>
            <a:pPr algn="ctr"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soufflée par Dieu »</a:t>
            </a:r>
            <a:endParaRPr lang="fr-CA" sz="1700" dirty="0"/>
          </a:p>
        </p:txBody>
      </p:sp>
      <p:sp>
        <p:nvSpPr>
          <p:cNvPr id="7" name="Shape 4"/>
          <p:cNvSpPr/>
          <p:nvPr/>
        </p:nvSpPr>
        <p:spPr>
          <a:xfrm>
            <a:off x="3611880" y="196596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11880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297680" y="192938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500" dirty="0"/>
          </a:p>
        </p:txBody>
      </p:sp>
      <p:sp>
        <p:nvSpPr>
          <p:cNvPr id="10" name="Shape 7"/>
          <p:cNvSpPr/>
          <p:nvPr/>
        </p:nvSpPr>
        <p:spPr>
          <a:xfrm>
            <a:off x="3611880" y="269748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2697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66090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500" dirty="0"/>
          </a:p>
        </p:txBody>
      </p:sp>
      <p:sp>
        <p:nvSpPr>
          <p:cNvPr id="13" name="Shape 10"/>
          <p:cNvSpPr/>
          <p:nvPr/>
        </p:nvSpPr>
        <p:spPr>
          <a:xfrm>
            <a:off x="3611880" y="342900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11880" y="3429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33924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3611880" y="416052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11880" y="41605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12394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500" dirty="0"/>
          </a:p>
        </p:txBody>
      </p:sp>
      <p:sp>
        <p:nvSpPr>
          <p:cNvPr id="19" name="Shape 16"/>
          <p:cNvSpPr/>
          <p:nvPr/>
        </p:nvSpPr>
        <p:spPr>
          <a:xfrm>
            <a:off x="8183880" y="1965960"/>
            <a:ext cx="3456432" cy="2926080"/>
          </a:xfrm>
          <a:prstGeom prst="roundRect">
            <a:avLst>
              <a:gd name="adj" fmla="val 3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0" y="2176272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5866" y="2289658"/>
            <a:ext cx="340157" cy="340157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9116568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RECOMMANDÉE</a:t>
            </a:r>
            <a:endParaRPr lang="fr-CA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412480" y="29260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au counseling biblique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Éditions Impact, 2021</a:t>
            </a:r>
            <a:endParaRPr lang="fr-CA" sz="1500" dirty="0"/>
          </a:p>
          <a:p>
            <a:pPr indent="0" marL="0">
              <a:spcBef>
                <a:spcPts val="8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de John Street : « Pourquoi parler de counseling biblique et non de psychologie? », sur le Psaume 19.</a:t>
            </a:r>
            <a:endParaRPr lang="fr-CA" sz="1500" dirty="0"/>
          </a:p>
        </p:txBody>
      </p:sp>
      <p:sp>
        <p:nvSpPr>
          <p:cNvPr id="24" name="Shape 20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2578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pPr indent="0" marL="0">
              <a:spcAft>
                <a:spcPts val="200"/>
              </a:spcAft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  <a:p>
            <a:pPr indent="0" marL="0">
              <a:spcAft>
                <a:spcPts val="200"/>
              </a:spcAft>
              <a:buNone/>
            </a:pPr>
            <a:r>
              <a:rPr lang="fr-CA" altLang="en-US" sz="17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psaume de David le disait déjà, dix siècles plus tôt.</a:t>
            </a:r>
            <a:endParaRPr lang="fr-CA" sz="1700" dirty="0"/>
          </a:p>
        </p:txBody>
      </p:sp>
      <p:grpSp>
        <p:nvGrpSpPr>
          <p:cNvPr id="100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6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0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1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2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PSAUME 19.5, 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D'où vient la loi?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Babylone la fait se réclamer du dieu-soleil; le Psaume 19 la remet entre les mains de l'Éternel</a:t>
            </a:r>
            <a:endParaRPr lang="fr-CA" sz="1900" dirty="0"/>
          </a:p>
        </p:txBody>
      </p:sp>
      <p:pic>
        <p:nvPicPr>
          <p:cNvPr id="5" name="Image 0" descr="Stèle stylisée : en haut, un roi debout devant le dieu-soleil; en dessous, des lignes d'écriture cunéifor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920240"/>
            <a:ext cx="2240280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519379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Stèle de Hammurabi (Louvre)</a:t>
            </a:r>
            <a:endParaRPr lang="fr-CA" sz="1500" dirty="0"/>
          </a:p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roi devant Shamash, dieu-soleil et dieu de la justice</a:t>
            </a:r>
            <a:endParaRPr lang="fr-CA" sz="1500" dirty="0"/>
          </a:p>
        </p:txBody>
      </p:sp>
      <p:sp>
        <p:nvSpPr>
          <p:cNvPr id="7" name="Shape 4"/>
          <p:cNvSpPr/>
          <p:nvPr/>
        </p:nvSpPr>
        <p:spPr>
          <a:xfrm>
            <a:off x="4343400" y="22402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8" name="Image 1" descr="Icône : sole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6786" y="2353666"/>
            <a:ext cx="340157" cy="34015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93208" y="22128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Shamash, dieu-soleil et dieu de la justice : la loi du roi se réclame de lui.</a:t>
            </a:r>
            <a:endParaRPr lang="fr-CA" sz="1500" dirty="0"/>
          </a:p>
        </p:txBody>
      </p:sp>
      <p:sp>
        <p:nvSpPr>
          <p:cNvPr id="10" name="Shape 6"/>
          <p:cNvSpPr/>
          <p:nvPr/>
        </p:nvSpPr>
        <p:spPr>
          <a:xfrm>
            <a:off x="4343400" y="36118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2" descr="Icône : livre ouv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786" y="372526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093208" y="35844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loge sous une tente que Dieu a dressée (19.5); la loi est celle de l'Éternel (19.8).</a:t>
            </a:r>
            <a:endParaRPr lang="fr-CA" sz="1500" dirty="0"/>
          </a:p>
        </p:txBody>
      </p:sp>
      <p:pic>
        <p:nvPicPr>
          <p:cNvPr id="13" name="Image 3" descr="Médaillon : le soleil sous une tente, et au-dessus un livre ouvert rayonn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920240"/>
            <a:ext cx="3108960" cy="3108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83880" y="52303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soleil, une créature</a:t>
            </a:r>
            <a:endParaRPr lang="fr-CA" sz="1500" dirty="0"/>
          </a:p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loi, entre les mains de l'Éternel</a:t>
            </a:r>
            <a:endParaRPr lang="fr-CA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allez-vous chercher la vérité qui gouverne votre vie?</a:t>
            </a:r>
            <a:endParaRPr lang="fr-CA" sz="2100" dirty="0"/>
          </a:p>
        </p:txBody>
      </p:sp>
      <p:grpSp>
        <p:nvGrpSpPr>
          <p:cNvPr id="100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16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0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1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2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3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4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5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6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7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8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· PSAUME 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hymne, deux révélations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Dieu parle sans paroles, puis par des paroles qui suffisent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 · El, Dieu de puissance</a:t>
            </a:r>
            <a:endParaRPr lang="fr-CA" sz="1500" dirty="0"/>
          </a:p>
        </p:txBody>
      </p:sp>
      <p:sp>
        <p:nvSpPr>
          <p:cNvPr id="8" name="El 1"/>
          <p:cNvSpPr/>
          <p:nvPr/>
        </p:nvSpPr>
        <p:spPr>
          <a:xfrm>
            <a:off x="4343400" y="2514600"/>
            <a:ext cx="164592" cy="164592"/>
          </a:xfrm>
          <a:prstGeom prst="ellipse">
            <a:avLst/>
          </a:prstGeom>
          <a:solidFill>
            <a:srgbClr val="6E5A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34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5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× 1</a:t>
            </a:r>
            <a:endParaRPr lang="fr-CA" sz="1500" dirty="0"/>
          </a:p>
        </p:txBody>
      </p:sp>
      <p:sp>
        <p:nvSpPr>
          <p:cNvPr id="10" name="Shape 8"/>
          <p:cNvSpPr/>
          <p:nvPr/>
        </p:nvSpPr>
        <p:spPr>
          <a:xfrm>
            <a:off x="4983480" y="1920240"/>
            <a:ext cx="6656832" cy="1600200"/>
          </a:xfrm>
          <a:prstGeom prst="roundRect">
            <a:avLst>
              <a:gd name="adj" fmla="val 6857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2084832"/>
            <a:ext cx="6108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19.8‑15</a:t>
            </a:r>
            <a:endParaRPr lang="fr-CA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395728"/>
            <a:ext cx="4462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· l'Éternel, le Dieu de l'alliance</a:t>
            </a:r>
            <a:endParaRPr lang="fr-CA" sz="1500" dirty="0"/>
          </a:p>
        </p:txBody>
      </p:sp>
      <p:sp>
        <p:nvSpPr>
          <p:cNvPr id="13" name="l'Éternel 1"/>
          <p:cNvSpPr/>
          <p:nvPr/>
        </p:nvSpPr>
        <p:spPr>
          <a:xfrm>
            <a:off x="974750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4" name="l'Éternel 2"/>
          <p:cNvSpPr/>
          <p:nvPr/>
        </p:nvSpPr>
        <p:spPr>
          <a:xfrm>
            <a:off x="999439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5" name="l'Éternel 3"/>
          <p:cNvSpPr/>
          <p:nvPr/>
        </p:nvSpPr>
        <p:spPr>
          <a:xfrm>
            <a:off x="10241280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6" name="l'Éternel 4"/>
          <p:cNvSpPr/>
          <p:nvPr/>
        </p:nvSpPr>
        <p:spPr>
          <a:xfrm>
            <a:off x="10488168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7" name="l'Éternel 5"/>
          <p:cNvSpPr/>
          <p:nvPr/>
        </p:nvSpPr>
        <p:spPr>
          <a:xfrm>
            <a:off x="10735056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8" name="l'Éternel 6"/>
          <p:cNvSpPr/>
          <p:nvPr/>
        </p:nvSpPr>
        <p:spPr>
          <a:xfrm>
            <a:off x="1098194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9" name="l'Éternel 7"/>
          <p:cNvSpPr/>
          <p:nvPr/>
        </p:nvSpPr>
        <p:spPr>
          <a:xfrm>
            <a:off x="1122883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20072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 × 7</a:t>
            </a:r>
            <a:endParaRPr lang="fr-CA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6" y="4045306"/>
            <a:ext cx="340157" cy="34015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481328" y="40050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461772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 des cieux (19.2‑5b), importance du soleil (19.5c-7)</a:t>
            </a:r>
            <a:endParaRPr lang="fr-CA" sz="1500" dirty="0"/>
          </a:p>
        </p:txBody>
      </p:sp>
      <p:sp>
        <p:nvSpPr>
          <p:cNvPr id="26" name="Shape 23"/>
          <p:cNvSpPr/>
          <p:nvPr/>
        </p:nvSpPr>
        <p:spPr>
          <a:xfrm>
            <a:off x="4983480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1208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8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5466" y="4045306"/>
            <a:ext cx="340157" cy="34015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916168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212080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19.8‑10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de la Parole</a:t>
            </a:r>
            <a:endParaRPr lang="fr-CA" sz="1500" dirty="0"/>
          </a:p>
        </p:txBody>
      </p:sp>
      <p:sp>
        <p:nvSpPr>
          <p:cNvPr id="31" name="Shape 27"/>
          <p:cNvSpPr/>
          <p:nvPr/>
        </p:nvSpPr>
        <p:spPr>
          <a:xfrm>
            <a:off x="7274052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502652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3" name="Image 2" descr="Icône : lingots d'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038" y="4045306"/>
            <a:ext cx="340157" cy="34015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206740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7502652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19.11‑12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Appréciation</a:t>
            </a:r>
            <a:endParaRPr lang="fr-CA" sz="1500" dirty="0"/>
          </a:p>
        </p:txBody>
      </p:sp>
      <p:sp>
        <p:nvSpPr>
          <p:cNvPr id="36" name="Shape 31"/>
          <p:cNvSpPr/>
          <p:nvPr/>
        </p:nvSpPr>
        <p:spPr>
          <a:xfrm>
            <a:off x="9564624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9793224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8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610" y="4045306"/>
            <a:ext cx="340157" cy="34015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0497312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793224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19.13‑15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fr-CA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548640" y="603504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pense que c'est le plus grand passage, à lui seul, sur la suffisance de l'Écriture dans toute la Bible »  (MacArthur)</a:t>
            </a:r>
            <a:endParaRPr lang="fr-CA" sz="1400" dirty="0"/>
          </a:p>
        </p:txBody>
      </p:sp>
      <p:grpSp>
        <p:nvGrpSpPr>
          <p:cNvPr id="100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2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7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1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2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3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4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5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ciel qui parle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création vous a parlé de Dieu chaque jour de votre vie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a course du soleil dans le ciel étoilé, d'une tente à l'horizon jusqu'à l'autre extrémité des cie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6400800" cy="3602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5577840"/>
            <a:ext cx="18288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5577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L'époux et le héros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2468880" y="5577840"/>
            <a:ext cx="192024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560320" y="5577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dieu ni législateur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19.5c-7</a:t>
            </a:r>
            <a:endParaRPr lang="fr-CA" sz="1400" dirty="0"/>
          </a:p>
        </p:txBody>
      </p:sp>
      <p:sp>
        <p:nvSpPr>
          <p:cNvPr id="14" name="Shape 11"/>
          <p:cNvSpPr/>
          <p:nvPr/>
        </p:nvSpPr>
        <p:spPr>
          <a:xfrm>
            <a:off x="4480560" y="5577840"/>
            <a:ext cx="25146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0" y="55778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se dérobe à sa chaleur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19.7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713232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1" descr="Icône : étoi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706" y="2079346"/>
            <a:ext cx="340157" cy="34015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882128" y="193852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proclamation incessante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Racontent », « manifeste » : la révélation ne s'interrompt jamais.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30632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2" descr="Icône : poi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06" y="3176626"/>
            <a:ext cx="340157" cy="34015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882128" y="303580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gloire, c'est le poids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Kavod : le ciel nocturne fait sentir le poids de Dieu (Street).</a:t>
            </a:r>
            <a:endParaRPr lang="fr-CA" sz="1500" dirty="0"/>
          </a:p>
        </p:txBody>
      </p:sp>
      <p:sp>
        <p:nvSpPr>
          <p:cNvPr id="22" name="Shape 17"/>
          <p:cNvSpPr/>
          <p:nvPr/>
        </p:nvSpPr>
        <p:spPr>
          <a:xfrm>
            <a:off x="7132320" y="41605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3" descr="Icône : disque moitié clair, moitié sombre : le jour et la nu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706" y="4273906"/>
            <a:ext cx="340157" cy="34015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882128" y="413308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jour en instruit un autre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verbe veut dire bouillonner : la révélation jaillit (Street).</a:t>
            </a:r>
            <a:endParaRPr lang="fr-CA" sz="1500" dirty="0"/>
          </a:p>
        </p:txBody>
      </p:sp>
      <p:sp>
        <p:nvSpPr>
          <p:cNvPr id="25" name="Shape 19"/>
          <p:cNvSpPr/>
          <p:nvPr/>
        </p:nvSpPr>
        <p:spPr>
          <a:xfrm>
            <a:off x="7132320" y="5257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6" name="Image 4" descr="Icône : globe terrest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706" y="5371186"/>
            <a:ext cx="340157" cy="34015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882128" y="5230368"/>
            <a:ext cx="3758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paroles, et partout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mots au sens littéral, mais un message qui atteint toute la terre (Romains 10.18).</a:t>
            </a:r>
            <a:endParaRPr lang="fr-CA" sz="1500" dirty="0"/>
          </a:p>
        </p:txBody>
      </p:sp>
      <p:grpSp>
        <p:nvGrpSpPr>
          <p:cNvPr id="1004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1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 / ROMAINS 1.18‑20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Assez pour condamner, jamais pour sauver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qu'on ne peut pas connaître, c'est la sagesse qui sauve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49424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9164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2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063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puissance et sa divinité</a:t>
            </a:r>
            <a:endParaRPr lang="fr-CA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593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35478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l'homme inexcusable</a:t>
            </a:r>
            <a:endParaRPr lang="fr-CA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41239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fr-CA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40782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retient la vérité captive</a:t>
            </a:r>
            <a:endParaRPr lang="fr-CA" sz="1700" dirty="0"/>
          </a:p>
        </p:txBody>
      </p:sp>
      <p:sp>
        <p:nvSpPr>
          <p:cNvPr id="19" name="Shape 16"/>
          <p:cNvSpPr/>
          <p:nvPr/>
        </p:nvSpPr>
        <p:spPr>
          <a:xfrm>
            <a:off x="6245352" y="19202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65392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49424"/>
            <a:ext cx="384048" cy="38404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388352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2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565392" y="3063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8439912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sagesse qui sauve</a:t>
            </a:r>
            <a:endParaRPr lang="fr-CA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565392" y="3593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439912" y="35478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 et transforme</a:t>
            </a:r>
            <a:endParaRPr lang="fr-CA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565392" y="41239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fr-CA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439912" y="40782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l'Esprit applique la Parole</a:t>
            </a:r>
            <a:endParaRPr lang="fr-CA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489204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489204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fr-CA" altLang="en-US" sz="28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cieux suffisent à condamner; la Parole suffit à sauver.</a:t>
            </a:r>
            <a:endParaRPr lang="fr-CA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révélation de Dieu dans le monde : assez pour condamner, assez pour damner. La révélation dans la Parole : suffisante pour sauver, suffisante pour sauver » (MacArthur)</a:t>
            </a:r>
            <a:endParaRPr lang="fr-CA" sz="1600" dirty="0"/>
          </a:p>
        </p:txBody>
      </p:sp>
      <p:grpSp>
        <p:nvGrpSpPr>
          <p:cNvPr id="1005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1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1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2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3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4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suffit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titres, six qualités, six bienfaits : six fois « l'Éternel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</a:t>
            </a:r>
            <a:endParaRPr lang="fr-CA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· NEG79 / MACARTHUR</a:t>
            </a:r>
            <a:endParaRPr lang="fr-CA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BIENFAIT</a:t>
            </a:r>
            <a:endParaRPr lang="fr-CA" sz="1300" dirty="0"/>
          </a:p>
        </p:txBody>
      </p:sp>
      <p:sp>
        <p:nvSpPr>
          <p:cNvPr id="12" name="Ligne 1"/>
          <p:cNvSpPr/>
          <p:nvPr/>
        </p:nvSpPr>
        <p:spPr>
          <a:xfrm>
            <a:off x="548640" y="219456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1945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complète</a:t>
            </a:r>
            <a:endParaRPr lang="fr-CA" sz="1600" dirty="0"/>
          </a:p>
        </p:txBody>
      </p:sp>
      <p:sp>
        <p:nvSpPr>
          <p:cNvPr id="15" name="Shape 13"/>
          <p:cNvSpPr/>
          <p:nvPr/>
        </p:nvSpPr>
        <p:spPr>
          <a:xfrm>
            <a:off x="6949440" y="248716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35240" y="226771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0" descr="Icône : cœ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3022" y="2355494"/>
            <a:ext cx="263347" cy="263347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22960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 l'âme</a:t>
            </a:r>
            <a:endParaRPr lang="fr-CA" sz="1800" dirty="0"/>
          </a:p>
        </p:txBody>
      </p:sp>
      <p:sp>
        <p:nvSpPr>
          <p:cNvPr id="19" name="Ligne 2"/>
          <p:cNvSpPr/>
          <p:nvPr/>
        </p:nvSpPr>
        <p:spPr>
          <a:xfrm>
            <a:off x="548640" y="2871216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témoignage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287121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véritable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sûr</a:t>
            </a:r>
            <a:endParaRPr lang="fr-CA" sz="1600" dirty="0"/>
          </a:p>
        </p:txBody>
      </p:sp>
      <p:sp>
        <p:nvSpPr>
          <p:cNvPr id="22" name="Shape 19"/>
          <p:cNvSpPr/>
          <p:nvPr/>
        </p:nvSpPr>
        <p:spPr>
          <a:xfrm>
            <a:off x="6949440" y="3163824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35240" y="2944368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4" name="Image 1" descr="Icône : ampou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022" y="3032150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22960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sage l'ignorant</a:t>
            </a:r>
            <a:endParaRPr lang="fr-CA" sz="1800" dirty="0"/>
          </a:p>
        </p:txBody>
      </p:sp>
      <p:sp>
        <p:nvSpPr>
          <p:cNvPr id="26" name="Ligne 3"/>
          <p:cNvSpPr/>
          <p:nvPr/>
        </p:nvSpPr>
        <p:spPr>
          <a:xfrm>
            <a:off x="548640" y="3547872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724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ordonnances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4160520" y="354787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droites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le droit chemin</a:t>
            </a:r>
            <a:endParaRPr lang="fr-CA" sz="1600" dirty="0"/>
          </a:p>
        </p:txBody>
      </p:sp>
      <p:sp>
        <p:nvSpPr>
          <p:cNvPr id="29" name="Shape 25"/>
          <p:cNvSpPr/>
          <p:nvPr/>
        </p:nvSpPr>
        <p:spPr>
          <a:xfrm>
            <a:off x="6949440" y="3840480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7635240" y="3621024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1" name="Image 2" descr="Icône : étincel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022" y="370880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822960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réjouissent le cœur</a:t>
            </a:r>
            <a:endParaRPr lang="fr-CA" sz="1800" dirty="0"/>
          </a:p>
        </p:txBody>
      </p:sp>
      <p:sp>
        <p:nvSpPr>
          <p:cNvPr id="33" name="Ligne 4"/>
          <p:cNvSpPr/>
          <p:nvPr/>
        </p:nvSpPr>
        <p:spPr>
          <a:xfrm>
            <a:off x="548640" y="4224528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7724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commandements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4160520" y="422452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clairs</a:t>
            </a:r>
            <a:endParaRPr lang="fr-CA" sz="1600" dirty="0"/>
          </a:p>
        </p:txBody>
      </p:sp>
      <p:sp>
        <p:nvSpPr>
          <p:cNvPr id="36" name="Shape 31"/>
          <p:cNvSpPr/>
          <p:nvPr/>
        </p:nvSpPr>
        <p:spPr>
          <a:xfrm>
            <a:off x="6949440" y="4517136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37" name="Shape 32"/>
          <p:cNvSpPr/>
          <p:nvPr/>
        </p:nvSpPr>
        <p:spPr>
          <a:xfrm>
            <a:off x="7635240" y="4297680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8" name="Image 3" descr="Icône : œ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022" y="4385462"/>
            <a:ext cx="263347" cy="26334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22960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éclairent les yeux</a:t>
            </a:r>
            <a:endParaRPr lang="fr-CA" sz="1800" dirty="0"/>
          </a:p>
        </p:txBody>
      </p:sp>
      <p:sp>
        <p:nvSpPr>
          <p:cNvPr id="40" name="Ligne 5"/>
          <p:cNvSpPr/>
          <p:nvPr/>
        </p:nvSpPr>
        <p:spPr>
          <a:xfrm>
            <a:off x="548640" y="4901184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7724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crainte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42" name="Text 36"/>
          <p:cNvSpPr txBox="1"/>
          <p:nvPr/>
        </p:nvSpPr>
        <p:spPr>
          <a:xfrm>
            <a:off x="4160520" y="490118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nette</a:t>
            </a:r>
            <a:endParaRPr lang="fr-CA" sz="1600" dirty="0"/>
          </a:p>
        </p:txBody>
      </p:sp>
      <p:sp>
        <p:nvSpPr>
          <p:cNvPr id="43" name="Shape 37"/>
          <p:cNvSpPr/>
          <p:nvPr/>
        </p:nvSpPr>
        <p:spPr>
          <a:xfrm>
            <a:off x="6949440" y="5193792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44" name="Shape 38"/>
          <p:cNvSpPr/>
          <p:nvPr/>
        </p:nvSpPr>
        <p:spPr>
          <a:xfrm>
            <a:off x="7635240" y="4974336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45" name="Image 4" descr="Icône : infin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3022" y="5062118"/>
            <a:ext cx="263347" cy="263347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22960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subsiste à toujours</a:t>
            </a:r>
            <a:endParaRPr lang="fr-CA" sz="1800" dirty="0"/>
          </a:p>
        </p:txBody>
      </p:sp>
      <p:sp>
        <p:nvSpPr>
          <p:cNvPr id="47" name="Ligne 6"/>
          <p:cNvSpPr/>
          <p:nvPr/>
        </p:nvSpPr>
        <p:spPr>
          <a:xfrm>
            <a:off x="548640" y="557784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77724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jugements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49" name="Text 42"/>
          <p:cNvSpPr txBox="1"/>
          <p:nvPr/>
        </p:nvSpPr>
        <p:spPr>
          <a:xfrm>
            <a:off x="4160520" y="55778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absolument vrais</a:t>
            </a:r>
            <a:endParaRPr lang="fr-CA" sz="1600" dirty="0"/>
          </a:p>
        </p:txBody>
      </p:sp>
      <p:sp>
        <p:nvSpPr>
          <p:cNvPr id="50" name="Shape 43"/>
          <p:cNvSpPr/>
          <p:nvPr/>
        </p:nvSpPr>
        <p:spPr>
          <a:xfrm>
            <a:off x="6949440" y="587044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7635240" y="565099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52" name="Image 5" descr="Icône : bala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3022" y="5738774"/>
            <a:ext cx="263347" cy="263347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822960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justes</a:t>
            </a:r>
            <a:endParaRPr lang="fr-CA" sz="1800" dirty="0"/>
          </a:p>
        </p:txBody>
      </p:sp>
      <p:grpSp>
        <p:nvGrpSpPr>
          <p:cNvPr id="1006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54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5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6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7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8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9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0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1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2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3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4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5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6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7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 / 2 PIERRE 1.16‑19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Complète, sûre, pure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On ne peut rien lui retrancher; on ne peut rien lui ajouter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24210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727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Complète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19.8a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Loi » : mieux rendue par « enseignement » (Bible d'étude).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Parfaite » : au sens de complétude, non seulement d'irréprochable.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Restaure l'âme » : convertir, transformer, régénérer par l'œuvre de l'Esprit.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S21 dit « donne du réconfort » : la Parole fait bien plus que consoler.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43205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65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1" descr="Icône : bousso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273" y="2242109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3446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Sûre et claire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19.8b-9</a:t>
            </a:r>
            <a:endParaRPr lang="fr-CA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5765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sûre que l'expérience : Pierre, témoin de la transfiguration (2 Pierre 1.16‑19).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L'« ignorant » : le naïf, sans discernement; l'Écriture lui apporte la sagesse.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Sage » : maîtriser l'art de vivre.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est le sentier » (MacArthur).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Purs » : clairs, ils éclairent les yeux.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80924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3484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2" descr="Icône : mains join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2242109"/>
            <a:ext cx="362102" cy="3621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165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et vraie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19.10</a:t>
            </a:r>
            <a:endParaRPr lang="fr-CA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3484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Crainte » : l'Écriture, guide pour l'adoration; « un manuel du culte » (MacArthur).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Nette, « sans tache, sans défaut » (MacArthur) : jamais de mise à jour.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Absolument, sans équivoque, vrai » (MacArthur).</a:t>
            </a:r>
            <a:endParaRPr lang="fr-CA" sz="1500" dirty="0"/>
          </a:p>
        </p:txBody>
      </p:sp>
      <p:grpSp>
        <p:nvGrpSpPr>
          <p:cNvPr id="1007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4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APPLICATION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tient lieu de Parole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quoi vous tournez-vous en premier quand votre âme est troublée?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ivre ouvert rayonnant au centre : la Parole qui suff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1728" y="1874520"/>
            <a:ext cx="2834640" cy="2834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2" name="Image 1" descr="Icône : graphi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217627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de gestion</a:t>
            </a:r>
            <a:endParaRPr lang="fr-CA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04088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6" name="Image 2" descr="Icône : masques de théât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09067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Divertissement</a:t>
            </a:r>
            <a:endParaRPr lang="fr-CA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4088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0" name="Image 3" descr="Icône : boule de cris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400507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Mysticisme</a:t>
            </a:r>
            <a:endParaRPr lang="fr-CA" sz="1800" dirty="0"/>
          </a:p>
        </p:txBody>
      </p:sp>
      <p:sp>
        <p:nvSpPr>
          <p:cNvPr id="22" name="Shape 16"/>
          <p:cNvSpPr/>
          <p:nvPr/>
        </p:nvSpPr>
        <p:spPr>
          <a:xfrm>
            <a:off x="7891272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046720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4" name="Image 4" descr="Icône : cervea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6448" y="2176272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759952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Psychologie</a:t>
            </a:r>
            <a:endParaRPr lang="fr-CA" sz="1800" dirty="0"/>
          </a:p>
        </p:txBody>
      </p:sp>
      <p:sp>
        <p:nvSpPr>
          <p:cNvPr id="26" name="Shape 19"/>
          <p:cNvSpPr/>
          <p:nvPr/>
        </p:nvSpPr>
        <p:spPr>
          <a:xfrm>
            <a:off x="7891272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8046720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8" name="Image 5" descr="Icône : troisième œ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3090672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759952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fr-CA" sz="1800" dirty="0"/>
          </a:p>
        </p:txBody>
      </p:sp>
      <p:sp>
        <p:nvSpPr>
          <p:cNvPr id="30" name="Shape 22"/>
          <p:cNvSpPr/>
          <p:nvPr/>
        </p:nvSpPr>
        <p:spPr>
          <a:xfrm>
            <a:off x="7891272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8046720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32" name="Image 6" descr="Icône : porte-voi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005072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759952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Confession positive</a:t>
            </a:r>
            <a:endParaRPr lang="fr-CA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48640" y="4846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qui, dans l'Église, prend la place de la Parole : MacArthur, 1985</a:t>
            </a:r>
            <a:endParaRPr lang="fr-CA" sz="1400" dirty="0"/>
          </a:p>
        </p:txBody>
      </p:sp>
      <p:sp>
        <p:nvSpPr>
          <p:cNvPr id="35" name="Shape 26"/>
          <p:cNvSpPr/>
          <p:nvPr/>
        </p:nvSpPr>
        <p:spPr>
          <a:xfrm>
            <a:off x="548640" y="534924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822960" y="534924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 : </a:t>
            </a:r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révélation générale n'autorise pas à chercher hors de l'Écriture l'autorité sur les problèmes de l'âme; ce serait ajouter à la Parole (Proverbes 30.5‑6).</a:t>
            </a:r>
            <a:endParaRPr lang="fr-CA" sz="1700" dirty="0"/>
          </a:p>
        </p:txBody>
      </p:sp>
      <p:grpSp>
        <p:nvGrpSpPr>
          <p:cNvPr id="1008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7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7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PSAUME 19.11‑12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précieuse que l'or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désirez le plus révèle ce que vous estimez le plus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Balance : l'or et le miel d'un côté, plus légers que le livre ouvert de l'au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52120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0350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1" descr="Icône : lingots d'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84848" y="193852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L'or, le bien suprême d'ici-bas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précieuse que beaucoup d'or fin, l'or affiné.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6035040" y="29260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4" name="Image 2" descr="Icône : rayon de mi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26" y="303946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84848" y="289864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miel, le délice des délices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douce que celui qui coule des rayons.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6035040" y="38862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3" descr="Icône : panneau d'avertisseme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26" y="399958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84848" y="385876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avertit (19.12)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de Dieu est pleine d'avertissements » (MacArthur).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6035040" y="48463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4" descr="Icône : drapeau d'arrivé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8426" y="495970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84848" y="481888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récompense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En les gardant, il y a la fin » : non ici et maintenant, mais la gloire à venir.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035040" y="5943600"/>
            <a:ext cx="5605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agenda dit ce qui est votre or.</a:t>
            </a:r>
            <a:endParaRPr lang="fr-CA" sz="2000" dirty="0"/>
          </a:p>
        </p:txBody>
      </p:sp>
      <p:grpSp>
        <p:nvGrpSpPr>
          <p:cNvPr id="1009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19.13‑14 / NOMBRES 15.22‑31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sondé et gardé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Qui connaît ses égarements? » Réponse : personne, sans la Parole (Street)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02152" cy="3063240"/>
          </a:xfrm>
          <a:prstGeom prst="roundRect">
            <a:avLst>
              <a:gd name="adj" fmla="val 3582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œil barr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24210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3832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CA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8529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Égarements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d'ignorance, non intentionnels.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804672" y="4041648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" y="4041648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Lévitique 4 : un sacrifice prévu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4507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Pardonne-moi » : acquitte-moi</a:t>
            </a:r>
            <a:endParaRPr lang="fr-CA" sz="1500" dirty="0"/>
          </a:p>
        </p:txBody>
      </p:sp>
      <p:sp>
        <p:nvSpPr>
          <p:cNvPr id="17" name="Shape 14"/>
          <p:cNvSpPr/>
          <p:nvPr/>
        </p:nvSpPr>
        <p:spPr>
          <a:xfrm>
            <a:off x="4078224" y="3429000"/>
            <a:ext cx="219456" cy="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320540" y="1920240"/>
            <a:ext cx="3502152" cy="3063240"/>
          </a:xfrm>
          <a:prstGeom prst="roundRect">
            <a:avLst>
              <a:gd name="adj" fmla="val 3582"/>
            </a:avLst>
          </a:prstGeom>
          <a:solidFill>
            <a:srgbClr val="22150F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65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1" descr="Icône : ci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273" y="2242109"/>
            <a:ext cx="362102" cy="3621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551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CC55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CA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4576572" y="28529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présomptueux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Délibérés : ceux que je vois, prémédite et planifie.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4576572" y="4041648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6572" y="4041648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 15.30‑31 : aucun sacrifice</a:t>
            </a:r>
            <a:endParaRPr lang="fr-CA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6572" y="4507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Préserve aussi ton serviteur »</a:t>
            </a:r>
            <a:endParaRPr lang="fr-CA" sz="1500" dirty="0"/>
          </a:p>
        </p:txBody>
      </p:sp>
      <p:sp>
        <p:nvSpPr>
          <p:cNvPr id="26" name="Shape 22"/>
          <p:cNvSpPr/>
          <p:nvPr/>
        </p:nvSpPr>
        <p:spPr>
          <a:xfrm>
            <a:off x="7850124" y="3429000"/>
            <a:ext cx="219456" cy="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8092440" y="1920240"/>
            <a:ext cx="3502152" cy="3063240"/>
          </a:xfrm>
          <a:prstGeom prst="roundRect">
            <a:avLst>
              <a:gd name="adj" fmla="val 3582"/>
            </a:avLst>
          </a:prstGeom>
          <a:solidFill>
            <a:srgbClr val="2A1A10"/>
          </a:solidFill>
          <a:ln w="31750">
            <a:solidFill>
              <a:srgbClr val="E8742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3484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9" name="Image 2" descr="Icône : personne qui s'éloig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2242109"/>
            <a:ext cx="362102" cy="3621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0927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CA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8348472" y="28529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transgression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rébellion ouverte : se détourner du Seigneur.</a:t>
            </a:r>
            <a:endParaRPr lang="fr-CA" sz="1500" dirty="0"/>
          </a:p>
        </p:txBody>
      </p:sp>
      <p:sp>
        <p:nvSpPr>
          <p:cNvPr id="32" name="Shape 27"/>
          <p:cNvSpPr/>
          <p:nvPr/>
        </p:nvSpPr>
        <p:spPr>
          <a:xfrm>
            <a:off x="8348472" y="4041648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E8742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348472" y="4041648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terme de la pente</a:t>
            </a:r>
            <a:endParaRPr lang="fr-CA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8348472" y="4507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Innocent de grands péchés »</a:t>
            </a:r>
            <a:endParaRPr lang="fr-CA" sz="1500" dirty="0"/>
          </a:p>
        </p:txBody>
      </p:sp>
      <p:sp>
        <p:nvSpPr>
          <p:cNvPr id="35" name="Shape 30"/>
          <p:cNvSpPr/>
          <p:nvPr/>
        </p:nvSpPr>
        <p:spPr>
          <a:xfrm>
            <a:off x="548640" y="5212080"/>
            <a:ext cx="5440680" cy="1143000"/>
          </a:xfrm>
          <a:prstGeom prst="roundRect">
            <a:avLst>
              <a:gd name="adj" fmla="val 960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77240" y="541324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7" name="Image 3" descr="Icône : chaî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6" y="5526634"/>
            <a:ext cx="340157" cy="340157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527048" y="5385816"/>
            <a:ext cx="4279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Qu'ils ne dominent point sur moi! »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péchés connus asservissent (Street).</a:t>
            </a:r>
            <a:endParaRPr lang="fr-CA" sz="1500" dirty="0"/>
          </a:p>
        </p:txBody>
      </p:sp>
      <p:sp>
        <p:nvSpPr>
          <p:cNvPr id="39" name="Shape 33"/>
          <p:cNvSpPr/>
          <p:nvPr/>
        </p:nvSpPr>
        <p:spPr>
          <a:xfrm>
            <a:off x="6199632" y="5212080"/>
            <a:ext cx="5440680" cy="1143000"/>
          </a:xfrm>
          <a:prstGeom prst="roundRect">
            <a:avLst>
              <a:gd name="adj" fmla="val 96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6428232" y="541324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41" name="Image 4" descr="Icône : colom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618" y="5526634"/>
            <a:ext cx="340157" cy="340157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178040" y="5385816"/>
            <a:ext cx="4279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disciple mûr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grâce et les ressources de Dieu amènent à reconnaître et à combattre ses péchés.</a:t>
            </a:r>
            <a:endParaRPr lang="fr-CA" sz="1500" dirty="0"/>
          </a:p>
        </p:txBody>
      </p:sp>
      <p:grpSp>
        <p:nvGrpSpPr>
          <p:cNvPr id="101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3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7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8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9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0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1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2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3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4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5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6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qui s'offre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Reçois favorablement les paroles de ma bouche et les sentiments de mon cœur »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Autel de pierres où brûle une flamme; au-dessus s'élèvent un cœur et une bulle de pa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74520"/>
            <a:ext cx="434340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1206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1" descr="Icône : flam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0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0448" y="193852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Reçois favorablement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vocabulaire des sacrifices agréés : David dépose sur l'autel ses lèvres et sa vie.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5120640" y="2971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4" name="Image 2" descr="Icône : parchem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026" y="308518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70448" y="294436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Bouche et méditation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L'écho de Josué 1.8 : la loi méditée jour et nuit.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5120640" y="39776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3" descr="Icône : ro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026" y="409102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70448" y="395020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rocher et mon rédempteur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goel : le parent proche qui paie pour racheter (Lévitique 25.25).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5120640" y="49834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4" descr="Icône : croi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4026" y="509686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0448" y="495604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s'est donné pour nous racheter (Tite 2.14); par lui, le sacrifice de louange (Hébreux 13.15).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5120640" y="5989320"/>
            <a:ext cx="6519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à Dieu de vous sonder (Psaume 139.23‑24).</a:t>
            </a:r>
            <a:endParaRPr lang="fr-CA" sz="1900" dirty="0"/>
          </a:p>
        </p:txBody>
      </p:sp>
      <p:grpSp>
        <p:nvGrpSpPr>
          <p:cNvPr id="101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APPEL · ROMAINS 10.17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conduit au Rédempteur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suffisent à condamner; la Parole suffit à sauver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1554480" y="2331720"/>
            <a:ext cx="8503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18872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7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93976"/>
            <a:ext cx="466344" cy="4663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150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0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093976"/>
            <a:ext cx="466344" cy="4663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1178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</p:txBody>
      </p:sp>
      <p:sp>
        <p:nvSpPr>
          <p:cNvPr id="12" name="Shape 8"/>
          <p:cNvSpPr/>
          <p:nvPr/>
        </p:nvSpPr>
        <p:spPr>
          <a:xfrm>
            <a:off x="566928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3" name="Image 2" descr="Icône : lingots d'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093976"/>
            <a:ext cx="466344" cy="4663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5206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</p:txBody>
      </p:sp>
      <p:sp>
        <p:nvSpPr>
          <p:cNvPr id="15" name="Shape 10"/>
          <p:cNvSpPr/>
          <p:nvPr/>
        </p:nvSpPr>
        <p:spPr>
          <a:xfrm>
            <a:off x="790956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2093976"/>
            <a:ext cx="466344" cy="4663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92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</p:txBody>
      </p:sp>
      <p:sp>
        <p:nvSpPr>
          <p:cNvPr id="18" name="Shape 12"/>
          <p:cNvSpPr/>
          <p:nvPr/>
        </p:nvSpPr>
        <p:spPr>
          <a:xfrm>
            <a:off x="10058400" y="1810512"/>
            <a:ext cx="1051560" cy="1051560"/>
          </a:xfrm>
          <a:prstGeom prst="ellipse">
            <a:avLst/>
          </a:prstGeom>
          <a:solidFill>
            <a:srgbClr val="CC5500"/>
          </a:solidFill>
          <a:ln w="25400">
            <a:solidFill>
              <a:srgbClr val="E8742A"/>
            </a:solidFill>
            <a:prstDash val="solid"/>
          </a:ln>
        </p:spPr>
      </p:sp>
      <p:pic>
        <p:nvPicPr>
          <p:cNvPr id="19" name="Image 4" descr="Icône : croi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2039112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578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</a:t>
            </a:r>
            <a:endParaRPr lang="fr-CA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229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9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nous a parlé en son Fils (Hébreux 1.1‑2).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Personne ne peut être sauvé, régénéré, né de nouveau sans comprendre la Parole de Dieu, en particulier la Parole de Dieu concernant la personne de Jésus-Christ » (MacArthur).</a:t>
            </a:r>
            <a:endParaRPr lang="fr-CA" sz="1500" dirty="0"/>
          </a:p>
        </p:txBody>
      </p:sp>
      <p:sp>
        <p:nvSpPr>
          <p:cNvPr id="24" name="Shape 17"/>
          <p:cNvSpPr/>
          <p:nvPr/>
        </p:nvSpPr>
        <p:spPr>
          <a:xfrm>
            <a:off x="43205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5948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45948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vous ont parlé toute votre vie : vous êtes sans excuse. Aujourd'hui, la Parole vous parle du Rédempteur.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Repentez-vous, croyez en Christ et soumettez-vous à lui comme Seigneur.</a:t>
            </a:r>
            <a:endParaRPr lang="fr-CA" sz="1500" dirty="0"/>
          </a:p>
        </p:txBody>
      </p:sp>
      <p:sp>
        <p:nvSpPr>
          <p:cNvPr id="27" name="Shape 20"/>
          <p:cNvSpPr/>
          <p:nvPr/>
        </p:nvSpPr>
        <p:spPr>
          <a:xfrm>
            <a:off x="80924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3667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900" dirty="0"/>
          </a:p>
        </p:txBody>
      </p:sp>
      <p:sp>
        <p:nvSpPr>
          <p:cNvPr id="29" name="Text 22"/>
          <p:cNvSpPr txBox="1"/>
          <p:nvPr/>
        </p:nvSpPr>
        <p:spPr>
          <a:xfrm>
            <a:off x="83667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cherchez pas ailleurs ce que la Parole vous donne. Désirez-la, laissez-la vous sonder, offrez-vous à Dieu.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Dans votre cœur, en ce moment, pouvez-vous prendre devant le Seigneur un engagement renouvelé à vous vouer à sa Parole? » (MacArthur)</a:t>
            </a:r>
            <a:endParaRPr lang="fr-CA" sz="1500" dirty="0"/>
          </a:p>
        </p:txBody>
      </p:sp>
      <p:grpSp>
        <p:nvGrpSpPr>
          <p:cNvPr id="101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Prions ensemble</a:t>
            </a:r>
            <a:endParaRPr lang="fr-CA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7223760" cy="4480560"/>
          </a:xfrm>
          <a:prstGeom prst="roundRect">
            <a:avLst>
              <a:gd name="adj" fmla="val 24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5" name="Prière"/>
          <p:cNvSpPr txBox="1"/>
          <p:nvPr/>
        </p:nvSpPr>
        <p:spPr>
          <a:xfrm>
            <a:off x="914400" y="1874520"/>
            <a:ext cx="6492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Reçois favorablement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paroles de ma bouche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les sentiments de mon cœur,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Ô Éternel, mon rocher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mon rédempteur!</a:t>
            </a:r>
            <a:endParaRPr lang="fr-CA" sz="3200" dirty="0"/>
          </a:p>
          <a:p>
            <a:pPr indent="0" marL="0">
              <a:lnSpc>
                <a:spcPct val="105000"/>
              </a:lnSpc>
              <a:spcBef>
                <a:spcPts val="1400"/>
              </a:spcBef>
              <a:buNone/>
            </a:pPr>
            <a:r>
              <a:rPr lang="fr-CA" altLang="en-US" sz="15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19.15</a:t>
            </a:r>
            <a:endParaRPr lang="fr-CA" sz="3200" dirty="0"/>
          </a:p>
        </p:txBody>
      </p:sp>
      <p:pic>
        <p:nvPicPr>
          <p:cNvPr id="6" name="Illustration" descr="Médaillon rayonnant : le ciel étoilé et le soleil au-dessus d'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011680"/>
            <a:ext cx="3520440" cy="3520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6384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ciel qui parle à la Parole qui suffit</a:t>
            </a:r>
            <a:endParaRPr lang="fr-CA" sz="1500" dirty="0"/>
          </a:p>
        </p:txBody>
      </p:sp>
      <p:grpSp>
        <p:nvGrpSpPr>
          <p:cNvPr id="101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0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1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lack Dark Orange Brûlée">
  <a:themeElements>
    <a:clrScheme name="Black Dark Orange Brûlée">
      <a:dk1>
        <a:srgbClr val="0D0B0A"/>
      </a:dk1>
      <a:lt1>
        <a:srgbClr val="F4EDE4"/>
      </a:lt1>
      <a:dk2>
        <a:srgbClr val="1A1411"/>
      </a:dk2>
      <a:lt2>
        <a:srgbClr val="A89A8C"/>
      </a:lt2>
      <a:accent1>
        <a:srgbClr val="CC5500"/>
      </a:accent1>
      <a:accent2>
        <a:srgbClr val="E8742A"/>
      </a:accent2>
      <a:accent3>
        <a:srgbClr val="7A3310"/>
      </a:accent3>
      <a:accent4>
        <a:srgbClr val="6E5A4C"/>
      </a:accent4>
      <a:accent5>
        <a:srgbClr val="2A1A10"/>
      </a:accent5>
      <a:accent6>
        <a:srgbClr val="968A80"/>
      </a:accent6>
      <a:hlink>
        <a:srgbClr val="E8742A"/>
      </a:hlink>
      <a:folHlink>
        <a:srgbClr val="A89A8C"/>
      </a:folHlink>
    </a:clrScheme>
    <a:fontScheme name="Black Dark Orange Brûlé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 ciel qui parle à la Parole qui suffit</dc:title>
  <dc:subject>Prédication sur le Psaume 19</dc:subject>
  <dc:creator>André-Guy Bruneau</dc:creator>
  <cp:lastModifiedBy>André-Guy Bruneau</cp:lastModifiedBy>
  <cp:revision>1</cp:revision>
  <dcterms:created xsi:type="dcterms:W3CDTF">2026-10-02T11:32:53Z</dcterms:created>
  <dcterms:modified xsi:type="dcterms:W3CDTF">2026-10-02T11:32:53Z</dcterms:modified>
</cp:coreProperties>
</file>