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Créés à son image, restaurés en Christ, transformés par l'Esprit, 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voie qu'il porte une image qu'il ne peut restaurer et un commandement qu'il n'a jamais accompli, et se tourne vers Christ; que le croyant repose sa sanctification sur le dessein de Dieu et l'œuvre de l'Esprit, contemple Christ dans la Parole et fasse des disciples.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NEG79; Jérémie 31.33 en NBS.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Lectures recommandées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Stephen Yuille, Le sentier de la vie. La richesse du Psaume 119 (Europresse);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John Owen, Communion with God (Puritan Paperbacks, abrégé par R. J. K. Law).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IV : </a:t>
            </a:r>
            <a:r>
              <a:rPr lang="fr-CA" sz="1400" dirty="0"/>
              <a:t>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Genèse 1.27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Égypte : </a:t>
            </a:r>
            <a:r>
              <a:rPr lang="fr-CA" sz="1400" dirty="0"/>
              <a:t>le pharaon en portait le titre; Toutânkhamon signifie « image vivante d'Amon ».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Mésopotamie : </a:t>
            </a:r>
            <a:r>
              <a:rPr lang="fr-CA" sz="1400" dirty="0"/>
              <a:t>le roi dressait son effigie aux confins de ses territoires pour y marquer sa souveraineté.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</a:t>
            </a:r>
            <a:r>
              <a:rPr lang="fr-CA" sz="1400" dirty="0"/>
              <a:t>(eikôn dans la Septante) désigne ailleurs les statues cultuelles (Nb 33.52; 2 R 11.18).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Vous aussi, vous portez une image. Laquelle?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Qu'est-il arrivé à cette image, et que Dieu en fait-il?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Six étapes, un seul arc : l'image créée, parfaite, promise, transformée, qui aime, envoyée.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Colossiens 1.15; Philippiens 2.6-7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Christ est ce que l'homme n'est plus.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L'Image incréée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Eikôn : </a:t>
            </a: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Mais en un autre sens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Christ est, de toute éternité, la ressemblance parfaite de Dieu, sa représentation et sa manifestation (Ph 2.6; Jn 14.9), une reproduction exacte, sans rien de manquant ni d'altéré (2135; Hé 1.3).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existant en forme de Dieu, « il s'est dépouillé lui-même, en prenant une forme de serviteur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non de sa divinité : « il n'a jamais cessé d'être Dieu » (50-16);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mais de sa gloire céleste et de l'usage volontaire de ses prérogatives.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Premier-né : le rang, non la naissance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premier-né est l'héritier, qu'il soit l'aîné ou non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Christ n'est pas la première créature : il a créé toutes choses (1.16); il a la prééminence et le droit d'héritage (1.18; Hé 1.2).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savoir ce qu'est l'homme tel que Dieu l'a voulu regarde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connaître Dieu n'a besoin d'aucun intermédiaire : il le voit en Christ.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Christ est l'image parfaite, que Dieu fait-il de ceux qu'il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Projeter « l'image de Christ » sur Moïse : montrer le chemin tselem → eikôn → Col 1.15 → Rm 8.29 → 2 Co 3.18.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Présenter « premier-né » comme un ordre de naissance.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kénose un abandon de la divinité (50-16).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Romains 8.29; Éphésiens 1.4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Dieu a décidé d'avance la fin de votre salut, et cette fin, c'est Christ en vous.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Trois expressions du verset 29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(note sur Rm 8.29; Ac 2.23; 1 P 1.2, 20).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même conseil éternel que le « Faisons » : « En lui Dieu nous a élus avant la fondation du monde » (Ép 1.4).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Prédestinés à être semblables à l'image de son Fils » : </a:t>
            </a: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Sainteté maintenant, corps glorifié à la fin (Ph 3.21).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Premier-né de beaucoup de frères » : </a:t>
            </a:r>
            <a:r>
              <a:rPr lang="fr-CA" sz="1400" dirty="0"/>
              <a:t>la fin dernière du salut est la gloire du Fils; ses frères lui ressemblent sans jamais être ses égaux.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Connus d'avance, prédestinés, appelés, justifiés, glorifiés (8.29-30) : aucun maillon ne manque.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que Dieu a décrété, il l'achèvera : c'est la sécurité du croyant.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épreuves de 8.28 servent ce but.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ne voyons pas encore cette ressemblance achevée. Comment Dieu nous y conduit-il, aujourd'hui?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Contourner l'élection pour ne garder qu'un « imitez Jésus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entendre que le croyant deviendra ce que Christ est par essence : Christ est l'image par nature, le croyant y est transformé par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2 Corinthiens 3.18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on devient semblable à ce que l'on contemple.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visage découvert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 (3.14-16).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Nous tous » : </a:t>
            </a:r>
            <a:r>
              <a:rPr lang="fr-CA" sz="1400" dirty="0"/>
              <a:t>tous les croyants; rien ne s'interpose plus entre eux et la vision du Seigneur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Contempler dans le miroir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On ne reflète que ce qu'on contemple.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miroir, c'est l'Écriture : </a:t>
            </a:r>
            <a:r>
              <a:rPr lang="fr-CA" sz="1400" dirty="0"/>
              <a:t>la gloire de Dieu s'y voit sur la face de Jésus-Christ (90-75; 4.6). 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Transformés par l'Esprit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Metamorphoô : </a:t>
            </a:r>
            <a:r>
              <a:rPr lang="fr-CA" sz="1400" dirty="0"/>
              <a:t>présent passif, « une action de transformation continue et progressive » (47-21). Nous ne nous transformons pas; nous sommes transformés.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[…] passer d'un degré de gloire au suivant en contemplant la gloire du Seigneur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(47-21), jusqu'à ce que nous lui soyons semblables (1 Jn 3.2).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moyen est fixé : contempler Christ dans sa Parole, et l'Esprit fait l'œuvre.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Celui qui délaisse l'Écriture se prive du miroir.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À quoi reconnaît-on cette image qui grandit? À ce que Dieu avait mis au centre : le cœur qui aime.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le « reflète » de la NEG79 effacer le moyen : le croyant reflète Christ parce qu'il le contemple dans la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 · Matthieu 22.37-40; Jérémie 31.33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loi que je ne peux accomplir, Dieu l'écrit sur mon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commandement que tous connaissaient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Shema, récité matin et soir (Dt 6.5), et par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Tu aimeras » : </a:t>
            </a:r>
            <a:r>
              <a:rPr lang="fr-CA" sz="1400" dirty="0"/>
              <a:t>l'amour de la volonté, de tout l'être.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second découle du premier : 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 commandement qui accuse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n'a aimé Dieu ainsi.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loi écrite sur le cœur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cœur, c'est la personne intérieure </a:t>
            </a:r>
            <a:r>
              <a:rPr lang="fr-CA" sz="1400" dirty="0"/>
              <a:t>(1 Ch 28.9); ses trois dimensions sont celles de l'image (point I.B)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Rationnel </a:t>
            </a:r>
            <a:r>
              <a:rPr lang="fr-CA" sz="1400" dirty="0"/>
              <a:t>(Jn 1.1; 1 Jn 1.1) : le cœur qui pense; Dieu parle en Christ, le Logos (43-2), et renouvelle la pensée.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 </a:t>
            </a:r>
            <a:r>
              <a:rPr lang="fr-CA" sz="1400" dirty="0"/>
              <a:t>(Ps 51.12) : le cœur pur qui juge le bien et le mal; le cœur est tortueux (Jr 17.9), Dieu seul en crée un pur.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Relationnel </a:t>
            </a:r>
            <a:r>
              <a:rPr lang="fr-CA" sz="1400" dirty="0"/>
              <a:t>(Mt 22.37-40) : le cœur qui aime; Dieu répand son amour dans nos cœurs par l'Esprit (Rm 5.5).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l'aimons parce qu'il nous a aimés le premier (1 Jn 4.19), et cet amour se prouve par l'obéissance (Jn 14.15).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Et le prochain que nous aimons, que lui devons-nous d'abord?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une exhortation à aimer davantage, sans la loi qui accuse, la croix qui pardonne et l'Esprit qui écrit la loi sur le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Matthieu 28.19-20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ceux que Dieu restaure à son image, il les envoie.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mandat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Tout ce que je vous ai prescrit » : </a:t>
            </a:r>
            <a:r>
              <a:rPr lang="fr-CA" sz="1400" dirty="0"/>
              <a:t>y compris le grand commandement;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Je suis avec vous tous les jours » : </a:t>
            </a:r>
            <a:r>
              <a:rPr lang="fr-CA" sz="1400" dirty="0"/>
              <a:t>jusqu'à son retour (2405).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Aimer son prochain, c'est d'abord lui annoncer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Qui, cette semaine, entendra de vous l'Évangile?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l'envoi à un appel aux missionnaires : il concerne tout disciple.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2 Corinthiens 3.18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Récapitulation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créés à son image (Gn 1.26-27),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ternis par le péché (Gn 5.3),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restaurés en Christ (Col 1.15),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promis à sa ressemblance (Rm 8.29),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transformés par l'Esprit (2 Co 3.18),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renouvelés au cœur (Jr 31.33),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aimés et envoyés en son nom (Mt 22.37-40; 28.19).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Christ, la Parole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Dieu qui a soufflé l'Écriture (Rappel) se fait voir en son Fils, le Logos (Jn 1.1).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dans la Parole qu'on le contemple, et l'Esprit transforme en son image, de gloire en gloire.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vous portez l'image de Dieu, et vous n'avez jamais aimé Dieu de tout votre cœur. Christ seul pardonne et restaure : repentez-vous, croyez en lui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Dieu achèvera en vous ce qu'il a décidé avant la fondation du monde; nous serons semblables à lui (1 Jn 3.2). Contemplez Christ dans sa Parole; c'est ainsi que l'Esprit vous transforme. Et allez : faites des disciples.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La Régénération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Source : </a:t>
            </a:r>
            <a:r>
              <a:rPr lang="fr-CA" sz="1400" dirty="0"/>
              <a:t>La Vallée de la vision, prières puritaines réunies par Arthur Bennett.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J’étais mort dans l’iniquité, mais ton Esprit m’a vivifié » : Ép 2.1, 5; l'Esprit qui transforme (IV).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Aucune provocation ne peut me séparer de ta bienveillance » : Rm 8.35-39; ce que Dieu a décrété, il l'achèvera (III).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Que je sois désormais sel de la terre » : Mt 5.13; l'image envoyée (VI).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fr-CA" altLang="en-US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algn="l" indent="0" marL="0">
              <a:lnSpc>
                <a:spcPct val="95000"/>
              </a:lnSpc>
              <a:buNone/>
            </a:pPr>
            <a:r>
              <a:rPr lang="fr-CA" altLang="en-US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705" cy="1422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fr-CA" altLang="en-US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9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099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00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9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0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1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2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3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4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5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6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7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18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700" y="2311400"/>
            <a:ext cx="2540000" cy="2540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009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pPr algn="ctr"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3822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56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6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330700" y="2032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indent="0" marL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3556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6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330700" y="2857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indent="0" marL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3556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56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330700" y="3683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indent="0" marL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3556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56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330700" y="4508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indent="0" marL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3556000" y="5638800"/>
            <a:ext cx="8089900" cy="635000"/>
          </a:xfrm>
          <a:prstGeom prst="roundRect">
            <a:avLst>
              <a:gd name="adj" fmla="val 1728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84600" y="5638800"/>
            <a:ext cx="76327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2" name="Couverture du livre" descr="Couverture du livre « Le sentier de la vie – La richesse du Psaume 119 », de Stephen Yuille (Europresse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6070" y="2374265"/>
            <a:ext cx="1741170" cy="2785872"/>
          </a:xfrm>
          <a:prstGeom prst="rect">
            <a:avLst/>
          </a:prstGeom>
        </p:spPr>
      </p:pic>
      <p:grpSp>
        <p:nvGrpSpPr>
          <p:cNvPr id="100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4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5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6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7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8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29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0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1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2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3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  <p:pic>
        <p:nvPicPr>
          <p:cNvPr id="34" name="Couverture du livre (Owen)" descr="Couverture du livre « Communion with God », de John Owen (Puritan Paperbacks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1499" y="2419223"/>
            <a:ext cx="1847977" cy="27858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/ eikôn</a:t>
            </a:r>
            <a:pPr indent="0" marL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100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80583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 : </a:t>
            </a:r>
            <a:pPr indent="0" marL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pPr indent="0" marL="0">
              <a:buNone/>
            </a:pPr>
            <a:r>
              <a:rPr lang="fr-CA" altLang="en-US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3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92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5" name="Image 0" descr="Icône : cervea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76" y="2688336"/>
            <a:ext cx="384048" cy="38404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80060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- Logos</a:t>
            </a:r>
            <a:endParaRPr lang="fr-CA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</a:t>
            </a:r>
            <a:endParaRPr lang="fr-CA" sz="1500" dirty="0"/>
          </a:p>
        </p:txBody>
      </p:sp>
      <p:sp>
        <p:nvSpPr>
          <p:cNvPr id="18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8867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0" name="Image 1" descr="Icône : balan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716" y="2688336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7804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- Éthique</a:t>
            </a:r>
            <a:endParaRPr lang="fr-CA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3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02641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5" name="Image 2" descr="Icône : cœu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92156" y="2688336"/>
            <a:ext cx="384048" cy="3840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55548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Communion - Affection</a:t>
            </a:r>
            <a:endParaRPr lang="fr-CA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29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0" name="Image 3" descr="Icône : couron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2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3" name="Image 4" descr="Icône : deux personn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5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6" name="Image 5" descr="Icône : personn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100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8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3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4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5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6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7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8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  <p:grpSp>
        <p:nvGrpSpPr>
          <p:cNvPr id="1004" name="Schéma Trinité"/>
          <p:cNvGrpSpPr/>
          <p:nvPr/>
        </p:nvGrpSpPr>
        <p:grpSpPr>
          <a:xfrm>
            <a:off x="97155" y="1595120"/>
            <a:ext cx="4475988" cy="4027805"/>
            <a:chOff x="97155" y="1595120"/>
            <a:chExt cx="4475988" cy="4027805"/>
          </a:xfrm>
        </p:grpSpPr>
        <p:pic>
          <p:nvPicPr>
            <p:cNvPr id="49" name="Trinité" descr="Père, Fils et Esprit en communion autour du nom de Dieu">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7155" y="1595120"/>
              <a:ext cx="4475988" cy="4027805"/>
            </a:xfrm>
            <a:prstGeom prst="rect">
              <a:avLst/>
            </a:prstGeom>
          </p:spPr>
        </p:pic>
        <p:sp>
          <p:nvSpPr>
            <p:cNvPr id="50" name="Légende : Périchorèse"/>
            <p:cNvSpPr txBox="1"/>
            <p:nvPr/>
          </p:nvSpPr>
          <p:spPr>
            <a:xfrm>
              <a:off x="972312" y="4995799"/>
              <a:ext cx="2632202" cy="485648"/>
            </a:xfrm>
            <a:prstGeom prst="rect">
              <a:avLst/>
            </a:prstGeom>
            <a:noFill/>
            <a:ln/>
          </p:spPr>
          <p:txBody>
            <a:bodyPr wrap="none" rtlCol="0" anchor="ctr"/>
            <a:lstStyle/>
            <a:p>
              <a:pPr algn="ctr" indent="0" marL="0">
                <a:buNone/>
              </a:pPr>
              <a:r>
                <a:rPr lang="fr-CA" altLang="en-US" sz="2400" b="1" i="1" dirty="0">
                  <a:solidFill>
                    <a:srgbClr val="E8742A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Périchorèse</a:t>
              </a:r>
              <a:endParaRPr lang="fr-CA" sz="2400" dirty="0"/>
            </a:p>
          </p:txBody>
        </p:sp>
      </p:grpSp>
      <p:sp>
        <p:nvSpPr>
          <p:cNvPr id="51" name="Légende : Relation Divine"/>
          <p:cNvSpPr txBox="1"/>
          <p:nvPr/>
        </p:nvSpPr>
        <p:spPr>
          <a:xfrm>
            <a:off x="1013206" y="1691259"/>
            <a:ext cx="2632202" cy="4856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ctr" indent="0" marL="0">
              <a:buNone/>
            </a:pPr>
            <a:r>
              <a:rPr lang="fr-CA" altLang="en-US" sz="2400" b="1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 Divine</a:t>
            </a:r>
            <a:endParaRPr lang="fr-CA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fr-CA" altLang="en-US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algn="ctr" indent="0" marL="0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1005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5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6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7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8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1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2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3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4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5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5897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</p:sp>
      <p:sp>
        <p:nvSpPr>
          <p:cNvPr id="12" name="Étape 1 (texte)"/>
          <p:cNvSpPr txBox="1"/>
          <p:nvPr/>
        </p:nvSpPr>
        <p:spPr>
          <a:xfrm>
            <a:off x="647395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749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</p:sp>
      <p:sp>
        <p:nvSpPr>
          <p:cNvPr id="14" name="Étape 2 (texte)"/>
          <p:cNvSpPr txBox="1"/>
          <p:nvPr/>
        </p:nvSpPr>
        <p:spPr>
          <a:xfrm>
            <a:off x="2892247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601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</p:sp>
      <p:sp>
        <p:nvSpPr>
          <p:cNvPr id="16" name="Étape 3 (texte)"/>
          <p:cNvSpPr txBox="1"/>
          <p:nvPr/>
        </p:nvSpPr>
        <p:spPr>
          <a:xfrm>
            <a:off x="5137099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453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</p:sp>
      <p:sp>
        <p:nvSpPr>
          <p:cNvPr id="18" name="Étape 4 (texte)"/>
          <p:cNvSpPr txBox="1"/>
          <p:nvPr/>
        </p:nvSpPr>
        <p:spPr>
          <a:xfrm>
            <a:off x="7381951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305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</p:sp>
      <p:sp>
        <p:nvSpPr>
          <p:cNvPr id="20" name="Étape 5 (texte)"/>
          <p:cNvSpPr txBox="1"/>
          <p:nvPr/>
        </p:nvSpPr>
        <p:spPr>
          <a:xfrm>
            <a:off x="9626803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indent="0" marL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1006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9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6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indent="0" marL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497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94606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6" name="Image 1" descr="Icône : œ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7992" y="3503981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606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606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585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930695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1" name="Image 2" descr="Icône : livre ouv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4080" y="3503981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695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695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5674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466783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6" name="Image 3" descr="Icône : oisea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0169" y="3503981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783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783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497" y="5639105"/>
            <a:ext cx="7403897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600" dirty="0"/>
          </a:p>
          <a:p>
            <a:pPr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600" dirty="0"/>
          </a:p>
        </p:txBody>
      </p:sp>
      <p:grpSp>
        <p:nvGrpSpPr>
          <p:cNvPr id="1007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9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0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8" name="Image 1" descr="Icône : cervea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2" name="Image 2" descr="Icône : balan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6" name="Image 3" descr="Icône : cœu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1008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7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38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fr-CA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18" name="Image 1" descr="Icône : personne en march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3" name="Image 2" descr="Icône : goutte d'ea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28" name="Image 3" descr="Icône : enseigneme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</p:sp>
      <p:pic>
        <p:nvPicPr>
          <p:cNvPr id="33" name="Image 4" descr="Icône : main tenant un cœu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1009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6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9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0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1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2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3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4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45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  <p:sp>
          <p:nvSpPr>
            <p:cNvPr id="46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algn="l" indent="0" marL="0">
              <a:buNone/>
            </a:pPr>
            <a:r>
              <a:rPr lang="fr-CA" altLang="en-US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Aimés et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22.37-40</a:t>
            </a:r>
            <a:endParaRPr lang="fr-CA" sz="1600" dirty="0"/>
          </a:p>
          <a:p>
            <a:pPr algn="ctr" indent="0" marL="0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778"/>
            <a:ext cx="5422392" cy="1625803"/>
          </a:xfrm>
          <a:prstGeom prst="roundRect">
            <a:avLst>
              <a:gd name="adj" fmla="val 67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76493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indent="0" marL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778"/>
            <a:ext cx="5422392" cy="1625803"/>
          </a:xfrm>
          <a:prstGeom prst="roundRect">
            <a:avLst>
              <a:gd name="adj" fmla="val 67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46520" y="476493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indent="0" marL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101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29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0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1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2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3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4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5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6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7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38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B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400" b="1" spc="300" kern="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Prière Puritaine - Vallée de la vision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Régénération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949440" cy="4434840"/>
          </a:xfrm>
          <a:prstGeom prst="roundRect">
            <a:avLst>
              <a:gd name="adj" fmla="val 247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</p:sp>
      <p:sp>
        <p:nvSpPr>
          <p:cNvPr id="6" name="Prière"/>
          <p:cNvSpPr txBox="1"/>
          <p:nvPr/>
        </p:nvSpPr>
        <p:spPr>
          <a:xfrm>
            <a:off x="822960" y="2103120"/>
            <a:ext cx="640080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des cieux les plus élevés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Occupe le trône de mon cœur,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es digne d’être loué de tout mon souffle,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m’as aimé, épousé et reçu,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J’étais mort dans l’iniquité,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ton Esprit m’a vivifié,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présence est pour moi un trésor de paix sans fin ;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provocation ne peut me séparer de ta bienveillance,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Aide-moi alors à marcher d’une manière digne de ton amour,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Protège-moi afin qu’aucun mal ne m’infecte ;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Laisse-moi mettre de côté tous les péchés admirés de beaucoup ;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Aide-moi à marcher à tes côtés,</a:t>
            </a:r>
            <a:endParaRPr lang="fr-CA" sz="1800" dirty="0"/>
          </a:p>
          <a:p>
            <a:pPr indent="0" marL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je sois désormais sel de la terre et bénédiction pour tous.</a:t>
            </a:r>
            <a:endParaRPr lang="fr-CA" sz="1800" dirty="0"/>
          </a:p>
        </p:txBody>
      </p:sp>
      <p:pic>
        <p:nvPicPr>
          <p:cNvPr id="7" name="Illustration" descr="Silhouette humaine dans un médaillon rayonnant : l'image de Die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920240"/>
            <a:ext cx="3840480" cy="3840480"/>
          </a:xfrm>
          <a:prstGeom prst="rect">
            <a:avLst/>
          </a:prstGeom>
        </p:spPr>
      </p:pic>
      <p:sp>
        <p:nvSpPr>
          <p:cNvPr id="8" name="Source"/>
          <p:cNvSpPr txBox="1"/>
          <p:nvPr/>
        </p:nvSpPr>
        <p:spPr>
          <a:xfrm>
            <a:off x="7589520" y="58521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Vallée de la vision,</a:t>
            </a:r>
            <a:endParaRPr lang="fr-CA" sz="1400" dirty="0"/>
          </a:p>
          <a:p>
            <a:pPr algn="ctr" indent="0" marL="0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prières puritaines réunies par Arthur Bennett</a:t>
            </a:r>
            <a:endParaRPr lang="fr-CA" sz="1400" dirty="0"/>
          </a:p>
        </p:txBody>
      </p:sp>
      <p:grpSp>
        <p:nvGrpSpPr>
          <p:cNvPr id="101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9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0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1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2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3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4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5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6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7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8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  <p:sp>
          <p:nvSpPr>
            <p:cNvPr id="19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2026-09-30T13:14:18Z</dcterms:created>
  <dcterms:modified xsi:type="dcterms:W3CDTF">2026-09-30T13:14:18Z</dcterms:modified>
</cp:coreProperties>
</file>