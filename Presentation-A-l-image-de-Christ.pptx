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70" r:id="rId6"/>
    <p:sldId id="260" r:id="rId7"/>
    <p:sldId id="261" r:id="rId8"/>
    <p:sldId id="262" r:id="rId9"/>
    <p:sldId id="263" r:id="rId10"/>
    <p:sldId id="264" r:id="rId11"/>
    <p:sldId id="265" r:id="rId12"/>
    <p:sldId id="267" r:id="rId13"/>
    <p:sldId id="269" r:id="rId1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E0A287C0-9FC5-4D7A-B26A-5C34583FEB53}" v="5" dt="2026-09-30T13:54:46.67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87" d="100"/>
          <a:sy n="87" d="100"/>
        </p:scale>
        <p:origin x="77" y="85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André-Guy Bruneau" userId="c9f3b82d5570fc32" providerId="LiveId" clId="{C4496A7D-9A64-4B82-9835-F710A7718518}"/>
    <pc:docChg chg="undo custSel addSld delSld modSld sldOrd">
      <pc:chgData name="André-Guy Bruneau" userId="c9f3b82d5570fc32" providerId="LiveId" clId="{C4496A7D-9A64-4B82-9835-F710A7718518}" dt="2026-09-30T13:55:10.315" v="38" actId="26606"/>
      <pc:docMkLst>
        <pc:docMk/>
      </pc:docMkLst>
      <pc:sldChg chg="addSp delSp modSp del mod">
        <pc:chgData name="André-Guy Bruneau" userId="c9f3b82d5570fc32" providerId="LiveId" clId="{C4496A7D-9A64-4B82-9835-F710A7718518}" dt="2026-09-30T13:17:14.814" v="12"/>
        <pc:sldMkLst>
          <pc:docMk/>
          <pc:sldMk cId="0" sldId="266"/>
        </pc:sldMkLst>
        <pc:spChg chg="add del mod">
          <ac:chgData name="André-Guy Bruneau" userId="c9f3b82d5570fc32" providerId="LiveId" clId="{C4496A7D-9A64-4B82-9835-F710A7718518}" dt="2026-09-30T13:16:14.620" v="2"/>
          <ac:spMkLst>
            <pc:docMk/>
            <pc:sldMk cId="0" sldId="266"/>
            <ac:spMk id="20" creationId="{8F259AAA-D81E-AEA1-D0CE-82D822F0195F}"/>
          </ac:spMkLst>
        </pc:spChg>
        <pc:picChg chg="del">
          <ac:chgData name="André-Guy Bruneau" userId="c9f3b82d5570fc32" providerId="LiveId" clId="{C4496A7D-9A64-4B82-9835-F710A7718518}" dt="2026-09-30T13:16:18.694" v="5" actId="478"/>
          <ac:picMkLst>
            <pc:docMk/>
            <pc:sldMk cId="0" sldId="266"/>
            <ac:picMk id="7" creationId="{00000000-0000-0000-0000-000000000000}"/>
          </ac:picMkLst>
        </pc:picChg>
        <pc:picChg chg="add mod">
          <ac:chgData name="André-Guy Bruneau" userId="c9f3b82d5570fc32" providerId="LiveId" clId="{C4496A7D-9A64-4B82-9835-F710A7718518}" dt="2026-09-30T13:16:30.914" v="10" actId="1076"/>
          <ac:picMkLst>
            <pc:docMk/>
            <pc:sldMk cId="0" sldId="266"/>
            <ac:picMk id="21" creationId="{985A64D6-6A44-6121-75FC-921BEAB2605B}"/>
          </ac:picMkLst>
        </pc:picChg>
      </pc:sldChg>
      <pc:sldChg chg="add">
        <pc:chgData name="André-Guy Bruneau" userId="c9f3b82d5570fc32" providerId="LiveId" clId="{C4496A7D-9A64-4B82-9835-F710A7718518}" dt="2026-09-30T13:17:14.806" v="11"/>
        <pc:sldMkLst>
          <pc:docMk/>
          <pc:sldMk cId="4079065204" sldId="267"/>
        </pc:sldMkLst>
      </pc:sldChg>
      <pc:sldChg chg="addSp delSp modSp add del mod setBg">
        <pc:chgData name="André-Guy Bruneau" userId="c9f3b82d5570fc32" providerId="LiveId" clId="{C4496A7D-9A64-4B82-9835-F710A7718518}" dt="2026-09-30T13:54:37.836" v="34" actId="47"/>
        <pc:sldMkLst>
          <pc:docMk/>
          <pc:sldMk cId="1503508383" sldId="268"/>
        </pc:sldMkLst>
        <pc:spChg chg="del">
          <ac:chgData name="André-Guy Bruneau" userId="c9f3b82d5570fc32" providerId="LiveId" clId="{C4496A7D-9A64-4B82-9835-F710A7718518}" dt="2026-09-30T13:49:15.931" v="14" actId="478"/>
          <ac:spMkLst>
            <pc:docMk/>
            <pc:sldMk cId="1503508383" sldId="268"/>
            <ac:spMk id="2" creationId="{DC2505FB-BFD1-5E18-411B-262AD56CDB1C}"/>
          </ac:spMkLst>
        </pc:spChg>
        <pc:spChg chg="del">
          <ac:chgData name="André-Guy Bruneau" userId="c9f3b82d5570fc32" providerId="LiveId" clId="{C4496A7D-9A64-4B82-9835-F710A7718518}" dt="2026-09-30T13:49:15.931" v="14" actId="478"/>
          <ac:spMkLst>
            <pc:docMk/>
            <pc:sldMk cId="1503508383" sldId="268"/>
            <ac:spMk id="5" creationId="{0C61188A-34DD-4896-36BA-97B9973FAE9A}"/>
          </ac:spMkLst>
        </pc:spChg>
        <pc:spChg chg="del">
          <ac:chgData name="André-Guy Bruneau" userId="c9f3b82d5570fc32" providerId="LiveId" clId="{C4496A7D-9A64-4B82-9835-F710A7718518}" dt="2026-09-30T13:49:15.931" v="14" actId="478"/>
          <ac:spMkLst>
            <pc:docMk/>
            <pc:sldMk cId="1503508383" sldId="268"/>
            <ac:spMk id="6" creationId="{24288331-C4FE-AC97-11AB-9B78AAA5275A}"/>
          </ac:spMkLst>
        </pc:spChg>
        <pc:spChg chg="del">
          <ac:chgData name="André-Guy Bruneau" userId="c9f3b82d5570fc32" providerId="LiveId" clId="{C4496A7D-9A64-4B82-9835-F710A7718518}" dt="2026-09-30T13:49:15.931" v="14" actId="478"/>
          <ac:spMkLst>
            <pc:docMk/>
            <pc:sldMk cId="1503508383" sldId="268"/>
            <ac:spMk id="7" creationId="{EA9D6CAD-0FF9-272F-072F-16DD8E62DC64}"/>
          </ac:spMkLst>
        </pc:spChg>
        <pc:spChg chg="del">
          <ac:chgData name="André-Guy Bruneau" userId="c9f3b82d5570fc32" providerId="LiveId" clId="{C4496A7D-9A64-4B82-9835-F710A7718518}" dt="2026-09-30T13:49:15.931" v="14" actId="478"/>
          <ac:spMkLst>
            <pc:docMk/>
            <pc:sldMk cId="1503508383" sldId="268"/>
            <ac:spMk id="9" creationId="{069D40DF-D2D3-3E9F-2BD5-81370EB9FA84}"/>
          </ac:spMkLst>
        </pc:spChg>
        <pc:spChg chg="del">
          <ac:chgData name="André-Guy Bruneau" userId="c9f3b82d5570fc32" providerId="LiveId" clId="{C4496A7D-9A64-4B82-9835-F710A7718518}" dt="2026-09-30T13:49:15.931" v="14" actId="478"/>
          <ac:spMkLst>
            <pc:docMk/>
            <pc:sldMk cId="1503508383" sldId="268"/>
            <ac:spMk id="24" creationId="{1023FE5B-109F-849B-A039-06A1AE2544C1}"/>
          </ac:spMkLst>
        </pc:spChg>
        <pc:spChg chg="del">
          <ac:chgData name="André-Guy Bruneau" userId="c9f3b82d5570fc32" providerId="LiveId" clId="{C4496A7D-9A64-4B82-9835-F710A7718518}" dt="2026-09-30T13:49:15.931" v="14" actId="478"/>
          <ac:spMkLst>
            <pc:docMk/>
            <pc:sldMk cId="1503508383" sldId="268"/>
            <ac:spMk id="27" creationId="{E56CDCB7-5827-83FF-61D8-D2ADA0D526A6}"/>
          </ac:spMkLst>
        </pc:spChg>
        <pc:spChg chg="del">
          <ac:chgData name="André-Guy Bruneau" userId="c9f3b82d5570fc32" providerId="LiveId" clId="{C4496A7D-9A64-4B82-9835-F710A7718518}" dt="2026-09-30T13:49:15.931" v="14" actId="478"/>
          <ac:spMkLst>
            <pc:docMk/>
            <pc:sldMk cId="1503508383" sldId="268"/>
            <ac:spMk id="28" creationId="{1F89C76F-8EAF-A3EC-FAE4-E6660B162076}"/>
          </ac:spMkLst>
        </pc:spChg>
        <pc:spChg chg="del">
          <ac:chgData name="André-Guy Bruneau" userId="c9f3b82d5570fc32" providerId="LiveId" clId="{C4496A7D-9A64-4B82-9835-F710A7718518}" dt="2026-09-30T13:49:15.931" v="14" actId="478"/>
          <ac:spMkLst>
            <pc:docMk/>
            <pc:sldMk cId="1503508383" sldId="268"/>
            <ac:spMk id="31" creationId="{CAE55145-1186-C366-A0B9-8BEC4DF00BB3}"/>
          </ac:spMkLst>
        </pc:spChg>
        <pc:spChg chg="del">
          <ac:chgData name="André-Guy Bruneau" userId="c9f3b82d5570fc32" providerId="LiveId" clId="{C4496A7D-9A64-4B82-9835-F710A7718518}" dt="2026-09-30T13:49:15.931" v="14" actId="478"/>
          <ac:spMkLst>
            <pc:docMk/>
            <pc:sldMk cId="1503508383" sldId="268"/>
            <ac:spMk id="35" creationId="{855C49C6-32FE-24BB-2735-DC28065DA7A0}"/>
          </ac:spMkLst>
        </pc:spChg>
        <pc:spChg chg="add">
          <ac:chgData name="André-Guy Bruneau" userId="c9f3b82d5570fc32" providerId="LiveId" clId="{C4496A7D-9A64-4B82-9835-F710A7718518}" dt="2026-09-30T13:49:56.626" v="16" actId="26606"/>
          <ac:spMkLst>
            <pc:docMk/>
            <pc:sldMk cId="1503508383" sldId="268"/>
            <ac:spMk id="58" creationId="{216BB327-7AA9-4EC5-815F-9D8E6BC53E34}"/>
          </ac:spMkLst>
        </pc:spChg>
        <pc:picChg chg="add del mod">
          <ac:chgData name="André-Guy Bruneau" userId="c9f3b82d5570fc32" providerId="LiveId" clId="{C4496A7D-9A64-4B82-9835-F710A7718518}" dt="2026-09-30T13:54:28.452" v="33" actId="478"/>
          <ac:picMkLst>
            <pc:docMk/>
            <pc:sldMk cId="1503508383" sldId="268"/>
            <ac:picMk id="53" creationId="{53F28682-B49A-388A-C580-2CD143502889}"/>
          </ac:picMkLst>
        </pc:picChg>
        <pc:picChg chg="add del">
          <ac:chgData name="André-Guy Bruneau" userId="c9f3b82d5570fc32" providerId="LiveId" clId="{C4496A7D-9A64-4B82-9835-F710A7718518}" dt="2026-09-30T13:52:27.235" v="18" actId="22"/>
          <ac:picMkLst>
            <pc:docMk/>
            <pc:sldMk cId="1503508383" sldId="268"/>
            <ac:picMk id="55" creationId="{D9018B00-2220-2863-27B6-9F5868382CD1}"/>
          </ac:picMkLst>
        </pc:picChg>
      </pc:sldChg>
      <pc:sldChg chg="addSp delSp modSp add mod ord setBg delDesignElem">
        <pc:chgData name="André-Guy Bruneau" userId="c9f3b82d5570fc32" providerId="LiveId" clId="{C4496A7D-9A64-4B82-9835-F710A7718518}" dt="2026-09-30T13:54:00.961" v="32" actId="14100"/>
        <pc:sldMkLst>
          <pc:docMk/>
          <pc:sldMk cId="1357812566" sldId="269"/>
        </pc:sldMkLst>
        <pc:spChg chg="del">
          <ac:chgData name="André-Guy Bruneau" userId="c9f3b82d5570fc32" providerId="LiveId" clId="{C4496A7D-9A64-4B82-9835-F710A7718518}" dt="2026-09-30T13:52:30.227" v="20"/>
          <ac:spMkLst>
            <pc:docMk/>
            <pc:sldMk cId="1357812566" sldId="269"/>
            <ac:spMk id="58" creationId="{15550D54-6131-816A-67C3-89CAD6C0359F}"/>
          </ac:spMkLst>
        </pc:spChg>
        <pc:picChg chg="add del">
          <ac:chgData name="André-Guy Bruneau" userId="c9f3b82d5570fc32" providerId="LiveId" clId="{C4496A7D-9A64-4B82-9835-F710A7718518}" dt="2026-09-30T13:53:16.545" v="28" actId="478"/>
          <ac:picMkLst>
            <pc:docMk/>
            <pc:sldMk cId="1357812566" sldId="269"/>
            <ac:picMk id="3" creationId="{83411C0A-1B07-3B81-FCE9-497D0650E520}"/>
          </ac:picMkLst>
        </pc:picChg>
        <pc:picChg chg="add del mod">
          <ac:chgData name="André-Guy Bruneau" userId="c9f3b82d5570fc32" providerId="LiveId" clId="{C4496A7D-9A64-4B82-9835-F710A7718518}" dt="2026-09-30T13:53:11.851" v="27" actId="478"/>
          <ac:picMkLst>
            <pc:docMk/>
            <pc:sldMk cId="1357812566" sldId="269"/>
            <ac:picMk id="5" creationId="{25498C34-A875-E4BF-D86F-5127C3C36DEC}"/>
          </ac:picMkLst>
        </pc:picChg>
        <pc:picChg chg="add mod">
          <ac:chgData name="André-Guy Bruneau" userId="c9f3b82d5570fc32" providerId="LiveId" clId="{C4496A7D-9A64-4B82-9835-F710A7718518}" dt="2026-09-30T13:54:00.961" v="32" actId="14100"/>
          <ac:picMkLst>
            <pc:docMk/>
            <pc:sldMk cId="1357812566" sldId="269"/>
            <ac:picMk id="7" creationId="{585A3AFD-6347-EA8D-0B58-FC82321CC6BC}"/>
          </ac:picMkLst>
        </pc:picChg>
        <pc:picChg chg="del">
          <ac:chgData name="André-Guy Bruneau" userId="c9f3b82d5570fc32" providerId="LiveId" clId="{C4496A7D-9A64-4B82-9835-F710A7718518}" dt="2026-09-30T13:52:43.338" v="23" actId="478"/>
          <ac:picMkLst>
            <pc:docMk/>
            <pc:sldMk cId="1357812566" sldId="269"/>
            <ac:picMk id="53" creationId="{C6B69EC6-D856-C3DE-8F07-C44A2DF8E440}"/>
          </ac:picMkLst>
        </pc:picChg>
      </pc:sldChg>
      <pc:sldChg chg="addSp delSp modSp add mod setBg">
        <pc:chgData name="André-Guy Bruneau" userId="c9f3b82d5570fc32" providerId="LiveId" clId="{C4496A7D-9A64-4B82-9835-F710A7718518}" dt="2026-09-30T13:55:10.315" v="38" actId="26606"/>
        <pc:sldMkLst>
          <pc:docMk/>
          <pc:sldMk cId="4046815704" sldId="270"/>
        </pc:sldMkLst>
        <pc:spChg chg="add">
          <ac:chgData name="André-Guy Bruneau" userId="c9f3b82d5570fc32" providerId="LiveId" clId="{C4496A7D-9A64-4B82-9835-F710A7718518}" dt="2026-09-30T13:55:10.315" v="38" actId="26606"/>
          <ac:spMkLst>
            <pc:docMk/>
            <pc:sldMk cId="4046815704" sldId="270"/>
            <ac:spMk id="8" creationId="{216BB327-7AA9-4EC5-815F-9D8E6BC53E34}"/>
          </ac:spMkLst>
        </pc:spChg>
        <pc:picChg chg="add mod">
          <ac:chgData name="André-Guy Bruneau" userId="c9f3b82d5570fc32" providerId="LiveId" clId="{C4496A7D-9A64-4B82-9835-F710A7718518}" dt="2026-09-30T13:55:10.315" v="38" actId="26606"/>
          <ac:picMkLst>
            <pc:docMk/>
            <pc:sldMk cId="4046815704" sldId="270"/>
            <ac:picMk id="3" creationId="{1E90C983-2659-D7A4-AF36-EE9B84C735B9}"/>
          </ac:picMkLst>
        </pc:picChg>
        <pc:picChg chg="del">
          <ac:chgData name="André-Guy Bruneau" userId="c9f3b82d5570fc32" providerId="LiveId" clId="{C4496A7D-9A64-4B82-9835-F710A7718518}" dt="2026-09-30T13:54:49.442" v="36" actId="478"/>
          <ac:picMkLst>
            <pc:docMk/>
            <pc:sldMk cId="4046815704" sldId="270"/>
            <ac:picMk id="7" creationId="{0A7C0489-EB0A-4009-D9A4-DEC8F9C7DFB4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96340452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Avant de commencer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Lecture publique : </a:t>
            </a:r>
            <a:r>
              <a:rPr lang="fr-CA" sz="1400" dirty="0"/>
              <a:t>Genèse 1.26-28 et Romains 8.28-30.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Durée visée : </a:t>
            </a:r>
            <a:r>
              <a:rPr lang="fr-CA" sz="1400" dirty="0"/>
              <a:t>45 minutes.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à faire retenir : </a:t>
            </a:r>
            <a:r>
              <a:rPr lang="fr-CA" sz="1400" dirty="0"/>
              <a:t>Créés à son image, restaurés en Christ, transformés par l'Esprit, envoyés en son nom.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But : </a:t>
            </a:r>
            <a:r>
              <a:rPr lang="fr-CA" sz="1400" dirty="0"/>
              <a:t>que l'incroyant voie qu'il porte une image qu'il ne peut restaurer et un commandement qu'il n'a jamais accompli, et se tourne vers Christ; que le croyant repose sa sanctification sur le dessein de Dieu et l'œuvre de l'Esprit, contemple Christ dans la Parole et fasse des disciples.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Citations : </a:t>
            </a:r>
            <a:r>
              <a:rPr lang="fr-CA" sz="1400" dirty="0"/>
              <a:t>NEG79; Jérémie 31.33 en NBS.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2 min · 2 Timothée 3.16-17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Lire </a:t>
            </a:r>
            <a:r>
              <a:rPr lang="fr-CA" sz="1400" dirty="0"/>
              <a:t>2 Timothée 3.16-17.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Theopneustos : </a:t>
            </a:r>
            <a:r>
              <a:rPr lang="fr-CA" sz="1400" dirty="0"/>
              <a:t>« soufflée par Dieu ». « Ce que l'Écriture dit, Dieu le dit » (55-17).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Quatre œuvres : </a:t>
            </a:r>
            <a:r>
              <a:rPr lang="fr-CA" sz="1400" dirty="0"/>
              <a:t>enseigner, convaincre, corriger, instruire dans la justice (55-19).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But : </a:t>
            </a:r>
            <a:r>
              <a:rPr lang="fr-CA" sz="1400" dirty="0"/>
              <a:t>que l'homme de Dieu soit propre non à la plupart des bonnes œuvres, mais à toutes (55-19).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Lectures recommandées :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Stephen Yuille, Le sentier de la vie. La richesse du Psaume 119 (Europresse);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John Owen, Communion with God (Puritan Paperbacks, abrégé par R. J. K. Law).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Pierre d'attente → IV : </a:t>
            </a:r>
            <a:r>
              <a:rPr lang="fr-CA" sz="1400" dirty="0"/>
              <a:t>l'Écriture est le miroir.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3 min · Genèse 1.27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Accroche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Dans l'Antiquité, l'« image » d'un dieu, c'était le roi :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Égypte : </a:t>
            </a:r>
            <a:r>
              <a:rPr lang="fr-CA" sz="1400" dirty="0"/>
              <a:t>le pharaon en portait le titre; Toutânkhamon signifie « image vivante d'Amon ».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Mésopotamie : </a:t>
            </a:r>
            <a:r>
              <a:rPr lang="fr-CA" sz="1400" dirty="0"/>
              <a:t>le roi dressait son effigie aux confins de ses territoires pour y marquer sa souveraineté.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Genèse 1.27 accorde ce titre à l'être humain comme tel, homme et femme, sans rang ni lignée.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Tselem </a:t>
            </a:r>
            <a:r>
              <a:rPr lang="fr-CA" sz="1400" dirty="0"/>
              <a:t>(eikôn dans la Septante) désigne ailleurs les statues cultuelles (Nb 33.52; 2 R 11.18).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Question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Vous aussi, vous portez une image. Laquelle?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Qu'est-il arrivé à cette image, et que Dieu en fait-il?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Parcours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Six étapes, un seul arc : l'image créée, parfaite, promise, transformée, qui aime, envoyée.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8 min · Genèse 1.26-27; 5.1-2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clé : </a:t>
            </a:r>
            <a:r>
              <a:rPr lang="fr-CA" sz="1400" dirty="0"/>
              <a:t>l'homme est fait à l'image d'un Dieu qui n'a jamais été seul.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A. Le Dieu qui dit « Faisons » (1.26)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Jusqu'au verset 24, Dieu commande : « Que la terre produise ». Au verset 26, « jamais Dieu n'a parlé au pluriel » (90-218). Puis il agit au singulier (1.27).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Première indication claire de la Trinité (3.22; 11.7) : un seul Dieu, trois personnes en communion parfaite.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Périchorèse </a:t>
            </a:r>
            <a:r>
              <a:rPr lang="fr-CA" sz="1400" dirty="0"/>
              <a:t>(Jn 14.10-11; 17.21) : l'habitation mutuelle des trois personnes; le mot nomme, il ne spécule pas.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Pierre d'attente → III : </a:t>
            </a:r>
            <a:r>
              <a:rPr lang="fr-CA" sz="1400" dirty="0"/>
              <a:t>ce conseil exécute un dessein arrêté avant la fondation du monde (Ép 1.4).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B. Ce qu'est l'image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Tselem et demuth : </a:t>
            </a:r>
            <a:r>
              <a:rPr lang="fr-CA" sz="1400" dirty="0"/>
              <a:t>« synonymes », répétés pour insister (90-218).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Trois dimensions </a:t>
            </a:r>
            <a:r>
              <a:rPr lang="fr-CA" sz="1400" dirty="0"/>
              <a:t>(note sur Gn 1.26; 90-218) :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Raison – Logos : </a:t>
            </a:r>
            <a:r>
              <a:rPr lang="fr-CA" sz="1400" dirty="0"/>
              <a:t>l'homme est comme Dieu; il pense, veut et ressent, fait pour recevoir la Parole du Dieu qui parle (Jn 1.1).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Morale – Éthique : </a:t>
            </a:r>
            <a:r>
              <a:rPr lang="fr-CA" sz="1400" dirty="0"/>
              <a:t>il était comme Dieu, bon et sans péché.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Communion – Affection : </a:t>
            </a:r>
            <a:r>
              <a:rPr lang="fr-CA" sz="1400" dirty="0"/>
              <a:t>le centre, « la capacité de relations personnelles et, par-dessus tout, d'une relation personnelle avec Dieu » (90-218).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Pierre d'attente → V : </a:t>
            </a:r>
            <a:r>
              <a:rPr lang="fr-CA" sz="1400" dirty="0"/>
              <a:t>ces trois dimensions sont celles du cœur que Dieu renouvelle.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Bara' </a:t>
            </a:r>
            <a:r>
              <a:rPr lang="fr-CA" sz="1400" dirty="0"/>
              <a:t>trois fois au verset 27 : Dieu seul crée, et l'homme est le seul être vivant fait sur le modèle divin (90-219).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C. La vocation de l'image (1.26-28)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Domination : </a:t>
            </a:r>
            <a:r>
              <a:rPr lang="fr-CA" sz="1400" dirty="0"/>
              <a:t>représentant de Dieu, « roi de la terre », chargé de la cultiver et de la garder (90-219; Ps 8.7-9).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Homme et femme : </a:t>
            </a:r>
            <a:r>
              <a:rPr lang="fr-CA" sz="1400" dirty="0"/>
              <a:t>égaux en dignité, ils dominent ensemble; rôles distincts selon l'ordre de la création (Gn 2.18-23; 1 Tm 2.13).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À montrer : </a:t>
            </a:r>
            <a:r>
              <a:rPr lang="fr-CA" sz="1400" dirty="0"/>
              <a:t>la NEG79 efface le pluriel hébreu (« qu'ils dominent », « il les créa mâle et femelle »).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Application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La dignité repose sur l'acte créateur, non sur l'utilité : l'enfant à naître, la personne handicapée, l'aîné atteint de démence portent l'image.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Transition : l'image ternie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Genèse 5.1-2 reprend 1.27 : Dieu avait fait l'homme « à la ressemblance de Dieu ».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Aussitôt après, Adam déchu engendre « à sa ressemblance » (Gn 5.3).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L'image demeure (Gn 9.6; Jc 3.9), mais la ressemblance morale est perdue et l'homme ne peut la restaurer.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Où voir encore l'image telle que Dieu l'a voulue?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Spéculer sur la périchorèse : le mot nomme la communion trinitaire, il ne remplace pas le texte.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Faire de la domination une écologie moralisante ou une licence d'exploiter.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Opposer l'égalité de l'homme et de la femme et leurs rôles distincts.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D59BFF-66D0-1C28-0E9D-B29B97AFA3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F3054F25-451A-6F2E-CA28-527C558E183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4AACEAE-89A8-3E48-B0D6-DE42665569C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8 min · Genèse 1.26-27; 5.1-2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clé : </a:t>
            </a:r>
            <a:r>
              <a:rPr lang="fr-CA" sz="1400" dirty="0"/>
              <a:t>l'homme est fait à l'image d'un Dieu qui n'a jamais été seul.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A. Le Dieu qui dit « Faisons » (1.26)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Jusqu'au verset 24, Dieu commande : « Que la terre produise ». Au verset 26, « jamais Dieu n'a parlé au pluriel » (90-218). Puis il agit au singulier (1.27).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Première indication claire de la Trinité (3.22; 11.7) : un seul Dieu, trois personnes en communion parfaite.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Périchorèse </a:t>
            </a:r>
            <a:r>
              <a:rPr lang="fr-CA" sz="1400" dirty="0"/>
              <a:t>(Jn 14.10-11; 17.21) : l'habitation mutuelle des trois personnes; le mot nomme, il ne spécule pas.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Pierre d'attente → III : </a:t>
            </a:r>
            <a:r>
              <a:rPr lang="fr-CA" sz="1400" dirty="0"/>
              <a:t>ce conseil exécute un dessein arrêté avant la fondation du monde (Ép 1.4).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B. Ce qu'est l'image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Tselem et demuth : </a:t>
            </a:r>
            <a:r>
              <a:rPr lang="fr-CA" sz="1400" dirty="0"/>
              <a:t>« synonymes », répétés pour insister (90-218).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Trois dimensions </a:t>
            </a:r>
            <a:r>
              <a:rPr lang="fr-CA" sz="1400" dirty="0"/>
              <a:t>(note sur Gn 1.26; 90-218) :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Raison – Logos : </a:t>
            </a:r>
            <a:r>
              <a:rPr lang="fr-CA" sz="1400" dirty="0"/>
              <a:t>l'homme est comme Dieu; il pense, veut et ressent, fait pour recevoir la Parole du Dieu qui parle (Jn 1.1).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Morale – Éthique : </a:t>
            </a:r>
            <a:r>
              <a:rPr lang="fr-CA" sz="1400" dirty="0"/>
              <a:t>il était comme Dieu, bon et sans péché.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Communion – Affection : </a:t>
            </a:r>
            <a:r>
              <a:rPr lang="fr-CA" sz="1400" dirty="0"/>
              <a:t>le centre, « la capacité de relations personnelles et, par-dessus tout, d'une relation personnelle avec Dieu » (90-218).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Pierre d'attente → V : </a:t>
            </a:r>
            <a:r>
              <a:rPr lang="fr-CA" sz="1400" dirty="0"/>
              <a:t>ces trois dimensions sont celles du cœur que Dieu renouvelle.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Bara' </a:t>
            </a:r>
            <a:r>
              <a:rPr lang="fr-CA" sz="1400" dirty="0"/>
              <a:t>trois fois au verset 27 : Dieu seul crée, et l'homme est le seul être vivant fait sur le modèle divin (90-219).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C. La vocation de l'image (1.26-28)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Domination : </a:t>
            </a:r>
            <a:r>
              <a:rPr lang="fr-CA" sz="1400" dirty="0"/>
              <a:t>représentant de Dieu, « roi de la terre », chargé de la cultiver et de la garder (90-219; Ps 8.7-9).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Homme et femme : </a:t>
            </a:r>
            <a:r>
              <a:rPr lang="fr-CA" sz="1400" dirty="0"/>
              <a:t>égaux en dignité, ils dominent ensemble; rôles distincts selon l'ordre de la création (Gn 2.18-23; 1 Tm 2.13).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À montrer : </a:t>
            </a:r>
            <a:r>
              <a:rPr lang="fr-CA" sz="1400" dirty="0"/>
              <a:t>la NEG79 efface le pluriel hébreu (« qu'ils dominent », « il les créa mâle et femelle »).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Application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La dignité repose sur l'acte créateur, non sur l'utilité : l'enfant à naître, la personne handicapée, l'aîné atteint de démence portent l'image.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Transition : l'image ternie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Genèse 5.1-2 reprend 1.27 : Dieu avait fait l'homme « à la ressemblance de Dieu ».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Aussitôt après, Adam déchu engendre « à sa ressemblance » (Gn 5.3).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L'image demeure (Gn 9.6; Jc 3.9), mais la ressemblance morale est perdue et l'homme ne peut la restaurer.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Où voir encore l'image telle que Dieu l'a voulue?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Spéculer sur la périchorèse : le mot nomme la communion trinitaire, il ne remplace pas le texte.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Faire de la domination une écologie moralisante ou une licence d'exploiter.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Opposer l'égalité de l'homme et de la femme et leurs rôles distincts.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C10126F-A611-1F62-2E31-3E2B6966CF2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42175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6 min · Colossiens 1.15; Philippiens 2.6-7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clé : </a:t>
            </a:r>
            <a:r>
              <a:rPr lang="fr-CA" sz="1400" dirty="0"/>
              <a:t>Christ est ce que l'homme n'est plus.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A. L'Image incréée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Eikôn : </a:t>
            </a:r>
            <a:r>
              <a:rPr lang="fr-CA" sz="1400" dirty="0"/>
              <a:t>la Septante rend l'image de Gn 1.27 par eikôn, le mot que Paul applique à Christ (aussi 2 Co 4.4).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Mais en un autre sens :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l'homme porte l'image comme créature;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Christ est, de toute éternité, la ressemblance parfaite de Dieu, sa représentation et sa manifestation (Ph 2.6; Jn 14.9), une reproduction exacte, sans rien de manquant ni d'altéré (2135; Hé 1.3).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Kénose (Ph 2.6-7) : </a:t>
            </a:r>
            <a:r>
              <a:rPr lang="fr-CA" sz="1400" dirty="0"/>
              <a:t>existant en forme de Dieu, « il s'est dépouillé lui-même, en prenant une forme de serviteur »;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non de sa divinité : « il n'a jamais cessé d'être Dieu » (50-16);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mais de sa gloire céleste et de l'usage volontaire de ses prérogatives.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B. Premier-né : le rang, non la naissance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premier-né est l'héritier, qu'il soit l'aîné ou non (Ex 4.22; Jr 31.9, Éphraïm avant Manassé).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Christ n'est pas la première créature : il a créé toutes choses (1.16); il a la prééminence et le droit d'héritage (1.18; Hé 1.2).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Application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Qui veut savoir ce qu'est l'homme tel que Dieu l'a voulu regarde Christ.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Qui veut connaître Dieu n'a besoin d'aucun intermédiaire : il le voit en Christ.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Transition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Si Christ est l'image parfaite, que Dieu fait-il de ceux qu'il sauve?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Projeter « l'image de Christ » sur Moïse : montrer le chemin tselem → eikôn → Col 1.15 → Rm 8.29 → 2 Co 3.18.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Présenter « premier-né » comme un ordre de naissance.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Faire de la kénose un abandon de la divinité (50-16).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5 min · Romains 8.29; Éphésiens 1.4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clé : </a:t>
            </a:r>
            <a:r>
              <a:rPr lang="fr-CA" sz="1400" dirty="0"/>
              <a:t>Dieu a décidé d'avance la fin de votre salut, et cette fin, c'est Christ en vous.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Trois expressions du verset 29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« Connus d'avance » : </a:t>
            </a:r>
            <a:r>
              <a:rPr lang="fr-CA" sz="1400" dirty="0"/>
              <a:t>non une simple prévision de qui croirait, mais le choix d'aimer, l'élection (note sur Rm 8.29; Ac 2.23; 1 P 1.2, 20).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Le même conseil éternel que le « Faisons » : « En lui Dieu nous a élus avant la fondation du monde » (Ép 1.4).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« Prédestinés à être semblables à l'image de son Fils » : </a:t>
            </a:r>
            <a:r>
              <a:rPr lang="fr-CA" sz="1400" dirty="0"/>
              <a:t>« Le but de votre salut était que vous soyez rendus semblables à l'image de son Fils » (90-180).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Sainteté maintenant, corps glorifié à la fin (Ph 3.21).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« Premier-né de beaucoup de frères » : </a:t>
            </a:r>
            <a:r>
              <a:rPr lang="fr-CA" sz="1400" dirty="0"/>
              <a:t>la fin dernière du salut est la gloire du Fils; ses frères lui ressemblent sans jamais être ses égaux.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Application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Connus d'avance, prédestinés, appelés, justifiés, glorifiés (8.29-30) : aucun maillon ne manque.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Ce que Dieu a décrété, il l'achèvera : c'est la sécurité du croyant.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Les épreuves de 8.28 servent ce but.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Transition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Nous ne voyons pas encore cette ressemblance achevée. Comment Dieu nous y conduit-il, aujourd'hui?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Contourner l'élection pour ne garder qu'un « imitez Jésus ».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Laisser entendre que le croyant deviendra ce que Christ est par essence : Christ est l'image par nature, le croyant y est transformé par grâce.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6 min · 2 Corinthiens 3.18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clé : </a:t>
            </a:r>
            <a:r>
              <a:rPr lang="fr-CA" sz="1400" dirty="0"/>
              <a:t>on devient semblable à ce que l'on contemple.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A. Le visage découvert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Moïse voilait son visage (Ex 34.29-35); en Christ, le voile est ôté (3.14-16).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« Nous tous » : </a:t>
            </a:r>
            <a:r>
              <a:rPr lang="fr-CA" sz="1400" dirty="0"/>
              <a:t>tous les croyants; rien ne s'interpose plus entre eux et la vision du Seigneur (47-22).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B. Contempler dans le miroir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À montrer : </a:t>
            </a:r>
            <a:r>
              <a:rPr lang="fr-CA" sz="1400" dirty="0"/>
              <a:t>la NEG79 dit « reflète »; le grec, avec la S21, la LSG, Darby et la KJF, dit contempler comme dans un miroir.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On ne reflète que ce qu'on contemple.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 miroir, c'est l'Écriture : </a:t>
            </a:r>
            <a:r>
              <a:rPr lang="fr-CA" sz="1400" dirty="0"/>
              <a:t>la gloire de Dieu s'y voit sur la face de Jésus-Christ (90-75; 4.6). Relier au Rappel.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C. Transformés par l'Esprit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Metamorphoô : </a:t>
            </a:r>
            <a:r>
              <a:rPr lang="fr-CA" sz="1400" dirty="0"/>
              <a:t>présent passif, « une action de transformation continue et progressive » (47-21). Nous ne nous transformons pas; nous sommes transformés.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C'est là toute la sanctification progressive […] passer d'un degré de gloire au suivant en contemplant la gloire du Seigneur » (90-75).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 terme : </a:t>
            </a:r>
            <a:r>
              <a:rPr lang="fr-CA" sz="1400" dirty="0"/>
              <a:t>« Le dessein salvateur de Dieu était de créer une humanité rachetée qui serait semblable à son Fils » (47-21), jusqu'à ce que nous lui soyons semblables (1 Jn 3.2).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Application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moyen est fixé : contempler Christ dans sa Parole, et l'Esprit fait l'œuvre.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Celui qui délaisse l'Écriture se prive du miroir.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Transition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À quoi reconnaît-on cette image qui grandit? À ce que Dieu avait mis au centre : le cœur qui aime.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Laisser le « reflète » de la NEG79 effacer le moyen : le croyant reflète Christ parce qu'il le contemple dans la Parole.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7 min · Matthieu 22.37-40; Jérémie 31.33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clé : </a:t>
            </a:r>
            <a:r>
              <a:rPr lang="fr-CA" sz="1400" dirty="0"/>
              <a:t>la loi que je ne peux accomplir, Dieu l'écrit sur mon cœur.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A. Le commandement que tous connaissaient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piège des 613 commandements; Jésus répond par le Shema, récité matin et soir (Dt 6.5), et par Lv 19.18 (2358).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« Tu aimeras » : </a:t>
            </a:r>
            <a:r>
              <a:rPr lang="fr-CA" sz="1400" dirty="0"/>
              <a:t>l'amour de la volonté, de tout l'être.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second découle du premier : « Quand vous aimez Dieu comme il faut, vous aimez les gens comme il faut » (2358).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B. Le commandement qui accuse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Personne n'a aimé Dieu ainsi.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« Parce que nous n'avons pas aimé ainsi, nous avons besoin du pardon, et parce que nous ne pouvons pas aimer ainsi, nous avons besoin d'une capacité nouvelle » (2358).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C. La loi écrite sur le cœur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Lire </a:t>
            </a:r>
            <a:r>
              <a:rPr lang="fr-CA" sz="1400" dirty="0"/>
              <a:t>Jérémie 31.33 (NBS).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La nouvelle alliance : </a:t>
            </a:r>
            <a:r>
              <a:rPr lang="fr-CA" sz="1400" dirty="0"/>
              <a:t>« le pardon de tous nos péchés et l'écriture de la loi de Dieu sur nos cœurs » (80-286).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 cœur, c'est la personne intérieure </a:t>
            </a:r>
            <a:r>
              <a:rPr lang="fr-CA" sz="1400" dirty="0"/>
              <a:t>(1 Ch 28.9); ses trois dimensions sont celles de l'image (point I.B) :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Rationnel </a:t>
            </a:r>
            <a:r>
              <a:rPr lang="fr-CA" sz="1400" dirty="0"/>
              <a:t>(Jn 1.1; 1 Jn 1.1) : le cœur qui pense; Dieu parle en Christ, le Logos (43-2), et renouvelle la pensée.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Moral </a:t>
            </a:r>
            <a:r>
              <a:rPr lang="fr-CA" sz="1400" dirty="0"/>
              <a:t>(Ps 51.12) : le cœur pur qui juge le bien et le mal; le cœur est tortueux (Jr 17.9), Dieu seul en crée un pur.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Relationnel </a:t>
            </a:r>
            <a:r>
              <a:rPr lang="fr-CA" sz="1400" dirty="0"/>
              <a:t>(Mt 22.37-40) : le cœur qui aime; Dieu répand son amour dans nos cœurs par l'Esprit (Rm 5.5).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Application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Nous l'aimons parce qu'il nous a aimés le premier (1 Jn 4.19), et cet amour se prouve par l'obéissance (Jn 14.15).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Transition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Et le prochain que nous aimons, que lui devons-nous d'abord?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Prêcher une exhortation à aimer davantage, sans la loi qui accuse, la croix qui pardonne et l'Esprit qui écrit la loi sur le cœur.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5 min · Matthieu 28.19-20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clé : </a:t>
            </a:r>
            <a:r>
              <a:rPr lang="fr-CA" sz="1400" dirty="0"/>
              <a:t>ceux que Dieu restaure à son image, il les envoie.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Le mandat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Un seul impératif : </a:t>
            </a:r>
            <a:r>
              <a:rPr lang="fr-CA" sz="1400" dirty="0"/>
              <a:t>« faites des disciples »; aller, baptiser, enseigner en décrivent le chemin (2405).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Le disciple : </a:t>
            </a:r>
            <a:r>
              <a:rPr lang="fr-CA" sz="1400" dirty="0"/>
              <a:t>« un croyant qui apprend »;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« on ne peut être disciple de Christ sans un cœur obéissant » (2405);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la foi salvatrice se soumet à Christ comme Seigneur.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« Au nom » : </a:t>
            </a:r>
            <a:r>
              <a:rPr lang="fr-CA" sz="1400" dirty="0"/>
              <a:t>« un seul nom et trois personnes » (2405); le Dieu du « Faisons ».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Le baptême, signe extérieur d'une foi déjà reçue.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« Tout ce que je vous ai prescrit » : </a:t>
            </a:r>
            <a:r>
              <a:rPr lang="fr-CA" sz="1400" dirty="0"/>
              <a:t>y compris le grand commandement; faire des disciples, c'est former d'autres porteurs de l'image restaurée.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« Je suis avec vous tous les jours » : </a:t>
            </a:r>
            <a:r>
              <a:rPr lang="fr-CA" sz="1400" dirty="0"/>
              <a:t>jusqu'à son retour (2405).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Application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Aimer son prochain, c'est d'abord lui annoncer Christ.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Qui, cette semaine, entendra de vous l'Évangile?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Réduire l'envoi à un appel aux missionnaires : il concerne tout disciple.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3 min · 2 Corinthiens 3.18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Récapitulation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créés à son image (Gn 1.26-27),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ternis par le péché (Gn 5.3),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restaurés en Christ (Col 1.15),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promis à sa ressemblance (Rm 8.29),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transformés par l'Esprit (2 Co 3.18),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renouvelés au cœur (Jr 31.33),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aimés et envoyés en son nom (Mt 22.37-40; 28.19).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Christ, la Parole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Le Dieu qui a soufflé l'Écriture (Rappel) se fait voir en son Fils, le Logos (Jn 1.1).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C'est dans la Parole qu'on le contemple, et l'Esprit transforme en son image, de gloire en gloire.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Appel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À l'incroyant : </a:t>
            </a:r>
            <a:r>
              <a:rPr lang="fr-CA" sz="1400" dirty="0"/>
              <a:t>vous portez l'image de Dieu, et vous n'avez jamais aimé Dieu de tout votre cœur. Christ seul pardonne et restaure : repentez-vous, croyez en lui et soumettez-vous à lui comme Seigneur.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Au croyant : </a:t>
            </a:r>
            <a:r>
              <a:rPr lang="fr-CA" sz="1400" dirty="0"/>
              <a:t>Dieu achèvera en vous ce qu'il a décidé avant la fondation du monde; nous serons semblables à lui (1 Jn 3.2). Contemplez Christ dans sa Parole; c'est ainsi que l'Esprit vous transforme. Et allez : faites des disciples.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Prière · La Régénération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Source : </a:t>
            </a:r>
            <a:r>
              <a:rPr lang="fr-CA" sz="1400" dirty="0"/>
              <a:t>La Vallée de la vision, prières puritaines réunies par Arthur Bennett.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Échos du message :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« J’étais mort dans l’iniquité, mais ton Esprit m’a vivifié » : Ép 2.1, 5; l'Esprit qui transforme (IV).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« Aucune provocation ne peut me séparer de ta bienveillance » : Rm 8.35-39; ce que Dieu a décrété, il l'achèvera (III).</a:t>
            </a:r>
          </a:p>
          <a:p>
            <a:pPr marL="457200" indent="-228600">
              <a:buFont typeface="Arial"/>
              <a:buChar char="•"/>
            </a:pPr>
            <a:r>
              <a:rPr lang="fr-CA" sz="1400" dirty="0"/>
              <a:t>« Que je sois désormais sel de la terre » : Mt 5.13; l'image envoyée (VI).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A5B591-8B9A-C9E5-B10F-BE7491E21D2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0A08170-7444-229C-C1A4-0FF775CCF6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D8C5686-A12D-DBFA-93A7-3D1F853B87D1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8 min · Genèse 1.26-27; 5.1-2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Phrase clé : </a:t>
            </a:r>
            <a:r>
              <a:rPr lang="fr-CA" sz="1400" dirty="0"/>
              <a:t>l'homme est fait à l'image d'un Dieu qui n'a jamais été seul.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A. Le Dieu qui dit « Faisons » (1.26)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Jusqu'au verset 24, Dieu commande : « Que la terre produise ». Au verset 26, « jamais Dieu n'a parlé au pluriel » (90-218). Puis il agit au singulier (1.27).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Première indication claire de la Trinité (3.22; 11.7) : un seul Dieu, trois personnes en communion parfaite.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Périchorèse </a:t>
            </a:r>
            <a:r>
              <a:rPr lang="fr-CA" sz="1400" dirty="0"/>
              <a:t>(Jn 14.10-11; 17.21) : l'habitation mutuelle des trois personnes; le mot nomme, il ne spécule pas.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Pierre d'attente → III : </a:t>
            </a:r>
            <a:r>
              <a:rPr lang="fr-CA" sz="1400" dirty="0"/>
              <a:t>ce conseil exécute un dessein arrêté avant la fondation du monde (Ép 1.4).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B. Ce qu'est l'image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Tselem et demuth : </a:t>
            </a:r>
            <a:r>
              <a:rPr lang="fr-CA" sz="1400" dirty="0"/>
              <a:t>« synonymes », répétés pour insister (90-218).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Trois dimensions </a:t>
            </a:r>
            <a:r>
              <a:rPr lang="fr-CA" sz="1400" dirty="0"/>
              <a:t>(note sur Gn 1.26; 90-218) :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Raison – Logos : </a:t>
            </a:r>
            <a:r>
              <a:rPr lang="fr-CA" sz="1400" dirty="0"/>
              <a:t>l'homme est comme Dieu; il pense, veut et ressent, fait pour recevoir la Parole du Dieu qui parle (Jn 1.1).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Morale – Éthique : </a:t>
            </a:r>
            <a:r>
              <a:rPr lang="fr-CA" sz="1400" dirty="0"/>
              <a:t>il était comme Dieu, bon et sans péché.</a:t>
            </a:r>
          </a:p>
          <a:p>
            <a:pPr marL="457200" indent="-228600">
              <a:buFont typeface="Arial"/>
              <a:buChar char="•"/>
            </a:pPr>
            <a:r>
              <a:rPr lang="fr-CA" sz="1400" b="1" dirty="0"/>
              <a:t>Communion – Affection : </a:t>
            </a:r>
            <a:r>
              <a:rPr lang="fr-CA" sz="1400" dirty="0"/>
              <a:t>le centre, « la capacité de relations personnelles et, par-dessus tout, d'une relation personnelle avec Dieu » (90-218).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Pierre d'attente → V : </a:t>
            </a:r>
            <a:r>
              <a:rPr lang="fr-CA" sz="1400" dirty="0"/>
              <a:t>ces trois dimensions sont celles du cœur que Dieu renouvelle.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Bara' </a:t>
            </a:r>
            <a:r>
              <a:rPr lang="fr-CA" sz="1400" dirty="0"/>
              <a:t>trois fois au verset 27 : Dieu seul crée, et l'homme est le seul être vivant fait sur le modèle divin (90-219).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C. La vocation de l'image (1.26-28)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Domination : </a:t>
            </a:r>
            <a:r>
              <a:rPr lang="fr-CA" sz="1400" dirty="0"/>
              <a:t>représentant de Dieu, « roi de la terre », chargé de la cultiver et de la garder (90-219; Ps 8.7-9).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Homme et femme : </a:t>
            </a:r>
            <a:r>
              <a:rPr lang="fr-CA" sz="1400" dirty="0"/>
              <a:t>égaux en dignité, ils dominent ensemble; rôles distincts selon l'ordre de la création (Gn 2.18-23; 1 Tm 2.13).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b="1" dirty="0"/>
              <a:t>À montrer : </a:t>
            </a:r>
            <a:r>
              <a:rPr lang="fr-CA" sz="1400" dirty="0"/>
              <a:t>la NEG79 efface le pluriel hébreu (« qu'ils dominent », « il les créa mâle et femelle »).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Application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La dignité repose sur l'acte créateur, non sur l'utilité : l'enfant à naître, la personne handicapée, l'aîné atteint de démence portent l'image.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Transition : l'image ternie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Genèse 5.1-2 reprend 1.27 : Dieu avait fait l'homme « à la ressemblance de Dieu ».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Aussitôt après, Adam déchu engendre « à sa ressemblance » (Gn 5.3).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L'image demeure (Gn 9.6; Jc 3.9), mais la ressemblance morale est perdue et l'homme ne peut la restaurer.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Où voir encore l'image telle que Dieu l'a voulue?</a:t>
            </a:r>
          </a:p>
          <a:p>
            <a:pPr marL="0" indent="0">
              <a:spcBef>
                <a:spcPts val="600"/>
              </a:spcBef>
              <a:buNone/>
            </a:pPr>
            <a:r>
              <a:rPr lang="fr-CA" sz="1400" b="1" dirty="0"/>
              <a:t>À éviter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Spéculer sur la périchorèse : le mot nomme la communion trinitaire, il ne remplace pas le texte.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Faire de la domination une écologie moralisante ou une licence d'exploiter.</a:t>
            </a:r>
          </a:p>
          <a:p>
            <a:pPr marL="228600" indent="-228600">
              <a:spcBef>
                <a:spcPts val="300"/>
              </a:spcBef>
              <a:buFont typeface="Arial"/>
              <a:buChar char="•"/>
            </a:pPr>
            <a:r>
              <a:rPr lang="fr-CA" sz="1400" dirty="0"/>
              <a:t>Opposer l'égalité de l'homme et de la femme et leurs rôles distincts.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2D3741-4FA5-5A28-E401-926DD6895A0B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6397039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5.jpg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2.png"/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9" Type="http://schemas.openxmlformats.org/officeDocument/2006/relationships/image" Target="../media/image13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9.png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llustration" descr="Silhouette humaine dans un médaillon rayonnant : l'image de Dieu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20840" y="822960"/>
            <a:ext cx="5212080" cy="5212080"/>
          </a:xfrm>
          <a:prstGeom prst="rect">
            <a:avLst/>
          </a:prstGeom>
        </p:spPr>
      </p:pic>
      <p:sp>
        <p:nvSpPr>
          <p:cNvPr id="3" name="Repère"/>
          <p:cNvSpPr txBox="1"/>
          <p:nvPr/>
        </p:nvSpPr>
        <p:spPr>
          <a:xfrm>
            <a:off x="731520" y="1463040"/>
            <a:ext cx="5943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PRÉDICATION · 30 SEPTEMBRE 2026</a:t>
            </a:r>
            <a:endParaRPr lang="fr-CA" sz="1400" dirty="0"/>
          </a:p>
        </p:txBody>
      </p:sp>
      <p:sp>
        <p:nvSpPr>
          <p:cNvPr id="4" name="Titre"/>
          <p:cNvSpPr>
            <a:spLocks noGrp="1"/>
          </p:cNvSpPr>
          <p:nvPr>
            <p:ph type="title"/>
          </p:nvPr>
        </p:nvSpPr>
        <p:spPr>
          <a:xfrm>
            <a:off x="731520" y="1874520"/>
            <a:ext cx="60350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lnSpc>
                <a:spcPct val="95000"/>
              </a:lnSpc>
              <a:buNone/>
            </a:pPr>
            <a:r>
              <a:rPr lang="fr-CA" altLang="en-US" sz="56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À l'image de</a:t>
            </a:r>
            <a:endParaRPr lang="fr-CA" sz="5600" dirty="0"/>
          </a:p>
          <a:p>
            <a:pPr marL="0" indent="0" algn="l">
              <a:lnSpc>
                <a:spcPct val="95000"/>
              </a:lnSpc>
              <a:buNone/>
            </a:pPr>
            <a:r>
              <a:rPr lang="fr-CA" altLang="en-US" sz="56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Christ-Jésus</a:t>
            </a:r>
            <a:endParaRPr lang="fr-CA" sz="5600" dirty="0"/>
          </a:p>
        </p:txBody>
      </p:sp>
      <p:sp>
        <p:nvSpPr>
          <p:cNvPr id="5" name="Passage"/>
          <p:cNvSpPr txBox="1"/>
          <p:nvPr/>
        </p:nvSpPr>
        <p:spPr>
          <a:xfrm>
            <a:off x="731520" y="384048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26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Genèse 1.26-27</a:t>
            </a:r>
            <a:endParaRPr lang="fr-CA" sz="2600" dirty="0"/>
          </a:p>
        </p:txBody>
      </p:sp>
      <p:sp>
        <p:nvSpPr>
          <p:cNvPr id="6" name="Verset"/>
          <p:cNvSpPr txBox="1"/>
          <p:nvPr/>
        </p:nvSpPr>
        <p:spPr>
          <a:xfrm>
            <a:off x="731520" y="4526280"/>
            <a:ext cx="5867705" cy="1422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spcAft>
                <a:spcPts val="400"/>
              </a:spcAft>
              <a:buNone/>
            </a:pPr>
            <a:r>
              <a:rPr lang="fr-CA" altLang="en-US" sz="1900" i="1" dirty="0">
                <a:solidFill>
                  <a:srgbClr val="C9BCA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Dieu créa l'homme à son image, il le créa à l'image de Dieu, il créa l'homme et la femme. »</a:t>
            </a:r>
            <a:endParaRPr lang="fr-CA" sz="1900" dirty="0"/>
          </a:p>
          <a:p>
            <a:pPr marL="0" indent="0">
              <a:spcBef>
                <a:spcPts val="600"/>
              </a:spcBef>
              <a:spcAft>
                <a:spcPts val="400"/>
              </a:spcAft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Genèse 1.27</a:t>
            </a:r>
            <a:endParaRPr lang="fr-CA" sz="1900" dirty="0"/>
          </a:p>
        </p:txBody>
      </p:sp>
      <p:sp>
        <p:nvSpPr>
          <p:cNvPr id="7" name="Prédicateur"/>
          <p:cNvSpPr txBox="1"/>
          <p:nvPr/>
        </p:nvSpPr>
        <p:spPr>
          <a:xfrm>
            <a:off x="731520" y="6120994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André-Guy Bruneau</a:t>
            </a:r>
            <a:endParaRPr lang="fr-CA" sz="1600" dirty="0"/>
          </a:p>
        </p:txBody>
      </p:sp>
      <p:grpSp>
        <p:nvGrpSpPr>
          <p:cNvPr id="1000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8" name="Progression 1"/>
            <p:cNvSpPr/>
            <p:nvPr/>
          </p:nvSpPr>
          <p:spPr>
            <a:xfrm>
              <a:off x="546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9" name="Progression 2"/>
            <p:cNvSpPr/>
            <p:nvPr/>
          </p:nvSpPr>
          <p:spPr>
            <a:xfrm>
              <a:off x="1562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10" name="Progression 3"/>
            <p:cNvSpPr/>
            <p:nvPr/>
          </p:nvSpPr>
          <p:spPr>
            <a:xfrm>
              <a:off x="2578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11" name="Progression 4"/>
            <p:cNvSpPr/>
            <p:nvPr/>
          </p:nvSpPr>
          <p:spPr>
            <a:xfrm>
              <a:off x="3594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12" name="Progression 5"/>
            <p:cNvSpPr/>
            <p:nvPr/>
          </p:nvSpPr>
          <p:spPr>
            <a:xfrm>
              <a:off x="4610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13" name="Progression 6"/>
            <p:cNvSpPr/>
            <p:nvPr/>
          </p:nvSpPr>
          <p:spPr>
            <a:xfrm>
              <a:off x="5626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14" name="Progression 7"/>
            <p:cNvSpPr/>
            <p:nvPr/>
          </p:nvSpPr>
          <p:spPr>
            <a:xfrm>
              <a:off x="6642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15" name="Progression 8"/>
            <p:cNvSpPr/>
            <p:nvPr/>
          </p:nvSpPr>
          <p:spPr>
            <a:xfrm>
              <a:off x="7658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16" name="Progression 9"/>
            <p:cNvSpPr/>
            <p:nvPr/>
          </p:nvSpPr>
          <p:spPr>
            <a:xfrm>
              <a:off x="8674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17" name="Progression 10"/>
            <p:cNvSpPr/>
            <p:nvPr/>
          </p:nvSpPr>
          <p:spPr>
            <a:xfrm>
              <a:off x="9690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18" name="Progression 11"/>
            <p:cNvSpPr/>
            <p:nvPr/>
          </p:nvSpPr>
          <p:spPr>
            <a:xfrm>
              <a:off x="10706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6217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RAPPEL · 2 TIMOTHÉE 3.16-17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Toute l'Écriture est soufflée par Dieu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Ce que l'Écriture dit, Dieu le dit. »  (MacArthur)</a:t>
            </a:r>
            <a:endParaRPr lang="fr-CA" sz="1900" dirty="0"/>
          </a:p>
        </p:txBody>
      </p:sp>
      <p:pic>
        <p:nvPicPr>
          <p:cNvPr id="5" name="Image 0" descr="Bible ouverte d'où s'élève un souffle : l'Écriture soufflée par Dieu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74700" y="2311400"/>
            <a:ext cx="2540000" cy="254000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6100" y="5638800"/>
            <a:ext cx="30099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8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theopneustos</a:t>
            </a: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= « soufflée par Dieu »</a:t>
            </a:r>
            <a:endParaRPr lang="fr-CA" sz="1800" dirty="0"/>
          </a:p>
        </p:txBody>
      </p:sp>
      <p:sp>
        <p:nvSpPr>
          <p:cNvPr id="7" name="Shape 4"/>
          <p:cNvSpPr/>
          <p:nvPr/>
        </p:nvSpPr>
        <p:spPr>
          <a:xfrm>
            <a:off x="3822700" y="2349500"/>
            <a:ext cx="0" cy="2468880"/>
          </a:xfrm>
          <a:prstGeom prst="line">
            <a:avLst/>
          </a:prstGeom>
          <a:noFill/>
          <a:ln w="254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8" name="Shape 5"/>
          <p:cNvSpPr/>
          <p:nvPr/>
        </p:nvSpPr>
        <p:spPr>
          <a:xfrm>
            <a:off x="3556000" y="2070100"/>
            <a:ext cx="548640" cy="548640"/>
          </a:xfrm>
          <a:prstGeom prst="ellipse">
            <a:avLst/>
          </a:prstGeom>
          <a:solidFill>
            <a:srgbClr val="CC550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9" name="Text 6"/>
          <p:cNvSpPr txBox="1"/>
          <p:nvPr/>
        </p:nvSpPr>
        <p:spPr>
          <a:xfrm>
            <a:off x="3556000" y="20701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fr-CA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4330700" y="2032000"/>
            <a:ext cx="3810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21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Enseigner</a:t>
            </a:r>
            <a:endParaRPr lang="fr-CA" sz="1700" dirty="0"/>
          </a:p>
          <a:p>
            <a:pPr marL="0" indent="0">
              <a:buNone/>
            </a:pPr>
            <a:r>
              <a:rPr lang="fr-CA" altLang="en-US" sz="17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donne la vérité qui fait vivre selon Dieu</a:t>
            </a:r>
            <a:endParaRPr lang="fr-CA" sz="1700" dirty="0"/>
          </a:p>
        </p:txBody>
      </p:sp>
      <p:sp>
        <p:nvSpPr>
          <p:cNvPr id="11" name="Shape 8"/>
          <p:cNvSpPr/>
          <p:nvPr/>
        </p:nvSpPr>
        <p:spPr>
          <a:xfrm>
            <a:off x="3556000" y="2895600"/>
            <a:ext cx="548640" cy="548640"/>
          </a:xfrm>
          <a:prstGeom prst="ellipse">
            <a:avLst/>
          </a:prstGeom>
          <a:solidFill>
            <a:srgbClr val="CC550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2" name="Text 9"/>
          <p:cNvSpPr txBox="1"/>
          <p:nvPr/>
        </p:nvSpPr>
        <p:spPr>
          <a:xfrm>
            <a:off x="3556000" y="2895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fr-CA" sz="2000" dirty="0"/>
          </a:p>
        </p:txBody>
      </p:sp>
      <p:sp>
        <p:nvSpPr>
          <p:cNvPr id="13" name="Text 10"/>
          <p:cNvSpPr txBox="1"/>
          <p:nvPr/>
        </p:nvSpPr>
        <p:spPr>
          <a:xfrm>
            <a:off x="4330700" y="2857500"/>
            <a:ext cx="3810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21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Convaincre</a:t>
            </a:r>
            <a:endParaRPr lang="fr-CA" sz="1700" dirty="0"/>
          </a:p>
          <a:p>
            <a:pPr marL="0" indent="0">
              <a:buNone/>
            </a:pPr>
            <a:r>
              <a:rPr lang="fr-CA" altLang="en-US" sz="17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 le péché et l'erreur en lumière</a:t>
            </a:r>
            <a:endParaRPr lang="fr-CA" sz="1700" dirty="0"/>
          </a:p>
        </p:txBody>
      </p:sp>
      <p:sp>
        <p:nvSpPr>
          <p:cNvPr id="14" name="Shape 11"/>
          <p:cNvSpPr/>
          <p:nvPr/>
        </p:nvSpPr>
        <p:spPr>
          <a:xfrm>
            <a:off x="3556000" y="3721100"/>
            <a:ext cx="548640" cy="548640"/>
          </a:xfrm>
          <a:prstGeom prst="ellipse">
            <a:avLst/>
          </a:prstGeom>
          <a:solidFill>
            <a:srgbClr val="CC550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5" name="Text 12"/>
          <p:cNvSpPr txBox="1"/>
          <p:nvPr/>
        </p:nvSpPr>
        <p:spPr>
          <a:xfrm>
            <a:off x="3556000" y="37211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fr-CA" sz="2000" dirty="0"/>
          </a:p>
        </p:txBody>
      </p:sp>
      <p:sp>
        <p:nvSpPr>
          <p:cNvPr id="16" name="Text 13"/>
          <p:cNvSpPr txBox="1"/>
          <p:nvPr/>
        </p:nvSpPr>
        <p:spPr>
          <a:xfrm>
            <a:off x="4330700" y="3683000"/>
            <a:ext cx="3810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21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Corriger</a:t>
            </a:r>
            <a:endParaRPr lang="fr-CA" sz="1700" dirty="0"/>
          </a:p>
          <a:p>
            <a:pPr marL="0" indent="0">
              <a:buNone/>
            </a:pPr>
            <a:r>
              <a:rPr lang="fr-CA" altLang="en-US" sz="17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relève et redresse</a:t>
            </a:r>
            <a:endParaRPr lang="fr-CA" sz="1700" dirty="0"/>
          </a:p>
        </p:txBody>
      </p:sp>
      <p:sp>
        <p:nvSpPr>
          <p:cNvPr id="17" name="Shape 14"/>
          <p:cNvSpPr/>
          <p:nvPr/>
        </p:nvSpPr>
        <p:spPr>
          <a:xfrm>
            <a:off x="3556000" y="4546600"/>
            <a:ext cx="548640" cy="548640"/>
          </a:xfrm>
          <a:prstGeom prst="ellipse">
            <a:avLst/>
          </a:prstGeom>
          <a:solidFill>
            <a:srgbClr val="CC550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8" name="Text 15"/>
          <p:cNvSpPr txBox="1"/>
          <p:nvPr/>
        </p:nvSpPr>
        <p:spPr>
          <a:xfrm>
            <a:off x="3556000" y="454660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fr-CA" sz="2000" dirty="0"/>
          </a:p>
        </p:txBody>
      </p:sp>
      <p:sp>
        <p:nvSpPr>
          <p:cNvPr id="19" name="Text 16"/>
          <p:cNvSpPr txBox="1"/>
          <p:nvPr/>
        </p:nvSpPr>
        <p:spPr>
          <a:xfrm>
            <a:off x="4330700" y="4508500"/>
            <a:ext cx="38100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21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Instruire dans la justice</a:t>
            </a:r>
            <a:endParaRPr lang="fr-CA" sz="1700" dirty="0"/>
          </a:p>
          <a:p>
            <a:pPr marL="0" indent="0">
              <a:buNone/>
            </a:pPr>
            <a:r>
              <a:rPr lang="fr-CA" altLang="en-US" sz="17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 grandir jusqu'à la maturité</a:t>
            </a:r>
            <a:endParaRPr lang="fr-CA" sz="1700" dirty="0"/>
          </a:p>
        </p:txBody>
      </p:sp>
      <p:sp>
        <p:nvSpPr>
          <p:cNvPr id="20" name="Shape 17"/>
          <p:cNvSpPr/>
          <p:nvPr/>
        </p:nvSpPr>
        <p:spPr>
          <a:xfrm>
            <a:off x="3556000" y="5638800"/>
            <a:ext cx="8089900" cy="635000"/>
          </a:xfrm>
          <a:prstGeom prst="roundRect">
            <a:avLst>
              <a:gd name="adj" fmla="val 17280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1" name="Text 18"/>
          <p:cNvSpPr txBox="1"/>
          <p:nvPr/>
        </p:nvSpPr>
        <p:spPr>
          <a:xfrm>
            <a:off x="3784600" y="5638800"/>
            <a:ext cx="7632700" cy="635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7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But : </a:t>
            </a:r>
            <a:r>
              <a:rPr lang="fr-CA" altLang="en-US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l'homme de Dieu soit propre, non à la plupart, mais à toutes les bonnes œuvres.</a:t>
            </a:r>
            <a:endParaRPr lang="fr-CA" sz="1700" dirty="0"/>
          </a:p>
        </p:txBody>
      </p:sp>
      <p:pic>
        <p:nvPicPr>
          <p:cNvPr id="22" name="Couverture du livre" descr="Couverture du livre « Le sentier de la vie – La richesse du Psaume 119 », de Stephen Yuille (Europresse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6070" y="2374265"/>
            <a:ext cx="1741170" cy="2785872"/>
          </a:xfrm>
          <a:prstGeom prst="rect">
            <a:avLst/>
          </a:prstGeom>
        </p:spPr>
      </p:pic>
      <p:grpSp>
        <p:nvGrpSpPr>
          <p:cNvPr id="1001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23" name="Progression 1"/>
            <p:cNvSpPr/>
            <p:nvPr/>
          </p:nvSpPr>
          <p:spPr>
            <a:xfrm>
              <a:off x="546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24" name="Progression 2"/>
            <p:cNvSpPr/>
            <p:nvPr/>
          </p:nvSpPr>
          <p:spPr>
            <a:xfrm>
              <a:off x="1562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25" name="Progression 3"/>
            <p:cNvSpPr/>
            <p:nvPr/>
          </p:nvSpPr>
          <p:spPr>
            <a:xfrm>
              <a:off x="2578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26" name="Progression 4"/>
            <p:cNvSpPr/>
            <p:nvPr/>
          </p:nvSpPr>
          <p:spPr>
            <a:xfrm>
              <a:off x="3594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27" name="Progression 5"/>
            <p:cNvSpPr/>
            <p:nvPr/>
          </p:nvSpPr>
          <p:spPr>
            <a:xfrm>
              <a:off x="4610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28" name="Progression 6"/>
            <p:cNvSpPr/>
            <p:nvPr/>
          </p:nvSpPr>
          <p:spPr>
            <a:xfrm>
              <a:off x="5626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29" name="Progression 7"/>
            <p:cNvSpPr/>
            <p:nvPr/>
          </p:nvSpPr>
          <p:spPr>
            <a:xfrm>
              <a:off x="6642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0" name="Progression 8"/>
            <p:cNvSpPr/>
            <p:nvPr/>
          </p:nvSpPr>
          <p:spPr>
            <a:xfrm>
              <a:off x="7658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1" name="Progression 9"/>
            <p:cNvSpPr/>
            <p:nvPr/>
          </p:nvSpPr>
          <p:spPr>
            <a:xfrm>
              <a:off x="8674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2" name="Progression 10"/>
            <p:cNvSpPr/>
            <p:nvPr/>
          </p:nvSpPr>
          <p:spPr>
            <a:xfrm>
              <a:off x="9690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3" name="Progression 11"/>
            <p:cNvSpPr/>
            <p:nvPr/>
          </p:nvSpPr>
          <p:spPr>
            <a:xfrm>
              <a:off x="10706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</p:grpSp>
      <p:pic>
        <p:nvPicPr>
          <p:cNvPr id="34" name="Couverture du livre (Owen)" descr="Couverture du livre « Communion with God », de John Owen (Puritan Paperbacks)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61499" y="2419223"/>
            <a:ext cx="1847977" cy="2785872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6217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 · GENÈSE 1.27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Qui porte l'image de Dieu?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 représentait, et rendait présent, celui qu'elle figurait</a:t>
            </a:r>
            <a:endParaRPr lang="fr-CA" sz="1900" dirty="0"/>
          </a:p>
        </p:txBody>
      </p:sp>
      <p:pic>
        <p:nvPicPr>
          <p:cNvPr id="5" name="Image 0" descr="Deux médaillons reliés par une flèche : l'effigie du pharaon, puis la silhouette de tout être humai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28800"/>
            <a:ext cx="6583680" cy="329184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08041" y="5120640"/>
            <a:ext cx="31749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Autour d'Israël : le roi seul</a:t>
            </a:r>
            <a:endParaRPr lang="fr-CA" sz="1600" dirty="0"/>
          </a:p>
          <a:p>
            <a:pPr marL="0" indent="0" algn="ctr">
              <a:buNone/>
            </a:pPr>
            <a:r>
              <a:rPr lang="fr-CA" altLang="en-US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pharaon, « image vivante » du dieu</a:t>
            </a:r>
            <a:endParaRPr lang="fr-CA" sz="1600" dirty="0"/>
          </a:p>
        </p:txBody>
      </p:sp>
      <p:sp>
        <p:nvSpPr>
          <p:cNvPr id="7" name="Text 4"/>
          <p:cNvSpPr txBox="1"/>
          <p:nvPr/>
        </p:nvSpPr>
        <p:spPr>
          <a:xfrm>
            <a:off x="3810030" y="5120640"/>
            <a:ext cx="31749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6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Genèse 1.27 : tout être humain</a:t>
            </a:r>
            <a:endParaRPr lang="fr-CA" sz="1600" dirty="0"/>
          </a:p>
          <a:p>
            <a:pPr marL="0" indent="0" algn="ctr">
              <a:buNone/>
            </a:pPr>
            <a:r>
              <a:rPr lang="fr-CA" altLang="en-US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homme et femme, sans rang ni lignée</a:t>
            </a:r>
            <a:endParaRPr lang="fr-CA" sz="16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5943600"/>
            <a:ext cx="6492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2100" i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aussi, vous portez une image. Laquelle?</a:t>
            </a:r>
            <a:endParaRPr lang="fr-CA" sz="2100" dirty="0"/>
          </a:p>
        </p:txBody>
      </p:sp>
      <p:sp>
        <p:nvSpPr>
          <p:cNvPr id="9" name="Shape 6"/>
          <p:cNvSpPr/>
          <p:nvPr/>
        </p:nvSpPr>
        <p:spPr>
          <a:xfrm>
            <a:off x="7452360" y="1828800"/>
            <a:ext cx="4187952" cy="4526280"/>
          </a:xfrm>
          <a:prstGeom prst="roundRect">
            <a:avLst>
              <a:gd name="adj" fmla="val 2620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0" name="Text 7"/>
          <p:cNvSpPr txBox="1"/>
          <p:nvPr/>
        </p:nvSpPr>
        <p:spPr>
          <a:xfrm>
            <a:off x="7726680" y="2011680"/>
            <a:ext cx="3657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7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Tselem / eikôn</a:t>
            </a:r>
            <a:r>
              <a:rPr lang="fr-CA" altLang="en-US" sz="17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 : image, effigie</a:t>
            </a:r>
            <a:endParaRPr lang="fr-CA" sz="1700" dirty="0"/>
          </a:p>
        </p:txBody>
      </p:sp>
      <p:sp>
        <p:nvSpPr>
          <p:cNvPr id="11" name="Text 8"/>
          <p:cNvSpPr txBox="1"/>
          <p:nvPr/>
        </p:nvSpPr>
        <p:spPr>
          <a:xfrm>
            <a:off x="7726680" y="2514600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400" b="1" kern="0" spc="3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SEUL PARCOURS</a:t>
            </a:r>
            <a:endParaRPr lang="fr-CA" sz="1400" dirty="0"/>
          </a:p>
        </p:txBody>
      </p:sp>
      <p:sp>
        <p:nvSpPr>
          <p:cNvPr id="12" name="Shape 9"/>
          <p:cNvSpPr/>
          <p:nvPr/>
        </p:nvSpPr>
        <p:spPr>
          <a:xfrm>
            <a:off x="7726680" y="2880360"/>
            <a:ext cx="420624" cy="42062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3" name="Text 10"/>
          <p:cNvSpPr txBox="1"/>
          <p:nvPr/>
        </p:nvSpPr>
        <p:spPr>
          <a:xfrm>
            <a:off x="7726680" y="28803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</a:t>
            </a:r>
            <a:endParaRPr lang="fr-CA" sz="1400" dirty="0"/>
          </a:p>
        </p:txBody>
      </p:sp>
      <p:sp>
        <p:nvSpPr>
          <p:cNvPr id="14" name="Text 11"/>
          <p:cNvSpPr txBox="1"/>
          <p:nvPr/>
        </p:nvSpPr>
        <p:spPr>
          <a:xfrm>
            <a:off x="8321040" y="288036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9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 créée</a:t>
            </a:r>
            <a:endParaRPr lang="fr-CA" sz="1900" dirty="0"/>
          </a:p>
        </p:txBody>
      </p:sp>
      <p:sp>
        <p:nvSpPr>
          <p:cNvPr id="15" name="Shape 12"/>
          <p:cNvSpPr/>
          <p:nvPr/>
        </p:nvSpPr>
        <p:spPr>
          <a:xfrm>
            <a:off x="7726680" y="3429000"/>
            <a:ext cx="420624" cy="42062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6" name="Text 13"/>
          <p:cNvSpPr txBox="1"/>
          <p:nvPr/>
        </p:nvSpPr>
        <p:spPr>
          <a:xfrm>
            <a:off x="7726680" y="342900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</a:t>
            </a:r>
            <a:endParaRPr lang="fr-CA" sz="1400" dirty="0"/>
          </a:p>
        </p:txBody>
      </p:sp>
      <p:sp>
        <p:nvSpPr>
          <p:cNvPr id="17" name="Text 14"/>
          <p:cNvSpPr txBox="1"/>
          <p:nvPr/>
        </p:nvSpPr>
        <p:spPr>
          <a:xfrm>
            <a:off x="8321040" y="342900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9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 parfaite</a:t>
            </a:r>
            <a:endParaRPr lang="fr-CA" sz="1900" dirty="0"/>
          </a:p>
        </p:txBody>
      </p:sp>
      <p:sp>
        <p:nvSpPr>
          <p:cNvPr id="18" name="Shape 15"/>
          <p:cNvSpPr/>
          <p:nvPr/>
        </p:nvSpPr>
        <p:spPr>
          <a:xfrm>
            <a:off x="7726680" y="3977640"/>
            <a:ext cx="420624" cy="42062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9" name="Text 16"/>
          <p:cNvSpPr txBox="1"/>
          <p:nvPr/>
        </p:nvSpPr>
        <p:spPr>
          <a:xfrm>
            <a:off x="7726680" y="39776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</a:t>
            </a:r>
            <a:endParaRPr lang="fr-CA" sz="1400" dirty="0"/>
          </a:p>
        </p:txBody>
      </p:sp>
      <p:sp>
        <p:nvSpPr>
          <p:cNvPr id="20" name="Text 17"/>
          <p:cNvSpPr txBox="1"/>
          <p:nvPr/>
        </p:nvSpPr>
        <p:spPr>
          <a:xfrm>
            <a:off x="8321040" y="397764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9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 promise</a:t>
            </a:r>
            <a:endParaRPr lang="fr-CA" sz="1900" dirty="0"/>
          </a:p>
        </p:txBody>
      </p:sp>
      <p:sp>
        <p:nvSpPr>
          <p:cNvPr id="21" name="Shape 18"/>
          <p:cNvSpPr/>
          <p:nvPr/>
        </p:nvSpPr>
        <p:spPr>
          <a:xfrm>
            <a:off x="7726680" y="4526280"/>
            <a:ext cx="420624" cy="42062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2" name="Text 19"/>
          <p:cNvSpPr txBox="1"/>
          <p:nvPr/>
        </p:nvSpPr>
        <p:spPr>
          <a:xfrm>
            <a:off x="7726680" y="452628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</a:t>
            </a:r>
            <a:endParaRPr lang="fr-CA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8321040" y="452628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9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 transformée</a:t>
            </a:r>
            <a:endParaRPr lang="fr-CA" sz="1900" dirty="0"/>
          </a:p>
        </p:txBody>
      </p:sp>
      <p:sp>
        <p:nvSpPr>
          <p:cNvPr id="24" name="Shape 21"/>
          <p:cNvSpPr/>
          <p:nvPr/>
        </p:nvSpPr>
        <p:spPr>
          <a:xfrm>
            <a:off x="7726680" y="5074920"/>
            <a:ext cx="420624" cy="42062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5" name="Text 22"/>
          <p:cNvSpPr txBox="1"/>
          <p:nvPr/>
        </p:nvSpPr>
        <p:spPr>
          <a:xfrm>
            <a:off x="7726680" y="50749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fr-CA" sz="1400" dirty="0"/>
          </a:p>
        </p:txBody>
      </p:sp>
      <p:sp>
        <p:nvSpPr>
          <p:cNvPr id="26" name="Text 23"/>
          <p:cNvSpPr txBox="1"/>
          <p:nvPr/>
        </p:nvSpPr>
        <p:spPr>
          <a:xfrm>
            <a:off x="8321040" y="507492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9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 qui aime</a:t>
            </a:r>
            <a:endParaRPr lang="fr-CA" sz="1900" dirty="0"/>
          </a:p>
        </p:txBody>
      </p:sp>
      <p:sp>
        <p:nvSpPr>
          <p:cNvPr id="27" name="Shape 24"/>
          <p:cNvSpPr/>
          <p:nvPr/>
        </p:nvSpPr>
        <p:spPr>
          <a:xfrm>
            <a:off x="7726680" y="5623560"/>
            <a:ext cx="420624" cy="42062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8" name="Text 25"/>
          <p:cNvSpPr txBox="1"/>
          <p:nvPr/>
        </p:nvSpPr>
        <p:spPr>
          <a:xfrm>
            <a:off x="7726680" y="562356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</a:t>
            </a:r>
            <a:endParaRPr lang="fr-CA" sz="1400" dirty="0"/>
          </a:p>
        </p:txBody>
      </p:sp>
      <p:sp>
        <p:nvSpPr>
          <p:cNvPr id="29" name="Text 26"/>
          <p:cNvSpPr txBox="1"/>
          <p:nvPr/>
        </p:nvSpPr>
        <p:spPr>
          <a:xfrm>
            <a:off x="8321040" y="5623560"/>
            <a:ext cx="3108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9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L'image envoyée</a:t>
            </a:r>
            <a:endParaRPr lang="fr-CA" sz="1900" dirty="0"/>
          </a:p>
        </p:txBody>
      </p:sp>
      <p:grpSp>
        <p:nvGrpSpPr>
          <p:cNvPr id="1002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30" name="Progression 1"/>
            <p:cNvSpPr/>
            <p:nvPr/>
          </p:nvSpPr>
          <p:spPr>
            <a:xfrm>
              <a:off x="546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1" name="Progression 2"/>
            <p:cNvSpPr/>
            <p:nvPr/>
          </p:nvSpPr>
          <p:spPr>
            <a:xfrm>
              <a:off x="1562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2" name="Progression 3"/>
            <p:cNvSpPr/>
            <p:nvPr/>
          </p:nvSpPr>
          <p:spPr>
            <a:xfrm>
              <a:off x="2578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3" name="Progression 4"/>
            <p:cNvSpPr/>
            <p:nvPr/>
          </p:nvSpPr>
          <p:spPr>
            <a:xfrm>
              <a:off x="3594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4" name="Progression 5"/>
            <p:cNvSpPr/>
            <p:nvPr/>
          </p:nvSpPr>
          <p:spPr>
            <a:xfrm>
              <a:off x="4610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5" name="Progression 6"/>
            <p:cNvSpPr/>
            <p:nvPr/>
          </p:nvSpPr>
          <p:spPr>
            <a:xfrm>
              <a:off x="5626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6" name="Progression 7"/>
            <p:cNvSpPr/>
            <p:nvPr/>
          </p:nvSpPr>
          <p:spPr>
            <a:xfrm>
              <a:off x="6642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7" name="Progression 8"/>
            <p:cNvSpPr/>
            <p:nvPr/>
          </p:nvSpPr>
          <p:spPr>
            <a:xfrm>
              <a:off x="7658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8" name="Progression 9"/>
            <p:cNvSpPr/>
            <p:nvPr/>
          </p:nvSpPr>
          <p:spPr>
            <a:xfrm>
              <a:off x="8674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9" name="Progression 10"/>
            <p:cNvSpPr/>
            <p:nvPr/>
          </p:nvSpPr>
          <p:spPr>
            <a:xfrm>
              <a:off x="9690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40" name="Progression 11"/>
            <p:cNvSpPr/>
            <p:nvPr/>
          </p:nvSpPr>
          <p:spPr>
            <a:xfrm>
              <a:off x="10706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492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· GENÈSE 1.26-27 / Genèse 5.1-2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L'image créée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L'homme est fait à l'image d'un Dieu qui n'a jamais été seul</a:t>
            </a:r>
            <a:endParaRPr lang="fr-CA" sz="1900" dirty="0"/>
          </a:p>
        </p:txBody>
      </p:sp>
      <p:sp>
        <p:nvSpPr>
          <p:cNvPr id="5" name="Navigation : créée"/>
          <p:cNvSpPr txBox="1"/>
          <p:nvPr/>
        </p:nvSpPr>
        <p:spPr>
          <a:xfrm>
            <a:off x="5537200" y="384048"/>
            <a:ext cx="58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</a:t>
            </a:r>
            <a:endParaRPr lang="fr-CA" sz="1400" dirty="0"/>
          </a:p>
        </p:txBody>
      </p:sp>
      <p:sp>
        <p:nvSpPr>
          <p:cNvPr id="6" name="Navigation : parfaite"/>
          <p:cNvSpPr txBox="1"/>
          <p:nvPr/>
        </p:nvSpPr>
        <p:spPr>
          <a:xfrm>
            <a:off x="6324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parfaite</a:t>
            </a:r>
            <a:endParaRPr lang="fr-CA" sz="1400" dirty="0"/>
          </a:p>
        </p:txBody>
      </p:sp>
      <p:sp>
        <p:nvSpPr>
          <p:cNvPr id="7" name="Navigation : promise"/>
          <p:cNvSpPr txBox="1"/>
          <p:nvPr/>
        </p:nvSpPr>
        <p:spPr>
          <a:xfrm>
            <a:off x="7404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</a:t>
            </a:r>
            <a:endParaRPr lang="fr-CA" sz="1400" dirty="0"/>
          </a:p>
        </p:txBody>
      </p:sp>
      <p:sp>
        <p:nvSpPr>
          <p:cNvPr id="8" name="Navigation : transformée"/>
          <p:cNvSpPr txBox="1"/>
          <p:nvPr/>
        </p:nvSpPr>
        <p:spPr>
          <a:xfrm>
            <a:off x="8382000" y="384048"/>
            <a:ext cx="116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transformée</a:t>
            </a:r>
            <a:endParaRPr lang="fr-CA" sz="1400" dirty="0"/>
          </a:p>
        </p:txBody>
      </p:sp>
      <p:sp>
        <p:nvSpPr>
          <p:cNvPr id="9" name="Navigation : qui aime"/>
          <p:cNvSpPr txBox="1"/>
          <p:nvPr/>
        </p:nvSpPr>
        <p:spPr>
          <a:xfrm>
            <a:off x="9753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aime</a:t>
            </a:r>
            <a:endParaRPr lang="fr-CA" sz="1400" dirty="0"/>
          </a:p>
        </p:txBody>
      </p:sp>
      <p:sp>
        <p:nvSpPr>
          <p:cNvPr id="10" name="Navigation : envoyée"/>
          <p:cNvSpPr txBox="1"/>
          <p:nvPr/>
        </p:nvSpPr>
        <p:spPr>
          <a:xfrm>
            <a:off x="10833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envoyée</a:t>
            </a:r>
            <a:endParaRPr lang="fr-CA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580583"/>
            <a:ext cx="3840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6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Faisons » : </a:t>
            </a:r>
            <a:r>
              <a:rPr lang="fr-CA" altLang="en-US" sz="16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 la première fois, Dieu parle au pluriel. Un seul Dieu, trois personnes en communion.</a:t>
            </a:r>
            <a:endParaRPr lang="fr-CA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4754880" y="187452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 qu'est l'image  </a:t>
            </a:r>
            <a:r>
              <a:rPr lang="fr-CA" altLang="en-US" sz="16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tselem = demuth : image = ressemblance</a:t>
            </a:r>
            <a:endParaRPr lang="fr-CA" sz="1900" dirty="0"/>
          </a:p>
        </p:txBody>
      </p:sp>
      <p:sp>
        <p:nvSpPr>
          <p:cNvPr id="13" name="Shape 11"/>
          <p:cNvSpPr/>
          <p:nvPr/>
        </p:nvSpPr>
        <p:spPr>
          <a:xfrm>
            <a:off x="4754880" y="2377440"/>
            <a:ext cx="2148840" cy="2148840"/>
          </a:xfrm>
          <a:prstGeom prst="roundRect">
            <a:avLst>
              <a:gd name="adj" fmla="val 5106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4" name="Shape 12"/>
          <p:cNvSpPr/>
          <p:nvPr/>
        </p:nvSpPr>
        <p:spPr>
          <a:xfrm>
            <a:off x="5509260" y="2560320"/>
            <a:ext cx="640080" cy="64008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15" name="Image 0" descr="Icône : cerveau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37276" y="2688336"/>
            <a:ext cx="384048" cy="38404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4800600" y="3310128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Raison - Logos</a:t>
            </a:r>
            <a:endParaRPr lang="fr-CA" sz="1600" dirty="0"/>
          </a:p>
        </p:txBody>
      </p:sp>
      <p:sp>
        <p:nvSpPr>
          <p:cNvPr id="17" name="Text 14"/>
          <p:cNvSpPr txBox="1"/>
          <p:nvPr/>
        </p:nvSpPr>
        <p:spPr>
          <a:xfrm>
            <a:off x="4937760" y="3675888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est comme Dieu : il pense, veut, ressent.</a:t>
            </a:r>
            <a:endParaRPr lang="fr-CA" sz="1500" dirty="0"/>
          </a:p>
        </p:txBody>
      </p:sp>
      <p:sp>
        <p:nvSpPr>
          <p:cNvPr id="18" name="Shape 15"/>
          <p:cNvSpPr/>
          <p:nvPr/>
        </p:nvSpPr>
        <p:spPr>
          <a:xfrm>
            <a:off x="7132320" y="2377440"/>
            <a:ext cx="2148840" cy="2148840"/>
          </a:xfrm>
          <a:prstGeom prst="roundRect">
            <a:avLst>
              <a:gd name="adj" fmla="val 5106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9" name="Shape 16"/>
          <p:cNvSpPr/>
          <p:nvPr/>
        </p:nvSpPr>
        <p:spPr>
          <a:xfrm>
            <a:off x="7886700" y="2560320"/>
            <a:ext cx="640080" cy="64008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0" name="Image 1" descr="Icône : balanc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14716" y="2688336"/>
            <a:ext cx="384048" cy="384048"/>
          </a:xfrm>
          <a:prstGeom prst="rect">
            <a:avLst/>
          </a:prstGeom>
        </p:spPr>
      </p:pic>
      <p:sp>
        <p:nvSpPr>
          <p:cNvPr id="21" name="Text 17"/>
          <p:cNvSpPr txBox="1"/>
          <p:nvPr/>
        </p:nvSpPr>
        <p:spPr>
          <a:xfrm>
            <a:off x="7178040" y="3310128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Morale - Éthique</a:t>
            </a:r>
            <a:endParaRPr lang="fr-CA" sz="1600" dirty="0"/>
          </a:p>
        </p:txBody>
      </p:sp>
      <p:sp>
        <p:nvSpPr>
          <p:cNvPr id="22" name="Text 18"/>
          <p:cNvSpPr txBox="1"/>
          <p:nvPr/>
        </p:nvSpPr>
        <p:spPr>
          <a:xfrm>
            <a:off x="7315200" y="3675888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était comme Dieu : bon, sans péché.</a:t>
            </a:r>
            <a:endParaRPr lang="fr-CA" sz="1500" dirty="0"/>
          </a:p>
        </p:txBody>
      </p:sp>
      <p:sp>
        <p:nvSpPr>
          <p:cNvPr id="23" name="Shape 19"/>
          <p:cNvSpPr/>
          <p:nvPr/>
        </p:nvSpPr>
        <p:spPr>
          <a:xfrm>
            <a:off x="9509760" y="2377440"/>
            <a:ext cx="2148840" cy="2148840"/>
          </a:xfrm>
          <a:prstGeom prst="roundRect">
            <a:avLst>
              <a:gd name="adj" fmla="val 5106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4" name="Shape 20"/>
          <p:cNvSpPr/>
          <p:nvPr/>
        </p:nvSpPr>
        <p:spPr>
          <a:xfrm>
            <a:off x="10264140" y="2560320"/>
            <a:ext cx="640080" cy="64008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5" name="Image 2" descr="Icône : cœur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92156" y="2688336"/>
            <a:ext cx="384048" cy="384048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9555480" y="3310128"/>
            <a:ext cx="2057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Communion - Affection</a:t>
            </a:r>
            <a:endParaRPr lang="fr-CA" sz="1600" dirty="0"/>
          </a:p>
        </p:txBody>
      </p:sp>
      <p:sp>
        <p:nvSpPr>
          <p:cNvPr id="27" name="Text 22"/>
          <p:cNvSpPr txBox="1"/>
          <p:nvPr/>
        </p:nvSpPr>
        <p:spPr>
          <a:xfrm>
            <a:off x="9692640" y="3675888"/>
            <a:ext cx="18288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 de l'image : connaître Dieu personnellement.</a:t>
            </a:r>
            <a:endParaRPr lang="fr-CA" sz="1500" dirty="0"/>
          </a:p>
        </p:txBody>
      </p:sp>
      <p:sp>
        <p:nvSpPr>
          <p:cNvPr id="28" name="Text 23"/>
          <p:cNvSpPr txBox="1"/>
          <p:nvPr/>
        </p:nvSpPr>
        <p:spPr>
          <a:xfrm>
            <a:off x="4754880" y="4663440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 vocation</a:t>
            </a:r>
            <a:endParaRPr lang="fr-CA" sz="1900" dirty="0"/>
          </a:p>
        </p:txBody>
      </p:sp>
      <p:sp>
        <p:nvSpPr>
          <p:cNvPr id="29" name="Shape 24"/>
          <p:cNvSpPr/>
          <p:nvPr/>
        </p:nvSpPr>
        <p:spPr>
          <a:xfrm>
            <a:off x="4754880" y="5120640"/>
            <a:ext cx="548640" cy="54864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30" name="Image 3" descr="Icône : couronne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64608" y="5230368"/>
            <a:ext cx="329184" cy="329184"/>
          </a:xfrm>
          <a:prstGeom prst="rect">
            <a:avLst/>
          </a:prstGeom>
        </p:spPr>
      </p:pic>
      <p:sp>
        <p:nvSpPr>
          <p:cNvPr id="31" name="Text 25"/>
          <p:cNvSpPr txBox="1"/>
          <p:nvPr/>
        </p:nvSpPr>
        <p:spPr>
          <a:xfrm>
            <a:off x="5440680" y="507492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Représenter Dieu et gérer la terre</a:t>
            </a:r>
            <a:endParaRPr lang="fr-CA" sz="1500" dirty="0"/>
          </a:p>
        </p:txBody>
      </p:sp>
      <p:sp>
        <p:nvSpPr>
          <p:cNvPr id="32" name="Shape 26"/>
          <p:cNvSpPr/>
          <p:nvPr/>
        </p:nvSpPr>
        <p:spPr>
          <a:xfrm>
            <a:off x="7132320" y="5120640"/>
            <a:ext cx="548640" cy="54864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33" name="Image 4" descr="Icône : deux personnes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42048" y="5230368"/>
            <a:ext cx="329184" cy="329184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7818120" y="507492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Homme et femme : même dignité, rôles distincts</a:t>
            </a:r>
            <a:endParaRPr lang="fr-CA" sz="1500" dirty="0"/>
          </a:p>
        </p:txBody>
      </p:sp>
      <p:sp>
        <p:nvSpPr>
          <p:cNvPr id="35" name="Shape 28"/>
          <p:cNvSpPr/>
          <p:nvPr/>
        </p:nvSpPr>
        <p:spPr>
          <a:xfrm>
            <a:off x="9509760" y="5120640"/>
            <a:ext cx="548640" cy="54864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36" name="Image 5" descr="Icône : personne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619488" y="5230368"/>
            <a:ext cx="329184" cy="329184"/>
          </a:xfrm>
          <a:prstGeom prst="rect">
            <a:avLst/>
          </a:prstGeom>
        </p:spPr>
      </p:pic>
      <p:sp>
        <p:nvSpPr>
          <p:cNvPr id="37" name="Text 29"/>
          <p:cNvSpPr txBox="1"/>
          <p:nvPr/>
        </p:nvSpPr>
        <p:spPr>
          <a:xfrm>
            <a:off x="10195560" y="5074920"/>
            <a:ext cx="16002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5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Toute vie humaine porte l'image</a:t>
            </a:r>
            <a:endParaRPr lang="fr-CA" sz="1500" dirty="0"/>
          </a:p>
        </p:txBody>
      </p:sp>
      <p:grpSp>
        <p:nvGrpSpPr>
          <p:cNvPr id="1003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38" name="Progression 1"/>
            <p:cNvSpPr/>
            <p:nvPr/>
          </p:nvSpPr>
          <p:spPr>
            <a:xfrm>
              <a:off x="546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9" name="Progression 2"/>
            <p:cNvSpPr/>
            <p:nvPr/>
          </p:nvSpPr>
          <p:spPr>
            <a:xfrm>
              <a:off x="1562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40" name="Progression 3"/>
            <p:cNvSpPr/>
            <p:nvPr/>
          </p:nvSpPr>
          <p:spPr>
            <a:xfrm>
              <a:off x="2578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41" name="Progression 4"/>
            <p:cNvSpPr/>
            <p:nvPr/>
          </p:nvSpPr>
          <p:spPr>
            <a:xfrm>
              <a:off x="3594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42" name="Progression 5"/>
            <p:cNvSpPr/>
            <p:nvPr/>
          </p:nvSpPr>
          <p:spPr>
            <a:xfrm>
              <a:off x="4610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43" name="Progression 6"/>
            <p:cNvSpPr/>
            <p:nvPr/>
          </p:nvSpPr>
          <p:spPr>
            <a:xfrm>
              <a:off x="5626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44" name="Progression 7"/>
            <p:cNvSpPr/>
            <p:nvPr/>
          </p:nvSpPr>
          <p:spPr>
            <a:xfrm>
              <a:off x="6642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45" name="Progression 8"/>
            <p:cNvSpPr/>
            <p:nvPr/>
          </p:nvSpPr>
          <p:spPr>
            <a:xfrm>
              <a:off x="7658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46" name="Progression 9"/>
            <p:cNvSpPr/>
            <p:nvPr/>
          </p:nvSpPr>
          <p:spPr>
            <a:xfrm>
              <a:off x="8674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47" name="Progression 10"/>
            <p:cNvSpPr/>
            <p:nvPr/>
          </p:nvSpPr>
          <p:spPr>
            <a:xfrm>
              <a:off x="9690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48" name="Progression 11"/>
            <p:cNvSpPr/>
            <p:nvPr/>
          </p:nvSpPr>
          <p:spPr>
            <a:xfrm>
              <a:off x="10706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</p:grpSp>
      <p:grpSp>
        <p:nvGrpSpPr>
          <p:cNvPr id="1004" name="Schéma Trinité"/>
          <p:cNvGrpSpPr/>
          <p:nvPr/>
        </p:nvGrpSpPr>
        <p:grpSpPr>
          <a:xfrm>
            <a:off x="97155" y="1595120"/>
            <a:ext cx="4475988" cy="4027805"/>
            <a:chOff x="97155" y="1595120"/>
            <a:chExt cx="4475988" cy="4027805"/>
          </a:xfrm>
        </p:grpSpPr>
        <p:pic>
          <p:nvPicPr>
            <p:cNvPr id="49" name="Trinité" descr="Père, Fils et Esprit en communion autour du nom de Dieu"/>
            <p:cNvPicPr>
              <a:picLocks noChangeAspect="1"/>
            </p:cNvPicPr>
            <p:nvPr/>
          </p:nvPicPr>
          <p:blipFill>
            <a:blip r:embed="rId9"/>
            <a:stretch>
              <a:fillRect/>
            </a:stretch>
          </p:blipFill>
          <p:spPr>
            <a:xfrm>
              <a:off x="97155" y="1595120"/>
              <a:ext cx="4475988" cy="4027805"/>
            </a:xfrm>
            <a:prstGeom prst="rect">
              <a:avLst/>
            </a:prstGeom>
          </p:spPr>
        </p:pic>
        <p:sp>
          <p:nvSpPr>
            <p:cNvPr id="50" name="Légende : Périchorèse"/>
            <p:cNvSpPr txBox="1"/>
            <p:nvPr/>
          </p:nvSpPr>
          <p:spPr>
            <a:xfrm>
              <a:off x="972312" y="4995799"/>
              <a:ext cx="2632202" cy="485648"/>
            </a:xfrm>
            <a:prstGeom prst="rect">
              <a:avLst/>
            </a:prstGeom>
            <a:noFill/>
            <a:ln/>
          </p:spPr>
          <p:txBody>
            <a:bodyPr wrap="none" rtlCol="0" anchor="ctr"/>
            <a:lstStyle/>
            <a:p>
              <a:pPr marL="0" indent="0" algn="ctr">
                <a:buNone/>
              </a:pPr>
              <a:r>
                <a:rPr lang="fr-CA" altLang="en-US" sz="2400" b="1" i="1" dirty="0">
                  <a:solidFill>
                    <a:srgbClr val="E8742A"/>
                  </a:solidFill>
                  <a:latin typeface="Cambria" pitchFamily="34" charset="0"/>
                  <a:ea typeface="Cambria" pitchFamily="34" charset="-122"/>
                  <a:cs typeface="Cambria" pitchFamily="34" charset="-120"/>
                </a:rPr>
                <a:t>Périchorèse</a:t>
              </a:r>
              <a:endParaRPr lang="fr-CA" sz="2400" dirty="0"/>
            </a:p>
          </p:txBody>
        </p:sp>
      </p:grpSp>
      <p:sp>
        <p:nvSpPr>
          <p:cNvPr id="51" name="Légende : Relation Divine"/>
          <p:cNvSpPr txBox="1"/>
          <p:nvPr/>
        </p:nvSpPr>
        <p:spPr>
          <a:xfrm>
            <a:off x="1013206" y="1691259"/>
            <a:ext cx="2632202" cy="485648"/>
          </a:xfrm>
          <a:prstGeom prst="rect">
            <a:avLst/>
          </a:prstGeom>
          <a:noFill/>
          <a:ln/>
        </p:spPr>
        <p:txBody>
          <a:bodyPr wrap="none" rtlCol="0" anchor="ctr"/>
          <a:lstStyle/>
          <a:p>
            <a:pPr marL="0" indent="0" algn="ctr">
              <a:buNone/>
            </a:pPr>
            <a:r>
              <a:rPr lang="fr-CA" altLang="en-US" sz="2400" b="1" i="1" dirty="0">
                <a:solidFill>
                  <a:srgbClr val="E8742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Relation Divine</a:t>
            </a:r>
            <a:endParaRPr lang="fr-CA" sz="2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EADEC415-4AA1-5BF9-C071-5101C9E2C66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Image 2">
            <a:extLst>
              <a:ext uri="{FF2B5EF4-FFF2-40B4-BE49-F238E27FC236}">
                <a16:creationId xmlns:a16="http://schemas.microsoft.com/office/drawing/2014/main" id="{1E90C983-2659-D7A4-AF36-EE9B84C735B9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l="792" r="96" b="-1"/>
          <a:stretch>
            <a:fillRect/>
          </a:stretch>
        </p:blipFill>
        <p:spPr>
          <a:xfrm>
            <a:off x="20" y="10"/>
            <a:ext cx="12191980" cy="6857990"/>
          </a:xfrm>
          <a:prstGeom prst="rect">
            <a:avLst/>
          </a:prstGeom>
        </p:spPr>
      </p:pic>
      <p:sp>
        <p:nvSpPr>
          <p:cNvPr id="8" name="Rectangle 7">
            <a:extLst>
              <a:ext uri="{FF2B5EF4-FFF2-40B4-BE49-F238E27FC236}">
                <a16:creationId xmlns:a16="http://schemas.microsoft.com/office/drawing/2014/main" id="{216BB327-7AA9-4EC5-815F-9D8E6BC53E3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206" y="115193"/>
            <a:ext cx="11939588" cy="6627614"/>
          </a:xfrm>
          <a:prstGeom prst="rect">
            <a:avLst/>
          </a:prstGeom>
          <a:noFill/>
          <a:ln w="12700">
            <a:solidFill>
              <a:schemeClr val="accent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68157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492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 · COLOSSIENS 1.15 / Philippiens 2.6-7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L'image parfaite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 est ce que l'homme n'est plus (Kénose)</a:t>
            </a:r>
            <a:endParaRPr lang="fr-CA" sz="1900" dirty="0"/>
          </a:p>
        </p:txBody>
      </p:sp>
      <p:sp>
        <p:nvSpPr>
          <p:cNvPr id="5" name="Navigation : créée"/>
          <p:cNvSpPr txBox="1"/>
          <p:nvPr/>
        </p:nvSpPr>
        <p:spPr>
          <a:xfrm>
            <a:off x="5537200" y="384048"/>
            <a:ext cx="58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</a:t>
            </a:r>
            <a:endParaRPr lang="fr-CA" sz="1400" dirty="0"/>
          </a:p>
        </p:txBody>
      </p:sp>
      <p:sp>
        <p:nvSpPr>
          <p:cNvPr id="6" name="Navigation : parfaite"/>
          <p:cNvSpPr txBox="1"/>
          <p:nvPr/>
        </p:nvSpPr>
        <p:spPr>
          <a:xfrm>
            <a:off x="6324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parfaite</a:t>
            </a:r>
            <a:endParaRPr lang="fr-CA" sz="1400" dirty="0"/>
          </a:p>
        </p:txBody>
      </p:sp>
      <p:sp>
        <p:nvSpPr>
          <p:cNvPr id="7" name="Navigation : promise"/>
          <p:cNvSpPr txBox="1"/>
          <p:nvPr/>
        </p:nvSpPr>
        <p:spPr>
          <a:xfrm>
            <a:off x="7404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</a:t>
            </a:r>
            <a:endParaRPr lang="fr-CA" sz="1400" dirty="0"/>
          </a:p>
        </p:txBody>
      </p:sp>
      <p:sp>
        <p:nvSpPr>
          <p:cNvPr id="8" name="Navigation : transformée"/>
          <p:cNvSpPr txBox="1"/>
          <p:nvPr/>
        </p:nvSpPr>
        <p:spPr>
          <a:xfrm>
            <a:off x="8382000" y="384048"/>
            <a:ext cx="116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transformée</a:t>
            </a:r>
            <a:endParaRPr lang="fr-CA" sz="1400" dirty="0"/>
          </a:p>
        </p:txBody>
      </p:sp>
      <p:sp>
        <p:nvSpPr>
          <p:cNvPr id="9" name="Navigation : qui aime"/>
          <p:cNvSpPr txBox="1"/>
          <p:nvPr/>
        </p:nvSpPr>
        <p:spPr>
          <a:xfrm>
            <a:off x="9753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aime</a:t>
            </a:r>
            <a:endParaRPr lang="fr-CA" sz="1400" dirty="0"/>
          </a:p>
        </p:txBody>
      </p:sp>
      <p:sp>
        <p:nvSpPr>
          <p:cNvPr id="10" name="Navigation : envoyée"/>
          <p:cNvSpPr txBox="1"/>
          <p:nvPr/>
        </p:nvSpPr>
        <p:spPr>
          <a:xfrm>
            <a:off x="10833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envoyée</a:t>
            </a:r>
            <a:endParaRPr lang="fr-CA" sz="1400" dirty="0"/>
          </a:p>
        </p:txBody>
      </p:sp>
      <p:pic>
        <p:nvPicPr>
          <p:cNvPr id="11" name="Image 0" descr="Médaillon fissuré : l'image ternie de l'homm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83080" y="1874520"/>
            <a:ext cx="2377440" cy="2377440"/>
          </a:xfrm>
          <a:prstGeom prst="rect">
            <a:avLst/>
          </a:prstGeom>
        </p:spPr>
      </p:pic>
      <p:pic>
        <p:nvPicPr>
          <p:cNvPr id="12" name="Image 1" descr="Médaillon à la couronne : le Christ, image parfait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01000" y="1874520"/>
            <a:ext cx="2377440" cy="2377440"/>
          </a:xfrm>
          <a:prstGeom prst="rect">
            <a:avLst/>
          </a:prstGeom>
        </p:spPr>
      </p:pic>
      <p:sp>
        <p:nvSpPr>
          <p:cNvPr id="13" name="Shape 9"/>
          <p:cNvSpPr/>
          <p:nvPr/>
        </p:nvSpPr>
        <p:spPr>
          <a:xfrm>
            <a:off x="4754880" y="3063240"/>
            <a:ext cx="2697480" cy="0"/>
          </a:xfrm>
          <a:prstGeom prst="line">
            <a:avLst/>
          </a:prstGeom>
          <a:noFill/>
          <a:ln w="38100">
            <a:solidFill>
              <a:srgbClr val="E8742A"/>
            </a:solidFill>
            <a:prstDash val="solid"/>
            <a:tailEnd type="triangle"/>
          </a:ln>
        </p:spPr>
        <p:txBody>
          <a:bodyPr/>
          <a:lstStyle/>
          <a:p>
            <a:endParaRPr lang="fr-CA"/>
          </a:p>
        </p:txBody>
      </p:sp>
      <p:sp>
        <p:nvSpPr>
          <p:cNvPr id="14" name="Text 10"/>
          <p:cNvSpPr txBox="1"/>
          <p:nvPr/>
        </p:nvSpPr>
        <p:spPr>
          <a:xfrm>
            <a:off x="4480560" y="2560320"/>
            <a:ext cx="3246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500" i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Où voir l'image voulue par Dieu?</a:t>
            </a:r>
            <a:endParaRPr lang="fr-CA" sz="1500" dirty="0"/>
          </a:p>
        </p:txBody>
      </p:sp>
      <p:sp>
        <p:nvSpPr>
          <p:cNvPr id="15" name="Text 11"/>
          <p:cNvSpPr txBox="1"/>
          <p:nvPr/>
        </p:nvSpPr>
        <p:spPr>
          <a:xfrm>
            <a:off x="548640" y="438912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fr-CA" altLang="en-US" sz="21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L'homme : l'image ternie</a:t>
            </a:r>
            <a:endParaRPr lang="fr-CA" sz="16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fr-CA" altLang="en-US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Adam engendre « à sa ressemblance » (Gn 5.3).</a:t>
            </a:r>
            <a:endParaRPr lang="fr-CA" sz="16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fr-CA" altLang="en-US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Image gardée (Gn 9.6), ressemblance morale perdue.</a:t>
            </a:r>
            <a:endParaRPr lang="fr-CA" sz="1600" dirty="0"/>
          </a:p>
        </p:txBody>
      </p:sp>
      <p:sp>
        <p:nvSpPr>
          <p:cNvPr id="16" name="Text 12"/>
          <p:cNvSpPr txBox="1"/>
          <p:nvPr/>
        </p:nvSpPr>
        <p:spPr>
          <a:xfrm>
            <a:off x="6766560" y="4389120"/>
            <a:ext cx="4846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spcAft>
                <a:spcPts val="300"/>
              </a:spcAft>
              <a:buNone/>
            </a:pPr>
            <a:r>
              <a:rPr lang="fr-CA" altLang="en-US" sz="21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Christ : l'Image parfaite</a:t>
            </a:r>
            <a:endParaRPr lang="fr-CA" sz="16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fr-CA" altLang="en-US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Reproduction exacte du Dieu invisible (Hé 1.3).</a:t>
            </a:r>
            <a:endParaRPr lang="fr-CA" sz="1600" dirty="0"/>
          </a:p>
          <a:p>
            <a:pPr marL="0" indent="0" algn="ctr">
              <a:spcAft>
                <a:spcPts val="300"/>
              </a:spcAft>
              <a:buNone/>
            </a:pPr>
            <a:r>
              <a:rPr lang="fr-CA" altLang="en-US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Premier-né = l'héritier, non une créature (1.16-18).</a:t>
            </a:r>
            <a:endParaRPr lang="fr-CA" sz="1600" dirty="0"/>
          </a:p>
        </p:txBody>
      </p:sp>
      <p:sp>
        <p:nvSpPr>
          <p:cNvPr id="17" name="Shape 13"/>
          <p:cNvSpPr/>
          <p:nvPr/>
        </p:nvSpPr>
        <p:spPr>
          <a:xfrm>
            <a:off x="1005840" y="5715000"/>
            <a:ext cx="2926080" cy="548640"/>
          </a:xfrm>
          <a:prstGeom prst="roundRect">
            <a:avLst>
              <a:gd name="adj" fmla="val 50000"/>
            </a:avLst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8" name="Text 14"/>
          <p:cNvSpPr txBox="1"/>
          <p:nvPr/>
        </p:nvSpPr>
        <p:spPr>
          <a:xfrm>
            <a:off x="1005840" y="57150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18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tselem</a:t>
            </a: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hébreu, Genèse 1.27</a:t>
            </a:r>
            <a:endParaRPr lang="fr-CA" sz="1800" dirty="0"/>
          </a:p>
        </p:txBody>
      </p:sp>
      <p:sp>
        <p:nvSpPr>
          <p:cNvPr id="19" name="Shape 15"/>
          <p:cNvSpPr/>
          <p:nvPr/>
        </p:nvSpPr>
        <p:spPr>
          <a:xfrm>
            <a:off x="4005072" y="5989320"/>
            <a:ext cx="548640" cy="0"/>
          </a:xfrm>
          <a:prstGeom prst="line">
            <a:avLst/>
          </a:prstGeom>
          <a:noFill/>
          <a:ln w="25400">
            <a:solidFill>
              <a:srgbClr val="CC5500"/>
            </a:solidFill>
            <a:prstDash val="solid"/>
            <a:tailEnd type="triangle"/>
          </a:ln>
        </p:spPr>
        <p:txBody>
          <a:bodyPr/>
          <a:lstStyle/>
          <a:p>
            <a:endParaRPr lang="fr-CA"/>
          </a:p>
        </p:txBody>
      </p:sp>
      <p:sp>
        <p:nvSpPr>
          <p:cNvPr id="20" name="Shape 16"/>
          <p:cNvSpPr/>
          <p:nvPr/>
        </p:nvSpPr>
        <p:spPr>
          <a:xfrm>
            <a:off x="4617720" y="5715000"/>
            <a:ext cx="2926080" cy="548640"/>
          </a:xfrm>
          <a:prstGeom prst="roundRect">
            <a:avLst>
              <a:gd name="adj" fmla="val 50000"/>
            </a:avLst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1" name="Text 17"/>
          <p:cNvSpPr txBox="1"/>
          <p:nvPr/>
        </p:nvSpPr>
        <p:spPr>
          <a:xfrm>
            <a:off x="4617720" y="57150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18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eikôn</a:t>
            </a: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grec, la Septante</a:t>
            </a:r>
            <a:endParaRPr lang="fr-CA" sz="1800" dirty="0"/>
          </a:p>
        </p:txBody>
      </p:sp>
      <p:sp>
        <p:nvSpPr>
          <p:cNvPr id="22" name="Shape 18"/>
          <p:cNvSpPr/>
          <p:nvPr/>
        </p:nvSpPr>
        <p:spPr>
          <a:xfrm>
            <a:off x="7616952" y="5989320"/>
            <a:ext cx="548640" cy="0"/>
          </a:xfrm>
          <a:prstGeom prst="line">
            <a:avLst/>
          </a:prstGeom>
          <a:noFill/>
          <a:ln w="25400">
            <a:solidFill>
              <a:srgbClr val="CC5500"/>
            </a:solidFill>
            <a:prstDash val="solid"/>
            <a:tailEnd type="triangle"/>
          </a:ln>
        </p:spPr>
        <p:txBody>
          <a:bodyPr/>
          <a:lstStyle/>
          <a:p>
            <a:endParaRPr lang="fr-CA"/>
          </a:p>
        </p:txBody>
      </p:sp>
      <p:sp>
        <p:nvSpPr>
          <p:cNvPr id="23" name="Shape 19"/>
          <p:cNvSpPr/>
          <p:nvPr/>
        </p:nvSpPr>
        <p:spPr>
          <a:xfrm>
            <a:off x="8229600" y="5715000"/>
            <a:ext cx="2926080" cy="548640"/>
          </a:xfrm>
          <a:prstGeom prst="roundRect">
            <a:avLst>
              <a:gd name="adj" fmla="val 50000"/>
            </a:avLst>
          </a:prstGeom>
          <a:solidFill>
            <a:srgbClr val="2A1A10"/>
          </a:solidFill>
          <a:ln w="254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4" name="Text 20"/>
          <p:cNvSpPr txBox="1"/>
          <p:nvPr/>
        </p:nvSpPr>
        <p:spPr>
          <a:xfrm>
            <a:off x="8229600" y="5715000"/>
            <a:ext cx="2926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18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eikôn</a:t>
            </a: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Christ, Colossiens 1.15</a:t>
            </a:r>
            <a:endParaRPr lang="fr-CA" sz="1800" dirty="0"/>
          </a:p>
        </p:txBody>
      </p:sp>
      <p:grpSp>
        <p:nvGrpSpPr>
          <p:cNvPr id="1005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25" name="Progression 1"/>
            <p:cNvSpPr/>
            <p:nvPr/>
          </p:nvSpPr>
          <p:spPr>
            <a:xfrm>
              <a:off x="546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26" name="Progression 2"/>
            <p:cNvSpPr/>
            <p:nvPr/>
          </p:nvSpPr>
          <p:spPr>
            <a:xfrm>
              <a:off x="1562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27" name="Progression 3"/>
            <p:cNvSpPr/>
            <p:nvPr/>
          </p:nvSpPr>
          <p:spPr>
            <a:xfrm>
              <a:off x="2578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28" name="Progression 4"/>
            <p:cNvSpPr/>
            <p:nvPr/>
          </p:nvSpPr>
          <p:spPr>
            <a:xfrm>
              <a:off x="3594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29" name="Progression 5"/>
            <p:cNvSpPr/>
            <p:nvPr/>
          </p:nvSpPr>
          <p:spPr>
            <a:xfrm>
              <a:off x="4610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0" name="Progression 6"/>
            <p:cNvSpPr/>
            <p:nvPr/>
          </p:nvSpPr>
          <p:spPr>
            <a:xfrm>
              <a:off x="5626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1" name="Progression 7"/>
            <p:cNvSpPr/>
            <p:nvPr/>
          </p:nvSpPr>
          <p:spPr>
            <a:xfrm>
              <a:off x="6642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2" name="Progression 8"/>
            <p:cNvSpPr/>
            <p:nvPr/>
          </p:nvSpPr>
          <p:spPr>
            <a:xfrm>
              <a:off x="7658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3" name="Progression 9"/>
            <p:cNvSpPr/>
            <p:nvPr/>
          </p:nvSpPr>
          <p:spPr>
            <a:xfrm>
              <a:off x="8674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4" name="Progression 10"/>
            <p:cNvSpPr/>
            <p:nvPr/>
          </p:nvSpPr>
          <p:spPr>
            <a:xfrm>
              <a:off x="9690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5" name="Progression 11"/>
            <p:cNvSpPr/>
            <p:nvPr/>
          </p:nvSpPr>
          <p:spPr>
            <a:xfrm>
              <a:off x="10706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492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III · ROMAINS 8.29 / Éphésiens 1.4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L'image promise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Dieu a décidé d'avance la fin de votre salut, et cette fin, c'est Christ en vous</a:t>
            </a:r>
            <a:endParaRPr lang="fr-CA" sz="1900" dirty="0"/>
          </a:p>
        </p:txBody>
      </p:sp>
      <p:sp>
        <p:nvSpPr>
          <p:cNvPr id="5" name="Navigation : créée"/>
          <p:cNvSpPr txBox="1"/>
          <p:nvPr/>
        </p:nvSpPr>
        <p:spPr>
          <a:xfrm>
            <a:off x="5537200" y="384048"/>
            <a:ext cx="58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</a:t>
            </a:r>
            <a:endParaRPr lang="fr-CA" sz="1400" dirty="0"/>
          </a:p>
        </p:txBody>
      </p:sp>
      <p:sp>
        <p:nvSpPr>
          <p:cNvPr id="6" name="Navigation : parfaite"/>
          <p:cNvSpPr txBox="1"/>
          <p:nvPr/>
        </p:nvSpPr>
        <p:spPr>
          <a:xfrm>
            <a:off x="6324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parfaite</a:t>
            </a:r>
            <a:endParaRPr lang="fr-CA" sz="1400" dirty="0"/>
          </a:p>
        </p:txBody>
      </p:sp>
      <p:sp>
        <p:nvSpPr>
          <p:cNvPr id="7" name="Navigation : promise"/>
          <p:cNvSpPr txBox="1"/>
          <p:nvPr/>
        </p:nvSpPr>
        <p:spPr>
          <a:xfrm>
            <a:off x="7404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</a:t>
            </a:r>
            <a:endParaRPr lang="fr-CA" sz="1400" dirty="0"/>
          </a:p>
        </p:txBody>
      </p:sp>
      <p:sp>
        <p:nvSpPr>
          <p:cNvPr id="8" name="Navigation : transformée"/>
          <p:cNvSpPr txBox="1"/>
          <p:nvPr/>
        </p:nvSpPr>
        <p:spPr>
          <a:xfrm>
            <a:off x="8382000" y="384048"/>
            <a:ext cx="116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transformée</a:t>
            </a:r>
            <a:endParaRPr lang="fr-CA" sz="1400" dirty="0"/>
          </a:p>
        </p:txBody>
      </p:sp>
      <p:sp>
        <p:nvSpPr>
          <p:cNvPr id="9" name="Navigation : qui aime"/>
          <p:cNvSpPr txBox="1"/>
          <p:nvPr/>
        </p:nvSpPr>
        <p:spPr>
          <a:xfrm>
            <a:off x="9753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aime</a:t>
            </a:r>
            <a:endParaRPr lang="fr-CA" sz="1400" dirty="0"/>
          </a:p>
        </p:txBody>
      </p:sp>
      <p:sp>
        <p:nvSpPr>
          <p:cNvPr id="10" name="Navigation : envoyée"/>
          <p:cNvSpPr txBox="1"/>
          <p:nvPr/>
        </p:nvSpPr>
        <p:spPr>
          <a:xfrm>
            <a:off x="10833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envoyée</a:t>
            </a:r>
            <a:endParaRPr lang="fr-CA" sz="1400" dirty="0"/>
          </a:p>
        </p:txBody>
      </p:sp>
      <p:sp>
        <p:nvSpPr>
          <p:cNvPr id="11" name="Étape 1 (fond)"/>
          <p:cNvSpPr/>
          <p:nvPr/>
        </p:nvSpPr>
        <p:spPr>
          <a:xfrm>
            <a:off x="545897" y="1965960"/>
            <a:ext cx="2083003" cy="868680"/>
          </a:xfrm>
          <a:prstGeom prst="roundRect">
            <a:avLst>
              <a:gd name="adj" fmla="val 49474"/>
            </a:avLst>
          </a:prstGeom>
          <a:solidFill>
            <a:srgbClr val="0D0B0A">
              <a:alpha val="0"/>
            </a:srgbClr>
          </a:solidFill>
          <a:ln w="508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2" name="Étape 1 (texte)"/>
          <p:cNvSpPr txBox="1"/>
          <p:nvPr/>
        </p:nvSpPr>
        <p:spPr>
          <a:xfrm>
            <a:off x="647395" y="1965960"/>
            <a:ext cx="188000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Connus d'avance</a:t>
            </a:r>
            <a:endParaRPr lang="fr-CA" sz="1800" dirty="0"/>
          </a:p>
        </p:txBody>
      </p:sp>
      <p:sp>
        <p:nvSpPr>
          <p:cNvPr id="13" name="Étape 2 (fond)"/>
          <p:cNvSpPr/>
          <p:nvPr/>
        </p:nvSpPr>
        <p:spPr>
          <a:xfrm>
            <a:off x="2790749" y="1965960"/>
            <a:ext cx="2083003" cy="868680"/>
          </a:xfrm>
          <a:prstGeom prst="roundRect">
            <a:avLst>
              <a:gd name="adj" fmla="val 49474"/>
            </a:avLst>
          </a:prstGeom>
          <a:solidFill>
            <a:srgbClr val="CC5500"/>
          </a:solidFill>
          <a:ln w="508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4" name="Étape 2 (texte)"/>
          <p:cNvSpPr txBox="1"/>
          <p:nvPr/>
        </p:nvSpPr>
        <p:spPr>
          <a:xfrm>
            <a:off x="2892247" y="1965960"/>
            <a:ext cx="188000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Prédestinés</a:t>
            </a:r>
            <a:endParaRPr lang="fr-CA" sz="1800" dirty="0"/>
          </a:p>
        </p:txBody>
      </p:sp>
      <p:sp>
        <p:nvSpPr>
          <p:cNvPr id="15" name="Étape 3 (fond)"/>
          <p:cNvSpPr/>
          <p:nvPr/>
        </p:nvSpPr>
        <p:spPr>
          <a:xfrm>
            <a:off x="5035601" y="1965960"/>
            <a:ext cx="2083003" cy="868680"/>
          </a:xfrm>
          <a:prstGeom prst="roundRect">
            <a:avLst>
              <a:gd name="adj" fmla="val 49474"/>
            </a:avLst>
          </a:prstGeom>
          <a:solidFill>
            <a:srgbClr val="0D0B0A">
              <a:alpha val="0"/>
            </a:srgbClr>
          </a:solidFill>
          <a:ln w="508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6" name="Étape 3 (texte)"/>
          <p:cNvSpPr txBox="1"/>
          <p:nvPr/>
        </p:nvSpPr>
        <p:spPr>
          <a:xfrm>
            <a:off x="5137099" y="1965960"/>
            <a:ext cx="188000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Appelés</a:t>
            </a:r>
            <a:endParaRPr lang="fr-CA" sz="1800" dirty="0"/>
          </a:p>
        </p:txBody>
      </p:sp>
      <p:sp>
        <p:nvSpPr>
          <p:cNvPr id="17" name="Étape 4 (fond)"/>
          <p:cNvSpPr/>
          <p:nvPr/>
        </p:nvSpPr>
        <p:spPr>
          <a:xfrm>
            <a:off x="7280453" y="1965960"/>
            <a:ext cx="2083003" cy="868680"/>
          </a:xfrm>
          <a:prstGeom prst="roundRect">
            <a:avLst>
              <a:gd name="adj" fmla="val 49474"/>
            </a:avLst>
          </a:prstGeom>
          <a:solidFill>
            <a:srgbClr val="0D0B0A">
              <a:alpha val="0"/>
            </a:srgbClr>
          </a:solidFill>
          <a:ln w="508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8" name="Étape 4 (texte)"/>
          <p:cNvSpPr txBox="1"/>
          <p:nvPr/>
        </p:nvSpPr>
        <p:spPr>
          <a:xfrm>
            <a:off x="7381951" y="1965960"/>
            <a:ext cx="188000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Justifiés</a:t>
            </a:r>
            <a:endParaRPr lang="fr-CA" sz="1800" dirty="0"/>
          </a:p>
        </p:txBody>
      </p:sp>
      <p:sp>
        <p:nvSpPr>
          <p:cNvPr id="19" name="Étape 5 (fond)"/>
          <p:cNvSpPr/>
          <p:nvPr/>
        </p:nvSpPr>
        <p:spPr>
          <a:xfrm>
            <a:off x="9525305" y="1965960"/>
            <a:ext cx="2083003" cy="868680"/>
          </a:xfrm>
          <a:prstGeom prst="roundRect">
            <a:avLst>
              <a:gd name="adj" fmla="val 49474"/>
            </a:avLst>
          </a:prstGeom>
          <a:solidFill>
            <a:srgbClr val="0D0B0A">
              <a:alpha val="0"/>
            </a:srgbClr>
          </a:solidFill>
          <a:ln w="508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0" name="Étape 5 (texte)"/>
          <p:cNvSpPr txBox="1"/>
          <p:nvPr/>
        </p:nvSpPr>
        <p:spPr>
          <a:xfrm>
            <a:off x="9626803" y="1965960"/>
            <a:ext cx="1880006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Glorifiés</a:t>
            </a:r>
            <a:endParaRPr lang="fr-CA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29718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600" i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 maillon ne manque : ce que Dieu a décrété, il l'achèvera (8.30).</a:t>
            </a:r>
            <a:endParaRPr lang="fr-CA" sz="1600" dirty="0"/>
          </a:p>
        </p:txBody>
      </p:sp>
      <p:pic>
        <p:nvPicPr>
          <p:cNvPr id="22" name="Image 0" descr="Foule de personnes autour d'une couronn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" y="3520440"/>
            <a:ext cx="3200400" cy="2670048"/>
          </a:xfrm>
          <a:prstGeom prst="rect">
            <a:avLst/>
          </a:prstGeom>
        </p:spPr>
      </p:pic>
      <p:sp>
        <p:nvSpPr>
          <p:cNvPr id="23" name="Shape 20"/>
          <p:cNvSpPr/>
          <p:nvPr/>
        </p:nvSpPr>
        <p:spPr>
          <a:xfrm>
            <a:off x="4480560" y="3566160"/>
            <a:ext cx="7159752" cy="786384"/>
          </a:xfrm>
          <a:prstGeom prst="roundRect">
            <a:avLst>
              <a:gd name="adj" fmla="val 13953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4" name="Text 21"/>
          <p:cNvSpPr txBox="1"/>
          <p:nvPr/>
        </p:nvSpPr>
        <p:spPr>
          <a:xfrm>
            <a:off x="4709160" y="3566160"/>
            <a:ext cx="6766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7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Connus d'avance</a:t>
            </a:r>
            <a:endParaRPr lang="fr-CA" sz="1700" dirty="0"/>
          </a:p>
          <a:p>
            <a:pPr marL="0" indent="0">
              <a:buNone/>
            </a:pPr>
            <a:r>
              <a:rPr lang="fr-CA" altLang="en-US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une simple prévision : le choix d'aimer, l'élection.</a:t>
            </a:r>
            <a:endParaRPr lang="fr-CA" sz="1700" dirty="0"/>
          </a:p>
        </p:txBody>
      </p:sp>
      <p:sp>
        <p:nvSpPr>
          <p:cNvPr id="25" name="Shape 22"/>
          <p:cNvSpPr/>
          <p:nvPr/>
        </p:nvSpPr>
        <p:spPr>
          <a:xfrm>
            <a:off x="4480560" y="4462272"/>
            <a:ext cx="7159752" cy="786384"/>
          </a:xfrm>
          <a:prstGeom prst="roundRect">
            <a:avLst>
              <a:gd name="adj" fmla="val 13953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6" name="Text 23"/>
          <p:cNvSpPr txBox="1"/>
          <p:nvPr/>
        </p:nvSpPr>
        <p:spPr>
          <a:xfrm>
            <a:off x="4709160" y="4462272"/>
            <a:ext cx="6766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7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Semblables à l'image de son Fils</a:t>
            </a:r>
            <a:endParaRPr lang="fr-CA" sz="1700" dirty="0"/>
          </a:p>
          <a:p>
            <a:pPr marL="0" indent="0">
              <a:buNone/>
            </a:pPr>
            <a:r>
              <a:rPr lang="fr-CA" altLang="en-US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sainteté maintenant, un corps glorifié à la fin (Ph 3.21).</a:t>
            </a:r>
            <a:endParaRPr lang="fr-CA" sz="1700" dirty="0"/>
          </a:p>
        </p:txBody>
      </p:sp>
      <p:sp>
        <p:nvSpPr>
          <p:cNvPr id="27" name="Shape 24"/>
          <p:cNvSpPr/>
          <p:nvPr/>
        </p:nvSpPr>
        <p:spPr>
          <a:xfrm>
            <a:off x="4480560" y="5358384"/>
            <a:ext cx="7159752" cy="786384"/>
          </a:xfrm>
          <a:prstGeom prst="roundRect">
            <a:avLst>
              <a:gd name="adj" fmla="val 13953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8" name="Text 25"/>
          <p:cNvSpPr txBox="1"/>
          <p:nvPr/>
        </p:nvSpPr>
        <p:spPr>
          <a:xfrm>
            <a:off x="4709160" y="5358384"/>
            <a:ext cx="6766560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7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Premier-né de beaucoup de frères</a:t>
            </a:r>
            <a:endParaRPr lang="fr-CA" sz="1700" dirty="0"/>
          </a:p>
          <a:p>
            <a:pPr marL="0" indent="0">
              <a:buNone/>
            </a:pPr>
            <a:r>
              <a:rPr lang="fr-CA" altLang="en-US" sz="17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Ils lui ressemblent, sans jamais être ses égaux.</a:t>
            </a:r>
            <a:endParaRPr lang="fr-CA" sz="1700" dirty="0"/>
          </a:p>
        </p:txBody>
      </p:sp>
      <p:grpSp>
        <p:nvGrpSpPr>
          <p:cNvPr id="1006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29" name="Progression 1"/>
            <p:cNvSpPr/>
            <p:nvPr/>
          </p:nvSpPr>
          <p:spPr>
            <a:xfrm>
              <a:off x="546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0" name="Progression 2"/>
            <p:cNvSpPr/>
            <p:nvPr/>
          </p:nvSpPr>
          <p:spPr>
            <a:xfrm>
              <a:off x="1562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1" name="Progression 3"/>
            <p:cNvSpPr/>
            <p:nvPr/>
          </p:nvSpPr>
          <p:spPr>
            <a:xfrm>
              <a:off x="2578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2" name="Progression 4"/>
            <p:cNvSpPr/>
            <p:nvPr/>
          </p:nvSpPr>
          <p:spPr>
            <a:xfrm>
              <a:off x="3594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3" name="Progression 5"/>
            <p:cNvSpPr/>
            <p:nvPr/>
          </p:nvSpPr>
          <p:spPr>
            <a:xfrm>
              <a:off x="4610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4" name="Progression 6"/>
            <p:cNvSpPr/>
            <p:nvPr/>
          </p:nvSpPr>
          <p:spPr>
            <a:xfrm>
              <a:off x="5626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5" name="Progression 7"/>
            <p:cNvSpPr/>
            <p:nvPr/>
          </p:nvSpPr>
          <p:spPr>
            <a:xfrm>
              <a:off x="6642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6" name="Progression 8"/>
            <p:cNvSpPr/>
            <p:nvPr/>
          </p:nvSpPr>
          <p:spPr>
            <a:xfrm>
              <a:off x="7658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7" name="Progression 9"/>
            <p:cNvSpPr/>
            <p:nvPr/>
          </p:nvSpPr>
          <p:spPr>
            <a:xfrm>
              <a:off x="8674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8" name="Progression 10"/>
            <p:cNvSpPr/>
            <p:nvPr/>
          </p:nvSpPr>
          <p:spPr>
            <a:xfrm>
              <a:off x="9690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9" name="Progression 11"/>
            <p:cNvSpPr/>
            <p:nvPr/>
          </p:nvSpPr>
          <p:spPr>
            <a:xfrm>
              <a:off x="10706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492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IV · 2 CORINTHIENS 3.18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L'image transformée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devient semblable à ce que l'on contemple</a:t>
            </a:r>
            <a:endParaRPr lang="fr-CA" sz="1900" dirty="0"/>
          </a:p>
        </p:txBody>
      </p:sp>
      <p:sp>
        <p:nvSpPr>
          <p:cNvPr id="5" name="Navigation : créée"/>
          <p:cNvSpPr txBox="1"/>
          <p:nvPr/>
        </p:nvSpPr>
        <p:spPr>
          <a:xfrm>
            <a:off x="5537200" y="384048"/>
            <a:ext cx="58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</a:t>
            </a:r>
            <a:endParaRPr lang="fr-CA" sz="1400" dirty="0"/>
          </a:p>
        </p:txBody>
      </p:sp>
      <p:sp>
        <p:nvSpPr>
          <p:cNvPr id="6" name="Navigation : parfaite"/>
          <p:cNvSpPr txBox="1"/>
          <p:nvPr/>
        </p:nvSpPr>
        <p:spPr>
          <a:xfrm>
            <a:off x="6324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parfaite</a:t>
            </a:r>
            <a:endParaRPr lang="fr-CA" sz="1400" dirty="0"/>
          </a:p>
        </p:txBody>
      </p:sp>
      <p:sp>
        <p:nvSpPr>
          <p:cNvPr id="7" name="Navigation : promise"/>
          <p:cNvSpPr txBox="1"/>
          <p:nvPr/>
        </p:nvSpPr>
        <p:spPr>
          <a:xfrm>
            <a:off x="7404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</a:t>
            </a:r>
            <a:endParaRPr lang="fr-CA" sz="1400" dirty="0"/>
          </a:p>
        </p:txBody>
      </p:sp>
      <p:sp>
        <p:nvSpPr>
          <p:cNvPr id="8" name="Navigation : transformée"/>
          <p:cNvSpPr txBox="1"/>
          <p:nvPr/>
        </p:nvSpPr>
        <p:spPr>
          <a:xfrm>
            <a:off x="8382000" y="384048"/>
            <a:ext cx="116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transformée</a:t>
            </a:r>
            <a:endParaRPr lang="fr-CA" sz="1400" dirty="0"/>
          </a:p>
        </p:txBody>
      </p:sp>
      <p:sp>
        <p:nvSpPr>
          <p:cNvPr id="9" name="Navigation : qui aime"/>
          <p:cNvSpPr txBox="1"/>
          <p:nvPr/>
        </p:nvSpPr>
        <p:spPr>
          <a:xfrm>
            <a:off x="9753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aime</a:t>
            </a:r>
            <a:endParaRPr lang="fr-CA" sz="1400" dirty="0"/>
          </a:p>
        </p:txBody>
      </p:sp>
      <p:sp>
        <p:nvSpPr>
          <p:cNvPr id="10" name="Navigation : envoyée"/>
          <p:cNvSpPr txBox="1"/>
          <p:nvPr/>
        </p:nvSpPr>
        <p:spPr>
          <a:xfrm>
            <a:off x="10833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envoyée</a:t>
            </a:r>
            <a:endParaRPr lang="fr-CA" sz="1400" dirty="0"/>
          </a:p>
        </p:txBody>
      </p:sp>
      <p:pic>
        <p:nvPicPr>
          <p:cNvPr id="11" name="Image 0" descr="Miroir à main reflétant un livre ouvert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828800"/>
            <a:ext cx="3072384" cy="374904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457200" y="5669280"/>
            <a:ext cx="3566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8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miroir, c'est l'Écriture</a:t>
            </a:r>
            <a:endParaRPr lang="fr-CA" sz="1800" dirty="0"/>
          </a:p>
        </p:txBody>
      </p:sp>
      <p:sp>
        <p:nvSpPr>
          <p:cNvPr id="13" name="Text 10"/>
          <p:cNvSpPr txBox="1"/>
          <p:nvPr/>
        </p:nvSpPr>
        <p:spPr>
          <a:xfrm>
            <a:off x="4206240" y="2148840"/>
            <a:ext cx="4754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2100" i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Nous ne nous transformons pas :</a:t>
            </a:r>
            <a:endParaRPr lang="fr-CA" sz="2100" dirty="0"/>
          </a:p>
          <a:p>
            <a:pPr marL="0" indent="0">
              <a:buNone/>
            </a:pPr>
            <a:r>
              <a:rPr lang="fr-CA" altLang="en-US" sz="2100" i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nous sommes transformés.</a:t>
            </a:r>
            <a:endParaRPr lang="fr-CA" sz="2100" dirty="0"/>
          </a:p>
        </p:txBody>
      </p:sp>
      <p:sp>
        <p:nvSpPr>
          <p:cNvPr id="14" name="Shape 11"/>
          <p:cNvSpPr/>
          <p:nvPr/>
        </p:nvSpPr>
        <p:spPr>
          <a:xfrm>
            <a:off x="4203497" y="3200400"/>
            <a:ext cx="2331720" cy="2337206"/>
          </a:xfrm>
          <a:prstGeom prst="roundRect">
            <a:avLst>
              <a:gd name="adj" fmla="val 4706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5" name="Shape 12"/>
          <p:cNvSpPr/>
          <p:nvPr/>
        </p:nvSpPr>
        <p:spPr>
          <a:xfrm>
            <a:off x="4394606" y="3390595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16" name="Image 1" descr="Icône : œil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07992" y="3503981"/>
            <a:ext cx="340157" cy="340157"/>
          </a:xfrm>
          <a:prstGeom prst="rect">
            <a:avLst/>
          </a:prstGeom>
        </p:spPr>
      </p:pic>
      <p:sp>
        <p:nvSpPr>
          <p:cNvPr id="17" name="Text 13"/>
          <p:cNvSpPr txBox="1"/>
          <p:nvPr/>
        </p:nvSpPr>
        <p:spPr>
          <a:xfrm>
            <a:off x="4394606" y="4051706"/>
            <a:ext cx="19687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visage découvert</a:t>
            </a:r>
            <a:endParaRPr lang="fr-CA" sz="1800" dirty="0"/>
          </a:p>
        </p:txBody>
      </p:sp>
      <p:sp>
        <p:nvSpPr>
          <p:cNvPr id="18" name="Text 14"/>
          <p:cNvSpPr txBox="1"/>
          <p:nvPr/>
        </p:nvSpPr>
        <p:spPr>
          <a:xfrm>
            <a:off x="4394606" y="4406494"/>
            <a:ext cx="1968703" cy="1091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Moïse se voilait; en Christ, le voile est ôté (3.14-16).</a:t>
            </a:r>
            <a:endParaRPr lang="fr-CA" sz="1500" dirty="0"/>
          </a:p>
        </p:txBody>
      </p:sp>
      <p:sp>
        <p:nvSpPr>
          <p:cNvPr id="19" name="Shape 15"/>
          <p:cNvSpPr/>
          <p:nvPr/>
        </p:nvSpPr>
        <p:spPr>
          <a:xfrm>
            <a:off x="6739585" y="3200400"/>
            <a:ext cx="2331720" cy="2337206"/>
          </a:xfrm>
          <a:prstGeom prst="roundRect">
            <a:avLst>
              <a:gd name="adj" fmla="val 4706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0" name="Shape 16"/>
          <p:cNvSpPr/>
          <p:nvPr/>
        </p:nvSpPr>
        <p:spPr>
          <a:xfrm>
            <a:off x="6930695" y="3390595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1" name="Image 2" descr="Icône : livre ouvert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44080" y="3503981"/>
            <a:ext cx="340157" cy="340157"/>
          </a:xfrm>
          <a:prstGeom prst="rect">
            <a:avLst/>
          </a:prstGeom>
        </p:spPr>
      </p:pic>
      <p:sp>
        <p:nvSpPr>
          <p:cNvPr id="22" name="Text 17"/>
          <p:cNvSpPr txBox="1"/>
          <p:nvPr/>
        </p:nvSpPr>
        <p:spPr>
          <a:xfrm>
            <a:off x="6930695" y="4051706"/>
            <a:ext cx="19687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Contempler</a:t>
            </a:r>
            <a:endParaRPr lang="fr-CA" sz="1800" dirty="0"/>
          </a:p>
        </p:txBody>
      </p:sp>
      <p:sp>
        <p:nvSpPr>
          <p:cNvPr id="23" name="Text 18"/>
          <p:cNvSpPr txBox="1"/>
          <p:nvPr/>
        </p:nvSpPr>
        <p:spPr>
          <a:xfrm>
            <a:off x="6930695" y="4406494"/>
            <a:ext cx="1968703" cy="1091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Regarder Christ dans l'Écriture, comme dans un miroir. On ne reflète que ce qu'on contemple.</a:t>
            </a:r>
            <a:endParaRPr lang="fr-CA" sz="1500" dirty="0"/>
          </a:p>
        </p:txBody>
      </p:sp>
      <p:sp>
        <p:nvSpPr>
          <p:cNvPr id="24" name="Shape 19"/>
          <p:cNvSpPr/>
          <p:nvPr/>
        </p:nvSpPr>
        <p:spPr>
          <a:xfrm>
            <a:off x="9275674" y="3200400"/>
            <a:ext cx="2331720" cy="2337206"/>
          </a:xfrm>
          <a:prstGeom prst="roundRect">
            <a:avLst>
              <a:gd name="adj" fmla="val 4706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5" name="Shape 20"/>
          <p:cNvSpPr/>
          <p:nvPr/>
        </p:nvSpPr>
        <p:spPr>
          <a:xfrm>
            <a:off x="9466783" y="3390595"/>
            <a:ext cx="566928" cy="566928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6" name="Image 3" descr="Icône : oiseau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580169" y="3503981"/>
            <a:ext cx="340157" cy="340157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9466783" y="4051706"/>
            <a:ext cx="1968703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Être transformé</a:t>
            </a:r>
            <a:endParaRPr lang="fr-CA" sz="1800" dirty="0"/>
          </a:p>
        </p:txBody>
      </p:sp>
      <p:sp>
        <p:nvSpPr>
          <p:cNvPr id="28" name="Text 22"/>
          <p:cNvSpPr txBox="1"/>
          <p:nvPr/>
        </p:nvSpPr>
        <p:spPr>
          <a:xfrm>
            <a:off x="9466783" y="4406494"/>
            <a:ext cx="1968703" cy="109179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Metamorphoô : un changement continu, que l'Esprit accomplit.</a:t>
            </a:r>
            <a:endParaRPr lang="fr-CA" sz="1500" dirty="0"/>
          </a:p>
        </p:txBody>
      </p:sp>
      <p:sp>
        <p:nvSpPr>
          <p:cNvPr id="29" name="Text 23"/>
          <p:cNvSpPr txBox="1"/>
          <p:nvPr/>
        </p:nvSpPr>
        <p:spPr>
          <a:xfrm>
            <a:off x="4203497" y="5639105"/>
            <a:ext cx="7403897" cy="60990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2100" b="1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gloire en gloire</a:t>
            </a:r>
            <a:endParaRPr lang="fr-CA" sz="1600" dirty="0"/>
          </a:p>
          <a:p>
            <a:pPr marL="0" indent="0">
              <a:buNone/>
            </a:pPr>
            <a:r>
              <a:rPr lang="fr-CA" altLang="en-US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jusqu'à lui être semblables (1 Jn 3.2)</a:t>
            </a:r>
            <a:endParaRPr lang="fr-CA" sz="1600" dirty="0"/>
          </a:p>
        </p:txBody>
      </p:sp>
      <p:grpSp>
        <p:nvGrpSpPr>
          <p:cNvPr id="1007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30" name="Progression 1"/>
            <p:cNvSpPr/>
            <p:nvPr/>
          </p:nvSpPr>
          <p:spPr>
            <a:xfrm>
              <a:off x="546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1" name="Progression 2"/>
            <p:cNvSpPr/>
            <p:nvPr/>
          </p:nvSpPr>
          <p:spPr>
            <a:xfrm>
              <a:off x="1562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2" name="Progression 3"/>
            <p:cNvSpPr/>
            <p:nvPr/>
          </p:nvSpPr>
          <p:spPr>
            <a:xfrm>
              <a:off x="2578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3" name="Progression 4"/>
            <p:cNvSpPr/>
            <p:nvPr/>
          </p:nvSpPr>
          <p:spPr>
            <a:xfrm>
              <a:off x="3594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4" name="Progression 5"/>
            <p:cNvSpPr/>
            <p:nvPr/>
          </p:nvSpPr>
          <p:spPr>
            <a:xfrm>
              <a:off x="4610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5" name="Progression 6"/>
            <p:cNvSpPr/>
            <p:nvPr/>
          </p:nvSpPr>
          <p:spPr>
            <a:xfrm>
              <a:off x="5626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6" name="Progression 7"/>
            <p:cNvSpPr/>
            <p:nvPr/>
          </p:nvSpPr>
          <p:spPr>
            <a:xfrm>
              <a:off x="6642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7" name="Progression 8"/>
            <p:cNvSpPr/>
            <p:nvPr/>
          </p:nvSpPr>
          <p:spPr>
            <a:xfrm>
              <a:off x="7658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8" name="Progression 9"/>
            <p:cNvSpPr/>
            <p:nvPr/>
          </p:nvSpPr>
          <p:spPr>
            <a:xfrm>
              <a:off x="8674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9" name="Progression 10"/>
            <p:cNvSpPr/>
            <p:nvPr/>
          </p:nvSpPr>
          <p:spPr>
            <a:xfrm>
              <a:off x="9690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40" name="Progression 11"/>
            <p:cNvSpPr/>
            <p:nvPr/>
          </p:nvSpPr>
          <p:spPr>
            <a:xfrm>
              <a:off x="10706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492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 · MATTHIEU 22.37-40 · JÉRÉMIE 31.33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L'image qui aime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loi que je ne peux accomplir, Dieu l'écrit sur mon cœur</a:t>
            </a:r>
            <a:endParaRPr lang="fr-CA" sz="1900" dirty="0"/>
          </a:p>
        </p:txBody>
      </p:sp>
      <p:sp>
        <p:nvSpPr>
          <p:cNvPr id="5" name="Navigation : créée"/>
          <p:cNvSpPr txBox="1"/>
          <p:nvPr/>
        </p:nvSpPr>
        <p:spPr>
          <a:xfrm>
            <a:off x="5537200" y="384048"/>
            <a:ext cx="58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</a:t>
            </a:r>
            <a:endParaRPr lang="fr-CA" sz="1400" dirty="0"/>
          </a:p>
        </p:txBody>
      </p:sp>
      <p:sp>
        <p:nvSpPr>
          <p:cNvPr id="6" name="Navigation : parfaite"/>
          <p:cNvSpPr txBox="1"/>
          <p:nvPr/>
        </p:nvSpPr>
        <p:spPr>
          <a:xfrm>
            <a:off x="6324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parfaite</a:t>
            </a:r>
            <a:endParaRPr lang="fr-CA" sz="1400" dirty="0"/>
          </a:p>
        </p:txBody>
      </p:sp>
      <p:sp>
        <p:nvSpPr>
          <p:cNvPr id="7" name="Navigation : promise"/>
          <p:cNvSpPr txBox="1"/>
          <p:nvPr/>
        </p:nvSpPr>
        <p:spPr>
          <a:xfrm>
            <a:off x="7404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</a:t>
            </a:r>
            <a:endParaRPr lang="fr-CA" sz="1400" dirty="0"/>
          </a:p>
        </p:txBody>
      </p:sp>
      <p:sp>
        <p:nvSpPr>
          <p:cNvPr id="8" name="Navigation : transformée"/>
          <p:cNvSpPr txBox="1"/>
          <p:nvPr/>
        </p:nvSpPr>
        <p:spPr>
          <a:xfrm>
            <a:off x="8382000" y="384048"/>
            <a:ext cx="116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transformée</a:t>
            </a:r>
            <a:endParaRPr lang="fr-CA" sz="1400" dirty="0"/>
          </a:p>
        </p:txBody>
      </p:sp>
      <p:sp>
        <p:nvSpPr>
          <p:cNvPr id="9" name="Navigation : qui aime"/>
          <p:cNvSpPr txBox="1"/>
          <p:nvPr/>
        </p:nvSpPr>
        <p:spPr>
          <a:xfrm>
            <a:off x="9753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aime</a:t>
            </a:r>
            <a:endParaRPr lang="fr-CA" sz="1400" dirty="0"/>
          </a:p>
        </p:txBody>
      </p:sp>
      <p:sp>
        <p:nvSpPr>
          <p:cNvPr id="10" name="Navigation : envoyée"/>
          <p:cNvSpPr txBox="1"/>
          <p:nvPr/>
        </p:nvSpPr>
        <p:spPr>
          <a:xfrm>
            <a:off x="10833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envoyée</a:t>
            </a:r>
            <a:endParaRPr lang="fr-CA" sz="1400" dirty="0"/>
          </a:p>
        </p:txBody>
      </p:sp>
      <p:pic>
        <p:nvPicPr>
          <p:cNvPr id="11" name="Image 0" descr="Tables de la loi, puis un cœur portant des lignes d'écriture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1874520"/>
            <a:ext cx="5852160" cy="3118104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457200" y="5074920"/>
            <a:ext cx="26517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la pierre, la loi accuse</a:t>
            </a:r>
            <a:endParaRPr lang="fr-CA" sz="1600" dirty="0"/>
          </a:p>
          <a:p>
            <a:pPr marL="0" indent="0" algn="ctr">
              <a:buNone/>
            </a:pPr>
            <a:r>
              <a:rPr lang="fr-CA" altLang="en-US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Personne n'a aimé Dieu de tout son cœur.</a:t>
            </a:r>
            <a:endParaRPr lang="fr-CA" sz="1600" dirty="0"/>
          </a:p>
        </p:txBody>
      </p:sp>
      <p:sp>
        <p:nvSpPr>
          <p:cNvPr id="13" name="Text 10"/>
          <p:cNvSpPr txBox="1"/>
          <p:nvPr/>
        </p:nvSpPr>
        <p:spPr>
          <a:xfrm>
            <a:off x="3429000" y="5074920"/>
            <a:ext cx="30175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6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 le cœur, elle transforme</a:t>
            </a:r>
            <a:endParaRPr lang="fr-CA" sz="1600" dirty="0"/>
          </a:p>
          <a:p>
            <a:pPr marL="0" indent="0" algn="ctr">
              <a:buNone/>
            </a:pPr>
            <a:r>
              <a:rPr lang="fr-CA" altLang="en-US" sz="16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pardon, puis une capacité nouvelle d'aimer.</a:t>
            </a:r>
            <a:endParaRPr lang="fr-CA" sz="1600" dirty="0"/>
          </a:p>
        </p:txBody>
      </p:sp>
      <p:sp>
        <p:nvSpPr>
          <p:cNvPr id="14" name="Text 11"/>
          <p:cNvSpPr txBox="1"/>
          <p:nvPr/>
        </p:nvSpPr>
        <p:spPr>
          <a:xfrm>
            <a:off x="6766560" y="1874520"/>
            <a:ext cx="48737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cœur, c'est la personne intérieure</a:t>
            </a:r>
            <a:endParaRPr lang="fr-CA" sz="1900" dirty="0"/>
          </a:p>
        </p:txBody>
      </p:sp>
      <p:sp>
        <p:nvSpPr>
          <p:cNvPr id="15" name="Text 12"/>
          <p:cNvSpPr txBox="1"/>
          <p:nvPr/>
        </p:nvSpPr>
        <p:spPr>
          <a:xfrm>
            <a:off x="6766560" y="2240280"/>
            <a:ext cx="48737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500" i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trois dimensions de l'image, renouvelées</a:t>
            </a:r>
            <a:endParaRPr lang="fr-CA" sz="1500" dirty="0"/>
          </a:p>
        </p:txBody>
      </p:sp>
      <p:sp>
        <p:nvSpPr>
          <p:cNvPr id="16" name="Shape 13"/>
          <p:cNvSpPr/>
          <p:nvPr/>
        </p:nvSpPr>
        <p:spPr>
          <a:xfrm>
            <a:off x="6766560" y="2697480"/>
            <a:ext cx="4873752" cy="1024128"/>
          </a:xfrm>
          <a:prstGeom prst="roundRect">
            <a:avLst>
              <a:gd name="adj" fmla="val 10714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7" name="Shape 14"/>
          <p:cNvSpPr/>
          <p:nvPr/>
        </p:nvSpPr>
        <p:spPr>
          <a:xfrm>
            <a:off x="6949440" y="2889504"/>
            <a:ext cx="640080" cy="64008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18" name="Image 1" descr="Icône : cerveau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077456" y="3017520"/>
            <a:ext cx="384048" cy="384048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7772400" y="2770632"/>
            <a:ext cx="3749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Rationnel : il pense</a:t>
            </a:r>
            <a:endParaRPr lang="fr-CA" sz="1500" dirty="0"/>
          </a:p>
          <a:p>
            <a:pPr marL="0" indent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Dieu parle en Christ, la Parole, et renouvelle la pensée (Jn 1.1).</a:t>
            </a:r>
            <a:endParaRPr lang="fr-CA" sz="1500" dirty="0"/>
          </a:p>
        </p:txBody>
      </p:sp>
      <p:sp>
        <p:nvSpPr>
          <p:cNvPr id="20" name="Shape 16"/>
          <p:cNvSpPr/>
          <p:nvPr/>
        </p:nvSpPr>
        <p:spPr>
          <a:xfrm>
            <a:off x="6766560" y="3867912"/>
            <a:ext cx="4873752" cy="1024128"/>
          </a:xfrm>
          <a:prstGeom prst="roundRect">
            <a:avLst>
              <a:gd name="adj" fmla="val 10714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1" name="Shape 17"/>
          <p:cNvSpPr/>
          <p:nvPr/>
        </p:nvSpPr>
        <p:spPr>
          <a:xfrm>
            <a:off x="6949440" y="4059936"/>
            <a:ext cx="640080" cy="64008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2" name="Image 2" descr="Icône : balance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77456" y="4187952"/>
            <a:ext cx="384048" cy="384048"/>
          </a:xfrm>
          <a:prstGeom prst="rect">
            <a:avLst/>
          </a:prstGeom>
        </p:spPr>
      </p:pic>
      <p:sp>
        <p:nvSpPr>
          <p:cNvPr id="23" name="Text 18"/>
          <p:cNvSpPr txBox="1"/>
          <p:nvPr/>
        </p:nvSpPr>
        <p:spPr>
          <a:xfrm>
            <a:off x="7772400" y="3941064"/>
            <a:ext cx="3749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Moral : il juge</a:t>
            </a:r>
            <a:endParaRPr lang="fr-CA" sz="1500" dirty="0"/>
          </a:p>
          <a:p>
            <a:pPr marL="0" indent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Dieu seul crée un cœur pur (Ps 51.12).</a:t>
            </a:r>
            <a:endParaRPr lang="fr-CA" sz="1500" dirty="0"/>
          </a:p>
        </p:txBody>
      </p:sp>
      <p:sp>
        <p:nvSpPr>
          <p:cNvPr id="24" name="Shape 19"/>
          <p:cNvSpPr/>
          <p:nvPr/>
        </p:nvSpPr>
        <p:spPr>
          <a:xfrm>
            <a:off x="6766560" y="5038344"/>
            <a:ext cx="4873752" cy="1024128"/>
          </a:xfrm>
          <a:prstGeom prst="roundRect">
            <a:avLst>
              <a:gd name="adj" fmla="val 10714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5" name="Shape 20"/>
          <p:cNvSpPr/>
          <p:nvPr/>
        </p:nvSpPr>
        <p:spPr>
          <a:xfrm>
            <a:off x="6949440" y="5230368"/>
            <a:ext cx="640080" cy="64008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6" name="Image 3" descr="Icône : cœur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77456" y="5358384"/>
            <a:ext cx="384048" cy="384048"/>
          </a:xfrm>
          <a:prstGeom prst="rect">
            <a:avLst/>
          </a:prstGeom>
        </p:spPr>
      </p:pic>
      <p:sp>
        <p:nvSpPr>
          <p:cNvPr id="27" name="Text 21"/>
          <p:cNvSpPr txBox="1"/>
          <p:nvPr/>
        </p:nvSpPr>
        <p:spPr>
          <a:xfrm>
            <a:off x="7772400" y="5111496"/>
            <a:ext cx="374904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8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Relationnel : il aime</a:t>
            </a:r>
            <a:endParaRPr lang="fr-CA" sz="1500" dirty="0"/>
          </a:p>
          <a:p>
            <a:pPr marL="0" indent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Dieu répand son amour dans nos cœurs (Rm 5.5).</a:t>
            </a:r>
            <a:endParaRPr lang="fr-CA" sz="1500" dirty="0"/>
          </a:p>
        </p:txBody>
      </p:sp>
      <p:grpSp>
        <p:nvGrpSpPr>
          <p:cNvPr id="1008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28" name="Progression 1"/>
            <p:cNvSpPr/>
            <p:nvPr/>
          </p:nvSpPr>
          <p:spPr>
            <a:xfrm>
              <a:off x="546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29" name="Progression 2"/>
            <p:cNvSpPr/>
            <p:nvPr/>
          </p:nvSpPr>
          <p:spPr>
            <a:xfrm>
              <a:off x="1562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0" name="Progression 3"/>
            <p:cNvSpPr/>
            <p:nvPr/>
          </p:nvSpPr>
          <p:spPr>
            <a:xfrm>
              <a:off x="2578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1" name="Progression 4"/>
            <p:cNvSpPr/>
            <p:nvPr/>
          </p:nvSpPr>
          <p:spPr>
            <a:xfrm>
              <a:off x="3594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2" name="Progression 5"/>
            <p:cNvSpPr/>
            <p:nvPr/>
          </p:nvSpPr>
          <p:spPr>
            <a:xfrm>
              <a:off x="4610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3" name="Progression 6"/>
            <p:cNvSpPr/>
            <p:nvPr/>
          </p:nvSpPr>
          <p:spPr>
            <a:xfrm>
              <a:off x="5626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4" name="Progression 7"/>
            <p:cNvSpPr/>
            <p:nvPr/>
          </p:nvSpPr>
          <p:spPr>
            <a:xfrm>
              <a:off x="6642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5" name="Progression 8"/>
            <p:cNvSpPr/>
            <p:nvPr/>
          </p:nvSpPr>
          <p:spPr>
            <a:xfrm>
              <a:off x="7658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6" name="Progression 9"/>
            <p:cNvSpPr/>
            <p:nvPr/>
          </p:nvSpPr>
          <p:spPr>
            <a:xfrm>
              <a:off x="8674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7" name="Progression 10"/>
            <p:cNvSpPr/>
            <p:nvPr/>
          </p:nvSpPr>
          <p:spPr>
            <a:xfrm>
              <a:off x="9690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8" name="Progression 11"/>
            <p:cNvSpPr/>
            <p:nvPr/>
          </p:nvSpPr>
          <p:spPr>
            <a:xfrm>
              <a:off x="10706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492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 · MATTHIEU 28.19-20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L'image envoyée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Ceux que Dieu restaure à son image, il les envoie</a:t>
            </a:r>
            <a:endParaRPr lang="fr-CA" sz="1900" dirty="0"/>
          </a:p>
        </p:txBody>
      </p:sp>
      <p:sp>
        <p:nvSpPr>
          <p:cNvPr id="5" name="Navigation : créée"/>
          <p:cNvSpPr txBox="1"/>
          <p:nvPr/>
        </p:nvSpPr>
        <p:spPr>
          <a:xfrm>
            <a:off x="5537200" y="384048"/>
            <a:ext cx="584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créée</a:t>
            </a:r>
            <a:endParaRPr lang="fr-CA" sz="1400" dirty="0"/>
          </a:p>
        </p:txBody>
      </p:sp>
      <p:sp>
        <p:nvSpPr>
          <p:cNvPr id="6" name="Navigation : parfaite"/>
          <p:cNvSpPr txBox="1"/>
          <p:nvPr/>
        </p:nvSpPr>
        <p:spPr>
          <a:xfrm>
            <a:off x="6324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parfaite</a:t>
            </a:r>
            <a:endParaRPr lang="fr-CA" sz="1400" dirty="0"/>
          </a:p>
        </p:txBody>
      </p:sp>
      <p:sp>
        <p:nvSpPr>
          <p:cNvPr id="7" name="Navigation : promise"/>
          <p:cNvSpPr txBox="1"/>
          <p:nvPr/>
        </p:nvSpPr>
        <p:spPr>
          <a:xfrm>
            <a:off x="7404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promise</a:t>
            </a:r>
            <a:endParaRPr lang="fr-CA" sz="1400" dirty="0"/>
          </a:p>
        </p:txBody>
      </p:sp>
      <p:sp>
        <p:nvSpPr>
          <p:cNvPr id="8" name="Navigation : transformée"/>
          <p:cNvSpPr txBox="1"/>
          <p:nvPr/>
        </p:nvSpPr>
        <p:spPr>
          <a:xfrm>
            <a:off x="8382000" y="384048"/>
            <a:ext cx="116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transformée</a:t>
            </a:r>
            <a:endParaRPr lang="fr-CA" sz="1400" dirty="0"/>
          </a:p>
        </p:txBody>
      </p:sp>
      <p:sp>
        <p:nvSpPr>
          <p:cNvPr id="9" name="Navigation : qui aime"/>
          <p:cNvSpPr txBox="1"/>
          <p:nvPr/>
        </p:nvSpPr>
        <p:spPr>
          <a:xfrm>
            <a:off x="9753600" y="384048"/>
            <a:ext cx="8763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dirty="0">
                <a:solidFill>
                  <a:srgbClr val="968A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 aime</a:t>
            </a:r>
            <a:endParaRPr lang="fr-CA" sz="1400" dirty="0"/>
          </a:p>
        </p:txBody>
      </p:sp>
      <p:sp>
        <p:nvSpPr>
          <p:cNvPr id="10" name="Navigation : envoyée"/>
          <p:cNvSpPr txBox="1"/>
          <p:nvPr/>
        </p:nvSpPr>
        <p:spPr>
          <a:xfrm>
            <a:off x="10833100" y="384048"/>
            <a:ext cx="7747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r">
              <a:buNone/>
            </a:pPr>
            <a:r>
              <a:rPr lang="fr-CA" altLang="en-US" sz="14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envoyée</a:t>
            </a:r>
            <a:endParaRPr lang="fr-CA" sz="1400" dirty="0"/>
          </a:p>
        </p:txBody>
      </p:sp>
      <p:pic>
        <p:nvPicPr>
          <p:cNvPr id="11" name="Image 0" descr="Globe terrestre entouré de flèches vers l'extérieu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920240"/>
            <a:ext cx="3840480" cy="3840480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548640" y="5806440"/>
            <a:ext cx="3840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8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Toutes les nations</a:t>
            </a:r>
            <a:endParaRPr lang="fr-CA" sz="1800" dirty="0"/>
          </a:p>
        </p:txBody>
      </p:sp>
      <p:sp>
        <p:nvSpPr>
          <p:cNvPr id="13" name="Shape 10"/>
          <p:cNvSpPr/>
          <p:nvPr/>
        </p:nvSpPr>
        <p:spPr>
          <a:xfrm>
            <a:off x="4937760" y="1920240"/>
            <a:ext cx="6702552" cy="777240"/>
          </a:xfrm>
          <a:prstGeom prst="roundRect">
            <a:avLst>
              <a:gd name="adj" fmla="val 14118"/>
            </a:avLst>
          </a:prstGeom>
          <a:solidFill>
            <a:srgbClr val="CC550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4" name="Text 11"/>
          <p:cNvSpPr txBox="1"/>
          <p:nvPr/>
        </p:nvSpPr>
        <p:spPr>
          <a:xfrm>
            <a:off x="4937760" y="1920240"/>
            <a:ext cx="6702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fr-CA" altLang="en-US" sz="2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Faites des disciples</a:t>
            </a:r>
            <a:endParaRPr lang="fr-CA" sz="2800" dirty="0"/>
          </a:p>
        </p:txBody>
      </p:sp>
      <p:sp>
        <p:nvSpPr>
          <p:cNvPr id="15" name="Text 12"/>
          <p:cNvSpPr txBox="1"/>
          <p:nvPr/>
        </p:nvSpPr>
        <p:spPr>
          <a:xfrm>
            <a:off x="4937760" y="2761488"/>
            <a:ext cx="670255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i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seul impératif. Les trois autres verbes en décrivent le chemin.</a:t>
            </a:r>
            <a:endParaRPr lang="fr-CA" sz="1400" dirty="0"/>
          </a:p>
        </p:txBody>
      </p:sp>
      <p:sp>
        <p:nvSpPr>
          <p:cNvPr id="16" name="Shape 13"/>
          <p:cNvSpPr/>
          <p:nvPr/>
        </p:nvSpPr>
        <p:spPr>
          <a:xfrm>
            <a:off x="4937760" y="3200400"/>
            <a:ext cx="2112264" cy="1600200"/>
          </a:xfrm>
          <a:prstGeom prst="roundRect">
            <a:avLst>
              <a:gd name="adj" fmla="val 6857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7" name="Shape 14"/>
          <p:cNvSpPr/>
          <p:nvPr/>
        </p:nvSpPr>
        <p:spPr>
          <a:xfrm>
            <a:off x="5102352" y="3346704"/>
            <a:ext cx="502920" cy="50292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18" name="Image 1" descr="Icône : personne en marche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02936" y="3447288"/>
            <a:ext cx="301752" cy="301752"/>
          </a:xfrm>
          <a:prstGeom prst="rect">
            <a:avLst/>
          </a:prstGeom>
        </p:spPr>
      </p:pic>
      <p:sp>
        <p:nvSpPr>
          <p:cNvPr id="19" name="Text 15"/>
          <p:cNvSpPr txBox="1"/>
          <p:nvPr/>
        </p:nvSpPr>
        <p:spPr>
          <a:xfrm>
            <a:off x="5715000" y="3346704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Aller</a:t>
            </a:r>
            <a:endParaRPr lang="fr-CA" sz="1900" dirty="0"/>
          </a:p>
        </p:txBody>
      </p:sp>
      <p:sp>
        <p:nvSpPr>
          <p:cNvPr id="20" name="Text 16"/>
          <p:cNvSpPr txBox="1"/>
          <p:nvPr/>
        </p:nvSpPr>
        <p:spPr>
          <a:xfrm>
            <a:off x="5102352" y="3950208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 toutes les nations</a:t>
            </a:r>
            <a:endParaRPr lang="fr-CA" sz="1500" dirty="0"/>
          </a:p>
        </p:txBody>
      </p:sp>
      <p:sp>
        <p:nvSpPr>
          <p:cNvPr id="21" name="Shape 17"/>
          <p:cNvSpPr/>
          <p:nvPr/>
        </p:nvSpPr>
        <p:spPr>
          <a:xfrm>
            <a:off x="7232904" y="3200400"/>
            <a:ext cx="2112264" cy="1600200"/>
          </a:xfrm>
          <a:prstGeom prst="roundRect">
            <a:avLst>
              <a:gd name="adj" fmla="val 6857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2" name="Shape 18"/>
          <p:cNvSpPr/>
          <p:nvPr/>
        </p:nvSpPr>
        <p:spPr>
          <a:xfrm>
            <a:off x="7397496" y="3346704"/>
            <a:ext cx="502920" cy="50292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3" name="Image 2" descr="Icône : goutte d'eau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98080" y="3447288"/>
            <a:ext cx="301752" cy="301752"/>
          </a:xfrm>
          <a:prstGeom prst="rect">
            <a:avLst/>
          </a:prstGeom>
        </p:spPr>
      </p:pic>
      <p:sp>
        <p:nvSpPr>
          <p:cNvPr id="24" name="Text 19"/>
          <p:cNvSpPr txBox="1"/>
          <p:nvPr/>
        </p:nvSpPr>
        <p:spPr>
          <a:xfrm>
            <a:off x="8010144" y="3346704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Baptiser</a:t>
            </a:r>
            <a:endParaRPr lang="fr-CA" sz="1900" dirty="0"/>
          </a:p>
        </p:txBody>
      </p:sp>
      <p:sp>
        <p:nvSpPr>
          <p:cNvPr id="25" name="Text 20"/>
          <p:cNvSpPr txBox="1"/>
          <p:nvPr/>
        </p:nvSpPr>
        <p:spPr>
          <a:xfrm>
            <a:off x="7397496" y="3950208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nom, un seul nom, du Père, du Fils et du Saint-Esprit</a:t>
            </a:r>
            <a:endParaRPr lang="fr-CA" sz="1500" dirty="0"/>
          </a:p>
        </p:txBody>
      </p:sp>
      <p:sp>
        <p:nvSpPr>
          <p:cNvPr id="26" name="Shape 21"/>
          <p:cNvSpPr/>
          <p:nvPr/>
        </p:nvSpPr>
        <p:spPr>
          <a:xfrm>
            <a:off x="9528048" y="3200400"/>
            <a:ext cx="2112264" cy="1600200"/>
          </a:xfrm>
          <a:prstGeom prst="roundRect">
            <a:avLst>
              <a:gd name="adj" fmla="val 6857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7" name="Shape 22"/>
          <p:cNvSpPr/>
          <p:nvPr/>
        </p:nvSpPr>
        <p:spPr>
          <a:xfrm>
            <a:off x="9692640" y="3346704"/>
            <a:ext cx="502920" cy="502920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28" name="Image 3" descr="Icône : enseignement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793224" y="3447288"/>
            <a:ext cx="301752" cy="301752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10305288" y="3346704"/>
            <a:ext cx="12801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9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Enseigner</a:t>
            </a:r>
            <a:endParaRPr lang="fr-CA" sz="1900" dirty="0"/>
          </a:p>
        </p:txBody>
      </p:sp>
      <p:sp>
        <p:nvSpPr>
          <p:cNvPr id="30" name="Text 24"/>
          <p:cNvSpPr txBox="1"/>
          <p:nvPr/>
        </p:nvSpPr>
        <p:spPr>
          <a:xfrm>
            <a:off x="9692640" y="3950208"/>
            <a:ext cx="1828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5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observer tout ce que Christ a prescrit</a:t>
            </a:r>
            <a:endParaRPr lang="fr-CA" sz="1500" dirty="0"/>
          </a:p>
        </p:txBody>
      </p:sp>
      <p:sp>
        <p:nvSpPr>
          <p:cNvPr id="31" name="Shape 25"/>
          <p:cNvSpPr/>
          <p:nvPr/>
        </p:nvSpPr>
        <p:spPr>
          <a:xfrm>
            <a:off x="4937760" y="4956048"/>
            <a:ext cx="6702552" cy="658368"/>
          </a:xfrm>
          <a:prstGeom prst="roundRect">
            <a:avLst>
              <a:gd name="adj" fmla="val 16667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32" name="Shape 26"/>
          <p:cNvSpPr/>
          <p:nvPr/>
        </p:nvSpPr>
        <p:spPr>
          <a:xfrm>
            <a:off x="5074920" y="5029200"/>
            <a:ext cx="512064" cy="512064"/>
          </a:xfrm>
          <a:prstGeom prst="ellipse">
            <a:avLst/>
          </a:prstGeom>
          <a:solidFill>
            <a:srgbClr val="2A1A10"/>
          </a:solidFill>
          <a:ln w="127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pic>
        <p:nvPicPr>
          <p:cNvPr id="33" name="Image 4" descr="Icône : main tenant un cœur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177333" y="5131613"/>
            <a:ext cx="307238" cy="307238"/>
          </a:xfrm>
          <a:prstGeom prst="rect">
            <a:avLst/>
          </a:prstGeom>
        </p:spPr>
      </p:pic>
      <p:sp>
        <p:nvSpPr>
          <p:cNvPr id="34" name="Text 27"/>
          <p:cNvSpPr txBox="1"/>
          <p:nvPr/>
        </p:nvSpPr>
        <p:spPr>
          <a:xfrm>
            <a:off x="5760720" y="4956048"/>
            <a:ext cx="5760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700" i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« Je suis avec vous tous les jours, jusqu'à la fin du monde. »</a:t>
            </a:r>
            <a:endParaRPr lang="fr-CA" sz="1700" dirty="0"/>
          </a:p>
        </p:txBody>
      </p:sp>
      <p:sp>
        <p:nvSpPr>
          <p:cNvPr id="35" name="Text 28"/>
          <p:cNvSpPr txBox="1"/>
          <p:nvPr/>
        </p:nvSpPr>
        <p:spPr>
          <a:xfrm>
            <a:off x="4937760" y="5806440"/>
            <a:ext cx="670255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21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Qui, cette semaine, entendra de vous l'Évangile?</a:t>
            </a:r>
            <a:endParaRPr lang="fr-CA" sz="2100" dirty="0"/>
          </a:p>
        </p:txBody>
      </p:sp>
      <p:grpSp>
        <p:nvGrpSpPr>
          <p:cNvPr id="1009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36" name="Progression 1"/>
            <p:cNvSpPr/>
            <p:nvPr/>
          </p:nvSpPr>
          <p:spPr>
            <a:xfrm>
              <a:off x="546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7" name="Progression 2"/>
            <p:cNvSpPr/>
            <p:nvPr/>
          </p:nvSpPr>
          <p:spPr>
            <a:xfrm>
              <a:off x="1562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8" name="Progression 3"/>
            <p:cNvSpPr/>
            <p:nvPr/>
          </p:nvSpPr>
          <p:spPr>
            <a:xfrm>
              <a:off x="2578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9" name="Progression 4"/>
            <p:cNvSpPr/>
            <p:nvPr/>
          </p:nvSpPr>
          <p:spPr>
            <a:xfrm>
              <a:off x="3594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40" name="Progression 5"/>
            <p:cNvSpPr/>
            <p:nvPr/>
          </p:nvSpPr>
          <p:spPr>
            <a:xfrm>
              <a:off x="4610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41" name="Progression 6"/>
            <p:cNvSpPr/>
            <p:nvPr/>
          </p:nvSpPr>
          <p:spPr>
            <a:xfrm>
              <a:off x="5626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42" name="Progression 7"/>
            <p:cNvSpPr/>
            <p:nvPr/>
          </p:nvSpPr>
          <p:spPr>
            <a:xfrm>
              <a:off x="6642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43" name="Progression 8"/>
            <p:cNvSpPr/>
            <p:nvPr/>
          </p:nvSpPr>
          <p:spPr>
            <a:xfrm>
              <a:off x="7658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44" name="Progression 9"/>
            <p:cNvSpPr/>
            <p:nvPr/>
          </p:nvSpPr>
          <p:spPr>
            <a:xfrm>
              <a:off x="8674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45" name="Progression 10"/>
            <p:cNvSpPr/>
            <p:nvPr/>
          </p:nvSpPr>
          <p:spPr>
            <a:xfrm>
              <a:off x="9690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46" name="Progression 11"/>
            <p:cNvSpPr/>
            <p:nvPr/>
          </p:nvSpPr>
          <p:spPr>
            <a:xfrm>
              <a:off x="10706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</p:grp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3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7315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Corinthiens 3.18 – Christ la Parole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731520"/>
            <a:ext cx="1106424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altLang="en-US" sz="30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Créés à son image, restaurés en Christ,</a:t>
            </a:r>
            <a:endParaRPr lang="fr-CA" sz="3000" dirty="0"/>
          </a:p>
          <a:p>
            <a:pPr marL="0" indent="0" algn="l">
              <a:buNone/>
            </a:pPr>
            <a:r>
              <a:rPr lang="fr-CA" altLang="en-US" sz="30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transformés par l'Esprit, envoyés en son nom</a:t>
            </a:r>
            <a:endParaRPr lang="fr-CA" sz="3000" dirty="0"/>
          </a:p>
        </p:txBody>
      </p:sp>
      <p:sp>
        <p:nvSpPr>
          <p:cNvPr id="4" name="Shape 2"/>
          <p:cNvSpPr/>
          <p:nvPr/>
        </p:nvSpPr>
        <p:spPr>
          <a:xfrm>
            <a:off x="1143000" y="2240280"/>
            <a:ext cx="1645920" cy="1188720"/>
          </a:xfrm>
          <a:prstGeom prst="line">
            <a:avLst/>
          </a:prstGeom>
          <a:noFill/>
          <a:ln w="38100">
            <a:solidFill>
              <a:srgbClr val="6E5A4C"/>
            </a:solidFill>
            <a:prstDash val="dash"/>
          </a:ln>
        </p:spPr>
        <p:txBody>
          <a:bodyPr/>
          <a:lstStyle/>
          <a:p>
            <a:endParaRPr lang="fr-CA"/>
          </a:p>
        </p:txBody>
      </p:sp>
      <p:sp>
        <p:nvSpPr>
          <p:cNvPr id="5" name="Shape 3"/>
          <p:cNvSpPr/>
          <p:nvPr/>
        </p:nvSpPr>
        <p:spPr>
          <a:xfrm flipV="1">
            <a:off x="2788920" y="3108960"/>
            <a:ext cx="1645920" cy="320040"/>
          </a:xfrm>
          <a:prstGeom prst="line">
            <a:avLst/>
          </a:prstGeom>
          <a:noFill/>
          <a:ln w="381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6" name="Shape 4"/>
          <p:cNvSpPr/>
          <p:nvPr/>
        </p:nvSpPr>
        <p:spPr>
          <a:xfrm flipV="1">
            <a:off x="4434840" y="2834640"/>
            <a:ext cx="1645920" cy="274320"/>
          </a:xfrm>
          <a:prstGeom prst="line">
            <a:avLst/>
          </a:prstGeom>
          <a:noFill/>
          <a:ln w="381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7" name="Shape 5"/>
          <p:cNvSpPr/>
          <p:nvPr/>
        </p:nvSpPr>
        <p:spPr>
          <a:xfrm flipV="1">
            <a:off x="6080760" y="2560320"/>
            <a:ext cx="1645920" cy="274320"/>
          </a:xfrm>
          <a:prstGeom prst="line">
            <a:avLst/>
          </a:prstGeom>
          <a:noFill/>
          <a:ln w="381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8" name="Shape 6"/>
          <p:cNvSpPr/>
          <p:nvPr/>
        </p:nvSpPr>
        <p:spPr>
          <a:xfrm flipV="1">
            <a:off x="7726680" y="2286000"/>
            <a:ext cx="1645920" cy="274320"/>
          </a:xfrm>
          <a:prstGeom prst="line">
            <a:avLst/>
          </a:prstGeom>
          <a:noFill/>
          <a:ln w="381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9" name="Shape 7"/>
          <p:cNvSpPr/>
          <p:nvPr/>
        </p:nvSpPr>
        <p:spPr>
          <a:xfrm flipV="1">
            <a:off x="9372600" y="2011680"/>
            <a:ext cx="1645920" cy="274320"/>
          </a:xfrm>
          <a:prstGeom prst="line">
            <a:avLst/>
          </a:prstGeom>
          <a:noFill/>
          <a:ln w="3810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0" name="Shape 8"/>
          <p:cNvSpPr/>
          <p:nvPr/>
        </p:nvSpPr>
        <p:spPr>
          <a:xfrm>
            <a:off x="960120" y="2057400"/>
            <a:ext cx="365760" cy="365760"/>
          </a:xfrm>
          <a:prstGeom prst="ellipse">
            <a:avLst/>
          </a:prstGeom>
          <a:solidFill>
            <a:srgbClr val="0D0B0A"/>
          </a:solidFill>
          <a:ln w="381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1" name="Text 9"/>
          <p:cNvSpPr txBox="1"/>
          <p:nvPr/>
        </p:nvSpPr>
        <p:spPr>
          <a:xfrm>
            <a:off x="365760" y="251460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Créés</a:t>
            </a:r>
            <a:endParaRPr lang="fr-CA" sz="1600" dirty="0"/>
          </a:p>
          <a:p>
            <a:pPr marL="0" indent="0" algn="ctr">
              <a:buNone/>
            </a:pP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 1.26-27</a:t>
            </a:r>
            <a:endParaRPr lang="fr-CA" sz="1600" dirty="0"/>
          </a:p>
        </p:txBody>
      </p:sp>
      <p:sp>
        <p:nvSpPr>
          <p:cNvPr id="12" name="Shape 10"/>
          <p:cNvSpPr/>
          <p:nvPr/>
        </p:nvSpPr>
        <p:spPr>
          <a:xfrm>
            <a:off x="2606040" y="3246120"/>
            <a:ext cx="365760" cy="365760"/>
          </a:xfrm>
          <a:prstGeom prst="ellipse">
            <a:avLst/>
          </a:prstGeom>
          <a:solidFill>
            <a:srgbClr val="6E5A4C"/>
          </a:solidFill>
          <a:ln w="38100">
            <a:solidFill>
              <a:srgbClr val="6E5A4C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3" name="Text 11"/>
          <p:cNvSpPr txBox="1"/>
          <p:nvPr/>
        </p:nvSpPr>
        <p:spPr>
          <a:xfrm>
            <a:off x="2011680" y="370332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600" b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Ternis</a:t>
            </a:r>
            <a:endParaRPr lang="fr-CA" sz="1600" dirty="0"/>
          </a:p>
          <a:p>
            <a:pPr marL="0" indent="0" algn="ctr">
              <a:buNone/>
            </a:pP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 5.3</a:t>
            </a:r>
            <a:endParaRPr lang="fr-CA" sz="1600" dirty="0"/>
          </a:p>
        </p:txBody>
      </p:sp>
      <p:sp>
        <p:nvSpPr>
          <p:cNvPr id="14" name="Shape 12"/>
          <p:cNvSpPr/>
          <p:nvPr/>
        </p:nvSpPr>
        <p:spPr>
          <a:xfrm>
            <a:off x="4251960" y="2926080"/>
            <a:ext cx="365760" cy="365760"/>
          </a:xfrm>
          <a:prstGeom prst="ellipse">
            <a:avLst/>
          </a:prstGeom>
          <a:solidFill>
            <a:srgbClr val="0D0B0A"/>
          </a:solidFill>
          <a:ln w="381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5" name="Text 13"/>
          <p:cNvSpPr txBox="1"/>
          <p:nvPr/>
        </p:nvSpPr>
        <p:spPr>
          <a:xfrm>
            <a:off x="3657600" y="338328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Restaurés en Christ</a:t>
            </a:r>
            <a:endParaRPr lang="fr-CA" sz="1600" dirty="0"/>
          </a:p>
          <a:p>
            <a:pPr marL="0" indent="0" algn="ctr">
              <a:buNone/>
            </a:pP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 1.15</a:t>
            </a:r>
            <a:endParaRPr lang="fr-CA" sz="1600" dirty="0"/>
          </a:p>
        </p:txBody>
      </p:sp>
      <p:sp>
        <p:nvSpPr>
          <p:cNvPr id="16" name="Shape 14"/>
          <p:cNvSpPr/>
          <p:nvPr/>
        </p:nvSpPr>
        <p:spPr>
          <a:xfrm>
            <a:off x="5897880" y="2651760"/>
            <a:ext cx="365760" cy="365760"/>
          </a:xfrm>
          <a:prstGeom prst="ellipse">
            <a:avLst/>
          </a:prstGeom>
          <a:solidFill>
            <a:srgbClr val="0D0B0A"/>
          </a:solidFill>
          <a:ln w="381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7" name="Text 15"/>
          <p:cNvSpPr txBox="1"/>
          <p:nvPr/>
        </p:nvSpPr>
        <p:spPr>
          <a:xfrm>
            <a:off x="5303520" y="310896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Promis</a:t>
            </a:r>
            <a:endParaRPr lang="fr-CA" sz="1600" dirty="0"/>
          </a:p>
          <a:p>
            <a:pPr marL="0" indent="0" algn="ctr">
              <a:buNone/>
            </a:pP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 8.29</a:t>
            </a:r>
            <a:endParaRPr lang="fr-CA" sz="1600" dirty="0"/>
          </a:p>
        </p:txBody>
      </p:sp>
      <p:sp>
        <p:nvSpPr>
          <p:cNvPr id="18" name="Shape 16"/>
          <p:cNvSpPr/>
          <p:nvPr/>
        </p:nvSpPr>
        <p:spPr>
          <a:xfrm>
            <a:off x="7543800" y="2377440"/>
            <a:ext cx="365760" cy="365760"/>
          </a:xfrm>
          <a:prstGeom prst="ellipse">
            <a:avLst/>
          </a:prstGeom>
          <a:solidFill>
            <a:srgbClr val="0D0B0A"/>
          </a:solidFill>
          <a:ln w="381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19" name="Text 17"/>
          <p:cNvSpPr txBox="1"/>
          <p:nvPr/>
        </p:nvSpPr>
        <p:spPr>
          <a:xfrm>
            <a:off x="6949440" y="283464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Transformés</a:t>
            </a:r>
            <a:endParaRPr lang="fr-CA" sz="1600" dirty="0"/>
          </a:p>
          <a:p>
            <a:pPr marL="0" indent="0" algn="ctr">
              <a:buNone/>
            </a:pP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 Co 3.18</a:t>
            </a:r>
            <a:endParaRPr lang="fr-CA" sz="1600" dirty="0"/>
          </a:p>
        </p:txBody>
      </p:sp>
      <p:sp>
        <p:nvSpPr>
          <p:cNvPr id="20" name="Shape 18"/>
          <p:cNvSpPr/>
          <p:nvPr/>
        </p:nvSpPr>
        <p:spPr>
          <a:xfrm>
            <a:off x="9189720" y="2103120"/>
            <a:ext cx="365760" cy="365760"/>
          </a:xfrm>
          <a:prstGeom prst="ellipse">
            <a:avLst/>
          </a:prstGeom>
          <a:solidFill>
            <a:srgbClr val="0D0B0A"/>
          </a:solidFill>
          <a:ln w="381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1" name="Text 19"/>
          <p:cNvSpPr txBox="1"/>
          <p:nvPr/>
        </p:nvSpPr>
        <p:spPr>
          <a:xfrm>
            <a:off x="8595360" y="256032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Renouvelés au cœur</a:t>
            </a:r>
            <a:endParaRPr lang="fr-CA" sz="1600" dirty="0"/>
          </a:p>
          <a:p>
            <a:pPr marL="0" indent="0" algn="ctr">
              <a:buNone/>
            </a:pP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Jr 31.33</a:t>
            </a:r>
            <a:endParaRPr lang="fr-CA" sz="1600" dirty="0"/>
          </a:p>
        </p:txBody>
      </p:sp>
      <p:sp>
        <p:nvSpPr>
          <p:cNvPr id="22" name="Shape 20"/>
          <p:cNvSpPr/>
          <p:nvPr/>
        </p:nvSpPr>
        <p:spPr>
          <a:xfrm>
            <a:off x="10835640" y="1828800"/>
            <a:ext cx="365760" cy="365760"/>
          </a:xfrm>
          <a:prstGeom prst="ellipse">
            <a:avLst/>
          </a:prstGeom>
          <a:solidFill>
            <a:srgbClr val="E8742A"/>
          </a:solidFill>
          <a:ln w="38100">
            <a:solidFill>
              <a:srgbClr val="E8742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3" name="Text 21"/>
          <p:cNvSpPr txBox="1"/>
          <p:nvPr/>
        </p:nvSpPr>
        <p:spPr>
          <a:xfrm>
            <a:off x="10241280" y="2286000"/>
            <a:ext cx="15544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Aimés et</a:t>
            </a:r>
            <a:endParaRPr lang="fr-CA" sz="1600" dirty="0"/>
          </a:p>
          <a:p>
            <a:pPr marL="0" indent="0" algn="ctr">
              <a:buNone/>
            </a:pPr>
            <a:r>
              <a:rPr lang="fr-CA" altLang="en-US" sz="1600" b="1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Envoyés</a:t>
            </a:r>
            <a:endParaRPr lang="fr-CA" sz="1600" dirty="0"/>
          </a:p>
          <a:p>
            <a:pPr marL="0" indent="0" algn="ctr">
              <a:buNone/>
            </a:pP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 22.37-40</a:t>
            </a:r>
            <a:endParaRPr lang="fr-CA" sz="1600" dirty="0"/>
          </a:p>
          <a:p>
            <a:pPr marL="0" indent="0" algn="ctr">
              <a:buNone/>
            </a:pPr>
            <a:r>
              <a:rPr lang="fr-CA" altLang="en-US" sz="1400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Mt 28.19</a:t>
            </a:r>
            <a:endParaRPr lang="fr-CA" sz="1600" dirty="0"/>
          </a:p>
        </p:txBody>
      </p:sp>
      <p:sp>
        <p:nvSpPr>
          <p:cNvPr id="24" name="Shape 22"/>
          <p:cNvSpPr/>
          <p:nvPr/>
        </p:nvSpPr>
        <p:spPr>
          <a:xfrm>
            <a:off x="548640" y="4627778"/>
            <a:ext cx="5422392" cy="1625803"/>
          </a:xfrm>
          <a:prstGeom prst="roundRect">
            <a:avLst>
              <a:gd name="adj" fmla="val 6749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5" name="Text 23"/>
          <p:cNvSpPr txBox="1"/>
          <p:nvPr/>
        </p:nvSpPr>
        <p:spPr>
          <a:xfrm>
            <a:off x="777240" y="4764938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9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À l'incroyant</a:t>
            </a:r>
            <a:endParaRPr lang="fr-CA" sz="1600" dirty="0"/>
          </a:p>
          <a:p>
            <a:pPr marL="0" indent="0">
              <a:buNone/>
            </a:pPr>
            <a:r>
              <a:rPr lang="fr-CA" altLang="en-US" sz="16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Vous portez l'image de Dieu, et vous ne l'avez jamais aimé de tout votre cœur. Christ seul pardonne et restaure : repentez-vous, croyez en lui, soumettez-vous à lui comme Seigneur.</a:t>
            </a:r>
            <a:endParaRPr lang="fr-CA" sz="1600" dirty="0"/>
          </a:p>
        </p:txBody>
      </p:sp>
      <p:sp>
        <p:nvSpPr>
          <p:cNvPr id="26" name="Shape 24"/>
          <p:cNvSpPr/>
          <p:nvPr/>
        </p:nvSpPr>
        <p:spPr>
          <a:xfrm>
            <a:off x="6217920" y="4627778"/>
            <a:ext cx="5422392" cy="1625803"/>
          </a:xfrm>
          <a:prstGeom prst="roundRect">
            <a:avLst>
              <a:gd name="adj" fmla="val 6749"/>
            </a:avLst>
          </a:prstGeom>
          <a:solidFill>
            <a:srgbClr val="1A1411"/>
          </a:solidFill>
          <a:ln w="19050">
            <a:solidFill>
              <a:srgbClr val="CC5500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27" name="Text 25"/>
          <p:cNvSpPr txBox="1"/>
          <p:nvPr/>
        </p:nvSpPr>
        <p:spPr>
          <a:xfrm>
            <a:off x="6446520" y="4764938"/>
            <a:ext cx="49834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9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 croyant</a:t>
            </a:r>
            <a:endParaRPr lang="fr-CA" sz="1600" dirty="0"/>
          </a:p>
          <a:p>
            <a:pPr marL="0" indent="0">
              <a:buNone/>
            </a:pPr>
            <a:r>
              <a:rPr lang="fr-CA" altLang="en-US" sz="16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Dieu achèvera ce qu'il a décidé avant la fondation du monde : nous serons semblables à lui (1 Jn 3.2). Contemplez Christ dans sa Parole; ainsi l'Esprit vous transforme. Et allez : faites des disciples.</a:t>
            </a:r>
            <a:endParaRPr lang="fr-CA" sz="1600" dirty="0"/>
          </a:p>
        </p:txBody>
      </p:sp>
      <p:grpSp>
        <p:nvGrpSpPr>
          <p:cNvPr id="1010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28" name="Progression 1"/>
            <p:cNvSpPr/>
            <p:nvPr/>
          </p:nvSpPr>
          <p:spPr>
            <a:xfrm>
              <a:off x="546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29" name="Progression 2"/>
            <p:cNvSpPr/>
            <p:nvPr/>
          </p:nvSpPr>
          <p:spPr>
            <a:xfrm>
              <a:off x="1562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0" name="Progression 3"/>
            <p:cNvSpPr/>
            <p:nvPr/>
          </p:nvSpPr>
          <p:spPr>
            <a:xfrm>
              <a:off x="2578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1" name="Progression 4"/>
            <p:cNvSpPr/>
            <p:nvPr/>
          </p:nvSpPr>
          <p:spPr>
            <a:xfrm>
              <a:off x="3594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2" name="Progression 5"/>
            <p:cNvSpPr/>
            <p:nvPr/>
          </p:nvSpPr>
          <p:spPr>
            <a:xfrm>
              <a:off x="4610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3" name="Progression 6"/>
            <p:cNvSpPr/>
            <p:nvPr/>
          </p:nvSpPr>
          <p:spPr>
            <a:xfrm>
              <a:off x="5626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4" name="Progression 7"/>
            <p:cNvSpPr/>
            <p:nvPr/>
          </p:nvSpPr>
          <p:spPr>
            <a:xfrm>
              <a:off x="6642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5" name="Progression 8"/>
            <p:cNvSpPr/>
            <p:nvPr/>
          </p:nvSpPr>
          <p:spPr>
            <a:xfrm>
              <a:off x="7658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6" name="Progression 9"/>
            <p:cNvSpPr/>
            <p:nvPr/>
          </p:nvSpPr>
          <p:spPr>
            <a:xfrm>
              <a:off x="8674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7" name="Progression 10"/>
            <p:cNvSpPr/>
            <p:nvPr/>
          </p:nvSpPr>
          <p:spPr>
            <a:xfrm>
              <a:off x="9690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38" name="Progression 11"/>
            <p:cNvSpPr/>
            <p:nvPr/>
          </p:nvSpPr>
          <p:spPr>
            <a:xfrm>
              <a:off x="10706100" y="6527800"/>
              <a:ext cx="939800" cy="63500"/>
            </a:xfrm>
            <a:prstGeom prst="rect">
              <a:avLst/>
            </a:prstGeom>
            <a:solidFill>
              <a:srgbClr val="3A312C"/>
            </a:solidFill>
            <a:ln/>
          </p:spPr>
          <p:txBody>
            <a:bodyPr/>
            <a:lstStyle/>
            <a:p>
              <a:endParaRPr lang="fr-CA"/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D0B0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père de section"/>
          <p:cNvSpPr txBox="1"/>
          <p:nvPr/>
        </p:nvSpPr>
        <p:spPr>
          <a:xfrm>
            <a:off x="548640" y="384048"/>
            <a:ext cx="62179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400" b="1" kern="0" spc="300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PRIÈRE</a:t>
            </a:r>
            <a:endParaRPr lang="fr-CA" sz="1400" dirty="0"/>
          </a:p>
        </p:txBody>
      </p:sp>
      <p:sp>
        <p:nvSpPr>
          <p:cNvPr id="3" name="Titre"/>
          <p:cNvSpPr>
            <a:spLocks noGrp="1"/>
          </p:cNvSpPr>
          <p:nvPr>
            <p:ph type="title"/>
          </p:nvPr>
        </p:nvSpPr>
        <p:spPr>
          <a:xfrm>
            <a:off x="548640" y="676656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l">
              <a:buNone/>
            </a:pPr>
            <a:r>
              <a:rPr lang="fr-CA" altLang="en-US" sz="3800" b="1" dirty="0">
                <a:solidFill>
                  <a:srgbClr val="F4EDE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Prière Puritaine - Vallée de la vision</a:t>
            </a:r>
            <a:endParaRPr lang="fr-CA" sz="3800" dirty="0"/>
          </a:p>
        </p:txBody>
      </p:sp>
      <p:sp>
        <p:nvSpPr>
          <p:cNvPr id="4" name="Sous-titre"/>
          <p:cNvSpPr txBox="1"/>
          <p:nvPr/>
        </p:nvSpPr>
        <p:spPr>
          <a:xfrm>
            <a:off x="548640" y="1371600"/>
            <a:ext cx="11064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fr-CA" altLang="en-US" sz="1900" i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Régénération</a:t>
            </a:r>
            <a:endParaRPr lang="fr-CA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1920240"/>
            <a:ext cx="6949440" cy="4434840"/>
          </a:xfrm>
          <a:prstGeom prst="roundRect">
            <a:avLst>
              <a:gd name="adj" fmla="val 2474"/>
            </a:avLst>
          </a:prstGeom>
          <a:solidFill>
            <a:srgbClr val="1A1411"/>
          </a:solidFill>
          <a:ln w="9525">
            <a:solidFill>
              <a:srgbClr val="2E211A"/>
            </a:solidFill>
            <a:prstDash val="solid"/>
          </a:ln>
        </p:spPr>
        <p:txBody>
          <a:bodyPr/>
          <a:lstStyle/>
          <a:p>
            <a:endParaRPr lang="fr-CA"/>
          </a:p>
        </p:txBody>
      </p:sp>
      <p:sp>
        <p:nvSpPr>
          <p:cNvPr id="6" name="Prière"/>
          <p:cNvSpPr txBox="1"/>
          <p:nvPr/>
        </p:nvSpPr>
        <p:spPr>
          <a:xfrm>
            <a:off x="822960" y="2103120"/>
            <a:ext cx="6400800" cy="4069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fr-CA" altLang="en-US" sz="1800" b="1" dirty="0">
                <a:solidFill>
                  <a:srgbClr val="E874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Dieu des cieux les plus élevés</a:t>
            </a:r>
            <a:endParaRPr lang="fr-CA" sz="1800" dirty="0"/>
          </a:p>
          <a:p>
            <a:pPr marL="0" indent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Occupe le trône de mon cœur,</a:t>
            </a:r>
            <a:endParaRPr lang="fr-CA" sz="1800" dirty="0"/>
          </a:p>
          <a:p>
            <a:pPr marL="0" indent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es digne d’être loué de tout mon souffle,</a:t>
            </a:r>
            <a:endParaRPr lang="fr-CA" sz="1800" dirty="0"/>
          </a:p>
          <a:p>
            <a:pPr marL="0" indent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 m’as aimé, épousé et reçu,</a:t>
            </a:r>
            <a:endParaRPr lang="fr-CA" sz="1800" dirty="0"/>
          </a:p>
          <a:p>
            <a:pPr marL="0" indent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J’étais mort dans l’iniquité,</a:t>
            </a:r>
            <a:endParaRPr lang="fr-CA" sz="1800" dirty="0"/>
          </a:p>
          <a:p>
            <a:pPr marL="0" indent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Mais ton Esprit m’a vivifié,</a:t>
            </a:r>
            <a:endParaRPr lang="fr-CA" sz="1800" dirty="0"/>
          </a:p>
          <a:p>
            <a:pPr marL="0" indent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 présence est pour moi un trésor de paix sans fin ;</a:t>
            </a:r>
            <a:endParaRPr lang="fr-CA" sz="1800" dirty="0"/>
          </a:p>
          <a:p>
            <a:pPr marL="0" indent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Aucune provocation ne peut me séparer de ta bienveillance,</a:t>
            </a:r>
            <a:endParaRPr lang="fr-CA" sz="1800" dirty="0"/>
          </a:p>
          <a:p>
            <a:pPr marL="0" indent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Aide-moi alors à marcher d’une manière digne de ton amour,</a:t>
            </a:r>
            <a:endParaRPr lang="fr-CA" sz="1800" dirty="0"/>
          </a:p>
          <a:p>
            <a:pPr marL="0" indent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Protège-moi afin qu’aucun mal ne m’infecte ;</a:t>
            </a:r>
            <a:endParaRPr lang="fr-CA" sz="1800" dirty="0"/>
          </a:p>
          <a:p>
            <a:pPr marL="0" indent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Laisse-moi mettre de côté tous les péchés admirés de beaucoup ;</a:t>
            </a:r>
            <a:endParaRPr lang="fr-CA" sz="1800" dirty="0"/>
          </a:p>
          <a:p>
            <a:pPr marL="0" indent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Aide-moi à marcher à tes côtés,</a:t>
            </a:r>
            <a:endParaRPr lang="fr-CA" sz="1800" dirty="0"/>
          </a:p>
          <a:p>
            <a:pPr marL="0" indent="0">
              <a:buNone/>
            </a:pPr>
            <a:r>
              <a:rPr lang="fr-CA" altLang="en-US" sz="1800" dirty="0">
                <a:solidFill>
                  <a:srgbClr val="F4ED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je sois désormais sel de la terre et bénédiction pour tous.</a:t>
            </a:r>
            <a:endParaRPr lang="fr-CA" sz="1800" dirty="0"/>
          </a:p>
        </p:txBody>
      </p:sp>
      <p:sp>
        <p:nvSpPr>
          <p:cNvPr id="8" name="Source"/>
          <p:cNvSpPr txBox="1"/>
          <p:nvPr/>
        </p:nvSpPr>
        <p:spPr>
          <a:xfrm>
            <a:off x="7772400" y="5897880"/>
            <a:ext cx="38735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fr-CA" altLang="en-US" sz="1400" i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Vallée de la vision,</a:t>
            </a:r>
            <a:endParaRPr lang="fr-CA" sz="1400" dirty="0"/>
          </a:p>
          <a:p>
            <a:pPr marL="0" indent="0" algn="ctr">
              <a:buNone/>
            </a:pPr>
            <a:r>
              <a:rPr lang="fr-CA" altLang="en-US" sz="1400" i="1" dirty="0">
                <a:solidFill>
                  <a:srgbClr val="A89A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prières puritaines réunies par Arthur Bennett</a:t>
            </a:r>
            <a:endParaRPr lang="fr-CA" sz="1400" dirty="0"/>
          </a:p>
        </p:txBody>
      </p:sp>
      <p:grpSp>
        <p:nvGrpSpPr>
          <p:cNvPr id="1011" name="Barre de progression"/>
          <p:cNvGrpSpPr/>
          <p:nvPr/>
        </p:nvGrpSpPr>
        <p:grpSpPr>
          <a:xfrm>
            <a:off x="546100" y="6527800"/>
            <a:ext cx="11099800" cy="63500"/>
            <a:chOff x="546100" y="6527800"/>
            <a:chExt cx="11099800" cy="63500"/>
          </a:xfrm>
        </p:grpSpPr>
        <p:sp>
          <p:nvSpPr>
            <p:cNvPr id="9" name="Progression 1"/>
            <p:cNvSpPr/>
            <p:nvPr/>
          </p:nvSpPr>
          <p:spPr>
            <a:xfrm>
              <a:off x="546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10" name="Progression 2"/>
            <p:cNvSpPr/>
            <p:nvPr/>
          </p:nvSpPr>
          <p:spPr>
            <a:xfrm>
              <a:off x="1562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11" name="Progression 3"/>
            <p:cNvSpPr/>
            <p:nvPr/>
          </p:nvSpPr>
          <p:spPr>
            <a:xfrm>
              <a:off x="2578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12" name="Progression 4"/>
            <p:cNvSpPr/>
            <p:nvPr/>
          </p:nvSpPr>
          <p:spPr>
            <a:xfrm>
              <a:off x="3594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13" name="Progression 5"/>
            <p:cNvSpPr/>
            <p:nvPr/>
          </p:nvSpPr>
          <p:spPr>
            <a:xfrm>
              <a:off x="4610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14" name="Progression 6"/>
            <p:cNvSpPr/>
            <p:nvPr/>
          </p:nvSpPr>
          <p:spPr>
            <a:xfrm>
              <a:off x="5626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15" name="Progression 7"/>
            <p:cNvSpPr/>
            <p:nvPr/>
          </p:nvSpPr>
          <p:spPr>
            <a:xfrm>
              <a:off x="6642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16" name="Progression 8"/>
            <p:cNvSpPr/>
            <p:nvPr/>
          </p:nvSpPr>
          <p:spPr>
            <a:xfrm>
              <a:off x="7658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17" name="Progression 9"/>
            <p:cNvSpPr/>
            <p:nvPr/>
          </p:nvSpPr>
          <p:spPr>
            <a:xfrm>
              <a:off x="8674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18" name="Progression 10"/>
            <p:cNvSpPr/>
            <p:nvPr/>
          </p:nvSpPr>
          <p:spPr>
            <a:xfrm>
              <a:off x="9690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  <p:sp>
          <p:nvSpPr>
            <p:cNvPr id="19" name="Progression 11"/>
            <p:cNvSpPr/>
            <p:nvPr/>
          </p:nvSpPr>
          <p:spPr>
            <a:xfrm>
              <a:off x="10706100" y="6527800"/>
              <a:ext cx="939800" cy="63500"/>
            </a:xfrm>
            <a:prstGeom prst="rect">
              <a:avLst/>
            </a:prstGeom>
            <a:solidFill>
              <a:srgbClr val="E8742A"/>
            </a:solidFill>
            <a:ln/>
          </p:spPr>
          <p:txBody>
            <a:bodyPr/>
            <a:lstStyle/>
            <a:p>
              <a:endParaRPr lang="fr-CA"/>
            </a:p>
          </p:txBody>
        </p:sp>
      </p:grpSp>
      <p:pic>
        <p:nvPicPr>
          <p:cNvPr id="21" name="Image 20" descr="Image #0 du produit La vallée de la vision">
            <a:extLst>
              <a:ext uri="{FF2B5EF4-FFF2-40B4-BE49-F238E27FC236}">
                <a16:creationId xmlns:a16="http://schemas.microsoft.com/office/drawing/2014/main" id="{985A64D6-6A44-6121-75FC-921BEAB2605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0850" y="1920240"/>
            <a:ext cx="2236600" cy="3683000"/>
          </a:xfrm>
          <a:prstGeom prst="rect">
            <a:avLst/>
          </a:prstGeom>
          <a:ln w="9525">
            <a:solidFill>
              <a:srgbClr val="4A3A30"/>
            </a:solidFill>
          </a:ln>
          <a:effectLst>
            <a:outerShdw blurRad="228600" dist="38100" dir="5400000" algn="t" rotWithShape="0">
              <a:srgbClr val="000000">
                <a:alpha val="60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7906520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48AF0EE-A3C4-6B5F-6CF4-8F746ED115B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Image 6">
            <a:extLst>
              <a:ext uri="{FF2B5EF4-FFF2-40B4-BE49-F238E27FC236}">
                <a16:creationId xmlns:a16="http://schemas.microsoft.com/office/drawing/2014/main" id="{585A3AFD-6347-EA8D-0B58-FC82321CC6B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8579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5781256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1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58C73C2C-8C8B-4DCC-BDE8-7D3BB3E0DB73}">
  <we:reference id="wa200010001" version="1.0.0.1" store="en-US" storeType="OMEX"/>
  <we:alternateReferences>
    <we:reference id="WA200010001" version="1.0.0.1" store="" storeType="OMEX"/>
  </we:alternateReferences>
  <we:properties>
    <we:property name="claude.fileId" value="&quot;88301e64-8842-4c93-b2a3-1863a8fd4149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40</TotalTime>
  <Words>4734</Words>
  <Application>Microsoft Office PowerPoint</Application>
  <PresentationFormat>Grand écran</PresentationFormat>
  <Paragraphs>459</Paragraphs>
  <Slides>13</Slides>
  <Notes>13</Notes>
  <HiddenSlides>0</HiddenSlides>
  <MMClips>0</MMClips>
  <ScaleCrop>false</ScaleCrop>
  <HeadingPairs>
    <vt:vector size="6" baseType="variant">
      <vt:variant>
        <vt:lpstr>Polices utilisées</vt:lpstr>
      </vt:variant>
      <vt:variant>
        <vt:i4>3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Cambria</vt:lpstr>
      <vt:lpstr>Office Theme</vt:lpstr>
      <vt:lpstr>À l'image de Christ-Jésus</vt:lpstr>
      <vt:lpstr>Toute l'Écriture est soufflée par Dieu</vt:lpstr>
      <vt:lpstr>Qui porte l'image de Dieu?</vt:lpstr>
      <vt:lpstr>L'image créée</vt:lpstr>
      <vt:lpstr>Présentation PowerPoint</vt:lpstr>
      <vt:lpstr>L'image parfaite</vt:lpstr>
      <vt:lpstr>L'image promise</vt:lpstr>
      <vt:lpstr>L'image transformée</vt:lpstr>
      <vt:lpstr>L'image qui aime</vt:lpstr>
      <vt:lpstr>L'image envoyée</vt:lpstr>
      <vt:lpstr>Créés à son image, restaurés en Christ, transformés par l'Esprit, envoyés en son nom</vt:lpstr>
      <vt:lpstr>Prière Puritaine - Vallée de la vision</vt:lpstr>
      <vt:lpstr>Présentation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À l'image de Christ-Jésus</dc:title>
  <dc:subject>PptxGenJS Presentation</dc:subject>
  <dc:creator>André-Guy Bruneau</dc:creator>
  <cp:lastModifiedBy>André-Guy Bruneau</cp:lastModifiedBy>
  <cp:revision>1</cp:revision>
  <dcterms:created xsi:type="dcterms:W3CDTF">2026-09-30T13:14:18Z</dcterms:created>
  <dcterms:modified xsi:type="dcterms:W3CDTF">2026-09-30T13:55:30Z</dcterms:modified>
</cp:coreProperties>
</file>