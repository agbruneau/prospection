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publique : Genèse 1.26-28 et Romains 8.28-30. Durée visée : 45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Lire 2 Timothée 3.16-17. Theopneustos : « soufflée par Dieu ». « Ce que l'Écriture dit, Dieu le dit » (55-17). Enseigner, convaincre, corriger, instruire dans la justice (55-19). Pierre d'attente : au point IV, l'Écriture est le miroir.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Dans l'Antiquité, l'« image » d'un dieu, c'était le roi : Toutânkhamon signifie « image vivante d'Amon »; en Mésopotamie, le roi dressait son effigie aux confins de ses territoires. Genèse 1.27 accorde ce titre à l'être humain comme tel, homme et femme, sans rang ni lignée. Tselem désigne ailleurs les statues cultuelles. Question : vous aussi, vous portez une image. Laquelle? Qu'est-il arrivé à cette image, et que Dieu en fait-il?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A. « Faisons » : jusqu'au verset 24, Dieu commande; au verset 26, « jamais Dieu n'a parlé au pluriel » (90-218). Première indication claire de la Trinité (3.22; 11.7). Périchorèse (Jn 14.10-11; 17.21) : le mot nomme, il ne spécule pas. Ce conseil exécute un dessein arrêté avant la fondation du monde (Ép 1.4) : pierre d'attente du point III. B. Tselem et demuth sont synonymes (90-218). Par la raison, l'homme est comme Dieu; moralement, il était comme Dieu. Centre : « la capacité de relations personnelles et, par-dessus tout, d'une relation personnelle avec Dieu » (90-218) : pierre d'attente du point V. Bara' trois fois au verset 27 : Dieu seul crée, et l'homme est le seul être vivant fait sur le modèle divin (90-219). C. Domination : roi de la terre, chargé de la cultiver et de la garder (90-219; Ps 8.7-9). Homme et femme égaux en dignité, rôles distincts (Gn 2.18-23; 1 Tm 2.13); montrer le pluriel « qu'ils dominent » que la NEG79 efface. Application : la dignité repose sur l'acte créateur, non sur l'utilité. Transition, l'image ternie : Adam déchu engendre « à sa ressemblance » (Gn 5.3); l'image demeure (Gn 9.6; Jc 3.9), mais la ressemblance morale est perdue et l'homme ne peut la restaurer. Où voir encore l'image telle que Dieu l'a voulue?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La Septante rend l'image de Gn 1.27 par eikôn, le mot que Paul applique à Christ (aussi 2 Co 4.4). Mais en un autre sens : l'homme porte l'image comme créature; Christ est, de toute éternité, la ressemblance parfaite de Dieu, une reproduction exacte, sans rien de manquant ni d'altéré (2135; Hé 1.3; Ph 2.6; Jn 14.9). Premier-né : le rang d'héritier, non la naissance (Ex 4.22; Jr 31.9, Éphraïm avant Manassé). Il a créé toutes choses (1.16). Application : qui veut savoir ce qu'est l'homme tel que Dieu l'a voulu regarde Christ; qui veut connaître Dieu le voit en Christ, sans intermédiaire. Transition : si Christ est l'image parfaite, que Dieu fait-il de ceux qu'il sauve?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Connus d'avance » : non une simple prévision de qui croirait, mais le choix d'aimer, l'élection (Ac 2.23; 1 P 1.2, 20). Le même conseil éternel que le « Faisons ». « Le but de votre salut était que vous soyez rendus semblables à l'image de son Fils » (90-180). Premier-né de beaucoup de frères : la fin dernière est la gloire du Fils. Application : ce que Dieu a décrété, il l'achèvera (8.30); les épreuves de 8.28 servent ce but. Transition : nous ne voyons pas encore cette ressemblance achevée. Comment Dieu nous y conduit-il, aujourd'hui?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A. Moïse voilait son visage (Ex 34.29-35); en Christ, le voile est ôté. « Nous tous » : tous les croyants (47-22). B. La NEG79 dit « reflète »; le grec, avec la S21, la LSG, Darby et la KJF, dit contempler comme dans un miroir. Le miroir, c'est l'Écriture, où la gloire de Dieu se voit sur la face de Jésus-Christ (90-75; 4.6). Relier au Rappel. C. Metamorphoô, présent passif : « une action de transformation continue et progressive » (47-21). « C'est là toute la sanctification progressive » (90-75). Le terme : « Le dessein salvateur de Dieu était de créer une humanité rachetée qui serait semblable à son Fils » (47-21). Application : contempler Christ dans sa Parole, et l'Esprit fait l'œuvre; celui qui délaisse l'Écriture se prive du miroir. Transition : à quoi reconnaît-on cette image qui grandit? À ce que Dieu avait mis au centre : le cœur qui aime.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A. Le piège des 613 commandements; Jésus répond par le Shema (Dt 6.5) et Lv 19.18 (2358). « Quand vous aimez Dieu comme il faut, vous aimez les gens comme il faut » (2358). B. « Parce que nous n'avons pas aimé ainsi, nous avons besoin du pardon, et parce que nous ne pouvons pas aimer ainsi, nous avons besoin d'une capacité nouvelle » (2358). C. Lire Jérémie 31.33 (NBS). La nouvelle alliance : « le pardon de tous nos péchés et l'écriture de la loi de Dieu sur nos cœurs » (80-286). Le cœur (1 Ch 28.9) : rationnel, moral, relationnel. Application : nous l'aimons parce qu'il nous a aimés le premier (1 Jn 4.19), et cet amour se prouve par l'obéissance (Jn 14.15). Transition : et le prochain que nous aimons, que lui devons-nous d'abord?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Un seul impératif : « faites des disciples »; aller, baptiser, enseigner en décrivent le chemin (2405). Le disciple : « un croyant qui apprend »; « on ne peut être disciple de Christ sans un cœur obéissant » (2405); la foi salvatrice se soumet à Christ comme Seigneur. « Au nom » : « un seul nom et trois personnes » (2405); le Dieu du « Faisons ». Le baptême, signe extérieur d'une foi déjà reçue. « Tout ce que je vous ai prescrit » inclut le grand commandement : faire des disciples, c'est former d'autres porteurs de l'image restaurée. « Je suis avec vous tous les jours » : jusqu'à son retour (2405). Application : aimer son prochain, c'est d'abord lui annoncer Christ.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Récapitulation : créés à son image, ternis par le péché, restaurés en Christ, promis à sa ressemblance, transformés par l'Esprit, renouvelés au cœur, envoyés en son nom. Appel à l'incroyant, puis au croyant.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ne personne frappée comme l'effigie d'une pièce">    </p:cNvPr>
          <p:cNvPicPr>
            <a:picLocks noChangeAspect="1"/>
          </p:cNvPicPr>
          <p:nvPr/>
        </p:nvPicPr>
        <p:blipFill>
          <a:blip r:embed="rId2"/>
          <a:stretch>
            <a:fillRect/>
          </a:stretch>
        </p:blipFill>
        <p:spPr>
          <a:xfrm>
            <a:off x="6720840" y="822960"/>
            <a:ext cx="5212080" cy="5212080"/>
          </a:xfrm>
          <a:prstGeom prst="rect">
            <a:avLst/>
          </a:prstGeom>
        </p:spPr>
      </p:pic>
      <p:sp>
        <p:nvSpPr>
          <p:cNvPr id="3" name="Text 0"/>
          <p:cNvSpPr txBox="1"/>
          <p:nvPr/>
        </p:nvSpPr>
        <p:spPr>
          <a:xfrm>
            <a:off x="731520" y="1463040"/>
            <a:ext cx="5943600" cy="320040"/>
          </a:xfrm>
          <a:prstGeom prst="rect">
            <a:avLst/>
          </a:prstGeom>
          <a:noFill/>
          <a:ln/>
        </p:spPr>
        <p:txBody>
          <a:bodyPr wrap="square" lIns="0" tIns="0" rIns="0" bIns="0" rtlCol="0" anchor="t"/>
          <a:lstStyle/>
          <a:p>
            <a:pPr indent="0" marL="0">
              <a:buNone/>
            </a:pPr>
            <a:r>
              <a:rPr lang="en-US" sz="1400" b="1" spc="300" kern="0" dirty="0">
                <a:solidFill>
                  <a:srgbClr val="E8742A"/>
                </a:solidFill>
                <a:latin typeface="Calibri" pitchFamily="34" charset="0"/>
                <a:ea typeface="Calibri" pitchFamily="34" charset="-122"/>
                <a:cs typeface="Calibri" pitchFamily="34" charset="-120"/>
              </a:rPr>
              <a:t>PRÉDICATION · 30 SEPTEMBRE 2026</a:t>
            </a:r>
            <a:endParaRPr lang="en-US" sz="1400" dirty="0"/>
          </a:p>
        </p:txBody>
      </p:sp>
      <p:sp>
        <p:nvSpPr>
          <p:cNvPr id="4" name="Text 1"/>
          <p:cNvSpPr txBox="1"/>
          <p:nvPr/>
        </p:nvSpPr>
        <p:spPr>
          <a:xfrm>
            <a:off x="731520" y="1874520"/>
            <a:ext cx="6035040" cy="1828800"/>
          </a:xfrm>
          <a:prstGeom prst="rect">
            <a:avLst/>
          </a:prstGeom>
          <a:noFill/>
          <a:ln/>
        </p:spPr>
        <p:txBody>
          <a:bodyPr wrap="square" lIns="0" tIns="0" rIns="0" bIns="0" rtlCol="0" anchor="t"/>
          <a:lstStyle/>
          <a:p>
            <a:pPr indent="0" marL="0">
              <a:lnSpc>
                <a:spcPct val="95000"/>
              </a:lnSpc>
              <a:buNone/>
            </a:pPr>
            <a:r>
              <a:rPr lang="en-US" sz="5600" b="1" dirty="0">
                <a:solidFill>
                  <a:srgbClr val="F4EDE4"/>
                </a:solidFill>
                <a:latin typeface="Cambria" pitchFamily="34" charset="0"/>
                <a:ea typeface="Cambria" pitchFamily="34" charset="-122"/>
                <a:cs typeface="Cambria" pitchFamily="34" charset="-120"/>
              </a:rPr>
              <a:t>À l'image de</a:t>
            </a:r>
            <a:endParaRPr lang="en-US" sz="5600" dirty="0"/>
          </a:p>
          <a:p>
            <a:pPr indent="0" marL="0">
              <a:lnSpc>
                <a:spcPct val="95000"/>
              </a:lnSpc>
              <a:buNone/>
            </a:pPr>
            <a:r>
              <a:rPr lang="en-US" sz="5600" b="1" dirty="0">
                <a:solidFill>
                  <a:srgbClr val="F4EDE4"/>
                </a:solidFill>
                <a:latin typeface="Cambria" pitchFamily="34" charset="0"/>
                <a:ea typeface="Cambria" pitchFamily="34" charset="-122"/>
                <a:cs typeface="Cambria" pitchFamily="34" charset="-120"/>
              </a:rPr>
              <a:t>Christ-Jésus</a:t>
            </a:r>
            <a:endParaRPr lang="en-US" sz="5600" dirty="0"/>
          </a:p>
        </p:txBody>
      </p:sp>
      <p:sp>
        <p:nvSpPr>
          <p:cNvPr id="5" name="Text 2"/>
          <p:cNvSpPr txBox="1"/>
          <p:nvPr/>
        </p:nvSpPr>
        <p:spPr>
          <a:xfrm>
            <a:off x="731520" y="3840480"/>
            <a:ext cx="5486400" cy="457200"/>
          </a:xfrm>
          <a:prstGeom prst="rect">
            <a:avLst/>
          </a:prstGeom>
          <a:noFill/>
          <a:ln/>
        </p:spPr>
        <p:txBody>
          <a:bodyPr wrap="square" lIns="0" tIns="0" rIns="0" bIns="0" rtlCol="0" anchor="t"/>
          <a:lstStyle/>
          <a:p>
            <a:pPr indent="0" marL="0">
              <a:buNone/>
            </a:pPr>
            <a:r>
              <a:rPr lang="en-US" sz="2600" dirty="0">
                <a:solidFill>
                  <a:srgbClr val="E8742A"/>
                </a:solidFill>
                <a:latin typeface="Calibri" pitchFamily="34" charset="0"/>
                <a:ea typeface="Calibri" pitchFamily="34" charset="-122"/>
                <a:cs typeface="Calibri" pitchFamily="34" charset="-120"/>
              </a:rPr>
              <a:t>Genèse 1.26-27</a:t>
            </a:r>
            <a:endParaRPr lang="en-US" sz="2600" dirty="0"/>
          </a:p>
        </p:txBody>
      </p:sp>
      <p:sp>
        <p:nvSpPr>
          <p:cNvPr id="6" name="Text 3"/>
          <p:cNvSpPr txBox="1"/>
          <p:nvPr/>
        </p:nvSpPr>
        <p:spPr>
          <a:xfrm>
            <a:off x="731520" y="4526280"/>
            <a:ext cx="5577840" cy="1005840"/>
          </a:xfrm>
          <a:prstGeom prst="rect">
            <a:avLst/>
          </a:prstGeom>
          <a:noFill/>
          <a:ln/>
        </p:spPr>
        <p:txBody>
          <a:bodyPr wrap="square" lIns="0" tIns="0" rIns="0" bIns="0" rtlCol="0" anchor="t"/>
          <a:lstStyle/>
          <a:p>
            <a:pPr indent="0" marL="0">
              <a:spcAft>
                <a:spcPts val="400"/>
              </a:spcAft>
              <a:buNone/>
            </a:pPr>
            <a:r>
              <a:rPr lang="en-US" sz="1700" i="1" dirty="0">
                <a:solidFill>
                  <a:srgbClr val="A89A8C"/>
                </a:solidFill>
                <a:latin typeface="Calibri" pitchFamily="34" charset="0"/>
                <a:ea typeface="Calibri" pitchFamily="34" charset="-122"/>
                <a:cs typeface="Calibri" pitchFamily="34" charset="-120"/>
              </a:rPr>
              <a:t>« Dieu créa l'homme à son image, il le créa à l'image de Dieu, il créa l'homme et la femme. »</a:t>
            </a:r>
            <a:endParaRPr lang="en-US" sz="1700" dirty="0"/>
          </a:p>
          <a:p>
            <a:pPr indent="0" marL="0">
              <a:spcAft>
                <a:spcPts val="400"/>
              </a:spcAft>
              <a:buNone/>
            </a:pPr>
            <a:r>
              <a:rPr lang="en-US" sz="1300" dirty="0">
                <a:solidFill>
                  <a:srgbClr val="6E625A"/>
                </a:solidFill>
                <a:latin typeface="Calibri" pitchFamily="34" charset="0"/>
                <a:ea typeface="Calibri" pitchFamily="34" charset="-122"/>
                <a:cs typeface="Calibri" pitchFamily="34" charset="-120"/>
              </a:rPr>
              <a:t>Genèse 1.27</a:t>
            </a:r>
            <a:endParaRPr lang="en-US" sz="1700" dirty="0"/>
          </a:p>
        </p:txBody>
      </p:sp>
      <p:sp>
        <p:nvSpPr>
          <p:cNvPr id="7" name="Text 4"/>
          <p:cNvSpPr txBox="1"/>
          <p:nvPr/>
        </p:nvSpPr>
        <p:spPr>
          <a:xfrm>
            <a:off x="731520" y="5989320"/>
            <a:ext cx="4572000" cy="32004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André-Guy Bruneau</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RAPPEL · 2 TIMOTHÉE 3.16-17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Toute l'Écriture est soufflée par Dieu</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 Ce que l'Écriture dit, Dieu le dit. »  (MacArthur)</a:t>
            </a:r>
            <a:endParaRPr lang="en-US" sz="1900" dirty="0"/>
          </a:p>
        </p:txBody>
      </p:sp>
      <p:pic>
        <p:nvPicPr>
          <p:cNvPr id="5" name="Image 0" descr="Un livre ouvert d'où monte un souffle">    </p:cNvPr>
          <p:cNvPicPr>
            <a:picLocks noChangeAspect="1"/>
          </p:cNvPicPr>
          <p:nvPr/>
        </p:nvPicPr>
        <p:blipFill>
          <a:blip r:embed="rId1"/>
          <a:stretch>
            <a:fillRect/>
          </a:stretch>
        </p:blipFill>
        <p:spPr>
          <a:xfrm>
            <a:off x="777240" y="2011680"/>
            <a:ext cx="3474720" cy="3474720"/>
          </a:xfrm>
          <a:prstGeom prst="rect">
            <a:avLst/>
          </a:prstGeom>
        </p:spPr>
      </p:pic>
      <p:sp>
        <p:nvSpPr>
          <p:cNvPr id="6" name="Text 3"/>
          <p:cNvSpPr txBox="1"/>
          <p:nvPr/>
        </p:nvSpPr>
        <p:spPr>
          <a:xfrm>
            <a:off x="548640" y="5669280"/>
            <a:ext cx="3931920" cy="411480"/>
          </a:xfrm>
          <a:prstGeom prst="rect">
            <a:avLst/>
          </a:prstGeom>
          <a:noFill/>
          <a:ln/>
        </p:spPr>
        <p:txBody>
          <a:bodyPr wrap="square" lIns="0" tIns="0" rIns="0" bIns="0" rtlCol="0" anchor="t"/>
          <a:lstStyle/>
          <a:p>
            <a:pPr algn="ctr" indent="0" marL="0">
              <a:buNone/>
            </a:pPr>
            <a:r>
              <a:rPr lang="en-US" sz="1800" b="1" i="1" dirty="0">
                <a:solidFill>
                  <a:srgbClr val="E8742A"/>
                </a:solidFill>
                <a:latin typeface="Calibri" pitchFamily="34" charset="0"/>
                <a:ea typeface="Calibri" pitchFamily="34" charset="-122"/>
                <a:cs typeface="Calibri" pitchFamily="34" charset="-120"/>
              </a:rPr>
              <a:t>theopneustos</a:t>
            </a:r>
            <a:pPr algn="ctr" indent="0" marL="0">
              <a:buNone/>
            </a:pPr>
            <a:r>
              <a:rPr lang="en-US" sz="1800" dirty="0">
                <a:solidFill>
                  <a:srgbClr val="F4EDE4"/>
                </a:solidFill>
                <a:latin typeface="Calibri" pitchFamily="34" charset="0"/>
                <a:ea typeface="Calibri" pitchFamily="34" charset="-122"/>
                <a:cs typeface="Calibri" pitchFamily="34" charset="-120"/>
              </a:rPr>
              <a:t> = « soufflée par Dieu »</a:t>
            </a:r>
            <a:endParaRPr lang="en-US" sz="1800" dirty="0"/>
          </a:p>
        </p:txBody>
      </p:sp>
      <p:sp>
        <p:nvSpPr>
          <p:cNvPr id="7" name="Shape 4"/>
          <p:cNvSpPr/>
          <p:nvPr/>
        </p:nvSpPr>
        <p:spPr>
          <a:xfrm>
            <a:off x="5120640" y="2194560"/>
            <a:ext cx="0" cy="2468880"/>
          </a:xfrm>
          <a:prstGeom prst="line">
            <a:avLst/>
          </a:prstGeom>
          <a:noFill/>
          <a:ln w="25400">
            <a:solidFill>
              <a:srgbClr val="CC5500"/>
            </a:solidFill>
            <a:prstDash val="solid"/>
          </a:ln>
        </p:spPr>
      </p:sp>
      <p:sp>
        <p:nvSpPr>
          <p:cNvPr id="8" name="Shape 5"/>
          <p:cNvSpPr/>
          <p:nvPr/>
        </p:nvSpPr>
        <p:spPr>
          <a:xfrm>
            <a:off x="4846320" y="1920240"/>
            <a:ext cx="548640" cy="548640"/>
          </a:xfrm>
          <a:prstGeom prst="ellipse">
            <a:avLst/>
          </a:prstGeom>
          <a:solidFill>
            <a:srgbClr val="CC5500"/>
          </a:solidFill>
          <a:ln w="12700">
            <a:solidFill>
              <a:srgbClr val="CC5500"/>
            </a:solidFill>
            <a:prstDash val="solid"/>
          </a:ln>
        </p:spPr>
      </p:sp>
      <p:sp>
        <p:nvSpPr>
          <p:cNvPr id="9" name="Text 6"/>
          <p:cNvSpPr txBox="1"/>
          <p:nvPr/>
        </p:nvSpPr>
        <p:spPr>
          <a:xfrm>
            <a:off x="4846320" y="19202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0" name="Text 7"/>
          <p:cNvSpPr txBox="1"/>
          <p:nvPr/>
        </p:nvSpPr>
        <p:spPr>
          <a:xfrm>
            <a:off x="5623560" y="188366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Enseigner</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donne la vérité qui fait vivre selon Dieu</a:t>
            </a:r>
            <a:endParaRPr lang="en-US" sz="1700" dirty="0"/>
          </a:p>
        </p:txBody>
      </p:sp>
      <p:sp>
        <p:nvSpPr>
          <p:cNvPr id="11" name="Shape 8"/>
          <p:cNvSpPr/>
          <p:nvPr/>
        </p:nvSpPr>
        <p:spPr>
          <a:xfrm>
            <a:off x="4846320" y="2743200"/>
            <a:ext cx="548640" cy="548640"/>
          </a:xfrm>
          <a:prstGeom prst="ellipse">
            <a:avLst/>
          </a:prstGeom>
          <a:solidFill>
            <a:srgbClr val="CC5500"/>
          </a:solidFill>
          <a:ln w="12700">
            <a:solidFill>
              <a:srgbClr val="CC5500"/>
            </a:solidFill>
            <a:prstDash val="solid"/>
          </a:ln>
        </p:spPr>
      </p:sp>
      <p:sp>
        <p:nvSpPr>
          <p:cNvPr id="12" name="Text 9"/>
          <p:cNvSpPr txBox="1"/>
          <p:nvPr/>
        </p:nvSpPr>
        <p:spPr>
          <a:xfrm>
            <a:off x="4846320" y="27432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0"/>
          <p:cNvSpPr txBox="1"/>
          <p:nvPr/>
        </p:nvSpPr>
        <p:spPr>
          <a:xfrm>
            <a:off x="5623560" y="270662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Convaincre</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met le péché et l'erreur en lumière</a:t>
            </a:r>
            <a:endParaRPr lang="en-US" sz="1700" dirty="0"/>
          </a:p>
        </p:txBody>
      </p:sp>
      <p:sp>
        <p:nvSpPr>
          <p:cNvPr id="14" name="Shape 11"/>
          <p:cNvSpPr/>
          <p:nvPr/>
        </p:nvSpPr>
        <p:spPr>
          <a:xfrm>
            <a:off x="4846320" y="3566160"/>
            <a:ext cx="548640" cy="548640"/>
          </a:xfrm>
          <a:prstGeom prst="ellipse">
            <a:avLst/>
          </a:prstGeom>
          <a:solidFill>
            <a:srgbClr val="CC5500"/>
          </a:solidFill>
          <a:ln w="12700">
            <a:solidFill>
              <a:srgbClr val="CC5500"/>
            </a:solidFill>
            <a:prstDash val="solid"/>
          </a:ln>
        </p:spPr>
      </p:sp>
      <p:sp>
        <p:nvSpPr>
          <p:cNvPr id="15" name="Text 12"/>
          <p:cNvSpPr txBox="1"/>
          <p:nvPr/>
        </p:nvSpPr>
        <p:spPr>
          <a:xfrm>
            <a:off x="4846320" y="3566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3"/>
          <p:cNvSpPr txBox="1"/>
          <p:nvPr/>
        </p:nvSpPr>
        <p:spPr>
          <a:xfrm>
            <a:off x="5623560" y="352958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Corriger</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relève et redresse</a:t>
            </a:r>
            <a:endParaRPr lang="en-US" sz="1700" dirty="0"/>
          </a:p>
        </p:txBody>
      </p:sp>
      <p:sp>
        <p:nvSpPr>
          <p:cNvPr id="17" name="Shape 14"/>
          <p:cNvSpPr/>
          <p:nvPr/>
        </p:nvSpPr>
        <p:spPr>
          <a:xfrm>
            <a:off x="4846320" y="4389120"/>
            <a:ext cx="548640" cy="548640"/>
          </a:xfrm>
          <a:prstGeom prst="ellipse">
            <a:avLst/>
          </a:prstGeom>
          <a:solidFill>
            <a:srgbClr val="CC5500"/>
          </a:solidFill>
          <a:ln w="12700">
            <a:solidFill>
              <a:srgbClr val="CC5500"/>
            </a:solidFill>
            <a:prstDash val="solid"/>
          </a:ln>
        </p:spPr>
      </p:sp>
      <p:sp>
        <p:nvSpPr>
          <p:cNvPr id="18" name="Text 15"/>
          <p:cNvSpPr txBox="1"/>
          <p:nvPr/>
        </p:nvSpPr>
        <p:spPr>
          <a:xfrm>
            <a:off x="4846320" y="43891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9" name="Text 16"/>
          <p:cNvSpPr txBox="1"/>
          <p:nvPr/>
        </p:nvSpPr>
        <p:spPr>
          <a:xfrm>
            <a:off x="5623560" y="4352544"/>
            <a:ext cx="5943600" cy="731520"/>
          </a:xfrm>
          <a:prstGeom prst="rect">
            <a:avLst/>
          </a:prstGeom>
          <a:noFill/>
          <a:ln/>
        </p:spPr>
        <p:txBody>
          <a:bodyPr wrap="square" lIns="0" tIns="0" rIns="0" bIns="0" rtlCol="0" anchor="t"/>
          <a:lstStyle/>
          <a:p>
            <a:pPr indent="0" marL="0">
              <a:buNone/>
            </a:pPr>
            <a:r>
              <a:rPr lang="en-US" sz="2100" b="1" dirty="0">
                <a:solidFill>
                  <a:srgbClr val="F4EDE4"/>
                </a:solidFill>
                <a:latin typeface="Calibri" pitchFamily="34" charset="0"/>
                <a:ea typeface="Calibri" pitchFamily="34" charset="-122"/>
                <a:cs typeface="Calibri" pitchFamily="34" charset="-120"/>
              </a:rPr>
              <a:t>Instruire dans la justice</a:t>
            </a:r>
            <a:endParaRPr lang="en-US" sz="1700" dirty="0"/>
          </a:p>
          <a:p>
            <a:pPr indent="0" marL="0">
              <a:buNone/>
            </a:pPr>
            <a:r>
              <a:rPr lang="en-US" sz="1700" dirty="0">
                <a:solidFill>
                  <a:srgbClr val="A89A8C"/>
                </a:solidFill>
                <a:latin typeface="Calibri" pitchFamily="34" charset="0"/>
                <a:ea typeface="Calibri" pitchFamily="34" charset="-122"/>
                <a:cs typeface="Calibri" pitchFamily="34" charset="-120"/>
              </a:rPr>
              <a:t>fait grandir jusqu'à la maturité</a:t>
            </a:r>
            <a:endParaRPr lang="en-US" sz="1700" dirty="0"/>
          </a:p>
        </p:txBody>
      </p:sp>
      <p:sp>
        <p:nvSpPr>
          <p:cNvPr id="20" name="Shape 17"/>
          <p:cNvSpPr/>
          <p:nvPr/>
        </p:nvSpPr>
        <p:spPr>
          <a:xfrm>
            <a:off x="4846320" y="5349240"/>
            <a:ext cx="6793992" cy="731520"/>
          </a:xfrm>
          <a:prstGeom prst="roundRect">
            <a:avLst>
              <a:gd name="adj" fmla="val 15000"/>
            </a:avLst>
          </a:prstGeom>
          <a:solidFill>
            <a:srgbClr val="1A1411"/>
          </a:solidFill>
          <a:ln w="19050">
            <a:solidFill>
              <a:srgbClr val="CC5500"/>
            </a:solidFill>
            <a:prstDash val="solid"/>
          </a:ln>
        </p:spPr>
      </p:sp>
      <p:sp>
        <p:nvSpPr>
          <p:cNvPr id="21" name="Text 18"/>
          <p:cNvSpPr txBox="1"/>
          <p:nvPr/>
        </p:nvSpPr>
        <p:spPr>
          <a:xfrm>
            <a:off x="5074920" y="5349240"/>
            <a:ext cx="6400800" cy="731520"/>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But : </a:t>
            </a:r>
            <a:pPr indent="0" marL="0">
              <a:buNone/>
            </a:pPr>
            <a:r>
              <a:rPr lang="en-US" sz="1700" dirty="0">
                <a:solidFill>
                  <a:srgbClr val="F4EDE4"/>
                </a:solidFill>
                <a:latin typeface="Calibri" pitchFamily="34" charset="0"/>
                <a:ea typeface="Calibri" pitchFamily="34" charset="-122"/>
                <a:cs typeface="Calibri" pitchFamily="34" charset="-120"/>
              </a:rPr>
              <a:t>que l'homme de Dieu soit propre, non à la plupart, mais à toutes les bonnes œuvres.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INTRODUCTION · GENÈSE 1.27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Qui porte l'image de Dieu?</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L'image représentait, et rendait présent, celui qu'elle figurait.</a:t>
            </a:r>
            <a:endParaRPr lang="en-US" sz="1900" dirty="0"/>
          </a:p>
        </p:txBody>
      </p:sp>
      <p:pic>
        <p:nvPicPr>
          <p:cNvPr id="5" name="Image 0" descr="Le pharaon, « image vivante » du dieu, puis une personne à l'image de Dieu">    </p:cNvPr>
          <p:cNvPicPr>
            <a:picLocks noChangeAspect="1"/>
          </p:cNvPicPr>
          <p:nvPr/>
        </p:nvPicPr>
        <p:blipFill>
          <a:blip r:embed="rId1"/>
          <a:stretch>
            <a:fillRect/>
          </a:stretch>
        </p:blipFill>
        <p:spPr>
          <a:xfrm>
            <a:off x="457200" y="1828800"/>
            <a:ext cx="6583680" cy="3291840"/>
          </a:xfrm>
          <a:prstGeom prst="rect">
            <a:avLst/>
          </a:prstGeom>
        </p:spPr>
      </p:pic>
      <p:sp>
        <p:nvSpPr>
          <p:cNvPr id="6" name="Text 3"/>
          <p:cNvSpPr txBox="1"/>
          <p:nvPr/>
        </p:nvSpPr>
        <p:spPr>
          <a:xfrm>
            <a:off x="365760" y="5120640"/>
            <a:ext cx="347472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Autour d'Israël : le roi seul</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le pharaon, « image vivante » du dieu</a:t>
            </a:r>
            <a:endParaRPr lang="en-US" sz="1600" dirty="0"/>
          </a:p>
        </p:txBody>
      </p:sp>
      <p:sp>
        <p:nvSpPr>
          <p:cNvPr id="7" name="Text 4"/>
          <p:cNvSpPr txBox="1"/>
          <p:nvPr/>
        </p:nvSpPr>
        <p:spPr>
          <a:xfrm>
            <a:off x="3657600" y="5120640"/>
            <a:ext cx="3474720" cy="685800"/>
          </a:xfrm>
          <a:prstGeom prst="rect">
            <a:avLst/>
          </a:prstGeom>
          <a:noFill/>
          <a:ln/>
        </p:spPr>
        <p:txBody>
          <a:bodyPr wrap="square" lIns="0" tIns="0" rIns="0" bIns="0" rtlCol="0" anchor="t"/>
          <a:lstStyle/>
          <a:p>
            <a:pPr algn="ctr" indent="0" marL="0">
              <a:buNone/>
            </a:pPr>
            <a:r>
              <a:rPr lang="en-US" sz="1600" b="1" dirty="0">
                <a:solidFill>
                  <a:srgbClr val="E8742A"/>
                </a:solidFill>
                <a:latin typeface="Calibri" pitchFamily="34" charset="0"/>
                <a:ea typeface="Calibri" pitchFamily="34" charset="-122"/>
                <a:cs typeface="Calibri" pitchFamily="34" charset="-120"/>
              </a:rPr>
              <a:t>Genèse 1.27 : tout être humain</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homme et femme, sans rang ni lignée</a:t>
            </a:r>
            <a:endParaRPr lang="en-US" sz="1600" dirty="0"/>
          </a:p>
        </p:txBody>
      </p:sp>
      <p:sp>
        <p:nvSpPr>
          <p:cNvPr id="8" name="Text 5"/>
          <p:cNvSpPr txBox="1"/>
          <p:nvPr/>
        </p:nvSpPr>
        <p:spPr>
          <a:xfrm>
            <a:off x="548640" y="5943600"/>
            <a:ext cx="6492240" cy="411480"/>
          </a:xfrm>
          <a:prstGeom prst="rect">
            <a:avLst/>
          </a:prstGeom>
          <a:noFill/>
          <a:ln/>
        </p:spPr>
        <p:txBody>
          <a:bodyPr wrap="square" lIns="0" tIns="0" rIns="0" bIns="0" rtlCol="0" anchor="t"/>
          <a:lstStyle/>
          <a:p>
            <a:pPr algn="ctr" indent="0" marL="0">
              <a:buNone/>
            </a:pPr>
            <a:r>
              <a:rPr lang="en-US" sz="2100" i="1" dirty="0">
                <a:solidFill>
                  <a:srgbClr val="F4EDE4"/>
                </a:solidFill>
                <a:latin typeface="Calibri" pitchFamily="34" charset="0"/>
                <a:ea typeface="Calibri" pitchFamily="34" charset="-122"/>
                <a:cs typeface="Calibri" pitchFamily="34" charset="-120"/>
              </a:rPr>
              <a:t>Vous aussi, vous portez une image. Laquelle?</a:t>
            </a:r>
            <a:endParaRPr lang="en-US" sz="2100" dirty="0"/>
          </a:p>
        </p:txBody>
      </p:sp>
      <p:sp>
        <p:nvSpPr>
          <p:cNvPr id="9" name="Shape 6"/>
          <p:cNvSpPr/>
          <p:nvPr/>
        </p:nvSpPr>
        <p:spPr>
          <a:xfrm>
            <a:off x="7452360" y="1828800"/>
            <a:ext cx="4187952" cy="4526280"/>
          </a:xfrm>
          <a:prstGeom prst="roundRect">
            <a:avLst>
              <a:gd name="adj" fmla="val 2620"/>
            </a:avLst>
          </a:prstGeom>
          <a:solidFill>
            <a:srgbClr val="1A1411"/>
          </a:solidFill>
          <a:ln w="9525">
            <a:solidFill>
              <a:srgbClr val="2E211A"/>
            </a:solidFill>
            <a:prstDash val="solid"/>
          </a:ln>
        </p:spPr>
      </p:sp>
      <p:sp>
        <p:nvSpPr>
          <p:cNvPr id="10" name="Text 7"/>
          <p:cNvSpPr txBox="1"/>
          <p:nvPr/>
        </p:nvSpPr>
        <p:spPr>
          <a:xfrm>
            <a:off x="7726680" y="2011680"/>
            <a:ext cx="3657600" cy="365760"/>
          </a:xfrm>
          <a:prstGeom prst="rect">
            <a:avLst/>
          </a:prstGeom>
          <a:noFill/>
          <a:ln/>
        </p:spPr>
        <p:txBody>
          <a:bodyPr wrap="square" lIns="0" tIns="0" rIns="0" bIns="0" rtlCol="0" anchor="t"/>
          <a:lstStyle/>
          <a:p>
            <a:pPr indent="0" marL="0">
              <a:buNone/>
            </a:pPr>
            <a:r>
              <a:rPr lang="en-US" sz="1700" b="1" i="1" dirty="0">
                <a:solidFill>
                  <a:srgbClr val="E8742A"/>
                </a:solidFill>
                <a:latin typeface="Calibri" pitchFamily="34" charset="0"/>
                <a:ea typeface="Calibri" pitchFamily="34" charset="-122"/>
                <a:cs typeface="Calibri" pitchFamily="34" charset="-120"/>
              </a:rPr>
              <a:t>tselem</a:t>
            </a:r>
            <a:pPr indent="0" marL="0">
              <a:buNone/>
            </a:pPr>
            <a:r>
              <a:rPr lang="en-US" sz="1700" dirty="0">
                <a:solidFill>
                  <a:srgbClr val="A89A8C"/>
                </a:solidFill>
                <a:latin typeface="Calibri" pitchFamily="34" charset="0"/>
                <a:ea typeface="Calibri" pitchFamily="34" charset="-122"/>
                <a:cs typeface="Calibri" pitchFamily="34" charset="-120"/>
              </a:rPr>
              <a:t> : image, effigie</a:t>
            </a:r>
            <a:endParaRPr lang="en-US" sz="1700" dirty="0"/>
          </a:p>
        </p:txBody>
      </p:sp>
      <p:sp>
        <p:nvSpPr>
          <p:cNvPr id="11" name="Text 8"/>
          <p:cNvSpPr txBox="1"/>
          <p:nvPr/>
        </p:nvSpPr>
        <p:spPr>
          <a:xfrm>
            <a:off x="7726680" y="2514600"/>
            <a:ext cx="3657600" cy="274320"/>
          </a:xfrm>
          <a:prstGeom prst="rect">
            <a:avLst/>
          </a:prstGeom>
          <a:noFill/>
          <a:ln/>
        </p:spPr>
        <p:txBody>
          <a:bodyPr wrap="square" lIns="0" tIns="0" rIns="0" bIns="0" rtlCol="0" anchor="t"/>
          <a:lstStyle/>
          <a:p>
            <a:pPr indent="0" marL="0">
              <a:buNone/>
            </a:pPr>
            <a:r>
              <a:rPr lang="en-US" sz="1200" b="1" spc="300" kern="0" dirty="0">
                <a:solidFill>
                  <a:srgbClr val="6E625A"/>
                </a:solidFill>
                <a:latin typeface="Calibri" pitchFamily="34" charset="0"/>
                <a:ea typeface="Calibri" pitchFamily="34" charset="-122"/>
                <a:cs typeface="Calibri" pitchFamily="34" charset="-120"/>
              </a:rPr>
              <a:t>UN SEUL PARCOURS</a:t>
            </a:r>
            <a:endParaRPr lang="en-US" sz="1200" dirty="0"/>
          </a:p>
        </p:txBody>
      </p:sp>
      <p:sp>
        <p:nvSpPr>
          <p:cNvPr id="12" name="Shape 9"/>
          <p:cNvSpPr/>
          <p:nvPr/>
        </p:nvSpPr>
        <p:spPr>
          <a:xfrm>
            <a:off x="7726680" y="2880360"/>
            <a:ext cx="420624" cy="420624"/>
          </a:xfrm>
          <a:prstGeom prst="ellipse">
            <a:avLst/>
          </a:prstGeom>
          <a:solidFill>
            <a:srgbClr val="2A1A10"/>
          </a:solidFill>
          <a:ln w="12700">
            <a:solidFill>
              <a:srgbClr val="CC5500"/>
            </a:solidFill>
            <a:prstDash val="solid"/>
          </a:ln>
        </p:spPr>
      </p:sp>
      <p:sp>
        <p:nvSpPr>
          <p:cNvPr id="13" name="Text 10"/>
          <p:cNvSpPr txBox="1"/>
          <p:nvPr/>
        </p:nvSpPr>
        <p:spPr>
          <a:xfrm>
            <a:off x="7726680" y="288036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a:t>
            </a:r>
            <a:endParaRPr lang="en-US" sz="1200" dirty="0"/>
          </a:p>
        </p:txBody>
      </p:sp>
      <p:sp>
        <p:nvSpPr>
          <p:cNvPr id="14" name="Text 11"/>
          <p:cNvSpPr txBox="1"/>
          <p:nvPr/>
        </p:nvSpPr>
        <p:spPr>
          <a:xfrm>
            <a:off x="8321040" y="288036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créée</a:t>
            </a:r>
            <a:endParaRPr lang="en-US" sz="1900" dirty="0"/>
          </a:p>
        </p:txBody>
      </p:sp>
      <p:sp>
        <p:nvSpPr>
          <p:cNvPr id="15" name="Shape 12"/>
          <p:cNvSpPr/>
          <p:nvPr/>
        </p:nvSpPr>
        <p:spPr>
          <a:xfrm>
            <a:off x="7726680" y="3429000"/>
            <a:ext cx="420624" cy="420624"/>
          </a:xfrm>
          <a:prstGeom prst="ellipse">
            <a:avLst/>
          </a:prstGeom>
          <a:solidFill>
            <a:srgbClr val="2A1A10"/>
          </a:solidFill>
          <a:ln w="12700">
            <a:solidFill>
              <a:srgbClr val="CC5500"/>
            </a:solidFill>
            <a:prstDash val="solid"/>
          </a:ln>
        </p:spPr>
      </p:sp>
      <p:sp>
        <p:nvSpPr>
          <p:cNvPr id="16" name="Text 13"/>
          <p:cNvSpPr txBox="1"/>
          <p:nvPr/>
        </p:nvSpPr>
        <p:spPr>
          <a:xfrm>
            <a:off x="7726680" y="342900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II</a:t>
            </a:r>
            <a:endParaRPr lang="en-US" sz="1200" dirty="0"/>
          </a:p>
        </p:txBody>
      </p:sp>
      <p:sp>
        <p:nvSpPr>
          <p:cNvPr id="17" name="Text 14"/>
          <p:cNvSpPr txBox="1"/>
          <p:nvPr/>
        </p:nvSpPr>
        <p:spPr>
          <a:xfrm>
            <a:off x="8321040" y="342900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parfaite</a:t>
            </a:r>
            <a:endParaRPr lang="en-US" sz="1900" dirty="0"/>
          </a:p>
        </p:txBody>
      </p:sp>
      <p:sp>
        <p:nvSpPr>
          <p:cNvPr id="18" name="Shape 15"/>
          <p:cNvSpPr/>
          <p:nvPr/>
        </p:nvSpPr>
        <p:spPr>
          <a:xfrm>
            <a:off x="7726680" y="3977640"/>
            <a:ext cx="420624" cy="420624"/>
          </a:xfrm>
          <a:prstGeom prst="ellipse">
            <a:avLst/>
          </a:prstGeom>
          <a:solidFill>
            <a:srgbClr val="2A1A10"/>
          </a:solidFill>
          <a:ln w="12700">
            <a:solidFill>
              <a:srgbClr val="CC5500"/>
            </a:solidFill>
            <a:prstDash val="solid"/>
          </a:ln>
        </p:spPr>
      </p:sp>
      <p:sp>
        <p:nvSpPr>
          <p:cNvPr id="19" name="Text 16"/>
          <p:cNvSpPr txBox="1"/>
          <p:nvPr/>
        </p:nvSpPr>
        <p:spPr>
          <a:xfrm>
            <a:off x="7726680" y="397764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III</a:t>
            </a:r>
            <a:endParaRPr lang="en-US" sz="1200" dirty="0"/>
          </a:p>
        </p:txBody>
      </p:sp>
      <p:sp>
        <p:nvSpPr>
          <p:cNvPr id="20" name="Text 17"/>
          <p:cNvSpPr txBox="1"/>
          <p:nvPr/>
        </p:nvSpPr>
        <p:spPr>
          <a:xfrm>
            <a:off x="8321040" y="397764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promise</a:t>
            </a:r>
            <a:endParaRPr lang="en-US" sz="1900" dirty="0"/>
          </a:p>
        </p:txBody>
      </p:sp>
      <p:sp>
        <p:nvSpPr>
          <p:cNvPr id="21" name="Shape 18"/>
          <p:cNvSpPr/>
          <p:nvPr/>
        </p:nvSpPr>
        <p:spPr>
          <a:xfrm>
            <a:off x="7726680" y="4526280"/>
            <a:ext cx="420624" cy="420624"/>
          </a:xfrm>
          <a:prstGeom prst="ellipse">
            <a:avLst/>
          </a:prstGeom>
          <a:solidFill>
            <a:srgbClr val="2A1A10"/>
          </a:solidFill>
          <a:ln w="12700">
            <a:solidFill>
              <a:srgbClr val="CC5500"/>
            </a:solidFill>
            <a:prstDash val="solid"/>
          </a:ln>
        </p:spPr>
      </p:sp>
      <p:sp>
        <p:nvSpPr>
          <p:cNvPr id="22" name="Text 19"/>
          <p:cNvSpPr txBox="1"/>
          <p:nvPr/>
        </p:nvSpPr>
        <p:spPr>
          <a:xfrm>
            <a:off x="7726680" y="452628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IV</a:t>
            </a:r>
            <a:endParaRPr lang="en-US" sz="1200" dirty="0"/>
          </a:p>
        </p:txBody>
      </p:sp>
      <p:sp>
        <p:nvSpPr>
          <p:cNvPr id="23" name="Text 20"/>
          <p:cNvSpPr txBox="1"/>
          <p:nvPr/>
        </p:nvSpPr>
        <p:spPr>
          <a:xfrm>
            <a:off x="8321040" y="452628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transformée</a:t>
            </a:r>
            <a:endParaRPr lang="en-US" sz="1900" dirty="0"/>
          </a:p>
        </p:txBody>
      </p:sp>
      <p:sp>
        <p:nvSpPr>
          <p:cNvPr id="24" name="Shape 21"/>
          <p:cNvSpPr/>
          <p:nvPr/>
        </p:nvSpPr>
        <p:spPr>
          <a:xfrm>
            <a:off x="7726680" y="5074920"/>
            <a:ext cx="420624" cy="420624"/>
          </a:xfrm>
          <a:prstGeom prst="ellipse">
            <a:avLst/>
          </a:prstGeom>
          <a:solidFill>
            <a:srgbClr val="2A1A10"/>
          </a:solidFill>
          <a:ln w="12700">
            <a:solidFill>
              <a:srgbClr val="CC5500"/>
            </a:solidFill>
            <a:prstDash val="solid"/>
          </a:ln>
        </p:spPr>
      </p:sp>
      <p:sp>
        <p:nvSpPr>
          <p:cNvPr id="25" name="Text 22"/>
          <p:cNvSpPr txBox="1"/>
          <p:nvPr/>
        </p:nvSpPr>
        <p:spPr>
          <a:xfrm>
            <a:off x="7726680" y="507492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V</a:t>
            </a:r>
            <a:endParaRPr lang="en-US" sz="1200" dirty="0"/>
          </a:p>
        </p:txBody>
      </p:sp>
      <p:sp>
        <p:nvSpPr>
          <p:cNvPr id="26" name="Text 23"/>
          <p:cNvSpPr txBox="1"/>
          <p:nvPr/>
        </p:nvSpPr>
        <p:spPr>
          <a:xfrm>
            <a:off x="8321040" y="507492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qui aime</a:t>
            </a:r>
            <a:endParaRPr lang="en-US" sz="1900" dirty="0"/>
          </a:p>
        </p:txBody>
      </p:sp>
      <p:sp>
        <p:nvSpPr>
          <p:cNvPr id="27" name="Shape 24"/>
          <p:cNvSpPr/>
          <p:nvPr/>
        </p:nvSpPr>
        <p:spPr>
          <a:xfrm>
            <a:off x="7726680" y="5623560"/>
            <a:ext cx="420624" cy="420624"/>
          </a:xfrm>
          <a:prstGeom prst="ellipse">
            <a:avLst/>
          </a:prstGeom>
          <a:solidFill>
            <a:srgbClr val="2A1A10"/>
          </a:solidFill>
          <a:ln w="12700">
            <a:solidFill>
              <a:srgbClr val="CC5500"/>
            </a:solidFill>
            <a:prstDash val="solid"/>
          </a:ln>
        </p:spPr>
      </p:sp>
      <p:sp>
        <p:nvSpPr>
          <p:cNvPr id="28" name="Text 25"/>
          <p:cNvSpPr txBox="1"/>
          <p:nvPr/>
        </p:nvSpPr>
        <p:spPr>
          <a:xfrm>
            <a:off x="7726680" y="5623560"/>
            <a:ext cx="420624" cy="420624"/>
          </a:xfrm>
          <a:prstGeom prst="rect">
            <a:avLst/>
          </a:prstGeom>
          <a:noFill/>
          <a:ln/>
        </p:spPr>
        <p:txBody>
          <a:bodyPr wrap="square" lIns="0" tIns="0" rIns="0" bIns="0" rtlCol="0" anchor="ctr"/>
          <a:lstStyle/>
          <a:p>
            <a:pPr algn="ctr" indent="0" marL="0">
              <a:buNone/>
            </a:pPr>
            <a:r>
              <a:rPr lang="en-US" sz="1200" b="1" dirty="0">
                <a:solidFill>
                  <a:srgbClr val="E8742A"/>
                </a:solidFill>
                <a:latin typeface="Calibri" pitchFamily="34" charset="0"/>
                <a:ea typeface="Calibri" pitchFamily="34" charset="-122"/>
                <a:cs typeface="Calibri" pitchFamily="34" charset="-120"/>
              </a:rPr>
              <a:t>VI</a:t>
            </a:r>
            <a:endParaRPr lang="en-US" sz="1200" dirty="0"/>
          </a:p>
        </p:txBody>
      </p:sp>
      <p:sp>
        <p:nvSpPr>
          <p:cNvPr id="29" name="Text 26"/>
          <p:cNvSpPr txBox="1"/>
          <p:nvPr/>
        </p:nvSpPr>
        <p:spPr>
          <a:xfrm>
            <a:off x="8321040" y="5623560"/>
            <a:ext cx="3108960" cy="420624"/>
          </a:xfrm>
          <a:prstGeom prst="rect">
            <a:avLst/>
          </a:prstGeom>
          <a:noFill/>
          <a:ln/>
        </p:spPr>
        <p:txBody>
          <a:bodyPr wrap="square" lIns="0" tIns="0" rIns="0" bIns="0" rtlCol="0" anchor="ctr"/>
          <a:lstStyle/>
          <a:p>
            <a:pPr indent="0" marL="0">
              <a:buNone/>
            </a:pPr>
            <a:r>
              <a:rPr lang="en-US" sz="1900" dirty="0">
                <a:solidFill>
                  <a:srgbClr val="F4EDE4"/>
                </a:solidFill>
                <a:latin typeface="Calibri" pitchFamily="34" charset="0"/>
                <a:ea typeface="Calibri" pitchFamily="34" charset="-122"/>
                <a:cs typeface="Calibri" pitchFamily="34" charset="-120"/>
              </a:rPr>
              <a:t>L'image envoyée</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 · GENÈSE 1.26-27</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créée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L'homme est fait à l'image d'un Dieu qui n'a jamais été seul.</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Père, Fils et Esprit en communion : un seul Dieu">    </p:cNvPr>
          <p:cNvPicPr>
            <a:picLocks noChangeAspect="1"/>
          </p:cNvPicPr>
          <p:nvPr/>
        </p:nvPicPr>
        <p:blipFill>
          <a:blip r:embed="rId1"/>
          <a:stretch>
            <a:fillRect/>
          </a:stretch>
        </p:blipFill>
        <p:spPr>
          <a:xfrm>
            <a:off x="457200" y="1874520"/>
            <a:ext cx="3931920" cy="3538728"/>
          </a:xfrm>
          <a:prstGeom prst="rect">
            <a:avLst/>
          </a:prstGeom>
        </p:spPr>
      </p:pic>
      <p:sp>
        <p:nvSpPr>
          <p:cNvPr id="12" name="Text 9"/>
          <p:cNvSpPr txBox="1"/>
          <p:nvPr/>
        </p:nvSpPr>
        <p:spPr>
          <a:xfrm>
            <a:off x="548640" y="5440680"/>
            <a:ext cx="3840480" cy="868680"/>
          </a:xfrm>
          <a:prstGeom prst="rect">
            <a:avLst/>
          </a:prstGeom>
          <a:noFill/>
          <a:ln/>
        </p:spPr>
        <p:txBody>
          <a:bodyPr wrap="square" lIns="0" tIns="0" rIns="0" bIns="0" rtlCol="0" anchor="t"/>
          <a:lstStyle/>
          <a:p>
            <a:pPr indent="0" marL="0">
              <a:buNone/>
            </a:pPr>
            <a:r>
              <a:rPr lang="en-US" sz="1600" b="1" dirty="0">
                <a:solidFill>
                  <a:srgbClr val="E8742A"/>
                </a:solidFill>
                <a:latin typeface="Calibri" pitchFamily="34" charset="0"/>
                <a:ea typeface="Calibri" pitchFamily="34" charset="-122"/>
                <a:cs typeface="Calibri" pitchFamily="34" charset="-120"/>
              </a:rPr>
              <a:t>« Faisons » (Périchorèse) : </a:t>
            </a:r>
            <a:pPr indent="0" marL="0">
              <a:buNone/>
            </a:pPr>
            <a:r>
              <a:rPr lang="en-US" sz="1600" dirty="0">
                <a:solidFill>
                  <a:srgbClr val="F4EDE4"/>
                </a:solidFill>
                <a:latin typeface="Calibri" pitchFamily="34" charset="0"/>
                <a:ea typeface="Calibri" pitchFamily="34" charset="-122"/>
                <a:cs typeface="Calibri" pitchFamily="34" charset="-120"/>
              </a:rPr>
              <a:t>pour la première fois, Dieu parle au pluriel. Un seul Dieu, trois personnes en communion.</a:t>
            </a:r>
            <a:endParaRPr lang="en-US" sz="1600" dirty="0"/>
          </a:p>
        </p:txBody>
      </p:sp>
      <p:sp>
        <p:nvSpPr>
          <p:cNvPr id="13" name="Text 10"/>
          <p:cNvSpPr txBox="1"/>
          <p:nvPr/>
        </p:nvSpPr>
        <p:spPr>
          <a:xfrm>
            <a:off x="4754880" y="1874520"/>
            <a:ext cx="6858000"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Ce qu'est l'image  </a:t>
            </a:r>
            <a:pPr indent="0" marL="0">
              <a:buNone/>
            </a:pPr>
            <a:r>
              <a:rPr lang="en-US" sz="1600" i="1" dirty="0">
                <a:solidFill>
                  <a:srgbClr val="E8742A"/>
                </a:solidFill>
                <a:latin typeface="Calibri" pitchFamily="34" charset="0"/>
                <a:ea typeface="Calibri" pitchFamily="34" charset="-122"/>
                <a:cs typeface="Calibri" pitchFamily="34" charset="-120"/>
              </a:rPr>
              <a:t>tselem = demuth : image = ressemblance</a:t>
            </a:r>
            <a:endParaRPr lang="en-US" sz="1900" dirty="0"/>
          </a:p>
        </p:txBody>
      </p:sp>
      <p:sp>
        <p:nvSpPr>
          <p:cNvPr id="14" name="Shape 11"/>
          <p:cNvSpPr/>
          <p:nvPr/>
        </p:nvSpPr>
        <p:spPr>
          <a:xfrm>
            <a:off x="4754880" y="2377440"/>
            <a:ext cx="2148840" cy="2148840"/>
          </a:xfrm>
          <a:prstGeom prst="roundRect">
            <a:avLst>
              <a:gd name="adj" fmla="val 5106"/>
            </a:avLst>
          </a:prstGeom>
          <a:solidFill>
            <a:srgbClr val="1A1411"/>
          </a:solidFill>
          <a:ln w="9525">
            <a:solidFill>
              <a:srgbClr val="2E211A"/>
            </a:solidFill>
            <a:prstDash val="solid"/>
          </a:ln>
        </p:spPr>
      </p:sp>
      <p:sp>
        <p:nvSpPr>
          <p:cNvPr id="15" name="Shape 12"/>
          <p:cNvSpPr/>
          <p:nvPr/>
        </p:nvSpPr>
        <p:spPr>
          <a:xfrm>
            <a:off x="4937760" y="2560320"/>
            <a:ext cx="640080" cy="640080"/>
          </a:xfrm>
          <a:prstGeom prst="ellipse">
            <a:avLst/>
          </a:prstGeom>
          <a:solidFill>
            <a:srgbClr val="2A1A10"/>
          </a:solidFill>
          <a:ln w="12700">
            <a:solidFill>
              <a:srgbClr val="CC5500"/>
            </a:solidFill>
            <a:prstDash val="solid"/>
          </a:ln>
        </p:spPr>
      </p:sp>
      <p:pic>
        <p:nvPicPr>
          <p:cNvPr id="16" name="Image 1" descr="cerveau">    </p:cNvPr>
          <p:cNvPicPr>
            <a:picLocks noChangeAspect="1"/>
          </p:cNvPicPr>
          <p:nvPr/>
        </p:nvPicPr>
        <p:blipFill>
          <a:blip r:embed="rId2"/>
          <a:stretch>
            <a:fillRect/>
          </a:stretch>
        </p:blipFill>
        <p:spPr>
          <a:xfrm>
            <a:off x="5065776" y="2688336"/>
            <a:ext cx="384048" cy="384048"/>
          </a:xfrm>
          <a:prstGeom prst="rect">
            <a:avLst/>
          </a:prstGeom>
        </p:spPr>
      </p:pic>
      <p:sp>
        <p:nvSpPr>
          <p:cNvPr id="17" name="Text 13"/>
          <p:cNvSpPr txBox="1"/>
          <p:nvPr/>
        </p:nvSpPr>
        <p:spPr>
          <a:xfrm>
            <a:off x="493776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Raison</a:t>
            </a:r>
            <a:endParaRPr lang="en-US" sz="2000" dirty="0"/>
          </a:p>
        </p:txBody>
      </p:sp>
      <p:sp>
        <p:nvSpPr>
          <p:cNvPr id="18" name="Text 14"/>
          <p:cNvSpPr txBox="1"/>
          <p:nvPr/>
        </p:nvSpPr>
        <p:spPr>
          <a:xfrm>
            <a:off x="493776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Il est comme Dieu : il pense, veut, ressent.</a:t>
            </a:r>
            <a:endParaRPr lang="en-US" sz="1500" dirty="0"/>
          </a:p>
        </p:txBody>
      </p:sp>
      <p:sp>
        <p:nvSpPr>
          <p:cNvPr id="19" name="Shape 15"/>
          <p:cNvSpPr/>
          <p:nvPr/>
        </p:nvSpPr>
        <p:spPr>
          <a:xfrm>
            <a:off x="7132320" y="2377440"/>
            <a:ext cx="2148840" cy="2148840"/>
          </a:xfrm>
          <a:prstGeom prst="roundRect">
            <a:avLst>
              <a:gd name="adj" fmla="val 5106"/>
            </a:avLst>
          </a:prstGeom>
          <a:solidFill>
            <a:srgbClr val="1A1411"/>
          </a:solidFill>
          <a:ln w="9525">
            <a:solidFill>
              <a:srgbClr val="2E211A"/>
            </a:solidFill>
            <a:prstDash val="solid"/>
          </a:ln>
        </p:spPr>
      </p:sp>
      <p:sp>
        <p:nvSpPr>
          <p:cNvPr id="20" name="Shape 16"/>
          <p:cNvSpPr/>
          <p:nvPr/>
        </p:nvSpPr>
        <p:spPr>
          <a:xfrm>
            <a:off x="7315200" y="2560320"/>
            <a:ext cx="640080" cy="640080"/>
          </a:xfrm>
          <a:prstGeom prst="ellipse">
            <a:avLst/>
          </a:prstGeom>
          <a:solidFill>
            <a:srgbClr val="2A1A10"/>
          </a:solidFill>
          <a:ln w="12700">
            <a:solidFill>
              <a:srgbClr val="CC5500"/>
            </a:solidFill>
            <a:prstDash val="solid"/>
          </a:ln>
        </p:spPr>
      </p:sp>
      <p:pic>
        <p:nvPicPr>
          <p:cNvPr id="21" name="Image 2" descr="balance">    </p:cNvPr>
          <p:cNvPicPr>
            <a:picLocks noChangeAspect="1"/>
          </p:cNvPicPr>
          <p:nvPr/>
        </p:nvPicPr>
        <p:blipFill>
          <a:blip r:embed="rId3"/>
          <a:stretch>
            <a:fillRect/>
          </a:stretch>
        </p:blipFill>
        <p:spPr>
          <a:xfrm>
            <a:off x="7443216" y="2688336"/>
            <a:ext cx="384048" cy="384048"/>
          </a:xfrm>
          <a:prstGeom prst="rect">
            <a:avLst/>
          </a:prstGeom>
        </p:spPr>
      </p:pic>
      <p:sp>
        <p:nvSpPr>
          <p:cNvPr id="22" name="Text 17"/>
          <p:cNvSpPr txBox="1"/>
          <p:nvPr/>
        </p:nvSpPr>
        <p:spPr>
          <a:xfrm>
            <a:off x="731520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Morale</a:t>
            </a:r>
            <a:endParaRPr lang="en-US" sz="2000" dirty="0"/>
          </a:p>
        </p:txBody>
      </p:sp>
      <p:sp>
        <p:nvSpPr>
          <p:cNvPr id="23" name="Text 18"/>
          <p:cNvSpPr txBox="1"/>
          <p:nvPr/>
        </p:nvSpPr>
        <p:spPr>
          <a:xfrm>
            <a:off x="731520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Il était comme Dieu : bon, sans péché.</a:t>
            </a:r>
            <a:endParaRPr lang="en-US" sz="1500" dirty="0"/>
          </a:p>
        </p:txBody>
      </p:sp>
      <p:sp>
        <p:nvSpPr>
          <p:cNvPr id="24" name="Shape 19"/>
          <p:cNvSpPr/>
          <p:nvPr/>
        </p:nvSpPr>
        <p:spPr>
          <a:xfrm>
            <a:off x="9509760" y="2377440"/>
            <a:ext cx="2148840" cy="2148840"/>
          </a:xfrm>
          <a:prstGeom prst="roundRect">
            <a:avLst>
              <a:gd name="adj" fmla="val 5106"/>
            </a:avLst>
          </a:prstGeom>
          <a:solidFill>
            <a:srgbClr val="1A1411"/>
          </a:solidFill>
          <a:ln w="19050">
            <a:solidFill>
              <a:srgbClr val="CC5500"/>
            </a:solidFill>
            <a:prstDash val="solid"/>
          </a:ln>
        </p:spPr>
      </p:sp>
      <p:sp>
        <p:nvSpPr>
          <p:cNvPr id="25" name="Shape 20"/>
          <p:cNvSpPr/>
          <p:nvPr/>
        </p:nvSpPr>
        <p:spPr>
          <a:xfrm>
            <a:off x="9692640" y="2560320"/>
            <a:ext cx="640080" cy="640080"/>
          </a:xfrm>
          <a:prstGeom prst="ellipse">
            <a:avLst/>
          </a:prstGeom>
          <a:solidFill>
            <a:srgbClr val="2A1A10"/>
          </a:solidFill>
          <a:ln w="12700">
            <a:solidFill>
              <a:srgbClr val="CC5500"/>
            </a:solidFill>
            <a:prstDash val="solid"/>
          </a:ln>
        </p:spPr>
      </p:sp>
      <p:pic>
        <p:nvPicPr>
          <p:cNvPr id="26" name="Image 3" descr="relation">    </p:cNvPr>
          <p:cNvPicPr>
            <a:picLocks noChangeAspect="1"/>
          </p:cNvPicPr>
          <p:nvPr/>
        </p:nvPicPr>
        <p:blipFill>
          <a:blip r:embed="rId4"/>
          <a:stretch>
            <a:fillRect/>
          </a:stretch>
        </p:blipFill>
        <p:spPr>
          <a:xfrm>
            <a:off x="9820656" y="2688336"/>
            <a:ext cx="384048" cy="384048"/>
          </a:xfrm>
          <a:prstGeom prst="rect">
            <a:avLst/>
          </a:prstGeom>
        </p:spPr>
      </p:pic>
      <p:sp>
        <p:nvSpPr>
          <p:cNvPr id="27" name="Text 21"/>
          <p:cNvSpPr txBox="1"/>
          <p:nvPr/>
        </p:nvSpPr>
        <p:spPr>
          <a:xfrm>
            <a:off x="9692640" y="3310128"/>
            <a:ext cx="1828800" cy="365760"/>
          </a:xfrm>
          <a:prstGeom prst="rect">
            <a:avLst/>
          </a:prstGeom>
          <a:noFill/>
          <a:ln/>
        </p:spPr>
        <p:txBody>
          <a:bodyPr wrap="square" lIns="0" tIns="0" rIns="0" bIns="0" rtlCol="0" anchor="t"/>
          <a:lstStyle/>
          <a:p>
            <a:pPr indent="0" marL="0">
              <a:buNone/>
            </a:pPr>
            <a:r>
              <a:rPr lang="en-US" sz="2000" b="1" dirty="0">
                <a:solidFill>
                  <a:srgbClr val="F4EDE4"/>
                </a:solidFill>
                <a:latin typeface="Calibri" pitchFamily="34" charset="0"/>
                <a:ea typeface="Calibri" pitchFamily="34" charset="-122"/>
                <a:cs typeface="Calibri" pitchFamily="34" charset="-120"/>
              </a:rPr>
              <a:t>Relation</a:t>
            </a:r>
            <a:endParaRPr lang="en-US" sz="2000" dirty="0"/>
          </a:p>
        </p:txBody>
      </p:sp>
      <p:sp>
        <p:nvSpPr>
          <p:cNvPr id="28" name="Text 22"/>
          <p:cNvSpPr txBox="1"/>
          <p:nvPr/>
        </p:nvSpPr>
        <p:spPr>
          <a:xfrm>
            <a:off x="9692640" y="3675888"/>
            <a:ext cx="1828800" cy="77724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Le cœur de l'image : connaître Dieu personnellement.</a:t>
            </a:r>
            <a:endParaRPr lang="en-US" sz="1500" dirty="0"/>
          </a:p>
        </p:txBody>
      </p:sp>
      <p:sp>
        <p:nvSpPr>
          <p:cNvPr id="29" name="Text 23"/>
          <p:cNvSpPr txBox="1"/>
          <p:nvPr/>
        </p:nvSpPr>
        <p:spPr>
          <a:xfrm>
            <a:off x="4754880" y="4663440"/>
            <a:ext cx="6858000"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Sa vocation</a:t>
            </a:r>
            <a:endParaRPr lang="en-US" sz="1900" dirty="0"/>
          </a:p>
        </p:txBody>
      </p:sp>
      <p:sp>
        <p:nvSpPr>
          <p:cNvPr id="30" name="Shape 24"/>
          <p:cNvSpPr/>
          <p:nvPr/>
        </p:nvSpPr>
        <p:spPr>
          <a:xfrm>
            <a:off x="4754880" y="5120640"/>
            <a:ext cx="548640" cy="548640"/>
          </a:xfrm>
          <a:prstGeom prst="ellipse">
            <a:avLst/>
          </a:prstGeom>
          <a:solidFill>
            <a:srgbClr val="2A1A10"/>
          </a:solidFill>
          <a:ln w="12700">
            <a:solidFill>
              <a:srgbClr val="CC5500"/>
            </a:solidFill>
            <a:prstDash val="solid"/>
          </a:ln>
        </p:spPr>
      </p:sp>
      <p:pic>
        <p:nvPicPr>
          <p:cNvPr id="31" name="Image 4" descr="couronne">    </p:cNvPr>
          <p:cNvPicPr>
            <a:picLocks noChangeAspect="1"/>
          </p:cNvPicPr>
          <p:nvPr/>
        </p:nvPicPr>
        <p:blipFill>
          <a:blip r:embed="rId5"/>
          <a:stretch>
            <a:fillRect/>
          </a:stretch>
        </p:blipFill>
        <p:spPr>
          <a:xfrm>
            <a:off x="4864608" y="5230368"/>
            <a:ext cx="329184" cy="329184"/>
          </a:xfrm>
          <a:prstGeom prst="rect">
            <a:avLst/>
          </a:prstGeom>
        </p:spPr>
      </p:pic>
      <p:sp>
        <p:nvSpPr>
          <p:cNvPr id="32" name="Text 25"/>
          <p:cNvSpPr txBox="1"/>
          <p:nvPr/>
        </p:nvSpPr>
        <p:spPr>
          <a:xfrm>
            <a:off x="544068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Représenter Dieu et gérer la terre</a:t>
            </a:r>
            <a:endParaRPr lang="en-US" sz="1500" dirty="0"/>
          </a:p>
        </p:txBody>
      </p:sp>
      <p:sp>
        <p:nvSpPr>
          <p:cNvPr id="33" name="Shape 26"/>
          <p:cNvSpPr/>
          <p:nvPr/>
        </p:nvSpPr>
        <p:spPr>
          <a:xfrm>
            <a:off x="7132320" y="5120640"/>
            <a:ext cx="548640" cy="548640"/>
          </a:xfrm>
          <a:prstGeom prst="ellipse">
            <a:avLst/>
          </a:prstGeom>
          <a:solidFill>
            <a:srgbClr val="2A1A10"/>
          </a:solidFill>
          <a:ln w="12700">
            <a:solidFill>
              <a:srgbClr val="CC5500"/>
            </a:solidFill>
            <a:prstDash val="solid"/>
          </a:ln>
        </p:spPr>
      </p:sp>
      <p:pic>
        <p:nvPicPr>
          <p:cNvPr id="34" name="Image 5" descr="couple">    </p:cNvPr>
          <p:cNvPicPr>
            <a:picLocks noChangeAspect="1"/>
          </p:cNvPicPr>
          <p:nvPr/>
        </p:nvPicPr>
        <p:blipFill>
          <a:blip r:embed="rId6"/>
          <a:stretch>
            <a:fillRect/>
          </a:stretch>
        </p:blipFill>
        <p:spPr>
          <a:xfrm>
            <a:off x="7242048" y="5230368"/>
            <a:ext cx="329184" cy="329184"/>
          </a:xfrm>
          <a:prstGeom prst="rect">
            <a:avLst/>
          </a:prstGeom>
        </p:spPr>
      </p:pic>
      <p:sp>
        <p:nvSpPr>
          <p:cNvPr id="35" name="Text 27"/>
          <p:cNvSpPr txBox="1"/>
          <p:nvPr/>
        </p:nvSpPr>
        <p:spPr>
          <a:xfrm>
            <a:off x="781812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Homme et femme : même dignité, rôles distincts</a:t>
            </a:r>
            <a:endParaRPr lang="en-US" sz="1500" dirty="0"/>
          </a:p>
        </p:txBody>
      </p:sp>
      <p:sp>
        <p:nvSpPr>
          <p:cNvPr id="36" name="Shape 28"/>
          <p:cNvSpPr/>
          <p:nvPr/>
        </p:nvSpPr>
        <p:spPr>
          <a:xfrm>
            <a:off x="9509760" y="5120640"/>
            <a:ext cx="548640" cy="548640"/>
          </a:xfrm>
          <a:prstGeom prst="ellipse">
            <a:avLst/>
          </a:prstGeom>
          <a:solidFill>
            <a:srgbClr val="2A1A10"/>
          </a:solidFill>
          <a:ln w="12700">
            <a:solidFill>
              <a:srgbClr val="CC5500"/>
            </a:solidFill>
            <a:prstDash val="solid"/>
          </a:ln>
        </p:spPr>
      </p:sp>
      <p:pic>
        <p:nvPicPr>
          <p:cNvPr id="37" name="Image 6" descr="enfant">    </p:cNvPr>
          <p:cNvPicPr>
            <a:picLocks noChangeAspect="1"/>
          </p:cNvPicPr>
          <p:nvPr/>
        </p:nvPicPr>
        <p:blipFill>
          <a:blip r:embed="rId7"/>
          <a:stretch>
            <a:fillRect/>
          </a:stretch>
        </p:blipFill>
        <p:spPr>
          <a:xfrm>
            <a:off x="9619488" y="5230368"/>
            <a:ext cx="329184" cy="329184"/>
          </a:xfrm>
          <a:prstGeom prst="rect">
            <a:avLst/>
          </a:prstGeom>
        </p:spPr>
      </p:pic>
      <p:sp>
        <p:nvSpPr>
          <p:cNvPr id="38" name="Text 29"/>
          <p:cNvSpPr txBox="1"/>
          <p:nvPr/>
        </p:nvSpPr>
        <p:spPr>
          <a:xfrm>
            <a:off x="10195560" y="5074920"/>
            <a:ext cx="1600200" cy="868680"/>
          </a:xfrm>
          <a:prstGeom prst="rect">
            <a:avLst/>
          </a:prstGeom>
          <a:noFill/>
          <a:ln/>
        </p:spPr>
        <p:txBody>
          <a:bodyPr wrap="square" lIns="0" tIns="0" rIns="0" bIns="0" rtlCol="0" anchor="t"/>
          <a:lstStyle/>
          <a:p>
            <a:pPr indent="0" marL="0">
              <a:buNone/>
            </a:pPr>
            <a:r>
              <a:rPr lang="en-US" sz="1500" dirty="0">
                <a:solidFill>
                  <a:srgbClr val="F4EDE4"/>
                </a:solidFill>
                <a:latin typeface="Calibri" pitchFamily="34" charset="0"/>
                <a:ea typeface="Calibri" pitchFamily="34" charset="-122"/>
                <a:cs typeface="Calibri" pitchFamily="34" charset="-120"/>
              </a:rPr>
              <a:t>Toute vie humaine porte l'image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II · COLOSSIENS 1.15</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parfaite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Christ est ce que l'homme n'est plus.</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Une pièce à l'effigie humaine, fêlée et ternie">    </p:cNvPr>
          <p:cNvPicPr>
            <a:picLocks noChangeAspect="1"/>
          </p:cNvPicPr>
          <p:nvPr/>
        </p:nvPicPr>
        <p:blipFill>
          <a:blip r:embed="rId1"/>
          <a:stretch>
            <a:fillRect/>
          </a:stretch>
        </p:blipFill>
        <p:spPr>
          <a:xfrm>
            <a:off x="1783080" y="1874520"/>
            <a:ext cx="2377440" cy="2377440"/>
          </a:xfrm>
          <a:prstGeom prst="rect">
            <a:avLst/>
          </a:prstGeom>
        </p:spPr>
      </p:pic>
      <p:pic>
        <p:nvPicPr>
          <p:cNvPr id="12" name="Image 1" descr="Une couronne rayonnante : Christ, l'image parfaite">    </p:cNvPr>
          <p:cNvPicPr>
            <a:picLocks noChangeAspect="1"/>
          </p:cNvPicPr>
          <p:nvPr/>
        </p:nvPicPr>
        <p:blipFill>
          <a:blip r:embed="rId2"/>
          <a:stretch>
            <a:fillRect/>
          </a:stretch>
        </p:blipFill>
        <p:spPr>
          <a:xfrm>
            <a:off x="8001000" y="1874520"/>
            <a:ext cx="2377440" cy="2377440"/>
          </a:xfrm>
          <a:prstGeom prst="rect">
            <a:avLst/>
          </a:prstGeom>
        </p:spPr>
      </p:pic>
      <p:sp>
        <p:nvSpPr>
          <p:cNvPr id="13" name="Shape 9"/>
          <p:cNvSpPr/>
          <p:nvPr/>
        </p:nvSpPr>
        <p:spPr>
          <a:xfrm>
            <a:off x="4754880" y="3063240"/>
            <a:ext cx="2697480" cy="0"/>
          </a:xfrm>
          <a:prstGeom prst="line">
            <a:avLst/>
          </a:prstGeom>
          <a:noFill/>
          <a:ln w="38100">
            <a:solidFill>
              <a:srgbClr val="E8742A"/>
            </a:solidFill>
            <a:prstDash val="solid"/>
            <a:tailEnd type="triangle"/>
          </a:ln>
        </p:spPr>
      </p:sp>
      <p:sp>
        <p:nvSpPr>
          <p:cNvPr id="14" name="Text 10"/>
          <p:cNvSpPr txBox="1"/>
          <p:nvPr/>
        </p:nvSpPr>
        <p:spPr>
          <a:xfrm>
            <a:off x="4480560" y="2560320"/>
            <a:ext cx="3246120" cy="365760"/>
          </a:xfrm>
          <a:prstGeom prst="rect">
            <a:avLst/>
          </a:prstGeom>
          <a:noFill/>
          <a:ln/>
        </p:spPr>
        <p:txBody>
          <a:bodyPr wrap="square" lIns="0" tIns="0" rIns="0" bIns="0" rtlCol="0" anchor="t"/>
          <a:lstStyle/>
          <a:p>
            <a:pPr algn="ctr" indent="0" marL="0">
              <a:buNone/>
            </a:pPr>
            <a:r>
              <a:rPr lang="en-US" sz="1500" i="1" dirty="0">
                <a:solidFill>
                  <a:srgbClr val="A89A8C"/>
                </a:solidFill>
                <a:latin typeface="Calibri" pitchFamily="34" charset="0"/>
                <a:ea typeface="Calibri" pitchFamily="34" charset="-122"/>
                <a:cs typeface="Calibri" pitchFamily="34" charset="-120"/>
              </a:rPr>
              <a:t>Où voir l'image voulue par Dieu?</a:t>
            </a:r>
            <a:endParaRPr lang="en-US" sz="1500" dirty="0"/>
          </a:p>
        </p:txBody>
      </p:sp>
      <p:sp>
        <p:nvSpPr>
          <p:cNvPr id="15" name="Text 11"/>
          <p:cNvSpPr txBox="1"/>
          <p:nvPr/>
        </p:nvSpPr>
        <p:spPr>
          <a:xfrm>
            <a:off x="548640" y="4389120"/>
            <a:ext cx="4846320" cy="1188720"/>
          </a:xfrm>
          <a:prstGeom prst="rect">
            <a:avLst/>
          </a:prstGeom>
          <a:noFill/>
          <a:ln/>
        </p:spPr>
        <p:txBody>
          <a:bodyPr wrap="square" lIns="0" tIns="0" rIns="0" bIns="0" rtlCol="0" anchor="t"/>
          <a:lstStyle/>
          <a:p>
            <a:pPr algn="ctr" indent="0" marL="0">
              <a:spcAft>
                <a:spcPts val="300"/>
              </a:spcAft>
              <a:buNone/>
            </a:pPr>
            <a:r>
              <a:rPr lang="en-US" sz="2100" b="1" dirty="0">
                <a:solidFill>
                  <a:srgbClr val="F4EDE4"/>
                </a:solidFill>
                <a:latin typeface="Calibri" pitchFamily="34" charset="0"/>
                <a:ea typeface="Calibri" pitchFamily="34" charset="-122"/>
                <a:cs typeface="Calibri" pitchFamily="34" charset="-120"/>
              </a:rPr>
              <a:t>L'homme : l'image ternie</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Adam engendre « à sa ressemblance » (Gn 5.3).</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Image gardée (Gn 9.6), ressemblance morale perdue.</a:t>
            </a:r>
            <a:endParaRPr lang="en-US" sz="1600" dirty="0"/>
          </a:p>
        </p:txBody>
      </p:sp>
      <p:sp>
        <p:nvSpPr>
          <p:cNvPr id="16" name="Text 12"/>
          <p:cNvSpPr txBox="1"/>
          <p:nvPr/>
        </p:nvSpPr>
        <p:spPr>
          <a:xfrm>
            <a:off x="6766560" y="4389120"/>
            <a:ext cx="4846320" cy="1188720"/>
          </a:xfrm>
          <a:prstGeom prst="rect">
            <a:avLst/>
          </a:prstGeom>
          <a:noFill/>
          <a:ln/>
        </p:spPr>
        <p:txBody>
          <a:bodyPr wrap="square" lIns="0" tIns="0" rIns="0" bIns="0" rtlCol="0" anchor="t"/>
          <a:lstStyle/>
          <a:p>
            <a:pPr algn="ctr" indent="0" marL="0">
              <a:spcAft>
                <a:spcPts val="300"/>
              </a:spcAft>
              <a:buNone/>
            </a:pPr>
            <a:r>
              <a:rPr lang="en-US" sz="2100" b="1" dirty="0">
                <a:solidFill>
                  <a:srgbClr val="E8742A"/>
                </a:solidFill>
                <a:latin typeface="Calibri" pitchFamily="34" charset="0"/>
                <a:ea typeface="Calibri" pitchFamily="34" charset="-122"/>
                <a:cs typeface="Calibri" pitchFamily="34" charset="-120"/>
              </a:rPr>
              <a:t>Christ : l'Image parfaite</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Reproduction exacte du Dieu invisible (Hé 1.3).</a:t>
            </a:r>
            <a:endParaRPr lang="en-US" sz="1600" dirty="0"/>
          </a:p>
          <a:p>
            <a:pPr algn="ctr" indent="0" marL="0">
              <a:spcAft>
                <a:spcPts val="300"/>
              </a:spcAft>
              <a:buNone/>
            </a:pPr>
            <a:r>
              <a:rPr lang="en-US" sz="1600" dirty="0">
                <a:solidFill>
                  <a:srgbClr val="A89A8C"/>
                </a:solidFill>
                <a:latin typeface="Calibri" pitchFamily="34" charset="0"/>
                <a:ea typeface="Calibri" pitchFamily="34" charset="-122"/>
                <a:cs typeface="Calibri" pitchFamily="34" charset="-120"/>
              </a:rPr>
              <a:t>Premier-né = l'héritier, non une créature (1.16-18).</a:t>
            </a:r>
            <a:endParaRPr lang="en-US" sz="1600" dirty="0"/>
          </a:p>
        </p:txBody>
      </p:sp>
      <p:sp>
        <p:nvSpPr>
          <p:cNvPr id="17" name="Shape 13"/>
          <p:cNvSpPr/>
          <p:nvPr/>
        </p:nvSpPr>
        <p:spPr>
          <a:xfrm>
            <a:off x="1005840" y="5715000"/>
            <a:ext cx="2926080" cy="548640"/>
          </a:xfrm>
          <a:prstGeom prst="roundRect">
            <a:avLst>
              <a:gd name="adj" fmla="val 50000"/>
            </a:avLst>
          </a:prstGeom>
          <a:solidFill>
            <a:srgbClr val="2A1A10"/>
          </a:solidFill>
          <a:ln w="12700">
            <a:solidFill>
              <a:srgbClr val="CC5500"/>
            </a:solidFill>
            <a:prstDash val="solid"/>
          </a:ln>
        </p:spPr>
      </p:sp>
      <p:sp>
        <p:nvSpPr>
          <p:cNvPr id="18" name="Text 14"/>
          <p:cNvSpPr txBox="1"/>
          <p:nvPr/>
        </p:nvSpPr>
        <p:spPr>
          <a:xfrm>
            <a:off x="100584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tselem</a:t>
            </a:r>
            <a:pPr algn="ctr" indent="0" marL="0">
              <a:buNone/>
            </a:pPr>
            <a:r>
              <a:rPr lang="en-US" sz="1400" dirty="0">
                <a:solidFill>
                  <a:srgbClr val="A89A8C"/>
                </a:solidFill>
                <a:latin typeface="Calibri" pitchFamily="34" charset="0"/>
                <a:ea typeface="Calibri" pitchFamily="34" charset="-122"/>
                <a:cs typeface="Calibri" pitchFamily="34" charset="-120"/>
              </a:rPr>
              <a:t>  hébreu, Genèse 1.27</a:t>
            </a:r>
            <a:endParaRPr lang="en-US" sz="1800" dirty="0"/>
          </a:p>
        </p:txBody>
      </p:sp>
      <p:sp>
        <p:nvSpPr>
          <p:cNvPr id="19" name="Shape 15"/>
          <p:cNvSpPr/>
          <p:nvPr/>
        </p:nvSpPr>
        <p:spPr>
          <a:xfrm>
            <a:off x="4005072" y="5989320"/>
            <a:ext cx="548640" cy="0"/>
          </a:xfrm>
          <a:prstGeom prst="line">
            <a:avLst/>
          </a:prstGeom>
          <a:noFill/>
          <a:ln w="25400">
            <a:solidFill>
              <a:srgbClr val="CC5500"/>
            </a:solidFill>
            <a:prstDash val="solid"/>
            <a:tailEnd type="triangle"/>
          </a:ln>
        </p:spPr>
      </p:sp>
      <p:sp>
        <p:nvSpPr>
          <p:cNvPr id="20" name="Shape 16"/>
          <p:cNvSpPr/>
          <p:nvPr/>
        </p:nvSpPr>
        <p:spPr>
          <a:xfrm>
            <a:off x="4617720" y="5715000"/>
            <a:ext cx="2926080" cy="548640"/>
          </a:xfrm>
          <a:prstGeom prst="roundRect">
            <a:avLst>
              <a:gd name="adj" fmla="val 50000"/>
            </a:avLst>
          </a:prstGeom>
          <a:solidFill>
            <a:srgbClr val="2A1A10"/>
          </a:solidFill>
          <a:ln w="12700">
            <a:solidFill>
              <a:srgbClr val="CC5500"/>
            </a:solidFill>
            <a:prstDash val="solid"/>
          </a:ln>
        </p:spPr>
      </p:sp>
      <p:sp>
        <p:nvSpPr>
          <p:cNvPr id="21" name="Text 17"/>
          <p:cNvSpPr txBox="1"/>
          <p:nvPr/>
        </p:nvSpPr>
        <p:spPr>
          <a:xfrm>
            <a:off x="461772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eikôn</a:t>
            </a:r>
            <a:pPr algn="ctr" indent="0" marL="0">
              <a:buNone/>
            </a:pPr>
            <a:r>
              <a:rPr lang="en-US" sz="1400" dirty="0">
                <a:solidFill>
                  <a:srgbClr val="A89A8C"/>
                </a:solidFill>
                <a:latin typeface="Calibri" pitchFamily="34" charset="0"/>
                <a:ea typeface="Calibri" pitchFamily="34" charset="-122"/>
                <a:cs typeface="Calibri" pitchFamily="34" charset="-120"/>
              </a:rPr>
              <a:t>  grec, la Septante</a:t>
            </a:r>
            <a:endParaRPr lang="en-US" sz="1800" dirty="0"/>
          </a:p>
        </p:txBody>
      </p:sp>
      <p:sp>
        <p:nvSpPr>
          <p:cNvPr id="22" name="Shape 18"/>
          <p:cNvSpPr/>
          <p:nvPr/>
        </p:nvSpPr>
        <p:spPr>
          <a:xfrm>
            <a:off x="7616952" y="5989320"/>
            <a:ext cx="548640" cy="0"/>
          </a:xfrm>
          <a:prstGeom prst="line">
            <a:avLst/>
          </a:prstGeom>
          <a:noFill/>
          <a:ln w="25400">
            <a:solidFill>
              <a:srgbClr val="CC5500"/>
            </a:solidFill>
            <a:prstDash val="solid"/>
            <a:tailEnd type="triangle"/>
          </a:ln>
        </p:spPr>
      </p:sp>
      <p:sp>
        <p:nvSpPr>
          <p:cNvPr id="23" name="Shape 19"/>
          <p:cNvSpPr/>
          <p:nvPr/>
        </p:nvSpPr>
        <p:spPr>
          <a:xfrm>
            <a:off x="8229600" y="5715000"/>
            <a:ext cx="2926080" cy="548640"/>
          </a:xfrm>
          <a:prstGeom prst="roundRect">
            <a:avLst>
              <a:gd name="adj" fmla="val 50000"/>
            </a:avLst>
          </a:prstGeom>
          <a:solidFill>
            <a:srgbClr val="2A1A10"/>
          </a:solidFill>
          <a:ln w="25400">
            <a:solidFill>
              <a:srgbClr val="E8742A"/>
            </a:solidFill>
            <a:prstDash val="solid"/>
          </a:ln>
        </p:spPr>
      </p:sp>
      <p:sp>
        <p:nvSpPr>
          <p:cNvPr id="24" name="Text 20"/>
          <p:cNvSpPr txBox="1"/>
          <p:nvPr/>
        </p:nvSpPr>
        <p:spPr>
          <a:xfrm>
            <a:off x="8229600" y="5715000"/>
            <a:ext cx="2926080" cy="548640"/>
          </a:xfrm>
          <a:prstGeom prst="rect">
            <a:avLst/>
          </a:prstGeom>
          <a:noFill/>
          <a:ln/>
        </p:spPr>
        <p:txBody>
          <a:bodyPr wrap="square" lIns="0" tIns="0" rIns="0" bIns="0" rtlCol="0" anchor="ctr"/>
          <a:lstStyle/>
          <a:p>
            <a:pPr algn="ctr" indent="0" marL="0">
              <a:buNone/>
            </a:pPr>
            <a:r>
              <a:rPr lang="en-US" sz="1800" b="1" i="1" dirty="0">
                <a:solidFill>
                  <a:srgbClr val="E8742A"/>
                </a:solidFill>
                <a:latin typeface="Calibri" pitchFamily="34" charset="0"/>
                <a:ea typeface="Calibri" pitchFamily="34" charset="-122"/>
                <a:cs typeface="Calibri" pitchFamily="34" charset="-120"/>
              </a:rPr>
              <a:t>eikôn</a:t>
            </a:r>
            <a:pPr algn="ctr" indent="0" marL="0">
              <a:buNone/>
            </a:pPr>
            <a:r>
              <a:rPr lang="en-US" sz="1400" dirty="0">
                <a:solidFill>
                  <a:srgbClr val="A89A8C"/>
                </a:solidFill>
                <a:latin typeface="Calibri" pitchFamily="34" charset="0"/>
                <a:ea typeface="Calibri" pitchFamily="34" charset="-122"/>
                <a:cs typeface="Calibri" pitchFamily="34" charset="-120"/>
              </a:rPr>
              <a:t>  Christ, Colossiens 1.15</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III · ROMAINS 8.29</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promise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Dieu a décidé d'avance la fin de votre salut, et cette fin, c'est Christ en vous.</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sp>
        <p:nvSpPr>
          <p:cNvPr id="11" name="Shape 9"/>
          <p:cNvSpPr/>
          <p:nvPr/>
        </p:nvSpPr>
        <p:spPr>
          <a:xfrm>
            <a:off x="72237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2" name="Text 10"/>
          <p:cNvSpPr txBox="1"/>
          <p:nvPr/>
        </p:nvSpPr>
        <p:spPr>
          <a:xfrm>
            <a:off x="90525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Connus d'avance</a:t>
            </a:r>
            <a:endParaRPr lang="en-US" sz="1800" dirty="0"/>
          </a:p>
        </p:txBody>
      </p:sp>
      <p:sp>
        <p:nvSpPr>
          <p:cNvPr id="13" name="Shape 11"/>
          <p:cNvSpPr/>
          <p:nvPr/>
        </p:nvSpPr>
        <p:spPr>
          <a:xfrm>
            <a:off x="2825496" y="1965960"/>
            <a:ext cx="2331720" cy="868680"/>
          </a:xfrm>
          <a:prstGeom prst="roundRect">
            <a:avLst>
              <a:gd name="adj" fmla="val 49474"/>
            </a:avLst>
          </a:prstGeom>
          <a:solidFill>
            <a:srgbClr val="CC5500"/>
          </a:solidFill>
          <a:ln w="50800">
            <a:solidFill>
              <a:srgbClr val="CC5500"/>
            </a:solidFill>
            <a:prstDash val="solid"/>
          </a:ln>
        </p:spPr>
      </p:sp>
      <p:sp>
        <p:nvSpPr>
          <p:cNvPr id="14" name="Text 12"/>
          <p:cNvSpPr txBox="1"/>
          <p:nvPr/>
        </p:nvSpPr>
        <p:spPr>
          <a:xfrm>
            <a:off x="3008376" y="1965960"/>
            <a:ext cx="1965960" cy="8686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Prédestinés</a:t>
            </a:r>
            <a:endParaRPr lang="en-US" sz="1800" dirty="0"/>
          </a:p>
        </p:txBody>
      </p:sp>
      <p:sp>
        <p:nvSpPr>
          <p:cNvPr id="15" name="Shape 13"/>
          <p:cNvSpPr/>
          <p:nvPr/>
        </p:nvSpPr>
        <p:spPr>
          <a:xfrm>
            <a:off x="492861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6" name="Text 14"/>
          <p:cNvSpPr txBox="1"/>
          <p:nvPr/>
        </p:nvSpPr>
        <p:spPr>
          <a:xfrm>
            <a:off x="511149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Appelés</a:t>
            </a:r>
            <a:endParaRPr lang="en-US" sz="1800" dirty="0"/>
          </a:p>
        </p:txBody>
      </p:sp>
      <p:sp>
        <p:nvSpPr>
          <p:cNvPr id="17" name="Shape 15"/>
          <p:cNvSpPr/>
          <p:nvPr/>
        </p:nvSpPr>
        <p:spPr>
          <a:xfrm>
            <a:off x="703173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18" name="Text 16"/>
          <p:cNvSpPr txBox="1"/>
          <p:nvPr/>
        </p:nvSpPr>
        <p:spPr>
          <a:xfrm>
            <a:off x="721461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Justifiés</a:t>
            </a:r>
            <a:endParaRPr lang="en-US" sz="1800" dirty="0"/>
          </a:p>
        </p:txBody>
      </p:sp>
      <p:sp>
        <p:nvSpPr>
          <p:cNvPr id="19" name="Shape 17"/>
          <p:cNvSpPr/>
          <p:nvPr/>
        </p:nvSpPr>
        <p:spPr>
          <a:xfrm>
            <a:off x="9134856" y="1965960"/>
            <a:ext cx="2331720" cy="868680"/>
          </a:xfrm>
          <a:prstGeom prst="roundRect">
            <a:avLst>
              <a:gd name="adj" fmla="val 49474"/>
            </a:avLst>
          </a:prstGeom>
          <a:solidFill>
            <a:srgbClr val="0D0B0A">
              <a:alpha val="0"/>
            </a:srgbClr>
          </a:solidFill>
          <a:ln w="50800">
            <a:solidFill>
              <a:srgbClr val="E8742A"/>
            </a:solidFill>
            <a:prstDash val="solid"/>
          </a:ln>
        </p:spPr>
      </p:sp>
      <p:sp>
        <p:nvSpPr>
          <p:cNvPr id="20" name="Text 18"/>
          <p:cNvSpPr txBox="1"/>
          <p:nvPr/>
        </p:nvSpPr>
        <p:spPr>
          <a:xfrm>
            <a:off x="9317736" y="1965960"/>
            <a:ext cx="1965960" cy="868680"/>
          </a:xfrm>
          <a:prstGeom prst="rect">
            <a:avLst/>
          </a:prstGeom>
          <a:noFill/>
          <a:ln/>
        </p:spPr>
        <p:txBody>
          <a:bodyPr wrap="square" lIns="0" tIns="0" rIns="0" bIns="0" rtlCol="0" anchor="ctr"/>
          <a:lstStyle/>
          <a:p>
            <a:pPr algn="ctr" indent="0" marL="0">
              <a:buNone/>
            </a:pPr>
            <a:r>
              <a:rPr lang="en-US" sz="1800" b="1" dirty="0">
                <a:solidFill>
                  <a:srgbClr val="F4EDE4"/>
                </a:solidFill>
                <a:latin typeface="Calibri" pitchFamily="34" charset="0"/>
                <a:ea typeface="Calibri" pitchFamily="34" charset="-122"/>
                <a:cs typeface="Calibri" pitchFamily="34" charset="-120"/>
              </a:rPr>
              <a:t>Glorifiés</a:t>
            </a:r>
            <a:endParaRPr lang="en-US" sz="1800" dirty="0"/>
          </a:p>
        </p:txBody>
      </p:sp>
      <p:sp>
        <p:nvSpPr>
          <p:cNvPr id="21" name="Text 19"/>
          <p:cNvSpPr txBox="1"/>
          <p:nvPr/>
        </p:nvSpPr>
        <p:spPr>
          <a:xfrm>
            <a:off x="548640" y="2971800"/>
            <a:ext cx="11064240" cy="365760"/>
          </a:xfrm>
          <a:prstGeom prst="rect">
            <a:avLst/>
          </a:prstGeom>
          <a:noFill/>
          <a:ln/>
        </p:spPr>
        <p:txBody>
          <a:bodyPr wrap="square" lIns="0" tIns="0" rIns="0" bIns="0" rtlCol="0" anchor="t"/>
          <a:lstStyle/>
          <a:p>
            <a:pPr algn="ctr" indent="0" marL="0">
              <a:buNone/>
            </a:pPr>
            <a:r>
              <a:rPr lang="en-US" sz="1600" i="1" dirty="0">
                <a:solidFill>
                  <a:srgbClr val="A89A8C"/>
                </a:solidFill>
                <a:latin typeface="Calibri" pitchFamily="34" charset="0"/>
                <a:ea typeface="Calibri" pitchFamily="34" charset="-122"/>
                <a:cs typeface="Calibri" pitchFamily="34" charset="-120"/>
              </a:rPr>
              <a:t>Aucun maillon ne manque : ce que Dieu a décrété, il l'achèvera (8.30).</a:t>
            </a:r>
            <a:endParaRPr lang="en-US" sz="1600" dirty="0"/>
          </a:p>
        </p:txBody>
      </p:sp>
      <p:pic>
        <p:nvPicPr>
          <p:cNvPr id="22" name="Image 0" descr="Le Fils couronné au centre, entouré de beaucoup de frères">    </p:cNvPr>
          <p:cNvPicPr>
            <a:picLocks noChangeAspect="1"/>
          </p:cNvPicPr>
          <p:nvPr/>
        </p:nvPicPr>
        <p:blipFill>
          <a:blip r:embed="rId1"/>
          <a:stretch>
            <a:fillRect/>
          </a:stretch>
        </p:blipFill>
        <p:spPr>
          <a:xfrm>
            <a:off x="731520" y="3520440"/>
            <a:ext cx="3200400" cy="2670048"/>
          </a:xfrm>
          <a:prstGeom prst="rect">
            <a:avLst/>
          </a:prstGeom>
        </p:spPr>
      </p:pic>
      <p:sp>
        <p:nvSpPr>
          <p:cNvPr id="23" name="Shape 20"/>
          <p:cNvSpPr/>
          <p:nvPr/>
        </p:nvSpPr>
        <p:spPr>
          <a:xfrm>
            <a:off x="4480560" y="3566160"/>
            <a:ext cx="7159752" cy="786384"/>
          </a:xfrm>
          <a:prstGeom prst="roundRect">
            <a:avLst>
              <a:gd name="adj" fmla="val 13953"/>
            </a:avLst>
          </a:prstGeom>
          <a:solidFill>
            <a:srgbClr val="1A1411"/>
          </a:solidFill>
          <a:ln w="9525">
            <a:solidFill>
              <a:srgbClr val="2E211A"/>
            </a:solidFill>
            <a:prstDash val="solid"/>
          </a:ln>
        </p:spPr>
      </p:sp>
      <p:sp>
        <p:nvSpPr>
          <p:cNvPr id="24" name="Text 21"/>
          <p:cNvSpPr txBox="1"/>
          <p:nvPr/>
        </p:nvSpPr>
        <p:spPr>
          <a:xfrm>
            <a:off x="4709160" y="3566160"/>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Connus d'avance</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Non une simple prévision : le choix d'aimer, l'élection.</a:t>
            </a:r>
            <a:endParaRPr lang="en-US" sz="1700" dirty="0"/>
          </a:p>
        </p:txBody>
      </p:sp>
      <p:sp>
        <p:nvSpPr>
          <p:cNvPr id="25" name="Shape 22"/>
          <p:cNvSpPr/>
          <p:nvPr/>
        </p:nvSpPr>
        <p:spPr>
          <a:xfrm>
            <a:off x="4480560" y="4462272"/>
            <a:ext cx="7159752" cy="786384"/>
          </a:xfrm>
          <a:prstGeom prst="roundRect">
            <a:avLst>
              <a:gd name="adj" fmla="val 13953"/>
            </a:avLst>
          </a:prstGeom>
          <a:solidFill>
            <a:srgbClr val="1A1411"/>
          </a:solidFill>
          <a:ln w="19050">
            <a:solidFill>
              <a:srgbClr val="CC5500"/>
            </a:solidFill>
            <a:prstDash val="solid"/>
          </a:ln>
        </p:spPr>
      </p:sp>
      <p:sp>
        <p:nvSpPr>
          <p:cNvPr id="26" name="Text 23"/>
          <p:cNvSpPr txBox="1"/>
          <p:nvPr/>
        </p:nvSpPr>
        <p:spPr>
          <a:xfrm>
            <a:off x="4709160" y="4462272"/>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Semblables à l'image de son Fils</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La sainteté maintenant, un corps glorifié à la fin (Ph 3.21).</a:t>
            </a:r>
            <a:endParaRPr lang="en-US" sz="1700" dirty="0"/>
          </a:p>
        </p:txBody>
      </p:sp>
      <p:sp>
        <p:nvSpPr>
          <p:cNvPr id="27" name="Shape 24"/>
          <p:cNvSpPr/>
          <p:nvPr/>
        </p:nvSpPr>
        <p:spPr>
          <a:xfrm>
            <a:off x="4480560" y="5358384"/>
            <a:ext cx="7159752" cy="786384"/>
          </a:xfrm>
          <a:prstGeom prst="roundRect">
            <a:avLst>
              <a:gd name="adj" fmla="val 13953"/>
            </a:avLst>
          </a:prstGeom>
          <a:solidFill>
            <a:srgbClr val="1A1411"/>
          </a:solidFill>
          <a:ln w="9525">
            <a:solidFill>
              <a:srgbClr val="2E211A"/>
            </a:solidFill>
            <a:prstDash val="solid"/>
          </a:ln>
        </p:spPr>
      </p:sp>
      <p:sp>
        <p:nvSpPr>
          <p:cNvPr id="28" name="Text 25"/>
          <p:cNvSpPr txBox="1"/>
          <p:nvPr/>
        </p:nvSpPr>
        <p:spPr>
          <a:xfrm>
            <a:off x="4709160" y="5358384"/>
            <a:ext cx="6766560" cy="786384"/>
          </a:xfrm>
          <a:prstGeom prst="rect">
            <a:avLst/>
          </a:prstGeom>
          <a:noFill/>
          <a:ln/>
        </p:spPr>
        <p:txBody>
          <a:bodyPr wrap="square" lIns="0" tIns="0" rIns="0" bIns="0" rtlCol="0" anchor="ctr"/>
          <a:lstStyle/>
          <a:p>
            <a:pPr indent="0" marL="0">
              <a:buNone/>
            </a:pPr>
            <a:r>
              <a:rPr lang="en-US" sz="1700" b="1" dirty="0">
                <a:solidFill>
                  <a:srgbClr val="E8742A"/>
                </a:solidFill>
                <a:latin typeface="Calibri" pitchFamily="34" charset="0"/>
                <a:ea typeface="Calibri" pitchFamily="34" charset="-122"/>
                <a:cs typeface="Calibri" pitchFamily="34" charset="-120"/>
              </a:rPr>
              <a:t>Premier-né de beaucoup de frères</a:t>
            </a:r>
            <a:endParaRPr lang="en-US" sz="1700" dirty="0"/>
          </a:p>
          <a:p>
            <a:pPr indent="0" marL="0">
              <a:buNone/>
            </a:pPr>
            <a:r>
              <a:rPr lang="en-US" sz="1700" dirty="0">
                <a:solidFill>
                  <a:srgbClr val="F4EDE4"/>
                </a:solidFill>
                <a:latin typeface="Calibri" pitchFamily="34" charset="0"/>
                <a:ea typeface="Calibri" pitchFamily="34" charset="-122"/>
                <a:cs typeface="Calibri" pitchFamily="34" charset="-120"/>
              </a:rPr>
              <a:t>Ils lui ressemblent, sans jamais être ses égaux.</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IV · 2 CORINTHIENS 3.18</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transformée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On devient semblable à ce que l'on contemple.</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Un miroir à main où brille un livre ouvert : l'Écriture">    </p:cNvPr>
          <p:cNvPicPr>
            <a:picLocks noChangeAspect="1"/>
          </p:cNvPicPr>
          <p:nvPr/>
        </p:nvPicPr>
        <p:blipFill>
          <a:blip r:embed="rId1"/>
          <a:stretch>
            <a:fillRect/>
          </a:stretch>
        </p:blipFill>
        <p:spPr>
          <a:xfrm>
            <a:off x="685800" y="1828800"/>
            <a:ext cx="3072384" cy="3749040"/>
          </a:xfrm>
          <a:prstGeom prst="rect">
            <a:avLst/>
          </a:prstGeom>
        </p:spPr>
      </p:pic>
      <p:sp>
        <p:nvSpPr>
          <p:cNvPr id="12" name="Text 9"/>
          <p:cNvSpPr txBox="1"/>
          <p:nvPr/>
        </p:nvSpPr>
        <p:spPr>
          <a:xfrm>
            <a:off x="457200" y="5669280"/>
            <a:ext cx="3566160" cy="411480"/>
          </a:xfrm>
          <a:prstGeom prst="rect">
            <a:avLst/>
          </a:prstGeom>
          <a:noFill/>
          <a:ln/>
        </p:spPr>
        <p:txBody>
          <a:bodyPr wrap="square" lIns="0" tIns="0" rIns="0" bIns="0" rtlCol="0" anchor="t"/>
          <a:lstStyle/>
          <a:p>
            <a:pPr algn="ctr" indent="0" marL="0">
              <a:buNone/>
            </a:pPr>
            <a:r>
              <a:rPr lang="en-US" sz="1800" b="1" dirty="0">
                <a:solidFill>
                  <a:srgbClr val="E8742A"/>
                </a:solidFill>
                <a:latin typeface="Calibri" pitchFamily="34" charset="0"/>
                <a:ea typeface="Calibri" pitchFamily="34" charset="-122"/>
                <a:cs typeface="Calibri" pitchFamily="34" charset="-120"/>
              </a:rPr>
              <a:t>Le miroir, c'est l'Écriture</a:t>
            </a:r>
            <a:endParaRPr lang="en-US" sz="1800" dirty="0"/>
          </a:p>
        </p:txBody>
      </p:sp>
      <p:sp>
        <p:nvSpPr>
          <p:cNvPr id="13" name="Text 10"/>
          <p:cNvSpPr txBox="1"/>
          <p:nvPr/>
        </p:nvSpPr>
        <p:spPr>
          <a:xfrm>
            <a:off x="4206240" y="2148840"/>
            <a:ext cx="4754880" cy="822960"/>
          </a:xfrm>
          <a:prstGeom prst="rect">
            <a:avLst/>
          </a:prstGeom>
          <a:noFill/>
          <a:ln/>
        </p:spPr>
        <p:txBody>
          <a:bodyPr wrap="square" lIns="0" tIns="0" rIns="0" bIns="0" rtlCol="0" anchor="t"/>
          <a:lstStyle/>
          <a:p>
            <a:pPr indent="0" marL="0">
              <a:buNone/>
            </a:pPr>
            <a:r>
              <a:rPr lang="en-US" sz="2100" i="1" dirty="0">
                <a:solidFill>
                  <a:srgbClr val="F4EDE4"/>
                </a:solidFill>
                <a:latin typeface="Calibri" pitchFamily="34" charset="0"/>
                <a:ea typeface="Calibri" pitchFamily="34" charset="-122"/>
                <a:cs typeface="Calibri" pitchFamily="34" charset="-120"/>
              </a:rPr>
              <a:t>Nous ne nous transformons pas :</a:t>
            </a:r>
            <a:endParaRPr lang="en-US" sz="2100" dirty="0"/>
          </a:p>
          <a:p>
            <a:pPr indent="0" marL="0">
              <a:buNone/>
            </a:pPr>
            <a:r>
              <a:rPr lang="en-US" sz="2100" i="1" dirty="0">
                <a:solidFill>
                  <a:srgbClr val="F4EDE4"/>
                </a:solidFill>
                <a:latin typeface="Calibri" pitchFamily="34" charset="0"/>
                <a:ea typeface="Calibri" pitchFamily="34" charset="-122"/>
                <a:cs typeface="Calibri" pitchFamily="34" charset="-120"/>
              </a:rPr>
              <a:t>nous sommes transformés.</a:t>
            </a:r>
            <a:endParaRPr lang="en-US" sz="2100" dirty="0"/>
          </a:p>
        </p:txBody>
      </p:sp>
      <p:sp>
        <p:nvSpPr>
          <p:cNvPr id="14" name="Shape 11"/>
          <p:cNvSpPr/>
          <p:nvPr/>
        </p:nvSpPr>
        <p:spPr>
          <a:xfrm>
            <a:off x="4206240" y="4069080"/>
            <a:ext cx="2331720" cy="2103120"/>
          </a:xfrm>
          <a:prstGeom prst="roundRect">
            <a:avLst>
              <a:gd name="adj" fmla="val 5217"/>
            </a:avLst>
          </a:prstGeom>
          <a:solidFill>
            <a:srgbClr val="1A1411"/>
          </a:solidFill>
          <a:ln w="9525">
            <a:solidFill>
              <a:srgbClr val="2E211A"/>
            </a:solidFill>
            <a:prstDash val="solid"/>
          </a:ln>
        </p:spPr>
      </p:sp>
      <p:sp>
        <p:nvSpPr>
          <p:cNvPr id="15" name="Shape 12"/>
          <p:cNvSpPr/>
          <p:nvPr/>
        </p:nvSpPr>
        <p:spPr>
          <a:xfrm>
            <a:off x="4389120" y="4251960"/>
            <a:ext cx="566928" cy="566928"/>
          </a:xfrm>
          <a:prstGeom prst="ellipse">
            <a:avLst/>
          </a:prstGeom>
          <a:solidFill>
            <a:srgbClr val="2A1A10"/>
          </a:solidFill>
          <a:ln w="12700">
            <a:solidFill>
              <a:srgbClr val="CC5500"/>
            </a:solidFill>
            <a:prstDash val="solid"/>
          </a:ln>
        </p:spPr>
      </p:sp>
      <p:pic>
        <p:nvPicPr>
          <p:cNvPr id="16" name="Image 1" descr="oeil">    </p:cNvPr>
          <p:cNvPicPr>
            <a:picLocks noChangeAspect="1"/>
          </p:cNvPicPr>
          <p:nvPr/>
        </p:nvPicPr>
        <p:blipFill>
          <a:blip r:embed="rId2"/>
          <a:stretch>
            <a:fillRect/>
          </a:stretch>
        </p:blipFill>
        <p:spPr>
          <a:xfrm>
            <a:off x="4502506" y="4365346"/>
            <a:ext cx="340157" cy="340157"/>
          </a:xfrm>
          <a:prstGeom prst="rect">
            <a:avLst/>
          </a:prstGeom>
        </p:spPr>
      </p:pic>
      <p:sp>
        <p:nvSpPr>
          <p:cNvPr id="17" name="Text 13"/>
          <p:cNvSpPr txBox="1"/>
          <p:nvPr/>
        </p:nvSpPr>
        <p:spPr>
          <a:xfrm>
            <a:off x="4389120" y="49103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Le visage découvert</a:t>
            </a:r>
            <a:endParaRPr lang="en-US" sz="1800" dirty="0"/>
          </a:p>
        </p:txBody>
      </p:sp>
      <p:sp>
        <p:nvSpPr>
          <p:cNvPr id="18" name="Text 14"/>
          <p:cNvSpPr txBox="1"/>
          <p:nvPr/>
        </p:nvSpPr>
        <p:spPr>
          <a:xfrm>
            <a:off x="4389120" y="52760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Moïse se voilait; en Christ, le voile est ôté (3.14-16).</a:t>
            </a:r>
            <a:endParaRPr lang="en-US" sz="1400" dirty="0"/>
          </a:p>
        </p:txBody>
      </p:sp>
      <p:sp>
        <p:nvSpPr>
          <p:cNvPr id="19" name="Shape 15"/>
          <p:cNvSpPr/>
          <p:nvPr/>
        </p:nvSpPr>
        <p:spPr>
          <a:xfrm>
            <a:off x="6702552" y="3154680"/>
            <a:ext cx="2331720" cy="2103120"/>
          </a:xfrm>
          <a:prstGeom prst="roundRect">
            <a:avLst>
              <a:gd name="adj" fmla="val 5217"/>
            </a:avLst>
          </a:prstGeom>
          <a:solidFill>
            <a:srgbClr val="1A1411"/>
          </a:solidFill>
          <a:ln w="9525">
            <a:solidFill>
              <a:srgbClr val="2E211A"/>
            </a:solidFill>
            <a:prstDash val="solid"/>
          </a:ln>
        </p:spPr>
      </p:sp>
      <p:sp>
        <p:nvSpPr>
          <p:cNvPr id="20" name="Shape 16"/>
          <p:cNvSpPr/>
          <p:nvPr/>
        </p:nvSpPr>
        <p:spPr>
          <a:xfrm>
            <a:off x="6885432" y="3337560"/>
            <a:ext cx="566928" cy="566928"/>
          </a:xfrm>
          <a:prstGeom prst="ellipse">
            <a:avLst/>
          </a:prstGeom>
          <a:solidFill>
            <a:srgbClr val="2A1A10"/>
          </a:solidFill>
          <a:ln w="12700">
            <a:solidFill>
              <a:srgbClr val="CC5500"/>
            </a:solidFill>
            <a:prstDash val="solid"/>
          </a:ln>
        </p:spPr>
      </p:sp>
      <p:pic>
        <p:nvPicPr>
          <p:cNvPr id="21" name="Image 2" descr="livre">    </p:cNvPr>
          <p:cNvPicPr>
            <a:picLocks noChangeAspect="1"/>
          </p:cNvPicPr>
          <p:nvPr/>
        </p:nvPicPr>
        <p:blipFill>
          <a:blip r:embed="rId3"/>
          <a:stretch>
            <a:fillRect/>
          </a:stretch>
        </p:blipFill>
        <p:spPr>
          <a:xfrm>
            <a:off x="6998818" y="3450946"/>
            <a:ext cx="340157" cy="340157"/>
          </a:xfrm>
          <a:prstGeom prst="rect">
            <a:avLst/>
          </a:prstGeom>
        </p:spPr>
      </p:pic>
      <p:sp>
        <p:nvSpPr>
          <p:cNvPr id="22" name="Text 17"/>
          <p:cNvSpPr txBox="1"/>
          <p:nvPr/>
        </p:nvSpPr>
        <p:spPr>
          <a:xfrm>
            <a:off x="6885432" y="39959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Contempler</a:t>
            </a:r>
            <a:endParaRPr lang="en-US" sz="1800" dirty="0"/>
          </a:p>
        </p:txBody>
      </p:sp>
      <p:sp>
        <p:nvSpPr>
          <p:cNvPr id="23" name="Text 18"/>
          <p:cNvSpPr txBox="1"/>
          <p:nvPr/>
        </p:nvSpPr>
        <p:spPr>
          <a:xfrm>
            <a:off x="6885432" y="43616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Regarder Christ dans l'Écriture, comme dans un miroir. On ne reflète que ce qu'on contemple.</a:t>
            </a:r>
            <a:endParaRPr lang="en-US" sz="1400" dirty="0"/>
          </a:p>
        </p:txBody>
      </p:sp>
      <p:sp>
        <p:nvSpPr>
          <p:cNvPr id="24" name="Shape 19"/>
          <p:cNvSpPr/>
          <p:nvPr/>
        </p:nvSpPr>
        <p:spPr>
          <a:xfrm>
            <a:off x="9198864" y="2240280"/>
            <a:ext cx="2331720" cy="2103120"/>
          </a:xfrm>
          <a:prstGeom prst="roundRect">
            <a:avLst>
              <a:gd name="adj" fmla="val 5217"/>
            </a:avLst>
          </a:prstGeom>
          <a:solidFill>
            <a:srgbClr val="1A1411"/>
          </a:solidFill>
          <a:ln w="19050">
            <a:solidFill>
              <a:srgbClr val="CC5500"/>
            </a:solidFill>
            <a:prstDash val="solid"/>
          </a:ln>
        </p:spPr>
      </p:sp>
      <p:sp>
        <p:nvSpPr>
          <p:cNvPr id="25" name="Shape 20"/>
          <p:cNvSpPr/>
          <p:nvPr/>
        </p:nvSpPr>
        <p:spPr>
          <a:xfrm>
            <a:off x="9381744" y="2423160"/>
            <a:ext cx="566928" cy="566928"/>
          </a:xfrm>
          <a:prstGeom prst="ellipse">
            <a:avLst/>
          </a:prstGeom>
          <a:solidFill>
            <a:srgbClr val="2A1A10"/>
          </a:solidFill>
          <a:ln w="12700">
            <a:solidFill>
              <a:srgbClr val="CC5500"/>
            </a:solidFill>
            <a:prstDash val="solid"/>
          </a:ln>
        </p:spPr>
      </p:sp>
      <p:pic>
        <p:nvPicPr>
          <p:cNvPr id="26" name="Image 3" descr="colombe">    </p:cNvPr>
          <p:cNvPicPr>
            <a:picLocks noChangeAspect="1"/>
          </p:cNvPicPr>
          <p:nvPr/>
        </p:nvPicPr>
        <p:blipFill>
          <a:blip r:embed="rId4"/>
          <a:stretch>
            <a:fillRect/>
          </a:stretch>
        </p:blipFill>
        <p:spPr>
          <a:xfrm>
            <a:off x="9495130" y="2536546"/>
            <a:ext cx="340157" cy="340157"/>
          </a:xfrm>
          <a:prstGeom prst="rect">
            <a:avLst/>
          </a:prstGeom>
        </p:spPr>
      </p:pic>
      <p:sp>
        <p:nvSpPr>
          <p:cNvPr id="27" name="Text 21"/>
          <p:cNvSpPr txBox="1"/>
          <p:nvPr/>
        </p:nvSpPr>
        <p:spPr>
          <a:xfrm>
            <a:off x="9381744" y="3081528"/>
            <a:ext cx="2011680" cy="365760"/>
          </a:xfrm>
          <a:prstGeom prst="rect">
            <a:avLst/>
          </a:prstGeom>
          <a:noFill/>
          <a:ln/>
        </p:spPr>
        <p:txBody>
          <a:bodyPr wrap="square" lIns="0" tIns="0" rIns="0" bIns="0" rtlCol="0" anchor="t"/>
          <a:lstStyle/>
          <a:p>
            <a:pPr indent="0" marL="0">
              <a:buNone/>
            </a:pPr>
            <a:r>
              <a:rPr lang="en-US" sz="1800" b="1" dirty="0">
                <a:solidFill>
                  <a:srgbClr val="F4EDE4"/>
                </a:solidFill>
                <a:latin typeface="Calibri" pitchFamily="34" charset="0"/>
                <a:ea typeface="Calibri" pitchFamily="34" charset="-122"/>
                <a:cs typeface="Calibri" pitchFamily="34" charset="-120"/>
              </a:rPr>
              <a:t>Être transformé</a:t>
            </a:r>
            <a:endParaRPr lang="en-US" sz="1800" dirty="0"/>
          </a:p>
        </p:txBody>
      </p:sp>
      <p:sp>
        <p:nvSpPr>
          <p:cNvPr id="28" name="Text 22"/>
          <p:cNvSpPr txBox="1"/>
          <p:nvPr/>
        </p:nvSpPr>
        <p:spPr>
          <a:xfrm>
            <a:off x="9381744" y="3447288"/>
            <a:ext cx="2011680" cy="868680"/>
          </a:xfrm>
          <a:prstGeom prst="rect">
            <a:avLst/>
          </a:prstGeom>
          <a:noFill/>
          <a:ln/>
        </p:spPr>
        <p:txBody>
          <a:bodyPr wrap="square" lIns="0" tIns="0" rIns="0" bIns="0" rtlCol="0" anchor="t"/>
          <a:lstStyle/>
          <a:p>
            <a:pPr indent="0" marL="0">
              <a:buNone/>
            </a:pPr>
            <a:r>
              <a:rPr lang="en-US" sz="1400" dirty="0">
                <a:solidFill>
                  <a:srgbClr val="A89A8C"/>
                </a:solidFill>
                <a:latin typeface="Calibri" pitchFamily="34" charset="0"/>
                <a:ea typeface="Calibri" pitchFamily="34" charset="-122"/>
                <a:cs typeface="Calibri" pitchFamily="34" charset="-120"/>
              </a:rPr>
              <a:t>Metamorphoô : un changement continu, que l'Esprit accomplit.</a:t>
            </a:r>
            <a:endParaRPr lang="en-US" sz="1400" dirty="0"/>
          </a:p>
        </p:txBody>
      </p:sp>
      <p:sp>
        <p:nvSpPr>
          <p:cNvPr id="29" name="Text 23"/>
          <p:cNvSpPr txBox="1"/>
          <p:nvPr/>
        </p:nvSpPr>
        <p:spPr>
          <a:xfrm>
            <a:off x="9198864" y="4617720"/>
            <a:ext cx="2468880" cy="1097280"/>
          </a:xfrm>
          <a:prstGeom prst="rect">
            <a:avLst/>
          </a:prstGeom>
          <a:noFill/>
          <a:ln/>
        </p:spPr>
        <p:txBody>
          <a:bodyPr wrap="square" lIns="0" tIns="0" rIns="0" bIns="0" rtlCol="0" anchor="t"/>
          <a:lstStyle/>
          <a:p>
            <a:pPr indent="0" marL="0">
              <a:buNone/>
            </a:pPr>
            <a:r>
              <a:rPr lang="en-US" sz="2100" b="1" i="1" dirty="0">
                <a:solidFill>
                  <a:srgbClr val="E8742A"/>
                </a:solidFill>
                <a:latin typeface="Calibri" pitchFamily="34" charset="0"/>
                <a:ea typeface="Calibri" pitchFamily="34" charset="-122"/>
                <a:cs typeface="Calibri" pitchFamily="34" charset="-120"/>
              </a:rPr>
              <a:t>de gloire en gloire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jusqu'à lui être semblables (1 Jn 3.2)</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V · MATTHIEU 22.37-40 · JÉRÉMIE 31.33</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qui aime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La loi que je ne peux accomplir, Dieu l'écrit sur mon cœur.</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envoyée</a:t>
            </a:r>
            <a:endParaRPr lang="en-US" sz="1200" dirty="0"/>
          </a:p>
        </p:txBody>
      </p:sp>
      <p:pic>
        <p:nvPicPr>
          <p:cNvPr id="11" name="Image 0" descr="Les tables de pierre, puis un cœur où la loi est écrite">    </p:cNvPr>
          <p:cNvPicPr>
            <a:picLocks noChangeAspect="1"/>
          </p:cNvPicPr>
          <p:nvPr/>
        </p:nvPicPr>
        <p:blipFill>
          <a:blip r:embed="rId1"/>
          <a:stretch>
            <a:fillRect/>
          </a:stretch>
        </p:blipFill>
        <p:spPr>
          <a:xfrm>
            <a:off x="457200" y="1874520"/>
            <a:ext cx="5852160" cy="3118104"/>
          </a:xfrm>
          <a:prstGeom prst="rect">
            <a:avLst/>
          </a:prstGeom>
        </p:spPr>
      </p:pic>
      <p:sp>
        <p:nvSpPr>
          <p:cNvPr id="12" name="Text 9"/>
          <p:cNvSpPr txBox="1"/>
          <p:nvPr/>
        </p:nvSpPr>
        <p:spPr>
          <a:xfrm>
            <a:off x="457200" y="5074920"/>
            <a:ext cx="2651760" cy="100584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Sur la pierre, la loi accuse</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Personne n'a aimé Dieu de tout son cœur.</a:t>
            </a:r>
            <a:endParaRPr lang="en-US" sz="1600" dirty="0"/>
          </a:p>
        </p:txBody>
      </p:sp>
      <p:sp>
        <p:nvSpPr>
          <p:cNvPr id="13" name="Text 10"/>
          <p:cNvSpPr txBox="1"/>
          <p:nvPr/>
        </p:nvSpPr>
        <p:spPr>
          <a:xfrm>
            <a:off x="3429000" y="5074920"/>
            <a:ext cx="3017520" cy="1005840"/>
          </a:xfrm>
          <a:prstGeom prst="rect">
            <a:avLst/>
          </a:prstGeom>
          <a:noFill/>
          <a:ln/>
        </p:spPr>
        <p:txBody>
          <a:bodyPr wrap="square" lIns="0" tIns="0" rIns="0" bIns="0" rtlCol="0" anchor="t"/>
          <a:lstStyle/>
          <a:p>
            <a:pPr algn="ctr" indent="0" marL="0">
              <a:buNone/>
            </a:pPr>
            <a:r>
              <a:rPr lang="en-US" sz="1600" b="1" dirty="0">
                <a:solidFill>
                  <a:srgbClr val="E8742A"/>
                </a:solidFill>
                <a:latin typeface="Calibri" pitchFamily="34" charset="0"/>
                <a:ea typeface="Calibri" pitchFamily="34" charset="-122"/>
                <a:cs typeface="Calibri" pitchFamily="34" charset="-120"/>
              </a:rPr>
              <a:t>Sur le cœur, elle transforme</a:t>
            </a:r>
            <a:endParaRPr lang="en-US" sz="1600" dirty="0"/>
          </a:p>
          <a:p>
            <a:pPr algn="ctr" indent="0" marL="0">
              <a:buNone/>
            </a:pPr>
            <a:r>
              <a:rPr lang="en-US" sz="1600" dirty="0">
                <a:solidFill>
                  <a:srgbClr val="A89A8C"/>
                </a:solidFill>
                <a:latin typeface="Calibri" pitchFamily="34" charset="0"/>
                <a:ea typeface="Calibri" pitchFamily="34" charset="-122"/>
                <a:cs typeface="Calibri" pitchFamily="34" charset="-120"/>
              </a:rPr>
              <a:t>Le pardon, puis une capacité nouvelle d'aimer.</a:t>
            </a:r>
            <a:endParaRPr lang="en-US" sz="1600" dirty="0"/>
          </a:p>
        </p:txBody>
      </p:sp>
      <p:sp>
        <p:nvSpPr>
          <p:cNvPr id="14" name="Text 11"/>
          <p:cNvSpPr txBox="1"/>
          <p:nvPr/>
        </p:nvSpPr>
        <p:spPr>
          <a:xfrm>
            <a:off x="6766560" y="1874520"/>
            <a:ext cx="4873752" cy="365760"/>
          </a:xfrm>
          <a:prstGeom prst="rect">
            <a:avLst/>
          </a:prstGeom>
          <a:noFill/>
          <a:ln/>
        </p:spPr>
        <p:txBody>
          <a:bodyPr wrap="square" lIns="0" tIns="0" rIns="0" bIns="0" rtlCol="0" anchor="t"/>
          <a:lstStyle/>
          <a:p>
            <a:pPr indent="0" marL="0">
              <a:buNone/>
            </a:pPr>
            <a:r>
              <a:rPr lang="en-US" sz="1900" b="1" dirty="0">
                <a:solidFill>
                  <a:srgbClr val="F4EDE4"/>
                </a:solidFill>
                <a:latin typeface="Calibri" pitchFamily="34" charset="0"/>
                <a:ea typeface="Calibri" pitchFamily="34" charset="-122"/>
                <a:cs typeface="Calibri" pitchFamily="34" charset="-120"/>
              </a:rPr>
              <a:t>Le cœur, c'est la personne intérieure</a:t>
            </a:r>
            <a:endParaRPr lang="en-US" sz="1900" dirty="0"/>
          </a:p>
        </p:txBody>
      </p:sp>
      <p:sp>
        <p:nvSpPr>
          <p:cNvPr id="15" name="Text 12"/>
          <p:cNvSpPr txBox="1"/>
          <p:nvPr/>
        </p:nvSpPr>
        <p:spPr>
          <a:xfrm>
            <a:off x="6766560" y="2240280"/>
            <a:ext cx="4873752" cy="320040"/>
          </a:xfrm>
          <a:prstGeom prst="rect">
            <a:avLst/>
          </a:prstGeom>
          <a:noFill/>
          <a:ln/>
        </p:spPr>
        <p:txBody>
          <a:bodyPr wrap="square" lIns="0" tIns="0" rIns="0" bIns="0" rtlCol="0" anchor="t"/>
          <a:lstStyle/>
          <a:p>
            <a:pPr indent="0" marL="0">
              <a:buNone/>
            </a:pPr>
            <a:r>
              <a:rPr lang="en-US" sz="1500" i="1" dirty="0">
                <a:solidFill>
                  <a:srgbClr val="A89A8C"/>
                </a:solidFill>
                <a:latin typeface="Calibri" pitchFamily="34" charset="0"/>
                <a:ea typeface="Calibri" pitchFamily="34" charset="-122"/>
                <a:cs typeface="Calibri" pitchFamily="34" charset="-120"/>
              </a:rPr>
              <a:t>les trois dimensions de l'image, renouvelées</a:t>
            </a:r>
            <a:endParaRPr lang="en-US" sz="1500" dirty="0"/>
          </a:p>
        </p:txBody>
      </p:sp>
      <p:sp>
        <p:nvSpPr>
          <p:cNvPr id="16" name="Shape 13"/>
          <p:cNvSpPr/>
          <p:nvPr/>
        </p:nvSpPr>
        <p:spPr>
          <a:xfrm>
            <a:off x="6766560" y="2697480"/>
            <a:ext cx="4873752" cy="1024128"/>
          </a:xfrm>
          <a:prstGeom prst="roundRect">
            <a:avLst>
              <a:gd name="adj" fmla="val 10714"/>
            </a:avLst>
          </a:prstGeom>
          <a:solidFill>
            <a:srgbClr val="1A1411"/>
          </a:solidFill>
          <a:ln w="9525">
            <a:solidFill>
              <a:srgbClr val="2E211A"/>
            </a:solidFill>
            <a:prstDash val="solid"/>
          </a:ln>
        </p:spPr>
      </p:sp>
      <p:sp>
        <p:nvSpPr>
          <p:cNvPr id="17" name="Shape 14"/>
          <p:cNvSpPr/>
          <p:nvPr/>
        </p:nvSpPr>
        <p:spPr>
          <a:xfrm>
            <a:off x="6949440" y="2889504"/>
            <a:ext cx="640080" cy="640080"/>
          </a:xfrm>
          <a:prstGeom prst="ellipse">
            <a:avLst/>
          </a:prstGeom>
          <a:solidFill>
            <a:srgbClr val="2A1A10"/>
          </a:solidFill>
          <a:ln w="12700">
            <a:solidFill>
              <a:srgbClr val="CC5500"/>
            </a:solidFill>
            <a:prstDash val="solid"/>
          </a:ln>
        </p:spPr>
      </p:sp>
      <p:pic>
        <p:nvPicPr>
          <p:cNvPr id="18" name="Image 1" descr="cerveau">    </p:cNvPr>
          <p:cNvPicPr>
            <a:picLocks noChangeAspect="1"/>
          </p:cNvPicPr>
          <p:nvPr/>
        </p:nvPicPr>
        <p:blipFill>
          <a:blip r:embed="rId2"/>
          <a:stretch>
            <a:fillRect/>
          </a:stretch>
        </p:blipFill>
        <p:spPr>
          <a:xfrm>
            <a:off x="7077456" y="3017520"/>
            <a:ext cx="384048" cy="384048"/>
          </a:xfrm>
          <a:prstGeom prst="rect">
            <a:avLst/>
          </a:prstGeom>
        </p:spPr>
      </p:pic>
      <p:sp>
        <p:nvSpPr>
          <p:cNvPr id="19" name="Text 15"/>
          <p:cNvSpPr txBox="1"/>
          <p:nvPr/>
        </p:nvSpPr>
        <p:spPr>
          <a:xfrm>
            <a:off x="7772400" y="2770632"/>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Rationnel : il pense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parle en Christ, la Parole, et renouvelle la pensée (Jn 1.1).</a:t>
            </a:r>
            <a:endParaRPr lang="en-US" sz="1500" dirty="0"/>
          </a:p>
        </p:txBody>
      </p:sp>
      <p:sp>
        <p:nvSpPr>
          <p:cNvPr id="20" name="Shape 16"/>
          <p:cNvSpPr/>
          <p:nvPr/>
        </p:nvSpPr>
        <p:spPr>
          <a:xfrm>
            <a:off x="6766560" y="3867912"/>
            <a:ext cx="4873752" cy="1024128"/>
          </a:xfrm>
          <a:prstGeom prst="roundRect">
            <a:avLst>
              <a:gd name="adj" fmla="val 10714"/>
            </a:avLst>
          </a:prstGeom>
          <a:solidFill>
            <a:srgbClr val="1A1411"/>
          </a:solidFill>
          <a:ln w="9525">
            <a:solidFill>
              <a:srgbClr val="2E211A"/>
            </a:solidFill>
            <a:prstDash val="solid"/>
          </a:ln>
        </p:spPr>
      </p:sp>
      <p:sp>
        <p:nvSpPr>
          <p:cNvPr id="21" name="Shape 17"/>
          <p:cNvSpPr/>
          <p:nvPr/>
        </p:nvSpPr>
        <p:spPr>
          <a:xfrm>
            <a:off x="6949440" y="4059936"/>
            <a:ext cx="640080" cy="640080"/>
          </a:xfrm>
          <a:prstGeom prst="ellipse">
            <a:avLst/>
          </a:prstGeom>
          <a:solidFill>
            <a:srgbClr val="2A1A10"/>
          </a:solidFill>
          <a:ln w="12700">
            <a:solidFill>
              <a:srgbClr val="CC5500"/>
            </a:solidFill>
            <a:prstDash val="solid"/>
          </a:ln>
        </p:spPr>
      </p:sp>
      <p:pic>
        <p:nvPicPr>
          <p:cNvPr id="22" name="Image 2" descr="balance">    </p:cNvPr>
          <p:cNvPicPr>
            <a:picLocks noChangeAspect="1"/>
          </p:cNvPicPr>
          <p:nvPr/>
        </p:nvPicPr>
        <p:blipFill>
          <a:blip r:embed="rId3"/>
          <a:stretch>
            <a:fillRect/>
          </a:stretch>
        </p:blipFill>
        <p:spPr>
          <a:xfrm>
            <a:off x="7077456" y="4187952"/>
            <a:ext cx="384048" cy="384048"/>
          </a:xfrm>
          <a:prstGeom prst="rect">
            <a:avLst/>
          </a:prstGeom>
        </p:spPr>
      </p:pic>
      <p:sp>
        <p:nvSpPr>
          <p:cNvPr id="23" name="Text 18"/>
          <p:cNvSpPr txBox="1"/>
          <p:nvPr/>
        </p:nvSpPr>
        <p:spPr>
          <a:xfrm>
            <a:off x="7772400" y="3941064"/>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Moral : il juge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seul crée un cœur pur (Ps 51.12).</a:t>
            </a:r>
            <a:endParaRPr lang="en-US" sz="1500" dirty="0"/>
          </a:p>
        </p:txBody>
      </p:sp>
      <p:sp>
        <p:nvSpPr>
          <p:cNvPr id="24" name="Shape 19"/>
          <p:cNvSpPr/>
          <p:nvPr/>
        </p:nvSpPr>
        <p:spPr>
          <a:xfrm>
            <a:off x="6766560" y="5038344"/>
            <a:ext cx="4873752" cy="1024128"/>
          </a:xfrm>
          <a:prstGeom prst="roundRect">
            <a:avLst>
              <a:gd name="adj" fmla="val 10714"/>
            </a:avLst>
          </a:prstGeom>
          <a:solidFill>
            <a:srgbClr val="1A1411"/>
          </a:solidFill>
          <a:ln w="19050">
            <a:solidFill>
              <a:srgbClr val="CC5500"/>
            </a:solidFill>
            <a:prstDash val="solid"/>
          </a:ln>
        </p:spPr>
      </p:sp>
      <p:sp>
        <p:nvSpPr>
          <p:cNvPr id="25" name="Shape 20"/>
          <p:cNvSpPr/>
          <p:nvPr/>
        </p:nvSpPr>
        <p:spPr>
          <a:xfrm>
            <a:off x="6949440" y="5230368"/>
            <a:ext cx="640080" cy="640080"/>
          </a:xfrm>
          <a:prstGeom prst="ellipse">
            <a:avLst/>
          </a:prstGeom>
          <a:solidFill>
            <a:srgbClr val="2A1A10"/>
          </a:solidFill>
          <a:ln w="12700">
            <a:solidFill>
              <a:srgbClr val="CC5500"/>
            </a:solidFill>
            <a:prstDash val="solid"/>
          </a:ln>
        </p:spPr>
      </p:sp>
      <p:pic>
        <p:nvPicPr>
          <p:cNvPr id="26" name="Image 3" descr="relation">    </p:cNvPr>
          <p:cNvPicPr>
            <a:picLocks noChangeAspect="1"/>
          </p:cNvPicPr>
          <p:nvPr/>
        </p:nvPicPr>
        <p:blipFill>
          <a:blip r:embed="rId4"/>
          <a:stretch>
            <a:fillRect/>
          </a:stretch>
        </p:blipFill>
        <p:spPr>
          <a:xfrm>
            <a:off x="7077456" y="5358384"/>
            <a:ext cx="384048" cy="384048"/>
          </a:xfrm>
          <a:prstGeom prst="rect">
            <a:avLst/>
          </a:prstGeom>
        </p:spPr>
      </p:pic>
      <p:sp>
        <p:nvSpPr>
          <p:cNvPr id="27" name="Text 21"/>
          <p:cNvSpPr txBox="1"/>
          <p:nvPr/>
        </p:nvSpPr>
        <p:spPr>
          <a:xfrm>
            <a:off x="7772400" y="5111496"/>
            <a:ext cx="3749040" cy="877824"/>
          </a:xfrm>
          <a:prstGeom prst="rect">
            <a:avLst/>
          </a:prstGeom>
          <a:noFill/>
          <a:ln/>
        </p:spPr>
        <p:txBody>
          <a:bodyPr wrap="square" lIns="0" tIns="0" rIns="0" bIns="0" rtlCol="0" anchor="ctr"/>
          <a:lstStyle/>
          <a:p>
            <a:pPr indent="0" marL="0">
              <a:buNone/>
            </a:pPr>
            <a:r>
              <a:rPr lang="en-US" sz="1800" b="1" dirty="0">
                <a:solidFill>
                  <a:srgbClr val="F4EDE4"/>
                </a:solidFill>
                <a:latin typeface="Calibri" pitchFamily="34" charset="0"/>
                <a:ea typeface="Calibri" pitchFamily="34" charset="-122"/>
                <a:cs typeface="Calibri" pitchFamily="34" charset="-120"/>
              </a:rPr>
              <a:t>Relationnel : il aime</a:t>
            </a:r>
            <a:endParaRPr lang="en-US" sz="1500" dirty="0"/>
          </a:p>
          <a:p>
            <a:pPr indent="0" marL="0">
              <a:buNone/>
            </a:pPr>
            <a:r>
              <a:rPr lang="en-US" sz="1500" dirty="0">
                <a:solidFill>
                  <a:srgbClr val="A89A8C"/>
                </a:solidFill>
                <a:latin typeface="Calibri" pitchFamily="34" charset="0"/>
                <a:ea typeface="Calibri" pitchFamily="34" charset="-122"/>
                <a:cs typeface="Calibri" pitchFamily="34" charset="-120"/>
              </a:rPr>
              <a:t>Dieu répand son amour dans nos cœurs (Rm 5.5).</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0B0A"/>
        </a:solidFill>
      </p:bgPr>
    </p:bg>
    <p:spTree>
      <p:nvGrpSpPr>
        <p:cNvPr id="1" name=""/>
        <p:cNvGrpSpPr/>
        <p:nvPr/>
      </p:nvGrpSpPr>
      <p:grpSpPr>
        <a:xfrm>
          <a:off x="0" y="0"/>
          <a:ext cx="0" cy="0"/>
          <a:chOff x="0" y="0"/>
          <a:chExt cx="0" cy="0"/>
        </a:xfrm>
      </p:grpSpPr>
      <p:sp>
        <p:nvSpPr>
          <p:cNvPr id="2" name="Text 0"/>
          <p:cNvSpPr txBox="1"/>
          <p:nvPr/>
        </p:nvSpPr>
        <p:spPr>
          <a:xfrm>
            <a:off x="548640" y="384048"/>
            <a:ext cx="621792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VI · MATTHIEU 28.19-20</a:t>
            </a:r>
            <a:endParaRPr lang="en-US" sz="1300" dirty="0"/>
          </a:p>
        </p:txBody>
      </p:sp>
      <p:sp>
        <p:nvSpPr>
          <p:cNvPr id="3" name="Text 1"/>
          <p:cNvSpPr txBox="1"/>
          <p:nvPr/>
        </p:nvSpPr>
        <p:spPr>
          <a:xfrm>
            <a:off x="548640" y="676656"/>
            <a:ext cx="11064240" cy="685800"/>
          </a:xfrm>
          <a:prstGeom prst="rect">
            <a:avLst/>
          </a:prstGeom>
          <a:noFill/>
          <a:ln/>
        </p:spPr>
        <p:txBody>
          <a:bodyPr wrap="square" lIns="0" tIns="0" rIns="0" bIns="0" rtlCol="0" anchor="t"/>
          <a:lstStyle/>
          <a:p>
            <a:pPr indent="0" marL="0">
              <a:buNone/>
            </a:pPr>
            <a:r>
              <a:rPr lang="en-US" sz="3800" b="1" dirty="0">
                <a:solidFill>
                  <a:srgbClr val="F4EDE4"/>
                </a:solidFill>
                <a:latin typeface="Cambria" pitchFamily="34" charset="0"/>
                <a:ea typeface="Cambria" pitchFamily="34" charset="-122"/>
                <a:cs typeface="Cambria" pitchFamily="34" charset="-120"/>
              </a:rPr>
              <a:t>L'image envoyée</a:t>
            </a:r>
            <a:endParaRPr lang="en-US" sz="3800" dirty="0"/>
          </a:p>
        </p:txBody>
      </p:sp>
      <p:sp>
        <p:nvSpPr>
          <p:cNvPr id="4" name="Text 2"/>
          <p:cNvSpPr txBox="1"/>
          <p:nvPr/>
        </p:nvSpPr>
        <p:spPr>
          <a:xfrm>
            <a:off x="548640" y="1371600"/>
            <a:ext cx="11064240" cy="384048"/>
          </a:xfrm>
          <a:prstGeom prst="rect">
            <a:avLst/>
          </a:prstGeom>
          <a:noFill/>
          <a:ln/>
        </p:spPr>
        <p:txBody>
          <a:bodyPr wrap="square" lIns="0" tIns="0" rIns="0" bIns="0" rtlCol="0" anchor="t"/>
          <a:lstStyle/>
          <a:p>
            <a:pPr indent="0" marL="0">
              <a:buNone/>
            </a:pPr>
            <a:r>
              <a:rPr lang="en-US" sz="1900" i="1" dirty="0">
                <a:solidFill>
                  <a:srgbClr val="E8742A"/>
                </a:solidFill>
                <a:latin typeface="Calibri" pitchFamily="34" charset="0"/>
                <a:ea typeface="Calibri" pitchFamily="34" charset="-122"/>
                <a:cs typeface="Calibri" pitchFamily="34" charset="-120"/>
              </a:rPr>
              <a:t>Ceux que Dieu restaure à son image, il les envoie.</a:t>
            </a:r>
            <a:endParaRPr lang="en-US" sz="1900" dirty="0"/>
          </a:p>
        </p:txBody>
      </p:sp>
      <p:sp>
        <p:nvSpPr>
          <p:cNvPr id="5" name="Text 3"/>
          <p:cNvSpPr txBox="1"/>
          <p:nvPr/>
        </p:nvSpPr>
        <p:spPr>
          <a:xfrm>
            <a:off x="5788152" y="384048"/>
            <a:ext cx="73152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créée</a:t>
            </a:r>
            <a:endParaRPr lang="en-US" sz="1200" dirty="0"/>
          </a:p>
        </p:txBody>
      </p:sp>
      <p:sp>
        <p:nvSpPr>
          <p:cNvPr id="6" name="Text 4"/>
          <p:cNvSpPr txBox="1"/>
          <p:nvPr/>
        </p:nvSpPr>
        <p:spPr>
          <a:xfrm>
            <a:off x="65196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parfaite</a:t>
            </a:r>
            <a:endParaRPr lang="en-US" sz="1200" dirty="0"/>
          </a:p>
        </p:txBody>
      </p:sp>
      <p:sp>
        <p:nvSpPr>
          <p:cNvPr id="7" name="Text 5"/>
          <p:cNvSpPr txBox="1"/>
          <p:nvPr/>
        </p:nvSpPr>
        <p:spPr>
          <a:xfrm>
            <a:off x="7525512" y="384048"/>
            <a:ext cx="91440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promise</a:t>
            </a:r>
            <a:endParaRPr lang="en-US" sz="1200" dirty="0"/>
          </a:p>
        </p:txBody>
      </p:sp>
      <p:sp>
        <p:nvSpPr>
          <p:cNvPr id="8" name="Text 6"/>
          <p:cNvSpPr txBox="1"/>
          <p:nvPr/>
        </p:nvSpPr>
        <p:spPr>
          <a:xfrm>
            <a:off x="8439912" y="384048"/>
            <a:ext cx="128016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transformée</a:t>
            </a:r>
            <a:endParaRPr lang="en-US" sz="1200" dirty="0"/>
          </a:p>
        </p:txBody>
      </p:sp>
      <p:sp>
        <p:nvSpPr>
          <p:cNvPr id="9" name="Text 7"/>
          <p:cNvSpPr txBox="1"/>
          <p:nvPr/>
        </p:nvSpPr>
        <p:spPr>
          <a:xfrm>
            <a:off x="9720072" y="384048"/>
            <a:ext cx="1005840" cy="292608"/>
          </a:xfrm>
          <a:prstGeom prst="rect">
            <a:avLst/>
          </a:prstGeom>
          <a:noFill/>
          <a:ln/>
        </p:spPr>
        <p:txBody>
          <a:bodyPr wrap="square" lIns="0" tIns="0" rIns="0" bIns="0" rtlCol="0" anchor="t"/>
          <a:lstStyle/>
          <a:p>
            <a:pPr algn="ctr" indent="0" marL="0">
              <a:buNone/>
            </a:pPr>
            <a:r>
              <a:rPr lang="en-US" sz="1200" dirty="0">
                <a:solidFill>
                  <a:srgbClr val="6E625A"/>
                </a:solidFill>
                <a:latin typeface="Calibri" pitchFamily="34" charset="0"/>
                <a:ea typeface="Calibri" pitchFamily="34" charset="-122"/>
                <a:cs typeface="Calibri" pitchFamily="34" charset="-120"/>
              </a:rPr>
              <a:t>qui aime</a:t>
            </a:r>
            <a:endParaRPr lang="en-US" sz="1200" dirty="0"/>
          </a:p>
        </p:txBody>
      </p:sp>
      <p:sp>
        <p:nvSpPr>
          <p:cNvPr id="10" name="Text 8"/>
          <p:cNvSpPr txBox="1"/>
          <p:nvPr/>
        </p:nvSpPr>
        <p:spPr>
          <a:xfrm>
            <a:off x="10725912" y="384048"/>
            <a:ext cx="914400" cy="292608"/>
          </a:xfrm>
          <a:prstGeom prst="rect">
            <a:avLst/>
          </a:prstGeom>
          <a:noFill/>
          <a:ln/>
        </p:spPr>
        <p:txBody>
          <a:bodyPr wrap="square" lIns="0" tIns="0" rIns="0" bIns="0" rtlCol="0" anchor="t"/>
          <a:lstStyle/>
          <a:p>
            <a:pPr algn="ctr" indent="0" marL="0">
              <a:buNone/>
            </a:pPr>
            <a:r>
              <a:rPr lang="en-US" sz="1200" b="1" dirty="0">
                <a:solidFill>
                  <a:srgbClr val="E8742A"/>
                </a:solidFill>
                <a:latin typeface="Calibri" pitchFamily="34" charset="0"/>
                <a:ea typeface="Calibri" pitchFamily="34" charset="-122"/>
                <a:cs typeface="Calibri" pitchFamily="34" charset="-120"/>
              </a:rPr>
              <a:t>envoyée</a:t>
            </a:r>
            <a:endParaRPr lang="en-US" sz="1200" dirty="0"/>
          </a:p>
        </p:txBody>
      </p:sp>
      <p:pic>
        <p:nvPicPr>
          <p:cNvPr id="11" name="Image 0" descr="La terre, avec des flèches vers toutes les nations">    </p:cNvPr>
          <p:cNvPicPr>
            <a:picLocks noChangeAspect="1"/>
          </p:cNvPicPr>
          <p:nvPr/>
        </p:nvPicPr>
        <p:blipFill>
          <a:blip r:embed="rId1"/>
          <a:stretch>
            <a:fillRect/>
          </a:stretch>
        </p:blipFill>
        <p:spPr>
          <a:xfrm>
            <a:off x="548640" y="1920240"/>
            <a:ext cx="3840480" cy="3840480"/>
          </a:xfrm>
          <a:prstGeom prst="rect">
            <a:avLst/>
          </a:prstGeom>
        </p:spPr>
      </p:pic>
      <p:sp>
        <p:nvSpPr>
          <p:cNvPr id="12" name="Text 9"/>
          <p:cNvSpPr txBox="1"/>
          <p:nvPr/>
        </p:nvSpPr>
        <p:spPr>
          <a:xfrm>
            <a:off x="548640" y="5806440"/>
            <a:ext cx="3840480" cy="365760"/>
          </a:xfrm>
          <a:prstGeom prst="rect">
            <a:avLst/>
          </a:prstGeom>
          <a:noFill/>
          <a:ln/>
        </p:spPr>
        <p:txBody>
          <a:bodyPr wrap="square" lIns="0" tIns="0" rIns="0" bIns="0" rtlCol="0" anchor="t"/>
          <a:lstStyle/>
          <a:p>
            <a:pPr algn="ctr" indent="0" marL="0">
              <a:buNone/>
            </a:pPr>
            <a:r>
              <a:rPr lang="en-US" sz="1800" b="1" dirty="0">
                <a:solidFill>
                  <a:srgbClr val="E8742A"/>
                </a:solidFill>
                <a:latin typeface="Calibri" pitchFamily="34" charset="0"/>
                <a:ea typeface="Calibri" pitchFamily="34" charset="-122"/>
                <a:cs typeface="Calibri" pitchFamily="34" charset="-120"/>
              </a:rPr>
              <a:t>Toutes les nations</a:t>
            </a:r>
            <a:endParaRPr lang="en-US" sz="1800" dirty="0"/>
          </a:p>
        </p:txBody>
      </p:sp>
      <p:sp>
        <p:nvSpPr>
          <p:cNvPr id="13" name="Shape 10"/>
          <p:cNvSpPr/>
          <p:nvPr/>
        </p:nvSpPr>
        <p:spPr>
          <a:xfrm>
            <a:off x="4937760" y="1920240"/>
            <a:ext cx="6702552" cy="777240"/>
          </a:xfrm>
          <a:prstGeom prst="roundRect">
            <a:avLst>
              <a:gd name="adj" fmla="val 14118"/>
            </a:avLst>
          </a:prstGeom>
          <a:solidFill>
            <a:srgbClr val="CC5500"/>
          </a:solidFill>
          <a:ln w="12700">
            <a:solidFill>
              <a:srgbClr val="CC5500"/>
            </a:solidFill>
            <a:prstDash val="solid"/>
          </a:ln>
        </p:spPr>
      </p:sp>
      <p:sp>
        <p:nvSpPr>
          <p:cNvPr id="14" name="Text 11"/>
          <p:cNvSpPr txBox="1"/>
          <p:nvPr/>
        </p:nvSpPr>
        <p:spPr>
          <a:xfrm>
            <a:off x="4937760" y="1920240"/>
            <a:ext cx="6702552"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Faites des disciples</a:t>
            </a:r>
            <a:endParaRPr lang="en-US" sz="2800" dirty="0"/>
          </a:p>
        </p:txBody>
      </p:sp>
      <p:sp>
        <p:nvSpPr>
          <p:cNvPr id="15" name="Text 12"/>
          <p:cNvSpPr txBox="1"/>
          <p:nvPr/>
        </p:nvSpPr>
        <p:spPr>
          <a:xfrm>
            <a:off x="4937760" y="2761488"/>
            <a:ext cx="6702552" cy="320040"/>
          </a:xfrm>
          <a:prstGeom prst="rect">
            <a:avLst/>
          </a:prstGeom>
          <a:noFill/>
          <a:ln/>
        </p:spPr>
        <p:txBody>
          <a:bodyPr wrap="square" lIns="0" tIns="0" rIns="0" bIns="0" rtlCol="0" anchor="t"/>
          <a:lstStyle/>
          <a:p>
            <a:pPr algn="ctr" indent="0" marL="0">
              <a:buNone/>
            </a:pPr>
            <a:r>
              <a:rPr lang="en-US" sz="1400" i="1" dirty="0">
                <a:solidFill>
                  <a:srgbClr val="A89A8C"/>
                </a:solidFill>
                <a:latin typeface="Calibri" pitchFamily="34" charset="0"/>
                <a:ea typeface="Calibri" pitchFamily="34" charset="-122"/>
                <a:cs typeface="Calibri" pitchFamily="34" charset="-120"/>
              </a:rPr>
              <a:t>Le seul impératif. Les trois autres verbes en décrivent le chemin.</a:t>
            </a:r>
            <a:endParaRPr lang="en-US" sz="1400" dirty="0"/>
          </a:p>
        </p:txBody>
      </p:sp>
      <p:sp>
        <p:nvSpPr>
          <p:cNvPr id="16" name="Shape 13"/>
          <p:cNvSpPr/>
          <p:nvPr/>
        </p:nvSpPr>
        <p:spPr>
          <a:xfrm>
            <a:off x="4937760" y="3200400"/>
            <a:ext cx="2112264" cy="1600200"/>
          </a:xfrm>
          <a:prstGeom prst="roundRect">
            <a:avLst>
              <a:gd name="adj" fmla="val 6857"/>
            </a:avLst>
          </a:prstGeom>
          <a:solidFill>
            <a:srgbClr val="1A1411"/>
          </a:solidFill>
          <a:ln w="9525">
            <a:solidFill>
              <a:srgbClr val="2E211A"/>
            </a:solidFill>
            <a:prstDash val="solid"/>
          </a:ln>
        </p:spPr>
      </p:sp>
      <p:sp>
        <p:nvSpPr>
          <p:cNvPr id="17" name="Shape 14"/>
          <p:cNvSpPr/>
          <p:nvPr/>
        </p:nvSpPr>
        <p:spPr>
          <a:xfrm>
            <a:off x="5102352" y="3346704"/>
            <a:ext cx="502920" cy="502920"/>
          </a:xfrm>
          <a:prstGeom prst="ellipse">
            <a:avLst/>
          </a:prstGeom>
          <a:solidFill>
            <a:srgbClr val="2A1A10"/>
          </a:solidFill>
          <a:ln w="12700">
            <a:solidFill>
              <a:srgbClr val="CC5500"/>
            </a:solidFill>
            <a:prstDash val="solid"/>
          </a:ln>
        </p:spPr>
      </p:sp>
      <p:pic>
        <p:nvPicPr>
          <p:cNvPr id="18" name="Image 1" descr="marche">    </p:cNvPr>
          <p:cNvPicPr>
            <a:picLocks noChangeAspect="1"/>
          </p:cNvPicPr>
          <p:nvPr/>
        </p:nvPicPr>
        <p:blipFill>
          <a:blip r:embed="rId2"/>
          <a:stretch>
            <a:fillRect/>
          </a:stretch>
        </p:blipFill>
        <p:spPr>
          <a:xfrm>
            <a:off x="5202936" y="3447288"/>
            <a:ext cx="301752" cy="301752"/>
          </a:xfrm>
          <a:prstGeom prst="rect">
            <a:avLst/>
          </a:prstGeom>
        </p:spPr>
      </p:pic>
      <p:sp>
        <p:nvSpPr>
          <p:cNvPr id="19" name="Text 15"/>
          <p:cNvSpPr txBox="1"/>
          <p:nvPr/>
        </p:nvSpPr>
        <p:spPr>
          <a:xfrm>
            <a:off x="5715000"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Aller</a:t>
            </a:r>
            <a:endParaRPr lang="en-US" sz="1900" dirty="0"/>
          </a:p>
        </p:txBody>
      </p:sp>
      <p:sp>
        <p:nvSpPr>
          <p:cNvPr id="20" name="Text 16"/>
          <p:cNvSpPr txBox="1"/>
          <p:nvPr/>
        </p:nvSpPr>
        <p:spPr>
          <a:xfrm>
            <a:off x="5102352"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vers toutes les nations</a:t>
            </a:r>
            <a:endParaRPr lang="en-US" sz="1500" dirty="0"/>
          </a:p>
        </p:txBody>
      </p:sp>
      <p:sp>
        <p:nvSpPr>
          <p:cNvPr id="21" name="Shape 17"/>
          <p:cNvSpPr/>
          <p:nvPr/>
        </p:nvSpPr>
        <p:spPr>
          <a:xfrm>
            <a:off x="7232904" y="3200400"/>
            <a:ext cx="2112264" cy="1600200"/>
          </a:xfrm>
          <a:prstGeom prst="roundRect">
            <a:avLst>
              <a:gd name="adj" fmla="val 6857"/>
            </a:avLst>
          </a:prstGeom>
          <a:solidFill>
            <a:srgbClr val="1A1411"/>
          </a:solidFill>
          <a:ln w="9525">
            <a:solidFill>
              <a:srgbClr val="2E211A"/>
            </a:solidFill>
            <a:prstDash val="solid"/>
          </a:ln>
        </p:spPr>
      </p:sp>
      <p:sp>
        <p:nvSpPr>
          <p:cNvPr id="22" name="Shape 18"/>
          <p:cNvSpPr/>
          <p:nvPr/>
        </p:nvSpPr>
        <p:spPr>
          <a:xfrm>
            <a:off x="7397496" y="3346704"/>
            <a:ext cx="502920" cy="502920"/>
          </a:xfrm>
          <a:prstGeom prst="ellipse">
            <a:avLst/>
          </a:prstGeom>
          <a:solidFill>
            <a:srgbClr val="2A1A10"/>
          </a:solidFill>
          <a:ln w="12700">
            <a:solidFill>
              <a:srgbClr val="CC5500"/>
            </a:solidFill>
            <a:prstDash val="solid"/>
          </a:ln>
        </p:spPr>
      </p:sp>
      <p:pic>
        <p:nvPicPr>
          <p:cNvPr id="23" name="Image 2" descr="eau">    </p:cNvPr>
          <p:cNvPicPr>
            <a:picLocks noChangeAspect="1"/>
          </p:cNvPicPr>
          <p:nvPr/>
        </p:nvPicPr>
        <p:blipFill>
          <a:blip r:embed="rId3"/>
          <a:stretch>
            <a:fillRect/>
          </a:stretch>
        </p:blipFill>
        <p:spPr>
          <a:xfrm>
            <a:off x="7498080" y="3447288"/>
            <a:ext cx="301752" cy="301752"/>
          </a:xfrm>
          <a:prstGeom prst="rect">
            <a:avLst/>
          </a:prstGeom>
        </p:spPr>
      </p:pic>
      <p:sp>
        <p:nvSpPr>
          <p:cNvPr id="24" name="Text 19"/>
          <p:cNvSpPr txBox="1"/>
          <p:nvPr/>
        </p:nvSpPr>
        <p:spPr>
          <a:xfrm>
            <a:off x="8010144"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Baptiser</a:t>
            </a:r>
            <a:endParaRPr lang="en-US" sz="1900" dirty="0"/>
          </a:p>
        </p:txBody>
      </p:sp>
      <p:sp>
        <p:nvSpPr>
          <p:cNvPr id="25" name="Text 20"/>
          <p:cNvSpPr txBox="1"/>
          <p:nvPr/>
        </p:nvSpPr>
        <p:spPr>
          <a:xfrm>
            <a:off x="7397496"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au nom, un seul nom, du Père, du Fils et du Saint-Esprit</a:t>
            </a:r>
            <a:endParaRPr lang="en-US" sz="1500" dirty="0"/>
          </a:p>
        </p:txBody>
      </p:sp>
      <p:sp>
        <p:nvSpPr>
          <p:cNvPr id="26" name="Shape 21"/>
          <p:cNvSpPr/>
          <p:nvPr/>
        </p:nvSpPr>
        <p:spPr>
          <a:xfrm>
            <a:off x="9528048" y="3200400"/>
            <a:ext cx="2112264" cy="1600200"/>
          </a:xfrm>
          <a:prstGeom prst="roundRect">
            <a:avLst>
              <a:gd name="adj" fmla="val 6857"/>
            </a:avLst>
          </a:prstGeom>
          <a:solidFill>
            <a:srgbClr val="1A1411"/>
          </a:solidFill>
          <a:ln w="9525">
            <a:solidFill>
              <a:srgbClr val="2E211A"/>
            </a:solidFill>
            <a:prstDash val="solid"/>
          </a:ln>
        </p:spPr>
      </p:sp>
      <p:sp>
        <p:nvSpPr>
          <p:cNvPr id="27" name="Shape 22"/>
          <p:cNvSpPr/>
          <p:nvPr/>
        </p:nvSpPr>
        <p:spPr>
          <a:xfrm>
            <a:off x="9692640" y="3346704"/>
            <a:ext cx="502920" cy="502920"/>
          </a:xfrm>
          <a:prstGeom prst="ellipse">
            <a:avLst/>
          </a:prstGeom>
          <a:solidFill>
            <a:srgbClr val="2A1A10"/>
          </a:solidFill>
          <a:ln w="12700">
            <a:solidFill>
              <a:srgbClr val="CC5500"/>
            </a:solidFill>
            <a:prstDash val="solid"/>
          </a:ln>
        </p:spPr>
      </p:sp>
      <p:pic>
        <p:nvPicPr>
          <p:cNvPr id="28" name="Image 3" descr="enseigner">    </p:cNvPr>
          <p:cNvPicPr>
            <a:picLocks noChangeAspect="1"/>
          </p:cNvPicPr>
          <p:nvPr/>
        </p:nvPicPr>
        <p:blipFill>
          <a:blip r:embed="rId4"/>
          <a:stretch>
            <a:fillRect/>
          </a:stretch>
        </p:blipFill>
        <p:spPr>
          <a:xfrm>
            <a:off x="9793224" y="3447288"/>
            <a:ext cx="301752" cy="301752"/>
          </a:xfrm>
          <a:prstGeom prst="rect">
            <a:avLst/>
          </a:prstGeom>
        </p:spPr>
      </p:pic>
      <p:sp>
        <p:nvSpPr>
          <p:cNvPr id="29" name="Text 23"/>
          <p:cNvSpPr txBox="1"/>
          <p:nvPr/>
        </p:nvSpPr>
        <p:spPr>
          <a:xfrm>
            <a:off x="10305288" y="3346704"/>
            <a:ext cx="1280160" cy="502920"/>
          </a:xfrm>
          <a:prstGeom prst="rect">
            <a:avLst/>
          </a:prstGeom>
          <a:noFill/>
          <a:ln/>
        </p:spPr>
        <p:txBody>
          <a:bodyPr wrap="square" lIns="0" tIns="0" rIns="0" bIns="0" rtlCol="0" anchor="ctr"/>
          <a:lstStyle/>
          <a:p>
            <a:pPr indent="0" marL="0">
              <a:buNone/>
            </a:pPr>
            <a:r>
              <a:rPr lang="en-US" sz="1900" b="1" dirty="0">
                <a:solidFill>
                  <a:srgbClr val="F4EDE4"/>
                </a:solidFill>
                <a:latin typeface="Calibri" pitchFamily="34" charset="0"/>
                <a:ea typeface="Calibri" pitchFamily="34" charset="-122"/>
                <a:cs typeface="Calibri" pitchFamily="34" charset="-120"/>
              </a:rPr>
              <a:t>Enseigner</a:t>
            </a:r>
            <a:endParaRPr lang="en-US" sz="1900" dirty="0"/>
          </a:p>
        </p:txBody>
      </p:sp>
      <p:sp>
        <p:nvSpPr>
          <p:cNvPr id="30" name="Text 24"/>
          <p:cNvSpPr txBox="1"/>
          <p:nvPr/>
        </p:nvSpPr>
        <p:spPr>
          <a:xfrm>
            <a:off x="9692640" y="3950208"/>
            <a:ext cx="1828800" cy="822960"/>
          </a:xfrm>
          <a:prstGeom prst="rect">
            <a:avLst/>
          </a:prstGeom>
          <a:noFill/>
          <a:ln/>
        </p:spPr>
        <p:txBody>
          <a:bodyPr wrap="square" lIns="0" tIns="0" rIns="0" bIns="0" rtlCol="0" anchor="t"/>
          <a:lstStyle/>
          <a:p>
            <a:pPr indent="0" marL="0">
              <a:buNone/>
            </a:pPr>
            <a:r>
              <a:rPr lang="en-US" sz="1500" dirty="0">
                <a:solidFill>
                  <a:srgbClr val="A89A8C"/>
                </a:solidFill>
                <a:latin typeface="Calibri" pitchFamily="34" charset="0"/>
                <a:ea typeface="Calibri" pitchFamily="34" charset="-122"/>
                <a:cs typeface="Calibri" pitchFamily="34" charset="-120"/>
              </a:rPr>
              <a:t>à observer tout ce que Christ a prescrit</a:t>
            </a:r>
            <a:endParaRPr lang="en-US" sz="1500" dirty="0"/>
          </a:p>
        </p:txBody>
      </p:sp>
      <p:sp>
        <p:nvSpPr>
          <p:cNvPr id="31" name="Shape 25"/>
          <p:cNvSpPr/>
          <p:nvPr/>
        </p:nvSpPr>
        <p:spPr>
          <a:xfrm>
            <a:off x="4937760" y="4956048"/>
            <a:ext cx="6702552" cy="658368"/>
          </a:xfrm>
          <a:prstGeom prst="roundRect">
            <a:avLst>
              <a:gd name="adj" fmla="val 16667"/>
            </a:avLst>
          </a:prstGeom>
          <a:solidFill>
            <a:srgbClr val="1A1411"/>
          </a:solidFill>
          <a:ln w="9525">
            <a:solidFill>
              <a:srgbClr val="2E211A"/>
            </a:solidFill>
            <a:prstDash val="solid"/>
          </a:ln>
        </p:spPr>
      </p:sp>
      <p:sp>
        <p:nvSpPr>
          <p:cNvPr id="32" name="Shape 26"/>
          <p:cNvSpPr/>
          <p:nvPr/>
        </p:nvSpPr>
        <p:spPr>
          <a:xfrm>
            <a:off x="5074920" y="5029200"/>
            <a:ext cx="512064" cy="512064"/>
          </a:xfrm>
          <a:prstGeom prst="ellipse">
            <a:avLst/>
          </a:prstGeom>
          <a:solidFill>
            <a:srgbClr val="2A1A10"/>
          </a:solidFill>
          <a:ln w="12700">
            <a:solidFill>
              <a:srgbClr val="CC5500"/>
            </a:solidFill>
            <a:prstDash val="solid"/>
          </a:ln>
        </p:spPr>
      </p:sp>
      <p:pic>
        <p:nvPicPr>
          <p:cNvPr id="33" name="Image 4" descr="main">    </p:cNvPr>
          <p:cNvPicPr>
            <a:picLocks noChangeAspect="1"/>
          </p:cNvPicPr>
          <p:nvPr/>
        </p:nvPicPr>
        <p:blipFill>
          <a:blip r:embed="rId5"/>
          <a:stretch>
            <a:fillRect/>
          </a:stretch>
        </p:blipFill>
        <p:spPr>
          <a:xfrm>
            <a:off x="5177333" y="5131613"/>
            <a:ext cx="307238" cy="307238"/>
          </a:xfrm>
          <a:prstGeom prst="rect">
            <a:avLst/>
          </a:prstGeom>
        </p:spPr>
      </p:pic>
      <p:sp>
        <p:nvSpPr>
          <p:cNvPr id="34" name="Text 27"/>
          <p:cNvSpPr txBox="1"/>
          <p:nvPr/>
        </p:nvSpPr>
        <p:spPr>
          <a:xfrm>
            <a:off x="5760720" y="4956048"/>
            <a:ext cx="5760720" cy="658368"/>
          </a:xfrm>
          <a:prstGeom prst="rect">
            <a:avLst/>
          </a:prstGeom>
          <a:noFill/>
          <a:ln/>
        </p:spPr>
        <p:txBody>
          <a:bodyPr wrap="square" lIns="0" tIns="0" rIns="0" bIns="0" rtlCol="0" anchor="ctr"/>
          <a:lstStyle/>
          <a:p>
            <a:pPr indent="0" marL="0">
              <a:buNone/>
            </a:pPr>
            <a:r>
              <a:rPr lang="en-US" sz="1700" i="1" dirty="0">
                <a:solidFill>
                  <a:srgbClr val="F4EDE4"/>
                </a:solidFill>
                <a:latin typeface="Calibri" pitchFamily="34" charset="0"/>
                <a:ea typeface="Calibri" pitchFamily="34" charset="-122"/>
                <a:cs typeface="Calibri" pitchFamily="34" charset="-120"/>
              </a:rPr>
              <a:t>« Je suis avec vous tous les jours, jusqu'à la fin du monde. »</a:t>
            </a:r>
            <a:endParaRPr lang="en-US" sz="1700" dirty="0"/>
          </a:p>
        </p:txBody>
      </p:sp>
      <p:sp>
        <p:nvSpPr>
          <p:cNvPr id="35" name="Text 28"/>
          <p:cNvSpPr txBox="1"/>
          <p:nvPr/>
        </p:nvSpPr>
        <p:spPr>
          <a:xfrm>
            <a:off x="4937760" y="5806440"/>
            <a:ext cx="6702552" cy="411480"/>
          </a:xfrm>
          <a:prstGeom prst="rect">
            <a:avLst/>
          </a:prstGeom>
          <a:noFill/>
          <a:ln/>
        </p:spPr>
        <p:txBody>
          <a:bodyPr wrap="square" lIns="0" tIns="0" rIns="0" bIns="0" rtlCol="0" anchor="t"/>
          <a:lstStyle/>
          <a:p>
            <a:pPr algn="ctr" indent="0" marL="0">
              <a:buNone/>
            </a:pPr>
            <a:r>
              <a:rPr lang="en-US" sz="2100" b="1" dirty="0">
                <a:solidFill>
                  <a:srgbClr val="E8742A"/>
                </a:solidFill>
                <a:latin typeface="Calibri" pitchFamily="34" charset="0"/>
                <a:ea typeface="Calibri" pitchFamily="34" charset="-122"/>
                <a:cs typeface="Calibri" pitchFamily="34" charset="-120"/>
              </a:rPr>
              <a:t>Qui, cette semaine, entendra de vous l'Évangile?</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292608"/>
          </a:xfrm>
          <a:prstGeom prst="rect">
            <a:avLst/>
          </a:prstGeom>
          <a:noFill/>
          <a:ln/>
        </p:spPr>
        <p:txBody>
          <a:bodyPr wrap="square" lIns="0" tIns="0" rIns="0" bIns="0" rtlCol="0" anchor="t"/>
          <a:lstStyle/>
          <a:p>
            <a:pPr indent="0" marL="0">
              <a:buNone/>
            </a:pPr>
            <a:r>
              <a:rPr lang="en-US" sz="1300" b="1" spc="300" kern="0" dirty="0">
                <a:solidFill>
                  <a:srgbClr val="E8742A"/>
                </a:solidFill>
                <a:latin typeface="Calibri" pitchFamily="34" charset="0"/>
                <a:ea typeface="Calibri" pitchFamily="34" charset="-122"/>
                <a:cs typeface="Calibri" pitchFamily="34" charset="-120"/>
              </a:rPr>
              <a:t>CONCLUSION ET APPEL</a:t>
            </a:r>
            <a:endParaRPr lang="en-US" sz="1300" dirty="0"/>
          </a:p>
        </p:txBody>
      </p:sp>
      <p:sp>
        <p:nvSpPr>
          <p:cNvPr id="3" name="Text 1"/>
          <p:cNvSpPr txBox="1"/>
          <p:nvPr/>
        </p:nvSpPr>
        <p:spPr>
          <a:xfrm>
            <a:off x="548640" y="731520"/>
            <a:ext cx="11064240" cy="1051560"/>
          </a:xfrm>
          <a:prstGeom prst="rect">
            <a:avLst/>
          </a:prstGeom>
          <a:noFill/>
          <a:ln/>
        </p:spPr>
        <p:txBody>
          <a:bodyPr wrap="square" lIns="0" tIns="0" rIns="0" bIns="0" rtlCol="0" anchor="t"/>
          <a:lstStyle/>
          <a:p>
            <a:pPr indent="0" marL="0">
              <a:buNone/>
            </a:pPr>
            <a:r>
              <a:rPr lang="en-US" sz="3000" b="1" dirty="0">
                <a:solidFill>
                  <a:srgbClr val="F4EDE4"/>
                </a:solidFill>
                <a:latin typeface="Cambria" pitchFamily="34" charset="0"/>
                <a:ea typeface="Cambria" pitchFamily="34" charset="-122"/>
                <a:cs typeface="Cambria" pitchFamily="34" charset="-120"/>
              </a:rPr>
              <a:t>Créés à son image, restaurés en Christ,</a:t>
            </a:r>
            <a:endParaRPr lang="en-US" sz="3000" dirty="0"/>
          </a:p>
          <a:p>
            <a:pPr indent="0" marL="0">
              <a:buNone/>
            </a:pPr>
            <a:r>
              <a:rPr lang="en-US" sz="3000" b="1" dirty="0">
                <a:solidFill>
                  <a:srgbClr val="F4EDE4"/>
                </a:solidFill>
                <a:latin typeface="Cambria" pitchFamily="34" charset="0"/>
                <a:ea typeface="Cambria" pitchFamily="34" charset="-122"/>
                <a:cs typeface="Cambria" pitchFamily="34" charset="-120"/>
              </a:rPr>
              <a:t>transformés par l'Esprit, envoyés en son nom.</a:t>
            </a:r>
            <a:endParaRPr lang="en-US" sz="3000" dirty="0"/>
          </a:p>
        </p:txBody>
      </p:sp>
      <p:sp>
        <p:nvSpPr>
          <p:cNvPr id="4" name="Shape 2"/>
          <p:cNvSpPr/>
          <p:nvPr/>
        </p:nvSpPr>
        <p:spPr>
          <a:xfrm>
            <a:off x="1143000" y="2240280"/>
            <a:ext cx="1645920" cy="1188720"/>
          </a:xfrm>
          <a:prstGeom prst="line">
            <a:avLst/>
          </a:prstGeom>
          <a:noFill/>
          <a:ln w="38100">
            <a:solidFill>
              <a:srgbClr val="6E5A4C"/>
            </a:solidFill>
            <a:prstDash val="dash"/>
          </a:ln>
        </p:spPr>
      </p:sp>
      <p:sp>
        <p:nvSpPr>
          <p:cNvPr id="5" name="Shape 3"/>
          <p:cNvSpPr/>
          <p:nvPr/>
        </p:nvSpPr>
        <p:spPr>
          <a:xfrm flipV="1">
            <a:off x="2788920" y="3108960"/>
            <a:ext cx="1645920" cy="320040"/>
          </a:xfrm>
          <a:prstGeom prst="line">
            <a:avLst/>
          </a:prstGeom>
          <a:noFill/>
          <a:ln w="38100">
            <a:solidFill>
              <a:srgbClr val="CC5500"/>
            </a:solidFill>
            <a:prstDash val="solid"/>
          </a:ln>
        </p:spPr>
      </p:sp>
      <p:sp>
        <p:nvSpPr>
          <p:cNvPr id="6" name="Shape 4"/>
          <p:cNvSpPr/>
          <p:nvPr/>
        </p:nvSpPr>
        <p:spPr>
          <a:xfrm flipV="1">
            <a:off x="4434840" y="2834640"/>
            <a:ext cx="1645920" cy="274320"/>
          </a:xfrm>
          <a:prstGeom prst="line">
            <a:avLst/>
          </a:prstGeom>
          <a:noFill/>
          <a:ln w="38100">
            <a:solidFill>
              <a:srgbClr val="CC5500"/>
            </a:solidFill>
            <a:prstDash val="solid"/>
          </a:ln>
        </p:spPr>
      </p:sp>
      <p:sp>
        <p:nvSpPr>
          <p:cNvPr id="7" name="Shape 5"/>
          <p:cNvSpPr/>
          <p:nvPr/>
        </p:nvSpPr>
        <p:spPr>
          <a:xfrm flipV="1">
            <a:off x="6080760" y="2560320"/>
            <a:ext cx="1645920" cy="274320"/>
          </a:xfrm>
          <a:prstGeom prst="line">
            <a:avLst/>
          </a:prstGeom>
          <a:noFill/>
          <a:ln w="38100">
            <a:solidFill>
              <a:srgbClr val="CC5500"/>
            </a:solidFill>
            <a:prstDash val="solid"/>
          </a:ln>
        </p:spPr>
      </p:sp>
      <p:sp>
        <p:nvSpPr>
          <p:cNvPr id="8" name="Shape 6"/>
          <p:cNvSpPr/>
          <p:nvPr/>
        </p:nvSpPr>
        <p:spPr>
          <a:xfrm flipV="1">
            <a:off x="7726680" y="2286000"/>
            <a:ext cx="1645920" cy="274320"/>
          </a:xfrm>
          <a:prstGeom prst="line">
            <a:avLst/>
          </a:prstGeom>
          <a:noFill/>
          <a:ln w="38100">
            <a:solidFill>
              <a:srgbClr val="CC5500"/>
            </a:solidFill>
            <a:prstDash val="solid"/>
          </a:ln>
        </p:spPr>
      </p:sp>
      <p:sp>
        <p:nvSpPr>
          <p:cNvPr id="9" name="Shape 7"/>
          <p:cNvSpPr/>
          <p:nvPr/>
        </p:nvSpPr>
        <p:spPr>
          <a:xfrm flipV="1">
            <a:off x="9372600" y="2011680"/>
            <a:ext cx="1645920" cy="274320"/>
          </a:xfrm>
          <a:prstGeom prst="line">
            <a:avLst/>
          </a:prstGeom>
          <a:noFill/>
          <a:ln w="38100">
            <a:solidFill>
              <a:srgbClr val="CC5500"/>
            </a:solidFill>
            <a:prstDash val="solid"/>
          </a:ln>
        </p:spPr>
      </p:sp>
      <p:sp>
        <p:nvSpPr>
          <p:cNvPr id="10" name="Shape 8"/>
          <p:cNvSpPr/>
          <p:nvPr/>
        </p:nvSpPr>
        <p:spPr>
          <a:xfrm>
            <a:off x="960120" y="2057400"/>
            <a:ext cx="365760" cy="365760"/>
          </a:xfrm>
          <a:prstGeom prst="ellipse">
            <a:avLst/>
          </a:prstGeom>
          <a:solidFill>
            <a:srgbClr val="0D0B0A"/>
          </a:solidFill>
          <a:ln w="38100">
            <a:solidFill>
              <a:srgbClr val="E8742A"/>
            </a:solidFill>
            <a:prstDash val="solid"/>
          </a:ln>
        </p:spPr>
      </p:sp>
      <p:sp>
        <p:nvSpPr>
          <p:cNvPr id="11" name="Text 9"/>
          <p:cNvSpPr txBox="1"/>
          <p:nvPr/>
        </p:nvSpPr>
        <p:spPr>
          <a:xfrm>
            <a:off x="365760" y="251460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Créés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Gn 1.27</a:t>
            </a:r>
            <a:endParaRPr lang="en-US" sz="1600" dirty="0"/>
          </a:p>
        </p:txBody>
      </p:sp>
      <p:sp>
        <p:nvSpPr>
          <p:cNvPr id="12" name="Shape 10"/>
          <p:cNvSpPr/>
          <p:nvPr/>
        </p:nvSpPr>
        <p:spPr>
          <a:xfrm>
            <a:off x="2606040" y="3246120"/>
            <a:ext cx="365760" cy="365760"/>
          </a:xfrm>
          <a:prstGeom prst="ellipse">
            <a:avLst/>
          </a:prstGeom>
          <a:solidFill>
            <a:srgbClr val="6E5A4C"/>
          </a:solidFill>
          <a:ln w="38100">
            <a:solidFill>
              <a:srgbClr val="6E5A4C"/>
            </a:solidFill>
            <a:prstDash val="solid"/>
          </a:ln>
        </p:spPr>
      </p:sp>
      <p:sp>
        <p:nvSpPr>
          <p:cNvPr id="13" name="Text 11"/>
          <p:cNvSpPr txBox="1"/>
          <p:nvPr/>
        </p:nvSpPr>
        <p:spPr>
          <a:xfrm>
            <a:off x="2011680" y="3703320"/>
            <a:ext cx="1554480" cy="685800"/>
          </a:xfrm>
          <a:prstGeom prst="rect">
            <a:avLst/>
          </a:prstGeom>
          <a:noFill/>
          <a:ln/>
        </p:spPr>
        <p:txBody>
          <a:bodyPr wrap="square" lIns="0" tIns="0" rIns="0" bIns="0" rtlCol="0" anchor="t"/>
          <a:lstStyle/>
          <a:p>
            <a:pPr algn="ctr" indent="0" marL="0">
              <a:buNone/>
            </a:pPr>
            <a:r>
              <a:rPr lang="en-US" sz="1600" b="1" dirty="0">
                <a:solidFill>
                  <a:srgbClr val="A89A8C"/>
                </a:solidFill>
                <a:latin typeface="Calibri" pitchFamily="34" charset="0"/>
                <a:ea typeface="Calibri" pitchFamily="34" charset="-122"/>
                <a:cs typeface="Calibri" pitchFamily="34" charset="-120"/>
              </a:rPr>
              <a:t>Ternis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Gn 5.3</a:t>
            </a:r>
            <a:endParaRPr lang="en-US" sz="1600" dirty="0"/>
          </a:p>
        </p:txBody>
      </p:sp>
      <p:sp>
        <p:nvSpPr>
          <p:cNvPr id="14" name="Shape 12"/>
          <p:cNvSpPr/>
          <p:nvPr/>
        </p:nvSpPr>
        <p:spPr>
          <a:xfrm>
            <a:off x="4251960" y="2926080"/>
            <a:ext cx="365760" cy="365760"/>
          </a:xfrm>
          <a:prstGeom prst="ellipse">
            <a:avLst/>
          </a:prstGeom>
          <a:solidFill>
            <a:srgbClr val="0D0B0A"/>
          </a:solidFill>
          <a:ln w="38100">
            <a:solidFill>
              <a:srgbClr val="E8742A"/>
            </a:solidFill>
            <a:prstDash val="solid"/>
          </a:ln>
        </p:spPr>
      </p:sp>
      <p:sp>
        <p:nvSpPr>
          <p:cNvPr id="15" name="Text 13"/>
          <p:cNvSpPr txBox="1"/>
          <p:nvPr/>
        </p:nvSpPr>
        <p:spPr>
          <a:xfrm>
            <a:off x="3657600" y="338328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Restaurés en Christ</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Col 1.15</a:t>
            </a:r>
            <a:endParaRPr lang="en-US" sz="1600" dirty="0"/>
          </a:p>
        </p:txBody>
      </p:sp>
      <p:sp>
        <p:nvSpPr>
          <p:cNvPr id="16" name="Shape 14"/>
          <p:cNvSpPr/>
          <p:nvPr/>
        </p:nvSpPr>
        <p:spPr>
          <a:xfrm>
            <a:off x="5897880" y="2651760"/>
            <a:ext cx="365760" cy="365760"/>
          </a:xfrm>
          <a:prstGeom prst="ellipse">
            <a:avLst/>
          </a:prstGeom>
          <a:solidFill>
            <a:srgbClr val="0D0B0A"/>
          </a:solidFill>
          <a:ln w="38100">
            <a:solidFill>
              <a:srgbClr val="E8742A"/>
            </a:solidFill>
            <a:prstDash val="solid"/>
          </a:ln>
        </p:spPr>
      </p:sp>
      <p:sp>
        <p:nvSpPr>
          <p:cNvPr id="17" name="Text 15"/>
          <p:cNvSpPr txBox="1"/>
          <p:nvPr/>
        </p:nvSpPr>
        <p:spPr>
          <a:xfrm>
            <a:off x="5303520" y="310896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Promis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Rm 8.29</a:t>
            </a:r>
            <a:endParaRPr lang="en-US" sz="1600" dirty="0"/>
          </a:p>
        </p:txBody>
      </p:sp>
      <p:sp>
        <p:nvSpPr>
          <p:cNvPr id="18" name="Shape 16"/>
          <p:cNvSpPr/>
          <p:nvPr/>
        </p:nvSpPr>
        <p:spPr>
          <a:xfrm>
            <a:off x="7543800" y="2377440"/>
            <a:ext cx="365760" cy="365760"/>
          </a:xfrm>
          <a:prstGeom prst="ellipse">
            <a:avLst/>
          </a:prstGeom>
          <a:solidFill>
            <a:srgbClr val="0D0B0A"/>
          </a:solidFill>
          <a:ln w="38100">
            <a:solidFill>
              <a:srgbClr val="E8742A"/>
            </a:solidFill>
            <a:prstDash val="solid"/>
          </a:ln>
        </p:spPr>
      </p:sp>
      <p:sp>
        <p:nvSpPr>
          <p:cNvPr id="19" name="Text 17"/>
          <p:cNvSpPr txBox="1"/>
          <p:nvPr/>
        </p:nvSpPr>
        <p:spPr>
          <a:xfrm>
            <a:off x="6949440" y="283464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Transformés</a:t>
            </a:r>
            <a:endParaRPr lang="en-US" sz="1600" dirty="0"/>
          </a:p>
        </p:txBody>
      </p:sp>
      <p:sp>
        <p:nvSpPr>
          <p:cNvPr id="20" name="Shape 18"/>
          <p:cNvSpPr/>
          <p:nvPr/>
        </p:nvSpPr>
        <p:spPr>
          <a:xfrm>
            <a:off x="9189720" y="2103120"/>
            <a:ext cx="365760" cy="365760"/>
          </a:xfrm>
          <a:prstGeom prst="ellipse">
            <a:avLst/>
          </a:prstGeom>
          <a:solidFill>
            <a:srgbClr val="0D0B0A"/>
          </a:solidFill>
          <a:ln w="38100">
            <a:solidFill>
              <a:srgbClr val="E8742A"/>
            </a:solidFill>
            <a:prstDash val="solid"/>
          </a:ln>
        </p:spPr>
      </p:sp>
      <p:sp>
        <p:nvSpPr>
          <p:cNvPr id="21" name="Text 19"/>
          <p:cNvSpPr txBox="1"/>
          <p:nvPr/>
        </p:nvSpPr>
        <p:spPr>
          <a:xfrm>
            <a:off x="8595360" y="256032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Renouvelés au cœur</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Jr 31.33</a:t>
            </a:r>
            <a:endParaRPr lang="en-US" sz="1600" dirty="0"/>
          </a:p>
        </p:txBody>
      </p:sp>
      <p:sp>
        <p:nvSpPr>
          <p:cNvPr id="22" name="Shape 20"/>
          <p:cNvSpPr/>
          <p:nvPr/>
        </p:nvSpPr>
        <p:spPr>
          <a:xfrm>
            <a:off x="10835640" y="1828800"/>
            <a:ext cx="365760" cy="365760"/>
          </a:xfrm>
          <a:prstGeom prst="ellipse">
            <a:avLst/>
          </a:prstGeom>
          <a:solidFill>
            <a:srgbClr val="E8742A"/>
          </a:solidFill>
          <a:ln w="38100">
            <a:solidFill>
              <a:srgbClr val="E8742A"/>
            </a:solidFill>
            <a:prstDash val="solid"/>
          </a:ln>
        </p:spPr>
      </p:sp>
      <p:sp>
        <p:nvSpPr>
          <p:cNvPr id="23" name="Text 21"/>
          <p:cNvSpPr txBox="1"/>
          <p:nvPr/>
        </p:nvSpPr>
        <p:spPr>
          <a:xfrm>
            <a:off x="10241280" y="2286000"/>
            <a:ext cx="1554480" cy="685800"/>
          </a:xfrm>
          <a:prstGeom prst="rect">
            <a:avLst/>
          </a:prstGeom>
          <a:noFill/>
          <a:ln/>
        </p:spPr>
        <p:txBody>
          <a:bodyPr wrap="square" lIns="0" tIns="0" rIns="0" bIns="0" rtlCol="0" anchor="t"/>
          <a:lstStyle/>
          <a:p>
            <a:pPr algn="ctr" indent="0" marL="0">
              <a:buNone/>
            </a:pPr>
            <a:r>
              <a:rPr lang="en-US" sz="1600" b="1" dirty="0">
                <a:solidFill>
                  <a:srgbClr val="F4EDE4"/>
                </a:solidFill>
                <a:latin typeface="Calibri" pitchFamily="34" charset="0"/>
                <a:ea typeface="Calibri" pitchFamily="34" charset="-122"/>
                <a:cs typeface="Calibri" pitchFamily="34" charset="-120"/>
              </a:rPr>
              <a:t>Envoyés</a:t>
            </a:r>
            <a:endParaRPr lang="en-US" sz="1600" dirty="0"/>
          </a:p>
          <a:p>
            <a:pPr algn="ctr" indent="0" marL="0">
              <a:buNone/>
            </a:pPr>
            <a:r>
              <a:rPr lang="en-US" sz="1300" dirty="0">
                <a:solidFill>
                  <a:srgbClr val="A89A8C"/>
                </a:solidFill>
                <a:latin typeface="Calibri" pitchFamily="34" charset="0"/>
                <a:ea typeface="Calibri" pitchFamily="34" charset="-122"/>
                <a:cs typeface="Calibri" pitchFamily="34" charset="-120"/>
              </a:rPr>
              <a:t>Mt 28.19</a:t>
            </a:r>
            <a:endParaRPr lang="en-US" sz="1600" dirty="0"/>
          </a:p>
        </p:txBody>
      </p:sp>
      <p:sp>
        <p:nvSpPr>
          <p:cNvPr id="24" name="Shape 22"/>
          <p:cNvSpPr/>
          <p:nvPr/>
        </p:nvSpPr>
        <p:spPr>
          <a:xfrm>
            <a:off x="548640" y="4526280"/>
            <a:ext cx="5422392" cy="1600200"/>
          </a:xfrm>
          <a:prstGeom prst="roundRect">
            <a:avLst>
              <a:gd name="adj" fmla="val 6857"/>
            </a:avLst>
          </a:prstGeom>
          <a:solidFill>
            <a:srgbClr val="1A1411"/>
          </a:solidFill>
          <a:ln w="19050">
            <a:solidFill>
              <a:srgbClr val="CC5500"/>
            </a:solidFill>
            <a:prstDash val="solid"/>
          </a:ln>
        </p:spPr>
      </p:sp>
      <p:sp>
        <p:nvSpPr>
          <p:cNvPr id="25" name="Text 23"/>
          <p:cNvSpPr txBox="1"/>
          <p:nvPr/>
        </p:nvSpPr>
        <p:spPr>
          <a:xfrm>
            <a:off x="777240" y="4663440"/>
            <a:ext cx="4983480" cy="1371600"/>
          </a:xfrm>
          <a:prstGeom prst="rect">
            <a:avLst/>
          </a:prstGeom>
          <a:noFill/>
          <a:ln/>
        </p:spPr>
        <p:txBody>
          <a:bodyPr wrap="square" lIns="0" tIns="0" rIns="0" bIns="0" rtlCol="0" anchor="t"/>
          <a:lstStyle/>
          <a:p>
            <a:pPr indent="0" marL="0">
              <a:buNone/>
            </a:pPr>
            <a:r>
              <a:rPr lang="en-US" sz="1900" b="1" dirty="0">
                <a:solidFill>
                  <a:srgbClr val="E8742A"/>
                </a:solidFill>
                <a:latin typeface="Calibri" pitchFamily="34" charset="0"/>
                <a:ea typeface="Calibri" pitchFamily="34" charset="-122"/>
                <a:cs typeface="Calibri" pitchFamily="34" charset="-120"/>
              </a:rPr>
              <a:t>À l'incroyant</a:t>
            </a:r>
            <a:endParaRPr lang="en-US" sz="1500" dirty="0"/>
          </a:p>
          <a:p>
            <a:pPr indent="0" marL="0">
              <a:buNone/>
            </a:pPr>
            <a:r>
              <a:rPr lang="en-US" sz="1500" dirty="0">
                <a:solidFill>
                  <a:srgbClr val="F4EDE4"/>
                </a:solidFill>
                <a:latin typeface="Calibri" pitchFamily="34" charset="0"/>
                <a:ea typeface="Calibri" pitchFamily="34" charset="-122"/>
                <a:cs typeface="Calibri" pitchFamily="34" charset="-120"/>
              </a:rPr>
              <a:t>Vous portez l'image de Dieu, et vous ne l'avez jamais aimé de tout votre cœur. Christ seul pardonne et restaure : repentez-vous, croyez en lui, soumettez-vous à lui comme Seigneur.</a:t>
            </a:r>
            <a:endParaRPr lang="en-US" sz="1500" dirty="0"/>
          </a:p>
        </p:txBody>
      </p:sp>
      <p:sp>
        <p:nvSpPr>
          <p:cNvPr id="26" name="Shape 24"/>
          <p:cNvSpPr/>
          <p:nvPr/>
        </p:nvSpPr>
        <p:spPr>
          <a:xfrm>
            <a:off x="6217920" y="4526280"/>
            <a:ext cx="5422392" cy="1600200"/>
          </a:xfrm>
          <a:prstGeom prst="roundRect">
            <a:avLst>
              <a:gd name="adj" fmla="val 6857"/>
            </a:avLst>
          </a:prstGeom>
          <a:solidFill>
            <a:srgbClr val="1A1411"/>
          </a:solidFill>
          <a:ln w="19050">
            <a:solidFill>
              <a:srgbClr val="CC5500"/>
            </a:solidFill>
            <a:prstDash val="solid"/>
          </a:ln>
        </p:spPr>
      </p:sp>
      <p:sp>
        <p:nvSpPr>
          <p:cNvPr id="27" name="Text 25"/>
          <p:cNvSpPr txBox="1"/>
          <p:nvPr/>
        </p:nvSpPr>
        <p:spPr>
          <a:xfrm>
            <a:off x="6446520" y="4663440"/>
            <a:ext cx="4983480" cy="1371600"/>
          </a:xfrm>
          <a:prstGeom prst="rect">
            <a:avLst/>
          </a:prstGeom>
          <a:noFill/>
          <a:ln/>
        </p:spPr>
        <p:txBody>
          <a:bodyPr wrap="square" lIns="0" tIns="0" rIns="0" bIns="0" rtlCol="0" anchor="t"/>
          <a:lstStyle/>
          <a:p>
            <a:pPr indent="0" marL="0">
              <a:buNone/>
            </a:pPr>
            <a:r>
              <a:rPr lang="en-US" sz="1900" b="1" dirty="0">
                <a:solidFill>
                  <a:srgbClr val="E8742A"/>
                </a:solidFill>
                <a:latin typeface="Calibri" pitchFamily="34" charset="0"/>
                <a:ea typeface="Calibri" pitchFamily="34" charset="-122"/>
                <a:cs typeface="Calibri" pitchFamily="34" charset="-120"/>
              </a:rPr>
              <a:t>Au croyant</a:t>
            </a:r>
            <a:endParaRPr lang="en-US" sz="1500" dirty="0"/>
          </a:p>
          <a:p>
            <a:pPr indent="0" marL="0">
              <a:buNone/>
            </a:pPr>
            <a:r>
              <a:rPr lang="en-US" sz="1500" dirty="0">
                <a:solidFill>
                  <a:srgbClr val="F4EDE4"/>
                </a:solidFill>
                <a:latin typeface="Calibri" pitchFamily="34" charset="0"/>
                <a:ea typeface="Calibri" pitchFamily="34" charset="-122"/>
                <a:cs typeface="Calibri" pitchFamily="34" charset="-120"/>
              </a:rPr>
              <a:t>Dieu achèvera ce qu'il a décidé avant la fondation du monde : nous serons semblables à lui (1 Jn 3.2). Contemplez Christ dans sa Parole; ainsi l'Esprit vous transforme. Et allez : faites des disciples.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À l'image de Christ-Jésus</dc:title>
  <dc:subject>PptxGenJS Presentation</dc:subject>
  <dc:creator>André-Guy Bruneau</dc:creator>
  <cp:lastModifiedBy>André-Guy Bruneau</cp:lastModifiedBy>
  <cp:revision>1</cp:revision>
  <dcterms:created xsi:type="dcterms:W3CDTF">2026-09-28T09:49:03Z</dcterms:created>
  <dcterms:modified xsi:type="dcterms:W3CDTF">2026-09-28T09:49:03Z</dcterms:modified>
</cp:coreProperties>
</file>