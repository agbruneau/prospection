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bb00f85-3d88-915f-92fb-0573c8cb0027}">
          <p14:sldIdLst>
            <p14:sldId id="256"/>
            <p14:sldId id="257"/>
            <p14:sldId id="258"/>
            <p14:sldId id="259"/>
            <p14:sldId id="260"/>
          </p14:sldIdLst>
        </p14:section>
        <p14:section name="I. Le Dieu à qui l'on crie" id="{0f9d253c-704f-b7a4-ebec-7f10ff3ab347}">
          <p14:sldIdLst>
            <p14:sldId id="261"/>
            <p14:sldId id="262"/>
            <p14:sldId id="263"/>
            <p14:sldId id="264"/>
            <p14:sldId id="265"/>
          </p14:sldIdLst>
        </p14:section>
        <p14:section name="II. Le Dieu qui voit" id="{ef12896f-9416-8600-a912-12b14f565973}">
          <p14:sldIdLst>
            <p14:sldId id="266"/>
            <p14:sldId id="267"/>
            <p14:sldId id="268"/>
            <p14:sldId id="269"/>
          </p14:sldIdLst>
        </p14:section>
        <p14:section name="III. Le Dieu qui instruit dans l'attente" id="{7dfa0638-cb1b-69a5-e3c4-ea3d51ab5693}">
          <p14:sldIdLst>
            <p14:sldId id="270"/>
            <p14:sldId id="271"/>
            <p14:sldId id="272"/>
            <p14:sldId id="273"/>
            <p14:sldId id="274"/>
            <p14:sldId id="275"/>
          </p14:sldIdLst>
        </p14:section>
        <p14:section name="IV. Le Dieu qui soutient et qui rendra" id="{57d1594b-7625-59de-d13b-333fdb8f79fe}">
          <p14:sldIdLst>
            <p14:sldId id="276"/>
            <p14:sldId id="277"/>
            <p14:sldId id="278"/>
            <p14:sldId id="279"/>
            <p14:sldId id="280"/>
          </p14:sldIdLst>
        </p14:section>
        <p14:section name="Conclusion" id="{bd8a61ca-e2a0-5ac6-0557-4b1e5e7cce72}">
          <p14:sldIdLst>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publique du Psaume 94 en entier avant l'introduction (environ 2 min), avec une courte pause avant les versets 8, 12 et 16. Durée visée : 42 minutes. Phrase à faire retenir : Dieu voit, Dieu instruit, Dieu rendra.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complainte : collective d'abord (« ton peuple », 94.5), personnelle ensuite (« pour moi », 94.16). Le même verbe hébreu, šûb, ouvre et ferme le psaume : « Rends » (hāšēb, 94.2), « Il fera retomber » (wayyāšeb, 94.23). Les quatre mouvements du sermon : le Dieu à qui l'on crie, qui voit, qui instruit dans l'attente, qui soutient et qui rendra. Genre : complainte traversée de sagesse; prière imprécatoire.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Dieu des vengeances, Eternel! Dieu des vengeances, parais! » (94.1). Peu d'assemblées osent prier ainsi. Pourtant, selon la Mishna (traité Tamid 7.4), on récitait au Temple le troisième jour le Psaume 82, où Dieu reprend ceux qui jugent, et le quatrième, le psaume qui commence par « Dieu des vengeances ». Réserve à garder : du moins à l'époque que décrit la Mishna. La Septante porte aussi un titre : « pour le quatrième jour de la semaine »; l'hébreu n'en a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Pensez à une injustice réelle : une veuve dépouillée par ceux qui devaient la protéger, un employé écarté pour avoir refusé de mentir (situations types, sans désigner personne). Quand le mal triomphe, où va votre plainte : vers l'amertume, vers la revanche, vers le doute qui conclut « L'Eternel ne regarde pas » (94.7), ou vers Dieu lui-même? La note d'introduction de MacArthur nomme le souci du psaume : « le constat que les méchants prospèrent et que les justes sont opprimés, avec l'impression désagréable que Dieu se désintéresse de tout cela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note de MacArthur découpe le psaume en cinq temps : appel lancé à Dieu (94.1-2), arrogance des méchants (94.3-7), avertissement aux insensés (94.8-11), assurance des justes (94.12-15), défense des justes par Dieu (94.16-23). Le sermon réunit les deux premiers. Source : La Sainte Bible avec commentaires de John MacArthur (Société Biblique de Genève, 2006). La note couvre les versets 1, 7, 11, 12, 14, 17, 18, 20 et 23; les autres versets se prêchent au texte seul, et le plan le signale.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point : la plainte portée au juge. Le psalmiste ne se fait pas justice et ne se tait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MacArthur (note sur 94.1) : la vengeance divine « ne se manifeste pas par une agressivité incontrôlée, mais par une juste rétribution appliquée en proportion des infractions commises contre la loi divine ». Le lexique dit « vengeance » (BDB : la vengeance de Dieu, premier sens); la proportion et la référence à la loi divine vont au-delà du lexique : c'est une décision d'interprétation, que le texte appuie. BDB relève le pluriel nĕqāmôt sans en commenter la valeur : ne pas bâtir sur le pluriel.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nom dit deux fois, « Dieu des vengeances », puis trois impératifs adressés à Dieu : « parais », « Lève-toi », « Rends ». Pour « parais », la note de MacArthur avance avec prudence « Pt-ê. s'agit-il ici d'une demande de théophanie (cf. 50.2; 80.2) » : garder cette prudence. Le même verbe (yāpaʿ) a Dieu pour sujet aux Psaumes 50.2 (au parfait) et 80.2 (à l'impératif, la demande la plus proche). Le psalmiste ne réclame pas un droit qu'il exercerait lui-même; il demande à l'Éternel d'exercer celui qu'il s'est réservé (Deutéronome 32.35).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méchants se reconnaissent à leur bouche (94.4), puis à leurs actes : « ils écrasent ton peuple, Ils oppriment ton héritage » (94.5). Le psalmiste dit « ton » : ce qu'on écrase appartient à Dieu. « Ils égorgent la veuve et l'étranger, Ils assassinent les orphelins » (94.6) : les trois que la loi plaçait sous la garde de l'Éternel (Exode 22.21-23). La question « Jusqu'à quand » est adressée à l'Éternel : elle est déjà dans la Bible.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Et ils disent: L'Eternel ne regarde pas, Le Dieu de Jacob ne fait pas attention! » (94.7). MacArthur : « Attitude caractéristique d'un homme qui refuse de dépendre de Dieu ou ne croit pas en son existence » (note sur 94.7, qui renvoie à une note sur 59.8, non fournie). Dire cela, c'est nier la promesse même de la loi : « j'entendrai leurs cris ». Le psalmiste aussi éprouve le silence de Dieu, mais il le dit À Dieu (« ô Eternel! », 94.3); les méchants le disent DE Dieu, et en concluent qu'ils peuvent tout. « Ne fait pas attention » traduit « il ne discerne pas » (lōʾ yābîn). Application : « Jusqu'à quand » n'est pas un manque de foi; les martyrs le redisent (Apocalypse 6.10). Ce n'est pas la maîtrise de soi qui retient la main du croyant, c'est l'assurance, que l'Esprit affermit en celui qui est uni à Christ, que la cause est entre les mains du juge.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point : le psalmiste se tourne vers les insensés et leur renvoie leur mot.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français cache un mot-crochet : « ne fait pas attention » (94.7) est lōʾ yābîn, « il ne discerne pas »; « Prenez-y garde » (94.8) est bînû, « discernez ». Ils disaient que Dieu ne discerne pas; c'est à eux de discerner. Le « quand » (mātay) reprend l'interrogatif du verset 3 : le « jusqu'à quand » adressé à Dieu devient un « quand » adressé aux insensés (observation de Kidner, vérifiée au texte hébreu). « Hommes stupides » (bōʿărîm) est un participe, que BDB rattache au verbe « être stupide, borné, fermé », en parallèle avec « insensés » (kĕsîlîm). L'hébreu les interpelle « parmi le peuple » (bāʿām; Darby : « les stupides d'entre le peuple ») : le texte l'appuie sans le trancher. Préparer une phrase simple, sans cours d'hébreu.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Celui qui a planté l'oreille n'entendrait-il pas? Celui qui a formé l'œil ne verrait-il pas? » (94.9) : deux images pour une même vérité; les questions (hă-, « ne… pas? ») attendent un oui. Dieu est nommé par ce qu'il fait : celui qui plante (nōṭaʿ), qui forme (yōṣēr), qui discipline (yōsēr), qui enseigne (mĕlammēd). « Celui qui châtie les nations ne punirait-il point, Lui qui donne à l'homme l'intelligence? » (94.10). Le second membre du verset 10 n'a pas de verbe principal en hébreu : la NEG79 et la NBS le rattachent au premier. Retenir les deux verbes, discipliner et enseigner : ils reviennent au verset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L'Eternel connaît les pensées de l'homme, Il sait qu'elles sont vaines » (94.11). MacArthur (note sur 94.11, avec renvoi à 92.6 et 1 Corinthiens 3.20) : « Les projets conçus par l'esprit des méchants ne sont que vanité ». La note va au-delà du lexique, qui range maḥăšābāh sous « pensée, de l'homme » et non sous « dessein », et au-delà du texte, qui dit « l'homme » : décision d'interprétation, que le contexte appuie, puisque les versets 8 à 10 s'adressent aux insensés. Contraste : le même mot dit les pensées de Dieu au Psaume 92.6 (« Que tes pensées sont profondes! »); celles de l'homme sont une vapeur (hebel, que BDB range sous « vanité »). Paul cite le verset d'après la Septante, « des sages » au lieu de « des hommes », et l'applique à la sagesse de ce monde (1 Corinthiens 3.19-20). Application : le Créateur voit tout, et la même vérité qui avertit l'insensé console le juste.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point : la béatitude de l'homme que Dieu instruit, le calme, et les deux « car ». C'est le point le plus long : il porte le verset-clé de la recherche (94.12-13).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Heureux l'homme que tu châties, ô Eternel! Et que tu instruis par ta loi » (94.12). La béatitude s'adresse à Dieu : « tu châties », « tu instruis ». Les deux verbes du verset 10 reviennent : celui qui discipline les nations forme les siens. MacArthur : « Etre «heureux» signifie être sage et prospère dans la vie, grâce à l'instruction reçue de Dieu (cf. 84.6, 13) ». « Sage » répond au verset 8. « Prospère » va au-delà du lexique et du verset : ne pas en faire une promesse de réussite, le verset 13 situe ce bonheur « aux jours du malheur ». La note ne commente pas « châties » : au lexique seul, BDB range le verset sous « discipliner, corriger », non sous le sens plus sévère. L'épître aux Hébreux, qui cite Proverbes 3 et non le psaume, emploie le verbe grec de la Septante du verset 12 : « Car le Seigneur châtie celui qu'il aime »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deux verbes reviennent du verset 10 au verset 12 : celui qui discipline les nations et donne à l'homme l'intelligence forme les siens. Le texte relie et distingue : les méchants « écrasent » le peuple (94.5); Dieu instruit « par ta loi » (94.12). L'oppression vient des méchants; la discipline vient de Dieu et passe par sa loi. Ne pas confondre l'injustice subie avec la discipline de Dieu, ni promettre la fin de l'épreuve.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Pour le calmer aux jours du malheur, Jusqu'à ce que la fosse soit creusée pour le méchant! » (94.13). L'infinitif lĕhašqîṭ dit probablement le but de l'instruction, et BDB le range sous « causer la tranquillité », avec Dieu pour sujet : c'est Dieu qui donne le calme; le croyant ne le fabrique pas. « Jusqu'à ce que » (ʿad) borne ce calme dans le temps : le verset ne promet pas la fin immédiate de l'épreuve, mais le calme dans l'épreuve, et une fin. Le rapprochement avec le « Jusqu'à quand » du verset 3 (même mot hébreu ʿad) est propre à ce plan. La fosse est une image, celle de la ruine du méchant, à ne pas littéraliser. Ce verset n'a pas de note de MacArthur.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deux mots de la plainte, « ton peuple » et « ton héritage » (94.5), reviennent au verset 14, rapportés cette fois à l'Éternel. MacArthur (note sur 94.14, avec renvoi à Genèse 15, Jérémie 12.15 et Michée 7.18) : « L'engagement de Dieu envers son peuple, Israël, est indéfectible; il repose sur l'alliance conclue avec lui et sur son amour éternel ». La note en fait le fondement doctrinal des Psaumes 93 à 100, une vérité « destinée à encourager la nation dans une période difficile », et ajoute que « Paul y fait allusion en Rm 11.1 en parlant du salut à venir d'Israël ». Paul reprend, sans nommer sa source, les mots de la Septante du verset 14 (Romains 11.2), lui qui précise « Car moi aussi je suis Israélite » (11.1); son argument aboutit à « Et ainsi tout Israël sera sauvé » (11.26). Verset 15 (texte seul) : le jugement « reviendra » à la justice (ṣedeq); la seconde ligne n'a pas de verbe en hébreu, « l'approuveront » (NEG79) est suppléé (observation de Kidner, vérifiée).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 : Israël, propriété de l'Éternel, n'est pas abandonné, et Paul y rattache le salut à venir d'Israël. Principe : Dieu n'abandonne pas ce qui lui appartient, et dans l'attente il forme les siens par sa Parole. Application : l'assemblée ne prend pas la place d'Israël dans cette promesse; elle y apprend qui est Dieu, et s'appuie en Christ sur ce Dieu fidèle. Le croyant éprouvé ne fabrique pas son calme : Dieu le donne « par ta loi », que l'Esprit applique. Prévoir une phrase de réponse sur Israël et l'Église, si la question vient.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point : le psalmiste passe au « je ». Le secours présent, le tribunal qui pervertit la loi, le rocher et le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Qui se lèvera pour moi contre les méchants? Qui me soutiendra contre ceux qui font le mal? » (94.16, texte seul) : aucune réponse humaine. « Si l'Eternel n'était pas mon secours, Mon âme serait bien vite dans la demeure du silence » (94.17) : une condition irréelle; sans ce secours, il serait mort. MacArthur : « Le «silence» désigne ici le séjour des morts (cf. 31.18) »; BDB identifie de même dûmāh au šĕʾôl. Attention : « la demeure du silence » (dûmāh, 94.17) et « les réduira au silence » (yaṣmîtēm, 94.23) rendent deux mots hébreux différents : ne pas bâtir de lien sur le français.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Quand je dis: Mon pied chancelle! Ta bonté, ô Eternel! me sert d'appui » (94.18). En hébreu, « quand j'ai dit » est au parfait, « elle me soutient » (yisʿādēnî) à l'inaccompli : l'expérience passée fonde une assurance présente. « Ta bonté » (ḥesed) : la note de MacArthur renvoie à une note sur 85.8, non fournie; au lexique seul, BDB range le verset sous la bienveillance de Dieu « dans la délivrance des ennemis et des détresses ». Le cantique de Moïse annonçait que le pied des ennemis chancellerait (Deutéronome 32.35, même verbe, même nom); ici, c'est le pied du juste. Le Psaume 73, que la note d'introduction rapproche, connaît la même vacillation : « Toutefois, mon pied allait fléchir » (73.2). Verset 19 (texte seul) : BDB lit les « pensées » (śarʿappîm) comme des pensées qui troublent; « Tes consolations » : ne pas en faire une technique contre l'anxiété.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Les méchants te feraient-ils siéger sur leur trône, Eux qui forment des desseins iniques en dépit de la loi? » (94.20). MacArthur : « Allusion à des juges ou des dirigeants corrompus »; pour « en dépit de la loi », il donne le littéral, « sur la loi » : ces juges et dirigeants « vont à l'encontre de l'ordre moral de l'univers en faisant de la loi un instrument d'injustice au lieu de l'utiliser pour faire régner le bien ». BDB concorde : un tribunal « qui ruine l'innocent par l'injustice »; le participe yōṣēr « qui façonne » est celui du verset 9 (Dieu « a formé l'œil »). La question attend un non. Verset 21 (texte seul) : un verdict de tribunal (BDB : « condamner comme coupable »); la loi maudissait déjà « celui qui reçoit un présent pour répandre le sang de l'innocent » (Deutéronome 27.25). Garde-fou : dire que des juges ou des dirigeants font de la loi un instrument d'injustice, sans désigner un parti ni une personne, et sans le taire.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Mais l'Eternel est ma retraite, Mon Dieu est le rocher de mon refuge » (94.22, texte seul) : l'hébreu emploie la forme du récit, « l'Éternel a été pour moi une retraite », qui présente probablement la réponse comme acquise. « Il fera retomber sur eux leur iniquité, Il les réduira au silence par leur méchanceté; L'Eternel, notre Dieu, les réduira au silence » (94.23). « Fera retomber » est le verbe de « Rends » (94.2) : ce que le psalmiste demandait au juge de rendre, le juge le fait retomber. MacArthur : le verset « Décrit la destruction qui frappera les méchants alors même qu'ils sont en train de pécher »; la préposition permet ce sens (« dans leur méchanceté », glose de Bible Hub) comme celui de la NEG79 (« par leur méchanceté ») : décision d'interprétation. Le croyant n'a pas à faire retomber lui-même l'iniquité sur ceux qui le blessent : le juge le fera, et avec exactitude.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Jusqu'à quand? » Le psaume ne donne pas de date; il donne un Dieu. Il voit : il a formé l'œil (94.9). Il instruit : heureux l'homme qu'il forme par sa loi, lui qui n'abandonne pas ce qui lui appartient (94.12, 14). Il soutient et il rendra : le « Rends » du verset 2 devient « Il fera retomber » au verset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l'incroyant : le credo « L'Eternel ne regarde pas » est faux; celui qui a formé l'œil voit. Le juge est aussi celui que le psalmiste appelle « ma retraite » (94.22) : ce refuge, Dieu l'ouvre en Christ à quiconque se repent et croit. Au croyant : portez votre « Jusqu'à quand » à Dieu, laissez-lui la rétribution; ouvrez sa Parole dans les jours du malheur; quand votre pied chancelle, c'est sa bonté qui vous tient. Garder la conclusion à 3 minutes : l'appel vaut plus que la récapitulation.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Prière finale : lire ensemble le Psaume 94.22. Prier pour les opprimés, la veuve, l'étranger et l'orphelin; remettre au juge de la terre les injustices que portent des membres de l'assemblée, en lui demandant le calme du verset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6217920" cy="1737360"/>
          </a:xfrm>
          <a:prstGeom prst="rect">
            <a:avLst/>
          </a:prstGeom>
          <a:noFill/>
          <a:ln/>
        </p:spPr>
        <p:txBody>
          <a:bodyPr wrap="square" rtlCol="0"/>
          <a:lstStyle>
            <a:lvl1pPr algn="l" indent="0" marL="0">
              <a:buNone/>
              <a:defRPr lang="en-US" sz="5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600" dirty="0"/>
          </a:p>
        </p:txBody>
      </p:sp>
      <p:sp>
        <p:nvSpPr>
          <p:cNvPr id="3" name="Text 0"/>
          <p:cNvSpPr/>
          <p:nvPr>
            <p:ph idx="101" type="body" hasCustomPrompt="1"/>
          </p:nvPr>
        </p:nvSpPr>
        <p:spPr>
          <a:xfrm>
            <a:off x="731520" y="3108960"/>
            <a:ext cx="5852160" cy="1097280"/>
          </a:xfrm>
          <a:prstGeom prst="rect">
            <a:avLst/>
          </a:prstGeom>
          <a:noFill/>
          <a:ln/>
        </p:spPr>
        <p:txBody>
          <a:bodyPr wrap="square" rtlCol="0"/>
          <a:lstStyle>
            <a:lvl1pPr indent="0" marL="0">
              <a:buNone/>
              <a:defRPr lang="en-US" sz="2600" dirty="0">
                <a:solidFill>
                  <a:schemeClr val="accent2"/>
                </a:solidFill>
                <a:latin typeface="Cambria" pitchFamily="34" charset="0"/>
                <a:ea typeface="Cambria" pitchFamily="34" charset="-122"/>
                <a:cs typeface="Cambria" pitchFamily="34" charset="-120"/>
              </a:defRPr>
            </a:lvl1pPr>
          </a:lstStyle>
          <a:p>
            <a:pPr indent="0" marL="0">
              <a:buNone/>
            </a:pPr>
            <a:endParaRPr lang="en-US" sz="2600" dirty="0"/>
          </a:p>
        </p:txBody>
      </p:sp>
      <p:sp>
        <p:nvSpPr>
          <p:cNvPr id="4" name="Text 0"/>
          <p:cNvSpPr/>
          <p:nvPr>
            <p:ph idx="102" type="body" hasCustomPrompt="1"/>
          </p:nvPr>
        </p:nvSpPr>
        <p:spPr>
          <a:xfrm>
            <a:off x="731520" y="4206240"/>
            <a:ext cx="5852160" cy="457200"/>
          </a:xfrm>
          <a:prstGeom prst="rect">
            <a:avLst/>
          </a:prstGeom>
          <a:noFill/>
          <a:ln/>
        </p:spPr>
        <p:txBody>
          <a:bodyPr wrap="square" rtlCol="0"/>
          <a:lstStyle>
            <a:lvl1pPr indent="0" marL="0">
              <a:buNone/>
              <a:defRPr lang="en-US" sz="1400" dirty="0">
                <a:solidFill>
                  <a:schemeClr val="bg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914400"/>
            <a:ext cx="2743200" cy="1005840"/>
          </a:xfrm>
          <a:prstGeom prst="rect">
            <a:avLst/>
          </a:prstGeom>
          <a:noFill/>
          <a:ln/>
        </p:spPr>
        <p:txBody>
          <a:bodyPr wrap="square" rtlCol="0"/>
          <a:lstStyle>
            <a:lvl1pPr indent="0" marL="0">
              <a:buNone/>
              <a:defRPr lang="en-US" sz="6600" b="1" dirty="0">
                <a:solidFill>
                  <a:schemeClr val="accent1"/>
                </a:solidFill>
                <a:latin typeface="Cambria" pitchFamily="34" charset="0"/>
                <a:ea typeface="Cambria" pitchFamily="34" charset="-122"/>
                <a:cs typeface="Cambria" pitchFamily="34" charset="-120"/>
              </a:defRPr>
            </a:lvl1pPr>
          </a:lstStyle>
          <a:p>
            <a:pPr indent="0" marL="0">
              <a:buNone/>
            </a:pPr>
            <a:endParaRPr lang="en-US" sz="6600" dirty="0"/>
          </a:p>
        </p:txBody>
      </p:sp>
      <p:sp>
        <p:nvSpPr>
          <p:cNvPr id="3" name="Text 0"/>
          <p:cNvSpPr/>
          <p:nvPr>
            <p:ph idx="101" type="title" hasCustomPrompt="1"/>
          </p:nvPr>
        </p:nvSpPr>
        <p:spPr>
          <a:xfrm>
            <a:off x="731520" y="2011680"/>
            <a:ext cx="6400800" cy="146304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0"/>
          <p:cNvSpPr/>
          <p:nvPr>
            <p:ph idx="102" type="body" hasCustomPrompt="1"/>
          </p:nvPr>
        </p:nvSpPr>
        <p:spPr>
          <a:xfrm>
            <a:off x="731520" y="3657600"/>
            <a:ext cx="6400800" cy="1463040"/>
          </a:xfrm>
          <a:prstGeom prst="rect">
            <a:avLst/>
          </a:prstGeom>
          <a:noFill/>
          <a:ln/>
        </p:spPr>
        <p:txBody>
          <a:bodyPr wrap="square" rtlCol="0"/>
          <a:lstStyle>
            <a:lvl1pPr indent="0" marL="0">
              <a:buNone/>
              <a:defRPr lang="en-US" sz="2200" i="1" dirty="0">
                <a:solidFill>
                  <a:schemeClr val="bg1"/>
                </a:solidFill>
                <a:latin typeface="Cambria" pitchFamily="34" charset="0"/>
                <a:ea typeface="Cambria" pitchFamily="34" charset="-122"/>
                <a:cs typeface="Cambria" pitchFamily="34" charset="-120"/>
              </a:defRPr>
            </a:lvl1pPr>
          </a:lstStyle>
          <a:p>
            <a:pPr indent="0" marL="0">
              <a:buNone/>
            </a:pPr>
            <a:endParaRPr lang="en-US" sz="2200" dirty="0"/>
          </a:p>
        </p:txBody>
      </p:sp>
      <p:sp>
        <p:nvSpPr>
          <p:cNvPr id="5" name="Text 0"/>
          <p:cNvSpPr/>
          <p:nvPr>
            <p:ph idx="103" type="body" hasCustomPrompt="1"/>
          </p:nvPr>
        </p:nvSpPr>
        <p:spPr>
          <a:xfrm>
            <a:off x="731520" y="5349240"/>
            <a:ext cx="6400800" cy="411480"/>
          </a:xfrm>
          <a:prstGeom prst="rect">
            <a:avLst/>
          </a:prstGeom>
          <a:noFill/>
          <a:ln/>
        </p:spPr>
        <p:txBody>
          <a:bodyPr wrap="square" rtlCol="0"/>
          <a:lstStyle>
            <a:lvl1pPr indent="0" marL="0">
              <a:buNone/>
              <a:defRPr lang="en-US" sz="1600" dirty="0">
                <a:solidFill>
                  <a:schemeClr val="accent2"/>
                </a:solidFill>
              </a:defRPr>
            </a:lvl1pPr>
          </a:lstStyle>
          <a:p>
            <a:pPr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0058400" cy="320040"/>
          </a:xfrm>
          <a:prstGeom prst="rect">
            <a:avLst/>
          </a:prstGeom>
          <a:noFill/>
          <a:ln/>
        </p:spPr>
        <p:txBody>
          <a:bodyPr wrap="square" rtlCol="0"/>
          <a:lstStyle>
            <a:lvl1pPr indent="0" marL="0">
              <a:buNone/>
              <a:defRPr lang="en-US" sz="1300" b="1" spc="100" kern="0" dirty="0">
                <a:solidFill>
                  <a:schemeClr val="accent2"/>
                </a:solidFill>
              </a:defRPr>
            </a:lvl1pPr>
          </a:lstStyle>
          <a:p>
            <a:pPr indent="0" marL="0">
              <a:buNone/>
            </a:pP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rtlCol="0"/>
          <a:lstStyle>
            <a:lvl1pPr algn="l" indent="0" marL="0">
              <a:buNone/>
              <a:defRPr lang="en-US" sz="3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bg2"/>
                </a:solidFill>
              </a:rPr>
              <a:t>Psaume 94 · Jusqu'à quand? Le Dieu qui voit, qui instruit et qui rendra</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ITA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097280" y="914400"/>
            <a:ext cx="9966960" cy="2834640"/>
          </a:xfrm>
          <a:prstGeom prst="rect">
            <a:avLst/>
          </a:prstGeom>
          <a:noFill/>
          <a:ln/>
        </p:spPr>
        <p:txBody>
          <a:bodyPr wrap="square" rtlCol="0"/>
          <a:lstStyle>
            <a:lvl1pPr algn="ctr" indent="0" marL="0">
              <a:buNone/>
              <a:defRPr lang="en-US" sz="3600" i="1" dirty="0">
                <a:solidFill>
                  <a:schemeClr val="bg1"/>
                </a:solidFill>
                <a:latin typeface="Cambria" pitchFamily="34" charset="0"/>
                <a:ea typeface="Cambria" pitchFamily="34" charset="-122"/>
                <a:cs typeface="Cambria" pitchFamily="34" charset="-120"/>
              </a:defRPr>
            </a:lvl1pPr>
          </a:lstStyle>
          <a:p>
            <a:pPr algn="ctr" indent="0" marL="0">
              <a:buNone/>
            </a:pPr>
            <a:endParaRPr lang="en-US" sz="3600" dirty="0"/>
          </a:p>
        </p:txBody>
      </p:sp>
      <p:sp>
        <p:nvSpPr>
          <p:cNvPr id="3" name="Text 0"/>
          <p:cNvSpPr/>
          <p:nvPr>
            <p:ph idx="101" type="body" hasCustomPrompt="1"/>
          </p:nvPr>
        </p:nvSpPr>
        <p:spPr>
          <a:xfrm>
            <a:off x="1097280" y="3840480"/>
            <a:ext cx="9966960" cy="457200"/>
          </a:xfrm>
          <a:prstGeom prst="rect">
            <a:avLst/>
          </a:prstGeom>
          <a:noFill/>
          <a:ln/>
        </p:spPr>
        <p:txBody>
          <a:bodyPr wrap="square" rtlCol="0"/>
          <a:lstStyle>
            <a:lvl1pPr algn="ctr" indent="0" marL="0">
              <a:buNone/>
              <a:defRPr lang="en-US" sz="1800" dirty="0">
                <a:solidFill>
                  <a:schemeClr val="accent2"/>
                </a:solidFill>
              </a:defRPr>
            </a:lvl1pPr>
          </a:lstStyle>
          <a:p>
            <a:pPr algn="ct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Œil anneau externe"/>
          <p:cNvSpPr/>
          <p:nvPr/>
        </p:nvSpPr>
        <p:spPr>
          <a:xfrm>
            <a:off x="6922008" y="1508760"/>
            <a:ext cx="4992624" cy="3840480"/>
          </a:xfrm>
          <a:prstGeom prst="ellipse">
            <a:avLst/>
          </a:prstGeom>
          <a:noFill/>
          <a:ln w="12700">
            <a:solidFill>
              <a:schemeClr val="accent6"/>
            </a:solidFill>
            <a:prstDash val="solid"/>
          </a:ln>
        </p:spPr>
      </p:sp>
      <p:sp>
        <p:nvSpPr>
          <p:cNvPr id="3" name="Œil anneau"/>
          <p:cNvSpPr/>
          <p:nvPr/>
        </p:nvSpPr>
        <p:spPr>
          <a:xfrm>
            <a:off x="7370064" y="1860804"/>
            <a:ext cx="4096512" cy="3136392"/>
          </a:xfrm>
          <a:prstGeom prst="ellipse">
            <a:avLst/>
          </a:prstGeom>
          <a:noFill/>
          <a:ln w="19050">
            <a:solidFill>
              <a:schemeClr val="accent3"/>
            </a:solidFill>
            <a:prstDash val="solid"/>
          </a:ln>
        </p:spPr>
      </p:sp>
      <p:sp>
        <p:nvSpPr>
          <p:cNvPr id="4" name="Œil contour"/>
          <p:cNvSpPr/>
          <p:nvPr/>
        </p:nvSpPr>
        <p:spPr>
          <a:xfrm>
            <a:off x="7818120" y="2628900"/>
            <a:ext cx="3200400" cy="1600200"/>
          </a:xfrm>
          <a:custGeom>
            <a:avLst/>
            <a:gdLst/>
            <a:ahLst/>
            <a:cxnLst/>
            <a:rect l="l" t="t" r="r" b="b"/>
            <a:pathLst>
              <a:path w="3200400" h="1600200">
                <a:moveTo>
                  <a:pt x="0" y="800100"/>
                </a:moveTo>
                <a:quadBezTo>
                  <a:pt x="1600200" y="-800100"/>
                  <a:pt x="3200400" y="800100"/>
                </a:quadBezTo>
                <a:quadBezTo>
                  <a:pt x="1600200" y="2400300"/>
                  <a:pt x="0" y="800100"/>
                </a:quadBezTo>
                <a:close/>
              </a:path>
            </a:pathLst>
          </a:custGeom>
          <a:solidFill>
            <a:schemeClr val="tx1"/>
          </a:solidFill>
          <a:ln w="31750">
            <a:solidFill>
              <a:schemeClr val="accent1"/>
            </a:solidFill>
            <a:prstDash val="solid"/>
          </a:ln>
        </p:spPr>
      </p:sp>
      <p:sp>
        <p:nvSpPr>
          <p:cNvPr id="5" name="Œil iris"/>
          <p:cNvSpPr/>
          <p:nvPr/>
        </p:nvSpPr>
        <p:spPr>
          <a:xfrm>
            <a:off x="8778240" y="2788920"/>
            <a:ext cx="1280160" cy="1280160"/>
          </a:xfrm>
          <a:prstGeom prst="ellipse">
            <a:avLst/>
          </a:prstGeom>
          <a:solidFill>
            <a:schemeClr val="accent1"/>
          </a:solidFill>
          <a:ln w="19050">
            <a:solidFill>
              <a:schemeClr val="accent3"/>
            </a:solidFill>
            <a:prstDash val="solid"/>
          </a:ln>
        </p:spPr>
      </p:sp>
      <p:sp>
        <p:nvSpPr>
          <p:cNvPr id="6" name="Œil pupille"/>
          <p:cNvSpPr/>
          <p:nvPr/>
        </p:nvSpPr>
        <p:spPr>
          <a:xfrm>
            <a:off x="9130284" y="3140964"/>
            <a:ext cx="576072" cy="576072"/>
          </a:xfrm>
          <a:prstGeom prst="ellipse">
            <a:avLst/>
          </a:prstGeom>
          <a:solidFill>
            <a:schemeClr val="tx1"/>
          </a:solidFill>
          <a:ln/>
        </p:spPr>
      </p:sp>
      <p:sp>
        <p:nvSpPr>
          <p:cNvPr id="7" name="Œil reflet"/>
          <p:cNvSpPr/>
          <p:nvPr/>
        </p:nvSpPr>
        <p:spPr>
          <a:xfrm>
            <a:off x="9504731" y="3169768"/>
            <a:ext cx="161300" cy="161300"/>
          </a:xfrm>
          <a:prstGeom prst="ellipse">
            <a:avLst/>
          </a:prstGeom>
          <a:solidFill>
            <a:schemeClr val="bg1"/>
          </a:solidFill>
          <a:ln/>
        </p:spPr>
      </p:sp>
      <p:sp>
        <p:nvSpPr>
          <p:cNvPr id="8" name="Text 0"/>
          <p:cNvSpPr/>
          <p:nvPr>
            <p:ph idx="100" type="title" hasCustomPrompt="1"/>
          </p:nvPr>
        </p:nvSpPr>
        <p:spPr>
          <a:xfrm>
            <a:off x="731520" y="1188720"/>
            <a:ext cx="6217920" cy="1737360"/>
          </a:xfrm>
          <a:prstGeom prst="rect">
            <a:avLst/>
          </a:prstGeom>
          <a:noFill/>
          <a:ln/>
        </p:spPr>
        <p:txBody>
          <a:bodyPr wrap="square" lIns="0" tIns="0" rIns="0" bIns="0" rtlCol="0" anchor="b"/>
          <a:lstStyle/>
          <a:p>
            <a:pPr algn="l" indent="0" marL="0">
              <a:buNone/>
            </a:pPr>
            <a:r>
              <a:rPr lang="en-US" sz="5600" b="1" dirty="0">
                <a:solidFill>
                  <a:schemeClr val="bg1"/>
                </a:solidFill>
                <a:latin typeface="Cambria" pitchFamily="34" charset="0"/>
                <a:ea typeface="Cambria" pitchFamily="34" charset="-122"/>
                <a:cs typeface="Cambria" pitchFamily="34" charset="-120"/>
              </a:rPr>
              <a:t>Jusqu'à quand?</a:t>
            </a:r>
            <a:endParaRPr lang="en-US" sz="5600" dirty="0"/>
          </a:p>
        </p:txBody>
      </p:sp>
      <p:sp>
        <p:nvSpPr>
          <p:cNvPr id="9" name="Text 0"/>
          <p:cNvSpPr/>
          <p:nvPr>
            <p:ph idx="101" type="body" hasCustomPrompt="1"/>
          </p:nvPr>
        </p:nvSpPr>
        <p:spPr>
          <a:xfrm>
            <a:off x="731520" y="3108960"/>
            <a:ext cx="5852160" cy="1097280"/>
          </a:xfrm>
          <a:prstGeom prst="rect">
            <a:avLst/>
          </a:prstGeom>
          <a:noFill/>
          <a:ln/>
        </p:spPr>
        <p:txBody>
          <a:bodyPr wrap="square" lIns="0" tIns="0" rIns="0" bIns="0" rtlCol="0" anchor="t"/>
          <a:lstStyle/>
          <a:p>
            <a:pPr indent="0" marL="0">
              <a:buNone/>
            </a:pPr>
            <a:r>
              <a:rPr lang="en-US" sz="2600" dirty="0">
                <a:solidFill>
                  <a:schemeClr val="accent2"/>
                </a:solidFill>
                <a:latin typeface="Cambria" pitchFamily="34" charset="0"/>
                <a:ea typeface="Cambria" pitchFamily="34" charset="-122"/>
                <a:cs typeface="Cambria" pitchFamily="34" charset="-120"/>
              </a:rPr>
              <a:t>Le Dieu qui voit, qui instruit et qui rendra</a:t>
            </a:r>
            <a:endParaRPr lang="en-US" sz="2600" dirty="0"/>
          </a:p>
        </p:txBody>
      </p:sp>
      <p:sp>
        <p:nvSpPr>
          <p:cNvPr id="10" name="Text 0"/>
          <p:cNvSpPr/>
          <p:nvPr>
            <p:ph idx="102" type="body" hasCustomPrompt="1"/>
          </p:nvPr>
        </p:nvSpPr>
        <p:spPr>
          <a:xfrm>
            <a:off x="731520" y="4206240"/>
            <a:ext cx="5852160" cy="457200"/>
          </a:xfrm>
          <a:prstGeom prst="rect">
            <a:avLst/>
          </a:prstGeom>
          <a:noFill/>
          <a:ln/>
        </p:spPr>
        <p:txBody>
          <a:bodyPr wrap="square" lIns="0" tIns="0" rIns="0" bIns="0" rtlCol="0"/>
          <a:lstStyle/>
          <a:p>
            <a:pPr indent="0" marL="0">
              <a:buNone/>
            </a:pPr>
            <a:r>
              <a:rPr lang="en-US" sz="1400" dirty="0">
                <a:solidFill>
                  <a:schemeClr val="bg2"/>
                </a:solidFill>
              </a:rPr>
              <a:t>Psaume 94 · André-Guy Bruneau · Prédication expositive · NEG79</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0058400" cy="320040"/>
          </a:xfrm>
          <a:prstGeom prst="rect">
            <a:avLst/>
          </a:prstGeom>
          <a:noFill/>
          <a:ln/>
        </p:spPr>
        <p:txBody>
          <a:bodyPr wrap="square" lIns="0" tIns="0" rIns="0" bIns="0" rtlCol="0"/>
          <a:lstStyle/>
          <a:p>
            <a:pPr indent="0" marL="0">
              <a:buNone/>
            </a:pPr>
            <a:r>
              <a:rPr lang="en-US" sz="1300" b="1" spc="100" kern="0" dirty="0">
                <a:solidFill>
                  <a:schemeClr val="accent2"/>
                </a:solidFill>
              </a:rPr>
              <a:t>Lecture du Psaume 94</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Un psaume, quatre mouvements</a:t>
            </a:r>
            <a:endParaRPr lang="en-US" sz="3000" dirty="0"/>
          </a:p>
        </p:txBody>
      </p:sp>
      <p:sp>
        <p:nvSpPr>
          <p:cNvPr id="4" name="Verset 1"/>
          <p:cNvSpPr/>
          <p:nvPr/>
        </p:nvSpPr>
        <p:spPr>
          <a:xfrm>
            <a:off x="548640" y="2331720"/>
            <a:ext cx="454815" cy="502920"/>
          </a:xfrm>
          <a:prstGeom prst="rect">
            <a:avLst/>
          </a:prstGeom>
          <a:solidFill>
            <a:schemeClr val="accent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5" name="Verset 2"/>
          <p:cNvSpPr/>
          <p:nvPr/>
        </p:nvSpPr>
        <p:spPr>
          <a:xfrm>
            <a:off x="1030887" y="2331720"/>
            <a:ext cx="454815" cy="502920"/>
          </a:xfrm>
          <a:prstGeom prst="rect">
            <a:avLst/>
          </a:prstGeom>
          <a:solidFill>
            <a:schemeClr val="accent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6" name="Verset 3"/>
          <p:cNvSpPr/>
          <p:nvPr/>
        </p:nvSpPr>
        <p:spPr>
          <a:xfrm>
            <a:off x="1513133" y="2331720"/>
            <a:ext cx="454815" cy="502920"/>
          </a:xfrm>
          <a:prstGeom prst="rect">
            <a:avLst/>
          </a:prstGeom>
          <a:solidFill>
            <a:schemeClr val="accent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7" name="Verset 4"/>
          <p:cNvSpPr/>
          <p:nvPr/>
        </p:nvSpPr>
        <p:spPr>
          <a:xfrm>
            <a:off x="1995380" y="2331720"/>
            <a:ext cx="454815" cy="502920"/>
          </a:xfrm>
          <a:prstGeom prst="rect">
            <a:avLst/>
          </a:prstGeom>
          <a:solidFill>
            <a:schemeClr val="accent1"/>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8" name="Verset 5"/>
          <p:cNvSpPr/>
          <p:nvPr/>
        </p:nvSpPr>
        <p:spPr>
          <a:xfrm>
            <a:off x="2477626" y="2331720"/>
            <a:ext cx="454815" cy="502920"/>
          </a:xfrm>
          <a:prstGeom prst="rect">
            <a:avLst/>
          </a:prstGeom>
          <a:solidFill>
            <a:schemeClr val="accent1"/>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9" name="Verset 6"/>
          <p:cNvSpPr/>
          <p:nvPr/>
        </p:nvSpPr>
        <p:spPr>
          <a:xfrm>
            <a:off x="2959873" y="2331720"/>
            <a:ext cx="454815" cy="502920"/>
          </a:xfrm>
          <a:prstGeom prst="rect">
            <a:avLst/>
          </a:prstGeom>
          <a:solidFill>
            <a:schemeClr val="accent1"/>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10" name="Verset 7"/>
          <p:cNvSpPr/>
          <p:nvPr/>
        </p:nvSpPr>
        <p:spPr>
          <a:xfrm>
            <a:off x="3442120" y="2331720"/>
            <a:ext cx="454815" cy="502920"/>
          </a:xfrm>
          <a:prstGeom prst="rect">
            <a:avLst/>
          </a:prstGeom>
          <a:solidFill>
            <a:schemeClr val="accent1"/>
          </a:solidFill>
          <a:ln/>
        </p:spPr>
        <p:txBody>
          <a:bodyPr wrap="square" lIns="0" tIns="0" rIns="0" bIns="0" rtlCol="0" anchor="ctr"/>
          <a:lstStyle/>
          <a:p>
            <a:pPr algn="ctr" indent="0" marL="0">
              <a:buNone/>
            </a:pPr>
            <a:r>
              <a:rPr lang="en-US" sz="1400" b="1" dirty="0">
                <a:solidFill>
                  <a:schemeClr val="tx1"/>
                </a:solidFill>
              </a:rPr>
              <a:t>7</a:t>
            </a:r>
            <a:endParaRPr lang="en-US" sz="1400" dirty="0"/>
          </a:p>
        </p:txBody>
      </p:sp>
      <p:sp>
        <p:nvSpPr>
          <p:cNvPr id="11" name="Verset 8"/>
          <p:cNvSpPr/>
          <p:nvPr/>
        </p:nvSpPr>
        <p:spPr>
          <a:xfrm>
            <a:off x="3924366" y="2331720"/>
            <a:ext cx="454815" cy="502920"/>
          </a:xfrm>
          <a:prstGeom prst="rect">
            <a:avLst/>
          </a:prstGeom>
          <a:solidFill>
            <a:schemeClr val="accent2"/>
          </a:solidFill>
          <a:ln/>
        </p:spPr>
        <p:txBody>
          <a:bodyPr wrap="square" lIns="0" tIns="0" rIns="0" bIns="0" rtlCol="0" anchor="ctr"/>
          <a:lstStyle/>
          <a:p>
            <a:pPr algn="ctr" indent="0" marL="0">
              <a:buNone/>
            </a:pPr>
            <a:r>
              <a:rPr lang="en-US" sz="1400" b="1" dirty="0">
                <a:solidFill>
                  <a:schemeClr val="tx1"/>
                </a:solidFill>
              </a:rPr>
              <a:t>8</a:t>
            </a:r>
            <a:endParaRPr lang="en-US" sz="1400" dirty="0"/>
          </a:p>
        </p:txBody>
      </p:sp>
      <p:sp>
        <p:nvSpPr>
          <p:cNvPr id="12" name="Verset 9"/>
          <p:cNvSpPr/>
          <p:nvPr/>
        </p:nvSpPr>
        <p:spPr>
          <a:xfrm>
            <a:off x="4406613" y="2331720"/>
            <a:ext cx="454815" cy="502920"/>
          </a:xfrm>
          <a:prstGeom prst="rect">
            <a:avLst/>
          </a:prstGeom>
          <a:solidFill>
            <a:schemeClr val="accent2"/>
          </a:solidFill>
          <a:ln/>
        </p:spPr>
        <p:txBody>
          <a:bodyPr wrap="square" lIns="0" tIns="0" rIns="0" bIns="0" rtlCol="0" anchor="ctr"/>
          <a:lstStyle/>
          <a:p>
            <a:pPr algn="ctr" indent="0" marL="0">
              <a:buNone/>
            </a:pPr>
            <a:r>
              <a:rPr lang="en-US" sz="1400" b="1" dirty="0">
                <a:solidFill>
                  <a:schemeClr val="tx1"/>
                </a:solidFill>
              </a:rPr>
              <a:t>9</a:t>
            </a:r>
            <a:endParaRPr lang="en-US" sz="1400" dirty="0"/>
          </a:p>
        </p:txBody>
      </p:sp>
      <p:sp>
        <p:nvSpPr>
          <p:cNvPr id="13" name="Verset 10"/>
          <p:cNvSpPr/>
          <p:nvPr/>
        </p:nvSpPr>
        <p:spPr>
          <a:xfrm>
            <a:off x="4888859" y="2331720"/>
            <a:ext cx="454815" cy="502920"/>
          </a:xfrm>
          <a:prstGeom prst="rect">
            <a:avLst/>
          </a:prstGeom>
          <a:solidFill>
            <a:schemeClr val="accent2"/>
          </a:solidFill>
          <a:ln/>
        </p:spPr>
        <p:txBody>
          <a:bodyPr wrap="square" lIns="0" tIns="0" rIns="0" bIns="0" rtlCol="0" anchor="ctr"/>
          <a:lstStyle/>
          <a:p>
            <a:pPr algn="ctr" indent="0" marL="0">
              <a:buNone/>
            </a:pPr>
            <a:r>
              <a:rPr lang="en-US" sz="1400" b="1" dirty="0">
                <a:solidFill>
                  <a:schemeClr val="tx1"/>
                </a:solidFill>
              </a:rPr>
              <a:t>10</a:t>
            </a:r>
            <a:endParaRPr lang="en-US" sz="1400" dirty="0"/>
          </a:p>
        </p:txBody>
      </p:sp>
      <p:sp>
        <p:nvSpPr>
          <p:cNvPr id="14" name="Verset 11"/>
          <p:cNvSpPr/>
          <p:nvPr/>
        </p:nvSpPr>
        <p:spPr>
          <a:xfrm>
            <a:off x="5371106" y="2331720"/>
            <a:ext cx="454815" cy="502920"/>
          </a:xfrm>
          <a:prstGeom prst="rect">
            <a:avLst/>
          </a:prstGeom>
          <a:solidFill>
            <a:schemeClr val="accent2"/>
          </a:solidFill>
          <a:ln/>
        </p:spPr>
        <p:txBody>
          <a:bodyPr wrap="square" lIns="0" tIns="0" rIns="0" bIns="0" rtlCol="0" anchor="ctr"/>
          <a:lstStyle/>
          <a:p>
            <a:pPr algn="ctr" indent="0" marL="0">
              <a:buNone/>
            </a:pPr>
            <a:r>
              <a:rPr lang="en-US" sz="1400" b="1" dirty="0">
                <a:solidFill>
                  <a:schemeClr val="tx1"/>
                </a:solidFill>
              </a:rPr>
              <a:t>11</a:t>
            </a:r>
            <a:endParaRPr lang="en-US" sz="1400" dirty="0"/>
          </a:p>
        </p:txBody>
      </p:sp>
      <p:sp>
        <p:nvSpPr>
          <p:cNvPr id="15" name="Verset 12"/>
          <p:cNvSpPr/>
          <p:nvPr/>
        </p:nvSpPr>
        <p:spPr>
          <a:xfrm>
            <a:off x="5853353" y="2331720"/>
            <a:ext cx="454815" cy="502920"/>
          </a:xfrm>
          <a:prstGeom prst="rect">
            <a:avLst/>
          </a:prstGeom>
          <a:solidFill>
            <a:schemeClr val="accent3"/>
          </a:solidFill>
          <a:ln/>
        </p:spPr>
        <p:txBody>
          <a:bodyPr wrap="square" lIns="0" tIns="0" rIns="0" bIns="0" rtlCol="0" anchor="ctr"/>
          <a:lstStyle/>
          <a:p>
            <a:pPr algn="ctr" indent="0" marL="0">
              <a:buNone/>
            </a:pPr>
            <a:r>
              <a:rPr lang="en-US" sz="1400" b="1" dirty="0">
                <a:solidFill>
                  <a:schemeClr val="bg1"/>
                </a:solidFill>
              </a:rPr>
              <a:t>12</a:t>
            </a:r>
            <a:endParaRPr lang="en-US" sz="1400" dirty="0"/>
          </a:p>
        </p:txBody>
      </p:sp>
      <p:sp>
        <p:nvSpPr>
          <p:cNvPr id="16" name="Verset 13"/>
          <p:cNvSpPr/>
          <p:nvPr/>
        </p:nvSpPr>
        <p:spPr>
          <a:xfrm>
            <a:off x="6335599" y="2331720"/>
            <a:ext cx="454815" cy="502920"/>
          </a:xfrm>
          <a:prstGeom prst="rect">
            <a:avLst/>
          </a:prstGeom>
          <a:solidFill>
            <a:schemeClr val="accent3"/>
          </a:solidFill>
          <a:ln/>
        </p:spPr>
        <p:txBody>
          <a:bodyPr wrap="square" lIns="0" tIns="0" rIns="0" bIns="0" rtlCol="0" anchor="ctr"/>
          <a:lstStyle/>
          <a:p>
            <a:pPr algn="ctr" indent="0" marL="0">
              <a:buNone/>
            </a:pPr>
            <a:r>
              <a:rPr lang="en-US" sz="1400" b="1" dirty="0">
                <a:solidFill>
                  <a:schemeClr val="bg1"/>
                </a:solidFill>
              </a:rPr>
              <a:t>13</a:t>
            </a:r>
            <a:endParaRPr lang="en-US" sz="1400" dirty="0"/>
          </a:p>
        </p:txBody>
      </p:sp>
      <p:sp>
        <p:nvSpPr>
          <p:cNvPr id="17" name="Verset 14"/>
          <p:cNvSpPr/>
          <p:nvPr/>
        </p:nvSpPr>
        <p:spPr>
          <a:xfrm>
            <a:off x="6817846" y="2331720"/>
            <a:ext cx="454815" cy="502920"/>
          </a:xfrm>
          <a:prstGeom prst="rect">
            <a:avLst/>
          </a:prstGeom>
          <a:solidFill>
            <a:schemeClr val="accent3"/>
          </a:solidFill>
          <a:ln/>
        </p:spPr>
        <p:txBody>
          <a:bodyPr wrap="square" lIns="0" tIns="0" rIns="0" bIns="0" rtlCol="0" anchor="ctr"/>
          <a:lstStyle/>
          <a:p>
            <a:pPr algn="ctr" indent="0" marL="0">
              <a:buNone/>
            </a:pPr>
            <a:r>
              <a:rPr lang="en-US" sz="1400" b="1" dirty="0">
                <a:solidFill>
                  <a:schemeClr val="bg1"/>
                </a:solidFill>
              </a:rPr>
              <a:t>14</a:t>
            </a:r>
            <a:endParaRPr lang="en-US" sz="1400" dirty="0"/>
          </a:p>
        </p:txBody>
      </p:sp>
      <p:sp>
        <p:nvSpPr>
          <p:cNvPr id="18" name="Verset 15"/>
          <p:cNvSpPr/>
          <p:nvPr/>
        </p:nvSpPr>
        <p:spPr>
          <a:xfrm>
            <a:off x="7300093" y="2331720"/>
            <a:ext cx="454815" cy="502920"/>
          </a:xfrm>
          <a:prstGeom prst="rect">
            <a:avLst/>
          </a:prstGeom>
          <a:solidFill>
            <a:schemeClr val="accent3"/>
          </a:solidFill>
          <a:ln/>
        </p:spPr>
        <p:txBody>
          <a:bodyPr wrap="square" lIns="0" tIns="0" rIns="0" bIns="0" rtlCol="0" anchor="ctr"/>
          <a:lstStyle/>
          <a:p>
            <a:pPr algn="ctr" indent="0" marL="0">
              <a:buNone/>
            </a:pPr>
            <a:r>
              <a:rPr lang="en-US" sz="1400" b="1" dirty="0">
                <a:solidFill>
                  <a:schemeClr val="bg1"/>
                </a:solidFill>
              </a:rPr>
              <a:t>15</a:t>
            </a:r>
            <a:endParaRPr lang="en-US" sz="1400" dirty="0"/>
          </a:p>
        </p:txBody>
      </p:sp>
      <p:sp>
        <p:nvSpPr>
          <p:cNvPr id="19" name="Verset 16"/>
          <p:cNvSpPr/>
          <p:nvPr/>
        </p:nvSpPr>
        <p:spPr>
          <a:xfrm>
            <a:off x="7782339" y="2331720"/>
            <a:ext cx="454815" cy="502920"/>
          </a:xfrm>
          <a:prstGeom prst="rect">
            <a:avLst/>
          </a:prstGeom>
          <a:solidFill>
            <a:schemeClr val="accent5"/>
          </a:solidFill>
          <a:ln/>
        </p:spPr>
        <p:txBody>
          <a:bodyPr wrap="square" lIns="0" tIns="0" rIns="0" bIns="0" rtlCol="0" anchor="ctr"/>
          <a:lstStyle/>
          <a:p>
            <a:pPr algn="ctr" indent="0" marL="0">
              <a:buNone/>
            </a:pPr>
            <a:r>
              <a:rPr lang="en-US" sz="1400" b="1" dirty="0">
                <a:solidFill>
                  <a:schemeClr val="tx1"/>
                </a:solidFill>
              </a:rPr>
              <a:t>16</a:t>
            </a:r>
            <a:endParaRPr lang="en-US" sz="1400" dirty="0"/>
          </a:p>
        </p:txBody>
      </p:sp>
      <p:sp>
        <p:nvSpPr>
          <p:cNvPr id="20" name="Verset 17"/>
          <p:cNvSpPr/>
          <p:nvPr/>
        </p:nvSpPr>
        <p:spPr>
          <a:xfrm>
            <a:off x="8264586" y="2331720"/>
            <a:ext cx="454815" cy="502920"/>
          </a:xfrm>
          <a:prstGeom prst="rect">
            <a:avLst/>
          </a:prstGeom>
          <a:solidFill>
            <a:schemeClr val="accent5"/>
          </a:solidFill>
          <a:ln/>
        </p:spPr>
        <p:txBody>
          <a:bodyPr wrap="square" lIns="0" tIns="0" rIns="0" bIns="0" rtlCol="0" anchor="ctr"/>
          <a:lstStyle/>
          <a:p>
            <a:pPr algn="ctr" indent="0" marL="0">
              <a:buNone/>
            </a:pPr>
            <a:r>
              <a:rPr lang="en-US" sz="1400" b="1" dirty="0">
                <a:solidFill>
                  <a:schemeClr val="tx1"/>
                </a:solidFill>
              </a:rPr>
              <a:t>17</a:t>
            </a:r>
            <a:endParaRPr lang="en-US" sz="1400" dirty="0"/>
          </a:p>
        </p:txBody>
      </p:sp>
      <p:sp>
        <p:nvSpPr>
          <p:cNvPr id="21" name="Verset 18"/>
          <p:cNvSpPr/>
          <p:nvPr/>
        </p:nvSpPr>
        <p:spPr>
          <a:xfrm>
            <a:off x="8746832" y="2331720"/>
            <a:ext cx="454815" cy="502920"/>
          </a:xfrm>
          <a:prstGeom prst="rect">
            <a:avLst/>
          </a:prstGeom>
          <a:solidFill>
            <a:schemeClr val="accent5"/>
          </a:solidFill>
          <a:ln/>
        </p:spPr>
        <p:txBody>
          <a:bodyPr wrap="square" lIns="0" tIns="0" rIns="0" bIns="0" rtlCol="0" anchor="ctr"/>
          <a:lstStyle/>
          <a:p>
            <a:pPr algn="ctr" indent="0" marL="0">
              <a:buNone/>
            </a:pPr>
            <a:r>
              <a:rPr lang="en-US" sz="1400" b="1" dirty="0">
                <a:solidFill>
                  <a:schemeClr val="tx1"/>
                </a:solidFill>
              </a:rPr>
              <a:t>18</a:t>
            </a:r>
            <a:endParaRPr lang="en-US" sz="1400" dirty="0"/>
          </a:p>
        </p:txBody>
      </p:sp>
      <p:sp>
        <p:nvSpPr>
          <p:cNvPr id="22" name="Verset 19"/>
          <p:cNvSpPr/>
          <p:nvPr/>
        </p:nvSpPr>
        <p:spPr>
          <a:xfrm>
            <a:off x="9229079" y="2331720"/>
            <a:ext cx="454815" cy="502920"/>
          </a:xfrm>
          <a:prstGeom prst="rect">
            <a:avLst/>
          </a:prstGeom>
          <a:solidFill>
            <a:schemeClr val="accent5"/>
          </a:solidFill>
          <a:ln/>
        </p:spPr>
        <p:txBody>
          <a:bodyPr wrap="square" lIns="0" tIns="0" rIns="0" bIns="0" rtlCol="0" anchor="ctr"/>
          <a:lstStyle/>
          <a:p>
            <a:pPr algn="ctr" indent="0" marL="0">
              <a:buNone/>
            </a:pPr>
            <a:r>
              <a:rPr lang="en-US" sz="1400" b="1" dirty="0">
                <a:solidFill>
                  <a:schemeClr val="tx1"/>
                </a:solidFill>
              </a:rPr>
              <a:t>19</a:t>
            </a:r>
            <a:endParaRPr lang="en-US" sz="1400" dirty="0"/>
          </a:p>
        </p:txBody>
      </p:sp>
      <p:sp>
        <p:nvSpPr>
          <p:cNvPr id="23" name="Verset 20"/>
          <p:cNvSpPr/>
          <p:nvPr/>
        </p:nvSpPr>
        <p:spPr>
          <a:xfrm>
            <a:off x="9711326" y="2331720"/>
            <a:ext cx="454815" cy="502920"/>
          </a:xfrm>
          <a:prstGeom prst="rect">
            <a:avLst/>
          </a:prstGeom>
          <a:solidFill>
            <a:schemeClr val="accent5"/>
          </a:solidFill>
          <a:ln/>
        </p:spPr>
        <p:txBody>
          <a:bodyPr wrap="square" lIns="0" tIns="0" rIns="0" bIns="0" rtlCol="0" anchor="ctr"/>
          <a:lstStyle/>
          <a:p>
            <a:pPr algn="ctr" indent="0" marL="0">
              <a:buNone/>
            </a:pPr>
            <a:r>
              <a:rPr lang="en-US" sz="1400" b="1" dirty="0">
                <a:solidFill>
                  <a:schemeClr val="tx1"/>
                </a:solidFill>
              </a:rPr>
              <a:t>20</a:t>
            </a:r>
            <a:endParaRPr lang="en-US" sz="1400" dirty="0"/>
          </a:p>
        </p:txBody>
      </p:sp>
      <p:sp>
        <p:nvSpPr>
          <p:cNvPr id="24" name="Verset 21"/>
          <p:cNvSpPr/>
          <p:nvPr/>
        </p:nvSpPr>
        <p:spPr>
          <a:xfrm>
            <a:off x="10193572" y="2331720"/>
            <a:ext cx="454815" cy="502920"/>
          </a:xfrm>
          <a:prstGeom prst="rect">
            <a:avLst/>
          </a:prstGeom>
          <a:solidFill>
            <a:schemeClr val="accent5"/>
          </a:solidFill>
          <a:ln/>
        </p:spPr>
        <p:txBody>
          <a:bodyPr wrap="square" lIns="0" tIns="0" rIns="0" bIns="0" rtlCol="0" anchor="ctr"/>
          <a:lstStyle/>
          <a:p>
            <a:pPr algn="ctr" indent="0" marL="0">
              <a:buNone/>
            </a:pPr>
            <a:r>
              <a:rPr lang="en-US" sz="1400" b="1" dirty="0">
                <a:solidFill>
                  <a:schemeClr val="tx1"/>
                </a:solidFill>
              </a:rPr>
              <a:t>21</a:t>
            </a:r>
            <a:endParaRPr lang="en-US" sz="1400" dirty="0"/>
          </a:p>
        </p:txBody>
      </p:sp>
      <p:sp>
        <p:nvSpPr>
          <p:cNvPr id="25" name="Verset 22"/>
          <p:cNvSpPr/>
          <p:nvPr/>
        </p:nvSpPr>
        <p:spPr>
          <a:xfrm>
            <a:off x="10675819" y="2331720"/>
            <a:ext cx="454815" cy="502920"/>
          </a:xfrm>
          <a:prstGeom prst="rect">
            <a:avLst/>
          </a:prstGeom>
          <a:solidFill>
            <a:schemeClr val="accent5"/>
          </a:solidFill>
          <a:ln/>
        </p:spPr>
        <p:txBody>
          <a:bodyPr wrap="square" lIns="0" tIns="0" rIns="0" bIns="0" rtlCol="0" anchor="ctr"/>
          <a:lstStyle/>
          <a:p>
            <a:pPr algn="ctr" indent="0" marL="0">
              <a:buNone/>
            </a:pPr>
            <a:r>
              <a:rPr lang="en-US" sz="1400" b="1" dirty="0">
                <a:solidFill>
                  <a:schemeClr val="tx1"/>
                </a:solidFill>
              </a:rPr>
              <a:t>22</a:t>
            </a:r>
            <a:endParaRPr lang="en-US" sz="1400" dirty="0"/>
          </a:p>
        </p:txBody>
      </p:sp>
      <p:sp>
        <p:nvSpPr>
          <p:cNvPr id="26" name="Verset 23"/>
          <p:cNvSpPr/>
          <p:nvPr/>
        </p:nvSpPr>
        <p:spPr>
          <a:xfrm>
            <a:off x="11158065" y="2331720"/>
            <a:ext cx="454815" cy="502920"/>
          </a:xfrm>
          <a:prstGeom prst="rect">
            <a:avLst/>
          </a:prstGeom>
          <a:solidFill>
            <a:schemeClr val="accent5"/>
          </a:solidFill>
          <a:ln/>
        </p:spPr>
        <p:txBody>
          <a:bodyPr wrap="square" lIns="0" tIns="0" rIns="0" bIns="0" rtlCol="0" anchor="ctr"/>
          <a:lstStyle/>
          <a:p>
            <a:pPr algn="ctr" indent="0" marL="0">
              <a:buNone/>
            </a:pPr>
            <a:r>
              <a:rPr lang="en-US" sz="1400" b="1" dirty="0">
                <a:solidFill>
                  <a:schemeClr val="tx1"/>
                </a:solidFill>
              </a:rPr>
              <a:t>23</a:t>
            </a:r>
            <a:endParaRPr lang="en-US" sz="1400" dirty="0"/>
          </a:p>
        </p:txBody>
      </p:sp>
      <p:sp>
        <p:nvSpPr>
          <p:cNvPr id="27" name="Bande 1"/>
          <p:cNvSpPr/>
          <p:nvPr/>
        </p:nvSpPr>
        <p:spPr>
          <a:xfrm>
            <a:off x="548640" y="2926080"/>
            <a:ext cx="3348294" cy="0"/>
          </a:xfrm>
          <a:prstGeom prst="line">
            <a:avLst/>
          </a:prstGeom>
          <a:noFill/>
          <a:ln w="50800">
            <a:solidFill>
              <a:schemeClr val="accent1"/>
            </a:solidFill>
            <a:prstDash val="solid"/>
          </a:ln>
        </p:spPr>
      </p:sp>
      <p:sp>
        <p:nvSpPr>
          <p:cNvPr id="28" name="Bande 2"/>
          <p:cNvSpPr/>
          <p:nvPr/>
        </p:nvSpPr>
        <p:spPr>
          <a:xfrm>
            <a:off x="3924366" y="2926080"/>
            <a:ext cx="1901554" cy="0"/>
          </a:xfrm>
          <a:prstGeom prst="line">
            <a:avLst/>
          </a:prstGeom>
          <a:noFill/>
          <a:ln w="50800">
            <a:solidFill>
              <a:schemeClr val="accent2"/>
            </a:solidFill>
            <a:prstDash val="solid"/>
          </a:ln>
        </p:spPr>
      </p:sp>
      <p:sp>
        <p:nvSpPr>
          <p:cNvPr id="29" name="Bande 3"/>
          <p:cNvSpPr/>
          <p:nvPr/>
        </p:nvSpPr>
        <p:spPr>
          <a:xfrm>
            <a:off x="5853353" y="2926080"/>
            <a:ext cx="1901554" cy="0"/>
          </a:xfrm>
          <a:prstGeom prst="line">
            <a:avLst/>
          </a:prstGeom>
          <a:noFill/>
          <a:ln w="50800">
            <a:solidFill>
              <a:schemeClr val="accent3"/>
            </a:solidFill>
            <a:prstDash val="solid"/>
          </a:ln>
        </p:spPr>
      </p:sp>
      <p:sp>
        <p:nvSpPr>
          <p:cNvPr id="30" name="Bande 4"/>
          <p:cNvSpPr/>
          <p:nvPr/>
        </p:nvSpPr>
        <p:spPr>
          <a:xfrm>
            <a:off x="7782339" y="2926080"/>
            <a:ext cx="3830541" cy="0"/>
          </a:xfrm>
          <a:prstGeom prst="line">
            <a:avLst/>
          </a:prstGeom>
          <a:noFill/>
          <a:ln w="50800">
            <a:solidFill>
              <a:schemeClr val="accent5"/>
            </a:solidFill>
            <a:prstDash val="solid"/>
          </a:ln>
        </p:spPr>
      </p:sp>
      <p:sp>
        <p:nvSpPr>
          <p:cNvPr id="31" name="Inclusion 94.2 et 94.23"/>
          <p:cNvSpPr/>
          <p:nvPr/>
        </p:nvSpPr>
        <p:spPr>
          <a:xfrm>
            <a:off x="1272010" y="1417320"/>
            <a:ext cx="10127179" cy="822960"/>
          </a:xfrm>
          <a:custGeom>
            <a:avLst/>
            <a:gdLst/>
            <a:ahLst/>
            <a:cxnLst/>
            <a:rect l="l" t="t" r="r" b="b"/>
            <a:pathLst>
              <a:path w="10127179" h="822960">
                <a:moveTo>
                  <a:pt x="0" y="822960"/>
                </a:moveTo>
                <a:quadBezTo>
                  <a:pt x="5063589" y="0"/>
                  <a:pt x="10127179" y="822960"/>
                </a:quadBezTo>
              </a:path>
            </a:pathLst>
          </a:custGeom>
          <a:ln w="25400">
            <a:solidFill>
              <a:schemeClr val="accent2"/>
            </a:solidFill>
            <a:prstDash val="dash"/>
            <a:tailEnd type="triangle"/>
          </a:ln>
        </p:spPr>
      </p:sp>
      <p:sp>
        <p:nvSpPr>
          <p:cNvPr id="32" name="Text 30"/>
          <p:cNvSpPr txBox="1"/>
          <p:nvPr/>
        </p:nvSpPr>
        <p:spPr>
          <a:xfrm>
            <a:off x="4023360" y="1947672"/>
            <a:ext cx="4480560" cy="292608"/>
          </a:xfrm>
          <a:prstGeom prst="rect">
            <a:avLst/>
          </a:prstGeom>
          <a:noFill/>
          <a:ln/>
        </p:spPr>
        <p:txBody>
          <a:bodyPr wrap="square" lIns="0" tIns="0" rIns="0" bIns="0" rtlCol="0" anchor="t"/>
          <a:lstStyle/>
          <a:p>
            <a:pPr algn="ctr" indent="0" marL="0">
              <a:buNone/>
            </a:pPr>
            <a:r>
              <a:rPr lang="en-US" sz="1400" b="1" dirty="0">
                <a:solidFill>
                  <a:schemeClr val="accent2"/>
                </a:solidFill>
              </a:rPr>
              <a:t>« Rends » (94.2)  →  « Il fera retomber » (94.23)</a:t>
            </a:r>
            <a:endParaRPr lang="en-US" sz="1400" dirty="0"/>
          </a:p>
        </p:txBody>
      </p:sp>
      <p:sp>
        <p:nvSpPr>
          <p:cNvPr id="33" name="Text 31"/>
          <p:cNvSpPr txBox="1"/>
          <p:nvPr/>
        </p:nvSpPr>
        <p:spPr>
          <a:xfrm>
            <a:off x="1712910" y="3035808"/>
            <a:ext cx="2011680" cy="274320"/>
          </a:xfrm>
          <a:prstGeom prst="rect">
            <a:avLst/>
          </a:prstGeom>
          <a:noFill/>
          <a:ln/>
        </p:spPr>
        <p:txBody>
          <a:bodyPr wrap="square" lIns="0" tIns="0" rIns="0" bIns="0" rtlCol="0" anchor="t"/>
          <a:lstStyle/>
          <a:p>
            <a:pPr algn="ctr" indent="0" marL="0">
              <a:buNone/>
            </a:pPr>
            <a:r>
              <a:rPr lang="en-US" sz="1300" dirty="0">
                <a:solidFill>
                  <a:schemeClr val="accent2"/>
                </a:solidFill>
              </a:rPr>
              <a:t>« ton peuple » (94.5)</a:t>
            </a:r>
            <a:endParaRPr lang="en-US" sz="1300" dirty="0"/>
          </a:p>
        </p:txBody>
      </p:sp>
      <p:sp>
        <p:nvSpPr>
          <p:cNvPr id="34" name="Text 32"/>
          <p:cNvSpPr txBox="1"/>
          <p:nvPr/>
        </p:nvSpPr>
        <p:spPr>
          <a:xfrm>
            <a:off x="7017622" y="3035808"/>
            <a:ext cx="2011680" cy="274320"/>
          </a:xfrm>
          <a:prstGeom prst="rect">
            <a:avLst/>
          </a:prstGeom>
          <a:noFill/>
          <a:ln/>
        </p:spPr>
        <p:txBody>
          <a:bodyPr wrap="square" lIns="0" tIns="0" rIns="0" bIns="0" rtlCol="0" anchor="t"/>
          <a:lstStyle/>
          <a:p>
            <a:pPr algn="ctr" indent="0" marL="0">
              <a:buNone/>
            </a:pPr>
            <a:r>
              <a:rPr lang="en-US" sz="1300" dirty="0">
                <a:solidFill>
                  <a:schemeClr val="accent2"/>
                </a:solidFill>
              </a:rPr>
              <a:t>« pour moi » (94.16)</a:t>
            </a:r>
            <a:endParaRPr lang="en-US" sz="1300" dirty="0"/>
          </a:p>
        </p:txBody>
      </p:sp>
      <p:sp>
        <p:nvSpPr>
          <p:cNvPr id="35" name="Mouvement 1"/>
          <p:cNvSpPr/>
          <p:nvPr/>
        </p:nvSpPr>
        <p:spPr>
          <a:xfrm>
            <a:off x="548640" y="3520440"/>
            <a:ext cx="2601468" cy="2560320"/>
          </a:xfrm>
          <a:prstGeom prst="roundRect">
            <a:avLst>
              <a:gd name="adj" fmla="val 2857"/>
            </a:avLst>
          </a:prstGeom>
          <a:solidFill>
            <a:schemeClr val="tx2"/>
          </a:solidFill>
          <a:ln/>
        </p:spPr>
      </p:sp>
      <p:sp>
        <p:nvSpPr>
          <p:cNvPr id="36" name="Pastille 1"/>
          <p:cNvSpPr/>
          <p:nvPr/>
        </p:nvSpPr>
        <p:spPr>
          <a:xfrm>
            <a:off x="777240" y="3703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37" name="Text 35"/>
          <p:cNvSpPr txBox="1"/>
          <p:nvPr/>
        </p:nvSpPr>
        <p:spPr>
          <a:xfrm>
            <a:off x="1417320" y="3767328"/>
            <a:ext cx="1554480" cy="365760"/>
          </a:xfrm>
          <a:prstGeom prst="rect">
            <a:avLst/>
          </a:prstGeom>
          <a:noFill/>
          <a:ln/>
        </p:spPr>
        <p:txBody>
          <a:bodyPr wrap="square" lIns="0" tIns="0" rIns="0" bIns="0" rtlCol="0" anchor="ctr"/>
          <a:lstStyle/>
          <a:p>
            <a:pPr indent="0" marL="0">
              <a:buNone/>
            </a:pPr>
            <a:r>
              <a:rPr lang="en-US" sz="1500" b="1" dirty="0">
                <a:solidFill>
                  <a:schemeClr val="accent2"/>
                </a:solidFill>
              </a:rPr>
              <a:t>94.1-7</a:t>
            </a:r>
            <a:endParaRPr lang="en-US" sz="1500" dirty="0"/>
          </a:p>
        </p:txBody>
      </p:sp>
      <p:sp>
        <p:nvSpPr>
          <p:cNvPr id="38" name="Text 36"/>
          <p:cNvSpPr txBox="1"/>
          <p:nvPr/>
        </p:nvSpPr>
        <p:spPr>
          <a:xfrm>
            <a:off x="777240" y="4389120"/>
            <a:ext cx="2194560" cy="868680"/>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Le Dieu à qui l'on crie</a:t>
            </a:r>
            <a:endParaRPr lang="en-US" sz="1900" dirty="0"/>
          </a:p>
        </p:txBody>
      </p:sp>
      <p:sp>
        <p:nvSpPr>
          <p:cNvPr id="39" name="Text 37"/>
          <p:cNvSpPr txBox="1"/>
          <p:nvPr/>
        </p:nvSpPr>
        <p:spPr>
          <a:xfrm>
            <a:off x="777240" y="5303520"/>
            <a:ext cx="2194560" cy="685800"/>
          </a:xfrm>
          <a:prstGeom prst="rect">
            <a:avLst/>
          </a:prstGeom>
          <a:noFill/>
          <a:ln/>
        </p:spPr>
        <p:txBody>
          <a:bodyPr wrap="square" lIns="0" tIns="0" rIns="0" bIns="0" rtlCol="0" anchor="t"/>
          <a:lstStyle/>
          <a:p>
            <a:pPr indent="0" marL="0">
              <a:buNone/>
            </a:pPr>
            <a:r>
              <a:rPr lang="en-US" sz="1400" dirty="0">
                <a:solidFill>
                  <a:schemeClr val="accent5"/>
                </a:solidFill>
              </a:rPr>
              <a:t>La plainte portée au juge de la terre</a:t>
            </a:r>
            <a:endParaRPr lang="en-US" sz="1400" dirty="0"/>
          </a:p>
        </p:txBody>
      </p:sp>
      <p:sp>
        <p:nvSpPr>
          <p:cNvPr id="40" name="Mouvement 2"/>
          <p:cNvSpPr/>
          <p:nvPr/>
        </p:nvSpPr>
        <p:spPr>
          <a:xfrm>
            <a:off x="3378708" y="3520440"/>
            <a:ext cx="2601468" cy="2560320"/>
          </a:xfrm>
          <a:prstGeom prst="roundRect">
            <a:avLst>
              <a:gd name="adj" fmla="val 2857"/>
            </a:avLst>
          </a:prstGeom>
          <a:solidFill>
            <a:schemeClr val="tx2"/>
          </a:solidFill>
          <a:ln/>
        </p:spPr>
      </p:sp>
      <p:sp>
        <p:nvSpPr>
          <p:cNvPr id="41" name="Pastille 2"/>
          <p:cNvSpPr/>
          <p:nvPr/>
        </p:nvSpPr>
        <p:spPr>
          <a:xfrm>
            <a:off x="3607308" y="3703320"/>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42" name="Text 40"/>
          <p:cNvSpPr txBox="1"/>
          <p:nvPr/>
        </p:nvSpPr>
        <p:spPr>
          <a:xfrm>
            <a:off x="4247388" y="3767328"/>
            <a:ext cx="1554480" cy="365760"/>
          </a:xfrm>
          <a:prstGeom prst="rect">
            <a:avLst/>
          </a:prstGeom>
          <a:noFill/>
          <a:ln/>
        </p:spPr>
        <p:txBody>
          <a:bodyPr wrap="square" lIns="0" tIns="0" rIns="0" bIns="0" rtlCol="0" anchor="ctr"/>
          <a:lstStyle/>
          <a:p>
            <a:pPr indent="0" marL="0">
              <a:buNone/>
            </a:pPr>
            <a:r>
              <a:rPr lang="en-US" sz="1500" b="1" dirty="0">
                <a:solidFill>
                  <a:schemeClr val="accent2"/>
                </a:solidFill>
              </a:rPr>
              <a:t>94.8-11</a:t>
            </a:r>
            <a:endParaRPr lang="en-US" sz="1500" dirty="0"/>
          </a:p>
        </p:txBody>
      </p:sp>
      <p:sp>
        <p:nvSpPr>
          <p:cNvPr id="43" name="Text 41"/>
          <p:cNvSpPr txBox="1"/>
          <p:nvPr/>
        </p:nvSpPr>
        <p:spPr>
          <a:xfrm>
            <a:off x="3607308" y="4389120"/>
            <a:ext cx="2194560" cy="868680"/>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Le Dieu qui voit</a:t>
            </a:r>
            <a:endParaRPr lang="en-US" sz="1900" dirty="0"/>
          </a:p>
        </p:txBody>
      </p:sp>
      <p:sp>
        <p:nvSpPr>
          <p:cNvPr id="44" name="Text 42"/>
          <p:cNvSpPr txBox="1"/>
          <p:nvPr/>
        </p:nvSpPr>
        <p:spPr>
          <a:xfrm>
            <a:off x="3607308" y="5303520"/>
            <a:ext cx="2194560" cy="685800"/>
          </a:xfrm>
          <a:prstGeom prst="rect">
            <a:avLst/>
          </a:prstGeom>
          <a:noFill/>
          <a:ln/>
        </p:spPr>
        <p:txBody>
          <a:bodyPr wrap="square" lIns="0" tIns="0" rIns="0" bIns="0" rtlCol="0" anchor="t"/>
          <a:lstStyle/>
          <a:p>
            <a:pPr indent="0" marL="0">
              <a:buNone/>
            </a:pPr>
            <a:r>
              <a:rPr lang="en-US" sz="1400" dirty="0">
                <a:solidFill>
                  <a:schemeClr val="accent5"/>
                </a:solidFill>
              </a:rPr>
              <a:t>Celui qui a formé l'œil voit et connaît</a:t>
            </a:r>
            <a:endParaRPr lang="en-US" sz="1400" dirty="0"/>
          </a:p>
        </p:txBody>
      </p:sp>
      <p:sp>
        <p:nvSpPr>
          <p:cNvPr id="45" name="Mouvement 3"/>
          <p:cNvSpPr/>
          <p:nvPr/>
        </p:nvSpPr>
        <p:spPr>
          <a:xfrm>
            <a:off x="6208776" y="3520440"/>
            <a:ext cx="2601468" cy="2560320"/>
          </a:xfrm>
          <a:prstGeom prst="roundRect">
            <a:avLst>
              <a:gd name="adj" fmla="val 2857"/>
            </a:avLst>
          </a:prstGeom>
          <a:solidFill>
            <a:schemeClr val="tx2"/>
          </a:solidFill>
          <a:ln/>
        </p:spPr>
      </p:sp>
      <p:sp>
        <p:nvSpPr>
          <p:cNvPr id="46" name="Pastille 3"/>
          <p:cNvSpPr/>
          <p:nvPr/>
        </p:nvSpPr>
        <p:spPr>
          <a:xfrm>
            <a:off x="6437376" y="3703320"/>
            <a:ext cx="502920" cy="502920"/>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47" name="Text 45"/>
          <p:cNvSpPr txBox="1"/>
          <p:nvPr/>
        </p:nvSpPr>
        <p:spPr>
          <a:xfrm>
            <a:off x="7077456" y="3767328"/>
            <a:ext cx="1554480" cy="365760"/>
          </a:xfrm>
          <a:prstGeom prst="rect">
            <a:avLst/>
          </a:prstGeom>
          <a:noFill/>
          <a:ln/>
        </p:spPr>
        <p:txBody>
          <a:bodyPr wrap="square" lIns="0" tIns="0" rIns="0" bIns="0" rtlCol="0" anchor="ctr"/>
          <a:lstStyle/>
          <a:p>
            <a:pPr indent="0" marL="0">
              <a:buNone/>
            </a:pPr>
            <a:r>
              <a:rPr lang="en-US" sz="1500" b="1" dirty="0">
                <a:solidFill>
                  <a:schemeClr val="accent2"/>
                </a:solidFill>
              </a:rPr>
              <a:t>94.12-15</a:t>
            </a:r>
            <a:endParaRPr lang="en-US" sz="1500" dirty="0"/>
          </a:p>
        </p:txBody>
      </p:sp>
      <p:sp>
        <p:nvSpPr>
          <p:cNvPr id="48" name="Text 46"/>
          <p:cNvSpPr txBox="1"/>
          <p:nvPr/>
        </p:nvSpPr>
        <p:spPr>
          <a:xfrm>
            <a:off x="6437376" y="4389120"/>
            <a:ext cx="2194560" cy="868680"/>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Le Dieu qui instruit dans l'attente</a:t>
            </a:r>
            <a:endParaRPr lang="en-US" sz="1900" dirty="0"/>
          </a:p>
        </p:txBody>
      </p:sp>
      <p:sp>
        <p:nvSpPr>
          <p:cNvPr id="49" name="Text 47"/>
          <p:cNvSpPr txBox="1"/>
          <p:nvPr/>
        </p:nvSpPr>
        <p:spPr>
          <a:xfrm>
            <a:off x="6437376" y="5303520"/>
            <a:ext cx="2194560" cy="685800"/>
          </a:xfrm>
          <a:prstGeom prst="rect">
            <a:avLst/>
          </a:prstGeom>
          <a:noFill/>
          <a:ln/>
        </p:spPr>
        <p:txBody>
          <a:bodyPr wrap="square" lIns="0" tIns="0" rIns="0" bIns="0" rtlCol="0" anchor="t"/>
          <a:lstStyle/>
          <a:p>
            <a:pPr indent="0" marL="0">
              <a:buNone/>
            </a:pPr>
            <a:r>
              <a:rPr lang="en-US" sz="1400" dirty="0">
                <a:solidFill>
                  <a:schemeClr val="accent5"/>
                </a:solidFill>
              </a:rPr>
              <a:t>Sa loi et le calme, jusqu'à la fosse</a:t>
            </a:r>
            <a:endParaRPr lang="en-US" sz="1400" dirty="0"/>
          </a:p>
        </p:txBody>
      </p:sp>
      <p:sp>
        <p:nvSpPr>
          <p:cNvPr id="50" name="Mouvement 4"/>
          <p:cNvSpPr/>
          <p:nvPr/>
        </p:nvSpPr>
        <p:spPr>
          <a:xfrm>
            <a:off x="9038844" y="3520440"/>
            <a:ext cx="2601468" cy="2560320"/>
          </a:xfrm>
          <a:prstGeom prst="roundRect">
            <a:avLst>
              <a:gd name="adj" fmla="val 2857"/>
            </a:avLst>
          </a:prstGeom>
          <a:solidFill>
            <a:schemeClr val="tx2"/>
          </a:solidFill>
          <a:ln/>
        </p:spPr>
      </p:sp>
      <p:sp>
        <p:nvSpPr>
          <p:cNvPr id="51" name="Pastille 4"/>
          <p:cNvSpPr/>
          <p:nvPr/>
        </p:nvSpPr>
        <p:spPr>
          <a:xfrm>
            <a:off x="9267444" y="3703320"/>
            <a:ext cx="502920" cy="50292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52" name="Text 50"/>
          <p:cNvSpPr txBox="1"/>
          <p:nvPr/>
        </p:nvSpPr>
        <p:spPr>
          <a:xfrm>
            <a:off x="9907524" y="3767328"/>
            <a:ext cx="1554480" cy="365760"/>
          </a:xfrm>
          <a:prstGeom prst="rect">
            <a:avLst/>
          </a:prstGeom>
          <a:noFill/>
          <a:ln/>
        </p:spPr>
        <p:txBody>
          <a:bodyPr wrap="square" lIns="0" tIns="0" rIns="0" bIns="0" rtlCol="0" anchor="ctr"/>
          <a:lstStyle/>
          <a:p>
            <a:pPr indent="0" marL="0">
              <a:buNone/>
            </a:pPr>
            <a:r>
              <a:rPr lang="en-US" sz="1500" b="1" dirty="0">
                <a:solidFill>
                  <a:schemeClr val="accent2"/>
                </a:solidFill>
              </a:rPr>
              <a:t>94.16-23</a:t>
            </a:r>
            <a:endParaRPr lang="en-US" sz="1500" dirty="0"/>
          </a:p>
        </p:txBody>
      </p:sp>
      <p:sp>
        <p:nvSpPr>
          <p:cNvPr id="53" name="Text 51"/>
          <p:cNvSpPr txBox="1"/>
          <p:nvPr/>
        </p:nvSpPr>
        <p:spPr>
          <a:xfrm>
            <a:off x="9267444" y="4389120"/>
            <a:ext cx="2194560" cy="868680"/>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Le Dieu qui soutient et qui rendra</a:t>
            </a:r>
            <a:endParaRPr lang="en-US" sz="1900" dirty="0"/>
          </a:p>
        </p:txBody>
      </p:sp>
      <p:sp>
        <p:nvSpPr>
          <p:cNvPr id="54" name="Text 52"/>
          <p:cNvSpPr txBox="1"/>
          <p:nvPr/>
        </p:nvSpPr>
        <p:spPr>
          <a:xfrm>
            <a:off x="9267444" y="5303520"/>
            <a:ext cx="2194560" cy="685800"/>
          </a:xfrm>
          <a:prstGeom prst="rect">
            <a:avLst/>
          </a:prstGeom>
          <a:noFill/>
          <a:ln/>
        </p:spPr>
        <p:txBody>
          <a:bodyPr wrap="square" lIns="0" tIns="0" rIns="0" bIns="0" rtlCol="0" anchor="t"/>
          <a:lstStyle/>
          <a:p>
            <a:pPr indent="0" marL="0">
              <a:buNone/>
            </a:pPr>
            <a:r>
              <a:rPr lang="en-US" sz="1400" dirty="0">
                <a:solidFill>
                  <a:schemeClr val="accent5"/>
                </a:solidFill>
              </a:rPr>
              <a:t>Son secours aujourd'hui, son verdict à la fin</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0058400" cy="320040"/>
          </a:xfrm>
          <a:prstGeom prst="rect">
            <a:avLst/>
          </a:prstGeom>
          <a:noFill/>
          <a:ln/>
        </p:spPr>
        <p:txBody>
          <a:bodyPr wrap="square" lIns="0" tIns="0" rIns="0" bIns="0" rtlCol="0"/>
          <a:lstStyle/>
          <a:p>
            <a:pPr indent="0" marL="0">
              <a:buNone/>
            </a:pPr>
            <a:r>
              <a:rPr lang="en-US" sz="1300" b="1" spc="100" kern="0" dirty="0">
                <a:solidFill>
                  <a:schemeClr val="accent2"/>
                </a:solidFill>
              </a:rPr>
              <a:t>Introduction · 94.1</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Peu d'assemblées osent prier ainsi</a:t>
            </a:r>
            <a:endParaRPr lang="en-US" sz="3000" dirty="0"/>
          </a:p>
        </p:txBody>
      </p:sp>
      <p:sp>
        <p:nvSpPr>
          <p:cNvPr id="4" name="Cri du verset 1"/>
          <p:cNvSpPr/>
          <p:nvPr/>
        </p:nvSpPr>
        <p:spPr>
          <a:xfrm>
            <a:off x="548640" y="1645920"/>
            <a:ext cx="5669280" cy="4434840"/>
          </a:xfrm>
          <a:prstGeom prst="roundRect">
            <a:avLst>
              <a:gd name="adj" fmla="val 1649"/>
            </a:avLst>
          </a:prstGeom>
          <a:solidFill>
            <a:schemeClr val="tx2"/>
          </a:solidFill>
          <a:ln/>
        </p:spPr>
      </p:sp>
      <p:sp>
        <p:nvSpPr>
          <p:cNvPr id="5" name="Text 3"/>
          <p:cNvSpPr txBox="1"/>
          <p:nvPr/>
        </p:nvSpPr>
        <p:spPr>
          <a:xfrm>
            <a:off x="868680" y="1920240"/>
            <a:ext cx="5029200" cy="2103120"/>
          </a:xfrm>
          <a:prstGeom prst="rect">
            <a:avLst/>
          </a:prstGeom>
          <a:noFill/>
          <a:ln/>
        </p:spPr>
        <p:txBody>
          <a:bodyPr wrap="square" lIns="0" tIns="0" rIns="0" bIns="0" rtlCol="0" anchor="ctr"/>
          <a:lstStyle/>
          <a:p>
            <a:pPr indent="0" marL="0">
              <a:buNone/>
            </a:pPr>
            <a:r>
              <a:rPr lang="en-US" sz="3200" i="1" dirty="0">
                <a:solidFill>
                  <a:schemeClr val="bg1"/>
                </a:solidFill>
                <a:latin typeface="Cambria" pitchFamily="34" charset="0"/>
                <a:ea typeface="Cambria" pitchFamily="34" charset="-122"/>
                <a:cs typeface="Cambria" pitchFamily="34" charset="-120"/>
              </a:rPr>
              <a:t>« Dieu des vengeances, Eternel! Dieu des vengeances, parais! »</a:t>
            </a:r>
            <a:endParaRPr lang="en-US" sz="3200" dirty="0"/>
          </a:p>
        </p:txBody>
      </p:sp>
      <p:sp>
        <p:nvSpPr>
          <p:cNvPr id="6" name="Text 4"/>
          <p:cNvSpPr txBox="1"/>
          <p:nvPr/>
        </p:nvSpPr>
        <p:spPr>
          <a:xfrm>
            <a:off x="868680" y="4069080"/>
            <a:ext cx="5029200" cy="365760"/>
          </a:xfrm>
          <a:prstGeom prst="rect">
            <a:avLst/>
          </a:prstGeom>
          <a:noFill/>
          <a:ln/>
        </p:spPr>
        <p:txBody>
          <a:bodyPr wrap="square" lIns="0" tIns="0" rIns="0" bIns="0" rtlCol="0" anchor="t"/>
          <a:lstStyle/>
          <a:p>
            <a:pPr indent="0" marL="0">
              <a:buNone/>
            </a:pPr>
            <a:r>
              <a:rPr lang="en-US" sz="1800" b="1" dirty="0">
                <a:solidFill>
                  <a:schemeClr val="accent2"/>
                </a:solidFill>
              </a:rPr>
              <a:t>Psaume 94.1</a:t>
            </a:r>
            <a:endParaRPr lang="en-US" sz="1800" dirty="0"/>
          </a:p>
        </p:txBody>
      </p:sp>
      <p:sp>
        <p:nvSpPr>
          <p:cNvPr id="7" name="Œil accroche contour"/>
          <p:cNvSpPr/>
          <p:nvPr/>
        </p:nvSpPr>
        <p:spPr>
          <a:xfrm>
            <a:off x="2514600" y="4777740"/>
            <a:ext cx="1737360" cy="868680"/>
          </a:xfrm>
          <a:custGeom>
            <a:avLst/>
            <a:gdLst/>
            <a:ahLst/>
            <a:cxnLst/>
            <a:rect l="l" t="t" r="r" b="b"/>
            <a:pathLst>
              <a:path w="1737360" h="868680">
                <a:moveTo>
                  <a:pt x="0" y="434340"/>
                </a:moveTo>
                <a:quadBezTo>
                  <a:pt x="868680" y="-434340"/>
                  <a:pt x="1737360" y="434340"/>
                </a:quadBezTo>
                <a:quadBezTo>
                  <a:pt x="868680" y="1303020"/>
                  <a:pt x="0" y="434340"/>
                </a:quadBezTo>
                <a:close/>
              </a:path>
            </a:pathLst>
          </a:custGeom>
          <a:solidFill>
            <a:schemeClr val="tx1"/>
          </a:solidFill>
          <a:ln w="31750">
            <a:solidFill>
              <a:schemeClr val="accent1"/>
            </a:solidFill>
            <a:prstDash val="solid"/>
          </a:ln>
        </p:spPr>
      </p:sp>
      <p:sp>
        <p:nvSpPr>
          <p:cNvPr id="8" name="Œil accroche iris"/>
          <p:cNvSpPr/>
          <p:nvPr/>
        </p:nvSpPr>
        <p:spPr>
          <a:xfrm>
            <a:off x="3035808" y="4864608"/>
            <a:ext cx="694944" cy="694944"/>
          </a:xfrm>
          <a:prstGeom prst="ellipse">
            <a:avLst/>
          </a:prstGeom>
          <a:solidFill>
            <a:schemeClr val="accent1"/>
          </a:solidFill>
          <a:ln w="19050">
            <a:solidFill>
              <a:schemeClr val="accent3"/>
            </a:solidFill>
            <a:prstDash val="solid"/>
          </a:ln>
        </p:spPr>
      </p:sp>
      <p:sp>
        <p:nvSpPr>
          <p:cNvPr id="9" name="Œil accroche pupille"/>
          <p:cNvSpPr/>
          <p:nvPr/>
        </p:nvSpPr>
        <p:spPr>
          <a:xfrm>
            <a:off x="3226918" y="5055718"/>
            <a:ext cx="312725" cy="312725"/>
          </a:xfrm>
          <a:prstGeom prst="ellipse">
            <a:avLst/>
          </a:prstGeom>
          <a:solidFill>
            <a:schemeClr val="tx1"/>
          </a:solidFill>
          <a:ln/>
        </p:spPr>
      </p:sp>
      <p:sp>
        <p:nvSpPr>
          <p:cNvPr id="10" name="Œil accroche reflet"/>
          <p:cNvSpPr/>
          <p:nvPr/>
        </p:nvSpPr>
        <p:spPr>
          <a:xfrm>
            <a:off x="3430189" y="5071354"/>
            <a:ext cx="87563" cy="87563"/>
          </a:xfrm>
          <a:prstGeom prst="ellipse">
            <a:avLst/>
          </a:prstGeom>
          <a:solidFill>
            <a:schemeClr val="bg1"/>
          </a:solidFill>
          <a:ln/>
        </p:spPr>
      </p:sp>
      <p:sp>
        <p:nvSpPr>
          <p:cNvPr id="11" name="Text 9"/>
          <p:cNvSpPr txBox="1"/>
          <p:nvPr/>
        </p:nvSpPr>
        <p:spPr>
          <a:xfrm>
            <a:off x="6583680" y="1645920"/>
            <a:ext cx="5056632"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Dans la louange du Temple</a:t>
            </a:r>
            <a:endParaRPr lang="en-US" sz="2200" dirty="0"/>
          </a:p>
        </p:txBody>
      </p:sp>
      <p:sp>
        <p:nvSpPr>
          <p:cNvPr id="12" name="Troisième jour"/>
          <p:cNvSpPr/>
          <p:nvPr/>
        </p:nvSpPr>
        <p:spPr>
          <a:xfrm>
            <a:off x="6583680" y="2194560"/>
            <a:ext cx="5056632" cy="1600200"/>
          </a:xfrm>
          <a:prstGeom prst="roundRect">
            <a:avLst>
              <a:gd name="adj" fmla="val 4571"/>
            </a:avLst>
          </a:prstGeom>
          <a:solidFill>
            <a:schemeClr val="tx2"/>
          </a:solidFill>
          <a:ln/>
        </p:spPr>
      </p:sp>
      <p:sp>
        <p:nvSpPr>
          <p:cNvPr id="13" name="Text 11"/>
          <p:cNvSpPr txBox="1"/>
          <p:nvPr/>
        </p:nvSpPr>
        <p:spPr>
          <a:xfrm>
            <a:off x="6812280" y="2331720"/>
            <a:ext cx="4572000" cy="320040"/>
          </a:xfrm>
          <a:prstGeom prst="rect">
            <a:avLst/>
          </a:prstGeom>
          <a:noFill/>
          <a:ln/>
        </p:spPr>
        <p:txBody>
          <a:bodyPr wrap="square" lIns="0" tIns="0" rIns="0" bIns="0" rtlCol="0" anchor="t"/>
          <a:lstStyle/>
          <a:p>
            <a:pPr indent="0" marL="0">
              <a:buNone/>
            </a:pPr>
            <a:r>
              <a:rPr lang="en-US" sz="1700" b="1" dirty="0">
                <a:solidFill>
                  <a:schemeClr val="accent2"/>
                </a:solidFill>
              </a:rPr>
              <a:t>3e jour · Psaume 82</a:t>
            </a:r>
            <a:endParaRPr lang="en-US" sz="1700" dirty="0"/>
          </a:p>
        </p:txBody>
      </p:sp>
      <p:sp>
        <p:nvSpPr>
          <p:cNvPr id="14" name="Text 12"/>
          <p:cNvSpPr txBox="1"/>
          <p:nvPr/>
        </p:nvSpPr>
        <p:spPr>
          <a:xfrm>
            <a:off x="6812280" y="2697480"/>
            <a:ext cx="4572000" cy="1005840"/>
          </a:xfrm>
          <a:prstGeom prst="rect">
            <a:avLst/>
          </a:prstGeom>
          <a:noFill/>
          <a:ln/>
        </p:spPr>
        <p:txBody>
          <a:bodyPr wrap="square" lIns="0" tIns="0" rIns="0" bIns="0" rtlCol="0" anchor="t"/>
          <a:lstStyle/>
          <a:p>
            <a:pPr indent="0" marL="0">
              <a:buNone/>
            </a:pPr>
            <a:r>
              <a:rPr lang="en-US" sz="1500" i="1" dirty="0">
                <a:solidFill>
                  <a:schemeClr val="bg1"/>
                </a:solidFill>
              </a:rPr>
              <a:t>« Jusqu'à quand jugerez-vous avec iniquité, Et aurez-vous égard à la personne des méchants? » (82.2)</a:t>
            </a:r>
            <a:endParaRPr lang="en-US" sz="1500" dirty="0"/>
          </a:p>
        </p:txBody>
      </p:sp>
      <p:sp>
        <p:nvSpPr>
          <p:cNvPr id="15" name="Flèche des jours"/>
          <p:cNvSpPr/>
          <p:nvPr/>
        </p:nvSpPr>
        <p:spPr>
          <a:xfrm>
            <a:off x="8869680" y="3858768"/>
            <a:ext cx="502920" cy="411480"/>
          </a:xfrm>
          <a:prstGeom prst="downArrow">
            <a:avLst/>
          </a:prstGeom>
          <a:solidFill>
            <a:schemeClr val="accent1"/>
          </a:solidFill>
          <a:ln/>
        </p:spPr>
      </p:sp>
      <p:sp>
        <p:nvSpPr>
          <p:cNvPr id="16" name="Quatrième jour"/>
          <p:cNvSpPr/>
          <p:nvPr/>
        </p:nvSpPr>
        <p:spPr>
          <a:xfrm>
            <a:off x="6583680" y="4343400"/>
            <a:ext cx="5056632" cy="1097280"/>
          </a:xfrm>
          <a:prstGeom prst="roundRect">
            <a:avLst>
              <a:gd name="adj" fmla="val 6667"/>
            </a:avLst>
          </a:prstGeom>
          <a:solidFill>
            <a:schemeClr val="accent3"/>
          </a:solidFill>
          <a:ln/>
        </p:spPr>
      </p:sp>
      <p:sp>
        <p:nvSpPr>
          <p:cNvPr id="17" name="Text 15"/>
          <p:cNvSpPr txBox="1"/>
          <p:nvPr/>
        </p:nvSpPr>
        <p:spPr>
          <a:xfrm>
            <a:off x="6812280" y="4462272"/>
            <a:ext cx="4572000" cy="320040"/>
          </a:xfrm>
          <a:prstGeom prst="rect">
            <a:avLst/>
          </a:prstGeom>
          <a:noFill/>
          <a:ln/>
        </p:spPr>
        <p:txBody>
          <a:bodyPr wrap="square" lIns="0" tIns="0" rIns="0" bIns="0" rtlCol="0" anchor="t"/>
          <a:lstStyle/>
          <a:p>
            <a:pPr indent="0" marL="0">
              <a:buNone/>
            </a:pPr>
            <a:r>
              <a:rPr lang="en-US" sz="1700" b="1" dirty="0">
                <a:solidFill>
                  <a:schemeClr val="accent5"/>
                </a:solidFill>
              </a:rPr>
              <a:t>4e jour · Psaume 94</a:t>
            </a:r>
            <a:endParaRPr lang="en-US" sz="1700" dirty="0"/>
          </a:p>
        </p:txBody>
      </p:sp>
      <p:sp>
        <p:nvSpPr>
          <p:cNvPr id="18" name="Text 16"/>
          <p:cNvSpPr txBox="1"/>
          <p:nvPr/>
        </p:nvSpPr>
        <p:spPr>
          <a:xfrm>
            <a:off x="6812280" y="4846320"/>
            <a:ext cx="4572000" cy="457200"/>
          </a:xfrm>
          <a:prstGeom prst="rect">
            <a:avLst/>
          </a:prstGeom>
          <a:noFill/>
          <a:ln/>
        </p:spPr>
        <p:txBody>
          <a:bodyPr wrap="square" lIns="0" tIns="0" rIns="0" bIns="0" rtlCol="0" anchor="t"/>
          <a:lstStyle/>
          <a:p>
            <a:pPr indent="0" marL="0">
              <a:buNone/>
            </a:pPr>
            <a:r>
              <a:rPr lang="en-US" sz="1500" i="1" dirty="0">
                <a:solidFill>
                  <a:schemeClr val="bg1"/>
                </a:solidFill>
              </a:rPr>
              <a:t>le psaume qui commence par « Dieu des vengeances »</a:t>
            </a:r>
            <a:endParaRPr lang="en-US" sz="1500" dirty="0"/>
          </a:p>
        </p:txBody>
      </p:sp>
      <p:sp>
        <p:nvSpPr>
          <p:cNvPr id="19" name="Text 17"/>
          <p:cNvSpPr txBox="1"/>
          <p:nvPr/>
        </p:nvSpPr>
        <p:spPr>
          <a:xfrm>
            <a:off x="6583680" y="5577840"/>
            <a:ext cx="5056632" cy="502920"/>
          </a:xfrm>
          <a:prstGeom prst="rect">
            <a:avLst/>
          </a:prstGeom>
          <a:noFill/>
          <a:ln/>
        </p:spPr>
        <p:txBody>
          <a:bodyPr wrap="square" lIns="0" tIns="0" rIns="0" bIns="0" rtlCol="0" anchor="t"/>
          <a:lstStyle/>
          <a:p>
            <a:pPr indent="0" marL="0">
              <a:buNone/>
            </a:pPr>
            <a:r>
              <a:rPr lang="en-US" sz="1300" i="1" dirty="0">
                <a:solidFill>
                  <a:schemeClr val="bg2"/>
                </a:solidFill>
              </a:rPr>
              <a:t>Selon la Mishna (Tamid 7.4), du moins à l'époque qu'elle décrit.</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0058400" cy="320040"/>
          </a:xfrm>
          <a:prstGeom prst="rect">
            <a:avLst/>
          </a:prstGeom>
          <a:noFill/>
          <a:ln/>
        </p:spPr>
        <p:txBody>
          <a:bodyPr wrap="square" lIns="0" tIns="0" rIns="0" bIns="0" rtlCol="0"/>
          <a:lstStyle/>
          <a:p>
            <a:pPr indent="0" marL="0">
              <a:buNone/>
            </a:pPr>
            <a:r>
              <a:rPr lang="en-US" sz="1300" b="1" spc="100" kern="0" dirty="0">
                <a:solidFill>
                  <a:schemeClr val="accent2"/>
                </a:solidFill>
              </a:rPr>
              <a:t>Introduction</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Quand le mal triomphe, où va votre plainte?</a:t>
            </a:r>
            <a:endParaRPr lang="en-US" sz="3000" dirty="0"/>
          </a:p>
        </p:txBody>
      </p:sp>
      <p:sp>
        <p:nvSpPr>
          <p:cNvPr id="4" name="Racine"/>
          <p:cNvSpPr/>
          <p:nvPr/>
        </p:nvSpPr>
        <p:spPr>
          <a:xfrm>
            <a:off x="548640" y="3200400"/>
            <a:ext cx="2468880" cy="1005840"/>
          </a:xfrm>
          <a:prstGeom prst="roundRect">
            <a:avLst>
              <a:gd name="adj" fmla="val 7273"/>
            </a:avLst>
          </a:prstGeom>
          <a:solidFill>
            <a:schemeClr val="accent3"/>
          </a:solidFill>
          <a:ln/>
        </p:spPr>
        <p:txBody>
          <a:bodyPr wrap="square" lIns="1524" tIns="1524" rIns="1524" bIns="1524"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Le mal triomphe</a:t>
            </a:r>
            <a:endParaRPr lang="en-US" sz="2200" dirty="0"/>
          </a:p>
        </p:txBody>
      </p:sp>
      <p:sp>
        <p:nvSpPr>
          <p:cNvPr id="5" name="Voie 1"/>
          <p:cNvSpPr/>
          <p:nvPr/>
        </p:nvSpPr>
        <p:spPr>
          <a:xfrm flipV="1">
            <a:off x="3017520" y="2121408"/>
            <a:ext cx="731520" cy="1581912"/>
          </a:xfrm>
          <a:prstGeom prst="line">
            <a:avLst/>
          </a:prstGeom>
          <a:noFill/>
          <a:ln w="28575">
            <a:solidFill>
              <a:schemeClr val="accent6"/>
            </a:solidFill>
            <a:prstDash val="solid"/>
            <a:tailEnd type="triangle"/>
          </a:ln>
        </p:spPr>
      </p:sp>
      <p:sp>
        <p:nvSpPr>
          <p:cNvPr id="6" name="Destination 1"/>
          <p:cNvSpPr/>
          <p:nvPr/>
        </p:nvSpPr>
        <p:spPr>
          <a:xfrm>
            <a:off x="3749040" y="1691640"/>
            <a:ext cx="4023360" cy="868680"/>
          </a:xfrm>
          <a:prstGeom prst="roundRect">
            <a:avLst>
              <a:gd name="adj" fmla="val 8421"/>
            </a:avLst>
          </a:prstGeom>
          <a:solidFill>
            <a:schemeClr val="accent4"/>
          </a:solidFill>
          <a:ln w="12700">
            <a:solidFill>
              <a:schemeClr val="accent6"/>
            </a:solidFill>
          </a:ln>
        </p:spPr>
        <p:txBody>
          <a:bodyPr wrap="square" lIns="1524" tIns="1524" rIns="1524" bIns="1524" rtlCol="0" anchor="ctr"/>
          <a:lstStyle/>
          <a:p>
            <a:pPr algn="ctr" indent="0" marL="0">
              <a:buNone/>
            </a:pPr>
            <a:r>
              <a:rPr lang="en-US" sz="1700" b="1" dirty="0">
                <a:solidFill>
                  <a:schemeClr val="bg1"/>
                </a:solidFill>
              </a:rPr>
              <a:t>Vers l'amertume</a:t>
            </a:r>
            <a:endParaRPr lang="en-US" sz="1700" dirty="0"/>
          </a:p>
        </p:txBody>
      </p:sp>
      <p:sp>
        <p:nvSpPr>
          <p:cNvPr id="7" name="Text 5"/>
          <p:cNvSpPr txBox="1"/>
          <p:nvPr/>
        </p:nvSpPr>
        <p:spPr>
          <a:xfrm>
            <a:off x="8046720" y="1691640"/>
            <a:ext cx="3593592" cy="868680"/>
          </a:xfrm>
          <a:prstGeom prst="rect">
            <a:avLst/>
          </a:prstGeom>
          <a:noFill/>
          <a:ln/>
        </p:spPr>
        <p:txBody>
          <a:bodyPr wrap="square" lIns="0" tIns="0" rIns="0" bIns="0" rtlCol="0" anchor="ctr"/>
          <a:lstStyle/>
          <a:p>
            <a:pPr indent="0" marL="0">
              <a:buNone/>
            </a:pPr>
            <a:r>
              <a:rPr lang="en-US" sz="1500" dirty="0">
                <a:solidFill>
                  <a:schemeClr val="bg1"/>
                </a:solidFill>
              </a:rPr>
              <a:t>« Jusqu'à quand » dit à Dieu, non à la rancune</a:t>
            </a:r>
            <a:endParaRPr lang="en-US" sz="1500" dirty="0"/>
          </a:p>
        </p:txBody>
      </p:sp>
      <p:sp>
        <p:nvSpPr>
          <p:cNvPr id="8" name="Voie 2"/>
          <p:cNvSpPr/>
          <p:nvPr/>
        </p:nvSpPr>
        <p:spPr>
          <a:xfrm flipV="1">
            <a:off x="3017520" y="3218688"/>
            <a:ext cx="731520" cy="484632"/>
          </a:xfrm>
          <a:prstGeom prst="line">
            <a:avLst/>
          </a:prstGeom>
          <a:noFill/>
          <a:ln w="28575">
            <a:solidFill>
              <a:schemeClr val="accent6"/>
            </a:solidFill>
            <a:prstDash val="solid"/>
            <a:tailEnd type="triangle"/>
          </a:ln>
        </p:spPr>
      </p:sp>
      <p:sp>
        <p:nvSpPr>
          <p:cNvPr id="9" name="Destination 2"/>
          <p:cNvSpPr/>
          <p:nvPr/>
        </p:nvSpPr>
        <p:spPr>
          <a:xfrm>
            <a:off x="3749040" y="2788920"/>
            <a:ext cx="4023360" cy="868680"/>
          </a:xfrm>
          <a:prstGeom prst="roundRect">
            <a:avLst>
              <a:gd name="adj" fmla="val 8421"/>
            </a:avLst>
          </a:prstGeom>
          <a:solidFill>
            <a:schemeClr val="accent4"/>
          </a:solidFill>
          <a:ln w="12700">
            <a:solidFill>
              <a:schemeClr val="accent6"/>
            </a:solidFill>
          </a:ln>
        </p:spPr>
        <p:txBody>
          <a:bodyPr wrap="square" lIns="1524" tIns="1524" rIns="1524" bIns="1524" rtlCol="0" anchor="ctr"/>
          <a:lstStyle/>
          <a:p>
            <a:pPr algn="ctr" indent="0" marL="0">
              <a:buNone/>
            </a:pPr>
            <a:r>
              <a:rPr lang="en-US" sz="1700" b="1" dirty="0">
                <a:solidFill>
                  <a:schemeClr val="bg1"/>
                </a:solidFill>
              </a:rPr>
              <a:t>Vers la revanche</a:t>
            </a:r>
            <a:endParaRPr lang="en-US" sz="1700" dirty="0"/>
          </a:p>
        </p:txBody>
      </p:sp>
      <p:sp>
        <p:nvSpPr>
          <p:cNvPr id="10" name="Text 8"/>
          <p:cNvSpPr txBox="1"/>
          <p:nvPr/>
        </p:nvSpPr>
        <p:spPr>
          <a:xfrm>
            <a:off x="8046720" y="2788920"/>
            <a:ext cx="3593592" cy="868680"/>
          </a:xfrm>
          <a:prstGeom prst="rect">
            <a:avLst/>
          </a:prstGeom>
          <a:noFill/>
          <a:ln/>
        </p:spPr>
        <p:txBody>
          <a:bodyPr wrap="square" lIns="0" tIns="0" rIns="0" bIns="0" rtlCol="0" anchor="ctr"/>
          <a:lstStyle/>
          <a:p>
            <a:pPr indent="0" marL="0">
              <a:buNone/>
            </a:pPr>
            <a:r>
              <a:rPr lang="en-US" sz="1500" dirty="0">
                <a:solidFill>
                  <a:schemeClr val="bg1"/>
                </a:solidFill>
              </a:rPr>
              <a:t>La vengeance appartient à Dieu (Deutéronome 32.35)</a:t>
            </a:r>
            <a:endParaRPr lang="en-US" sz="1500" dirty="0"/>
          </a:p>
        </p:txBody>
      </p:sp>
      <p:sp>
        <p:nvSpPr>
          <p:cNvPr id="11" name="Voie 3"/>
          <p:cNvSpPr/>
          <p:nvPr/>
        </p:nvSpPr>
        <p:spPr>
          <a:xfrm>
            <a:off x="3017520" y="3703320"/>
            <a:ext cx="731520" cy="612648"/>
          </a:xfrm>
          <a:prstGeom prst="line">
            <a:avLst/>
          </a:prstGeom>
          <a:noFill/>
          <a:ln w="28575">
            <a:solidFill>
              <a:schemeClr val="accent6"/>
            </a:solidFill>
            <a:prstDash val="solid"/>
            <a:tailEnd type="triangle"/>
          </a:ln>
        </p:spPr>
      </p:sp>
      <p:sp>
        <p:nvSpPr>
          <p:cNvPr id="12" name="Destination 3"/>
          <p:cNvSpPr/>
          <p:nvPr/>
        </p:nvSpPr>
        <p:spPr>
          <a:xfrm>
            <a:off x="3749040" y="3886200"/>
            <a:ext cx="4023360" cy="868680"/>
          </a:xfrm>
          <a:prstGeom prst="roundRect">
            <a:avLst>
              <a:gd name="adj" fmla="val 8421"/>
            </a:avLst>
          </a:prstGeom>
          <a:solidFill>
            <a:schemeClr val="accent4"/>
          </a:solidFill>
          <a:ln w="12700">
            <a:solidFill>
              <a:schemeClr val="accent6"/>
            </a:solidFill>
          </a:ln>
        </p:spPr>
        <p:txBody>
          <a:bodyPr wrap="square" lIns="1524" tIns="1524" rIns="1524" bIns="1524" rtlCol="0" anchor="ctr"/>
          <a:lstStyle/>
          <a:p>
            <a:pPr algn="ctr" indent="0" marL="0">
              <a:buNone/>
            </a:pPr>
            <a:r>
              <a:rPr lang="en-US" sz="1700" b="1" dirty="0">
                <a:solidFill>
                  <a:schemeClr val="bg1"/>
                </a:solidFill>
              </a:rPr>
              <a:t>Vers le doute qui conclut « L'Eternel ne regarde pas »</a:t>
            </a:r>
            <a:endParaRPr lang="en-US" sz="1700" dirty="0"/>
          </a:p>
        </p:txBody>
      </p:sp>
      <p:sp>
        <p:nvSpPr>
          <p:cNvPr id="13" name="Text 11"/>
          <p:cNvSpPr txBox="1"/>
          <p:nvPr/>
        </p:nvSpPr>
        <p:spPr>
          <a:xfrm>
            <a:off x="8046720" y="3886200"/>
            <a:ext cx="3593592" cy="868680"/>
          </a:xfrm>
          <a:prstGeom prst="rect">
            <a:avLst/>
          </a:prstGeom>
          <a:noFill/>
          <a:ln/>
        </p:spPr>
        <p:txBody>
          <a:bodyPr wrap="square" lIns="0" tIns="0" rIns="0" bIns="0" rtlCol="0" anchor="ctr"/>
          <a:lstStyle/>
          <a:p>
            <a:pPr indent="0" marL="0">
              <a:buNone/>
            </a:pPr>
            <a:r>
              <a:rPr lang="en-US" sz="1500" dirty="0">
                <a:solidFill>
                  <a:schemeClr val="bg1"/>
                </a:solidFill>
              </a:rPr>
              <a:t>C'est le credo des méchants (94.7)</a:t>
            </a:r>
            <a:endParaRPr lang="en-US" sz="1500" dirty="0"/>
          </a:p>
        </p:txBody>
      </p:sp>
      <p:sp>
        <p:nvSpPr>
          <p:cNvPr id="14" name="Voie 4"/>
          <p:cNvSpPr/>
          <p:nvPr/>
        </p:nvSpPr>
        <p:spPr>
          <a:xfrm>
            <a:off x="3017520" y="3703320"/>
            <a:ext cx="731520" cy="1709928"/>
          </a:xfrm>
          <a:prstGeom prst="line">
            <a:avLst/>
          </a:prstGeom>
          <a:noFill/>
          <a:ln w="28575">
            <a:solidFill>
              <a:schemeClr val="accent1"/>
            </a:solidFill>
            <a:prstDash val="solid"/>
            <a:tailEnd type="triangle"/>
          </a:ln>
        </p:spPr>
      </p:sp>
      <p:sp>
        <p:nvSpPr>
          <p:cNvPr id="15" name="Destination 4"/>
          <p:cNvSpPr/>
          <p:nvPr/>
        </p:nvSpPr>
        <p:spPr>
          <a:xfrm>
            <a:off x="3749040" y="4983480"/>
            <a:ext cx="4023360" cy="868680"/>
          </a:xfrm>
          <a:prstGeom prst="roundRect">
            <a:avLst>
              <a:gd name="adj" fmla="val 8421"/>
            </a:avLst>
          </a:prstGeom>
          <a:solidFill>
            <a:schemeClr val="accent1"/>
          </a:solidFill>
          <a:ln/>
        </p:spPr>
        <p:txBody>
          <a:bodyPr wrap="square" lIns="1524" tIns="1524" rIns="1524" bIns="1524" rtlCol="0" anchor="ctr"/>
          <a:lstStyle/>
          <a:p>
            <a:pPr algn="ctr" indent="0" marL="0">
              <a:buNone/>
            </a:pPr>
            <a:r>
              <a:rPr lang="en-US" sz="1700" b="1" dirty="0">
                <a:solidFill>
                  <a:schemeClr val="tx1"/>
                </a:solidFill>
              </a:rPr>
              <a:t>Vers Dieu lui-même</a:t>
            </a:r>
            <a:endParaRPr lang="en-US" sz="1700" dirty="0"/>
          </a:p>
        </p:txBody>
      </p:sp>
      <p:sp>
        <p:nvSpPr>
          <p:cNvPr id="16" name="Text 14"/>
          <p:cNvSpPr txBox="1"/>
          <p:nvPr/>
        </p:nvSpPr>
        <p:spPr>
          <a:xfrm>
            <a:off x="8046720" y="4983480"/>
            <a:ext cx="3593592" cy="868680"/>
          </a:xfrm>
          <a:prstGeom prst="rect">
            <a:avLst/>
          </a:prstGeom>
          <a:noFill/>
          <a:ln/>
        </p:spPr>
        <p:txBody>
          <a:bodyPr wrap="square" lIns="0" tIns="0" rIns="0" bIns="0" rtlCol="0" anchor="ctr"/>
          <a:lstStyle/>
          <a:p>
            <a:pPr indent="0" marL="0">
              <a:buNone/>
            </a:pPr>
            <a:r>
              <a:rPr lang="en-US" sz="1500" b="1" dirty="0">
                <a:solidFill>
                  <a:schemeClr val="accent2"/>
                </a:solidFill>
              </a:rPr>
              <a:t>Le chemin du psaume : « ô Eternel! » (94.3)</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0058400" cy="320040"/>
          </a:xfrm>
          <a:prstGeom prst="rect">
            <a:avLst/>
          </a:prstGeom>
          <a:noFill/>
          <a:ln/>
        </p:spPr>
        <p:txBody>
          <a:bodyPr wrap="square" lIns="0" tIns="0" rIns="0" bIns="0" rtlCol="0"/>
          <a:lstStyle/>
          <a:p>
            <a:pPr indent="0" marL="0">
              <a:buNone/>
            </a:pPr>
            <a:r>
              <a:rPr lang="en-US" sz="1300" b="1" spc="100" kern="0" dirty="0">
                <a:solidFill>
                  <a:schemeClr val="accent2"/>
                </a:solidFill>
              </a:rPr>
              <a:t>Le plan</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Cinq temps de MacArthur, quatre points</a:t>
            </a:r>
            <a:endParaRPr lang="en-US" sz="3000" dirty="0"/>
          </a:p>
        </p:txBody>
      </p:sp>
      <p:sp>
        <p:nvSpPr>
          <p:cNvPr id="4" name="Text 2"/>
          <p:cNvSpPr txBox="1"/>
          <p:nvPr/>
        </p:nvSpPr>
        <p:spPr>
          <a:xfrm>
            <a:off x="548640" y="1572768"/>
            <a:ext cx="7315200" cy="274320"/>
          </a:xfrm>
          <a:prstGeom prst="rect">
            <a:avLst/>
          </a:prstGeom>
          <a:noFill/>
          <a:ln/>
        </p:spPr>
        <p:txBody>
          <a:bodyPr wrap="square" lIns="0" tIns="0" rIns="0" bIns="0" rtlCol="0" anchor="t"/>
          <a:lstStyle/>
          <a:p>
            <a:pPr indent="0" marL="0">
              <a:buNone/>
            </a:pPr>
            <a:r>
              <a:rPr lang="en-US" sz="1400" b="1" dirty="0">
                <a:solidFill>
                  <a:schemeClr val="bg2"/>
                </a:solidFill>
              </a:rPr>
              <a:t>La note de La Bible d'étude MacArthur</a:t>
            </a:r>
            <a:endParaRPr lang="en-US" sz="1400" dirty="0"/>
          </a:p>
        </p:txBody>
      </p:sp>
      <p:sp>
        <p:nvSpPr>
          <p:cNvPr id="5" name="Temps 1"/>
          <p:cNvSpPr/>
          <p:nvPr/>
        </p:nvSpPr>
        <p:spPr>
          <a:xfrm>
            <a:off x="548640" y="1901952"/>
            <a:ext cx="2130552" cy="1097280"/>
          </a:xfrm>
          <a:prstGeom prst="roundRect">
            <a:avLst>
              <a:gd name="adj" fmla="val 6667"/>
            </a:avLst>
          </a:prstGeom>
          <a:solidFill>
            <a:schemeClr val="accent4"/>
          </a:solidFill>
          <a:ln w="12700">
            <a:solidFill>
              <a:schemeClr val="accent6"/>
            </a:solidFill>
            <a:prstDash val="solid"/>
          </a:ln>
        </p:spPr>
      </p:sp>
      <p:sp>
        <p:nvSpPr>
          <p:cNvPr id="6" name="Text 4"/>
          <p:cNvSpPr txBox="1"/>
          <p:nvPr/>
        </p:nvSpPr>
        <p:spPr>
          <a:xfrm>
            <a:off x="685800" y="1993392"/>
            <a:ext cx="1856232" cy="274320"/>
          </a:xfrm>
          <a:prstGeom prst="rect">
            <a:avLst/>
          </a:prstGeom>
          <a:noFill/>
          <a:ln/>
        </p:spPr>
        <p:txBody>
          <a:bodyPr wrap="square" lIns="0" tIns="0" rIns="0" bIns="0" rtlCol="0" anchor="t"/>
          <a:lstStyle/>
          <a:p>
            <a:pPr indent="0" marL="0">
              <a:buNone/>
            </a:pPr>
            <a:r>
              <a:rPr lang="en-US" sz="1400" b="1" dirty="0">
                <a:solidFill>
                  <a:schemeClr val="accent2"/>
                </a:solidFill>
              </a:rPr>
              <a:t>94.1-2</a:t>
            </a:r>
            <a:endParaRPr lang="en-US" sz="1400" dirty="0"/>
          </a:p>
        </p:txBody>
      </p:sp>
      <p:sp>
        <p:nvSpPr>
          <p:cNvPr id="7" name="Text 5"/>
          <p:cNvSpPr txBox="1"/>
          <p:nvPr/>
        </p:nvSpPr>
        <p:spPr>
          <a:xfrm>
            <a:off x="685800" y="2286000"/>
            <a:ext cx="1856232" cy="640080"/>
          </a:xfrm>
          <a:prstGeom prst="rect">
            <a:avLst/>
          </a:prstGeom>
          <a:noFill/>
          <a:ln/>
        </p:spPr>
        <p:txBody>
          <a:bodyPr wrap="square" lIns="0" tIns="0" rIns="0" bIns="0" rtlCol="0" anchor="t"/>
          <a:lstStyle/>
          <a:p>
            <a:pPr indent="0" marL="0">
              <a:buNone/>
            </a:pPr>
            <a:r>
              <a:rPr lang="en-US" sz="1500" dirty="0">
                <a:solidFill>
                  <a:schemeClr val="bg1"/>
                </a:solidFill>
              </a:rPr>
              <a:t>Appel lancé à Dieu</a:t>
            </a:r>
            <a:endParaRPr lang="en-US" sz="1500" dirty="0"/>
          </a:p>
        </p:txBody>
      </p:sp>
      <p:sp>
        <p:nvSpPr>
          <p:cNvPr id="8" name="Temps 2"/>
          <p:cNvSpPr/>
          <p:nvPr/>
        </p:nvSpPr>
        <p:spPr>
          <a:xfrm>
            <a:off x="2788920" y="1901952"/>
            <a:ext cx="2130552" cy="1097280"/>
          </a:xfrm>
          <a:prstGeom prst="roundRect">
            <a:avLst>
              <a:gd name="adj" fmla="val 6667"/>
            </a:avLst>
          </a:prstGeom>
          <a:solidFill>
            <a:schemeClr val="accent4"/>
          </a:solidFill>
          <a:ln w="12700">
            <a:solidFill>
              <a:schemeClr val="accent6"/>
            </a:solidFill>
            <a:prstDash val="solid"/>
          </a:ln>
        </p:spPr>
      </p:sp>
      <p:sp>
        <p:nvSpPr>
          <p:cNvPr id="9" name="Text 7"/>
          <p:cNvSpPr txBox="1"/>
          <p:nvPr/>
        </p:nvSpPr>
        <p:spPr>
          <a:xfrm>
            <a:off x="2926080" y="1993392"/>
            <a:ext cx="1856232" cy="274320"/>
          </a:xfrm>
          <a:prstGeom prst="rect">
            <a:avLst/>
          </a:prstGeom>
          <a:noFill/>
          <a:ln/>
        </p:spPr>
        <p:txBody>
          <a:bodyPr wrap="square" lIns="0" tIns="0" rIns="0" bIns="0" rtlCol="0" anchor="t"/>
          <a:lstStyle/>
          <a:p>
            <a:pPr indent="0" marL="0">
              <a:buNone/>
            </a:pPr>
            <a:r>
              <a:rPr lang="en-US" sz="1400" b="1" dirty="0">
                <a:solidFill>
                  <a:schemeClr val="accent2"/>
                </a:solidFill>
              </a:rPr>
              <a:t>94.3-7</a:t>
            </a:r>
            <a:endParaRPr lang="en-US" sz="1400" dirty="0"/>
          </a:p>
        </p:txBody>
      </p:sp>
      <p:sp>
        <p:nvSpPr>
          <p:cNvPr id="10" name="Text 8"/>
          <p:cNvSpPr txBox="1"/>
          <p:nvPr/>
        </p:nvSpPr>
        <p:spPr>
          <a:xfrm>
            <a:off x="2926080" y="2286000"/>
            <a:ext cx="1856232" cy="640080"/>
          </a:xfrm>
          <a:prstGeom prst="rect">
            <a:avLst/>
          </a:prstGeom>
          <a:noFill/>
          <a:ln/>
        </p:spPr>
        <p:txBody>
          <a:bodyPr wrap="square" lIns="0" tIns="0" rIns="0" bIns="0" rtlCol="0" anchor="t"/>
          <a:lstStyle/>
          <a:p>
            <a:pPr indent="0" marL="0">
              <a:buNone/>
            </a:pPr>
            <a:r>
              <a:rPr lang="en-US" sz="1500" dirty="0">
                <a:solidFill>
                  <a:schemeClr val="bg1"/>
                </a:solidFill>
              </a:rPr>
              <a:t>Arrogance des méchants</a:t>
            </a:r>
            <a:endParaRPr lang="en-US" sz="1500" dirty="0"/>
          </a:p>
        </p:txBody>
      </p:sp>
      <p:sp>
        <p:nvSpPr>
          <p:cNvPr id="11" name="Temps 3"/>
          <p:cNvSpPr/>
          <p:nvPr/>
        </p:nvSpPr>
        <p:spPr>
          <a:xfrm>
            <a:off x="5029200" y="1901952"/>
            <a:ext cx="2130552" cy="1097280"/>
          </a:xfrm>
          <a:prstGeom prst="roundRect">
            <a:avLst>
              <a:gd name="adj" fmla="val 6667"/>
            </a:avLst>
          </a:prstGeom>
          <a:solidFill>
            <a:schemeClr val="accent4"/>
          </a:solidFill>
          <a:ln w="12700">
            <a:solidFill>
              <a:schemeClr val="accent6"/>
            </a:solidFill>
            <a:prstDash val="solid"/>
          </a:ln>
        </p:spPr>
      </p:sp>
      <p:sp>
        <p:nvSpPr>
          <p:cNvPr id="12" name="Text 10"/>
          <p:cNvSpPr txBox="1"/>
          <p:nvPr/>
        </p:nvSpPr>
        <p:spPr>
          <a:xfrm>
            <a:off x="5166360" y="1993392"/>
            <a:ext cx="1856232" cy="274320"/>
          </a:xfrm>
          <a:prstGeom prst="rect">
            <a:avLst/>
          </a:prstGeom>
          <a:noFill/>
          <a:ln/>
        </p:spPr>
        <p:txBody>
          <a:bodyPr wrap="square" lIns="0" tIns="0" rIns="0" bIns="0" rtlCol="0" anchor="t"/>
          <a:lstStyle/>
          <a:p>
            <a:pPr indent="0" marL="0">
              <a:buNone/>
            </a:pPr>
            <a:r>
              <a:rPr lang="en-US" sz="1400" b="1" dirty="0">
                <a:solidFill>
                  <a:schemeClr val="accent2"/>
                </a:solidFill>
              </a:rPr>
              <a:t>94.8-11</a:t>
            </a:r>
            <a:endParaRPr lang="en-US" sz="1400" dirty="0"/>
          </a:p>
        </p:txBody>
      </p:sp>
      <p:sp>
        <p:nvSpPr>
          <p:cNvPr id="13" name="Text 11"/>
          <p:cNvSpPr txBox="1"/>
          <p:nvPr/>
        </p:nvSpPr>
        <p:spPr>
          <a:xfrm>
            <a:off x="5166360" y="2286000"/>
            <a:ext cx="1856232" cy="640080"/>
          </a:xfrm>
          <a:prstGeom prst="rect">
            <a:avLst/>
          </a:prstGeom>
          <a:noFill/>
          <a:ln/>
        </p:spPr>
        <p:txBody>
          <a:bodyPr wrap="square" lIns="0" tIns="0" rIns="0" bIns="0" rtlCol="0" anchor="t"/>
          <a:lstStyle/>
          <a:p>
            <a:pPr indent="0" marL="0">
              <a:buNone/>
            </a:pPr>
            <a:r>
              <a:rPr lang="en-US" sz="1500" dirty="0">
                <a:solidFill>
                  <a:schemeClr val="bg1"/>
                </a:solidFill>
              </a:rPr>
              <a:t>Avertissement aux insensés</a:t>
            </a:r>
            <a:endParaRPr lang="en-US" sz="1500" dirty="0"/>
          </a:p>
        </p:txBody>
      </p:sp>
      <p:sp>
        <p:nvSpPr>
          <p:cNvPr id="14" name="Temps 4"/>
          <p:cNvSpPr/>
          <p:nvPr/>
        </p:nvSpPr>
        <p:spPr>
          <a:xfrm>
            <a:off x="7269480" y="1901952"/>
            <a:ext cx="2130552" cy="1097280"/>
          </a:xfrm>
          <a:prstGeom prst="roundRect">
            <a:avLst>
              <a:gd name="adj" fmla="val 6667"/>
            </a:avLst>
          </a:prstGeom>
          <a:solidFill>
            <a:schemeClr val="accent4"/>
          </a:solidFill>
          <a:ln w="12700">
            <a:solidFill>
              <a:schemeClr val="accent6"/>
            </a:solidFill>
            <a:prstDash val="solid"/>
          </a:ln>
        </p:spPr>
      </p:sp>
      <p:sp>
        <p:nvSpPr>
          <p:cNvPr id="15" name="Text 13"/>
          <p:cNvSpPr txBox="1"/>
          <p:nvPr/>
        </p:nvSpPr>
        <p:spPr>
          <a:xfrm>
            <a:off x="7406640" y="1993392"/>
            <a:ext cx="1856232" cy="274320"/>
          </a:xfrm>
          <a:prstGeom prst="rect">
            <a:avLst/>
          </a:prstGeom>
          <a:noFill/>
          <a:ln/>
        </p:spPr>
        <p:txBody>
          <a:bodyPr wrap="square" lIns="0" tIns="0" rIns="0" bIns="0" rtlCol="0" anchor="t"/>
          <a:lstStyle/>
          <a:p>
            <a:pPr indent="0" marL="0">
              <a:buNone/>
            </a:pPr>
            <a:r>
              <a:rPr lang="en-US" sz="1400" b="1" dirty="0">
                <a:solidFill>
                  <a:schemeClr val="accent2"/>
                </a:solidFill>
              </a:rPr>
              <a:t>94.12-15</a:t>
            </a:r>
            <a:endParaRPr lang="en-US" sz="1400" dirty="0"/>
          </a:p>
        </p:txBody>
      </p:sp>
      <p:sp>
        <p:nvSpPr>
          <p:cNvPr id="16" name="Text 14"/>
          <p:cNvSpPr txBox="1"/>
          <p:nvPr/>
        </p:nvSpPr>
        <p:spPr>
          <a:xfrm>
            <a:off x="7406640" y="2286000"/>
            <a:ext cx="1856232" cy="640080"/>
          </a:xfrm>
          <a:prstGeom prst="rect">
            <a:avLst/>
          </a:prstGeom>
          <a:noFill/>
          <a:ln/>
        </p:spPr>
        <p:txBody>
          <a:bodyPr wrap="square" lIns="0" tIns="0" rIns="0" bIns="0" rtlCol="0" anchor="t"/>
          <a:lstStyle/>
          <a:p>
            <a:pPr indent="0" marL="0">
              <a:buNone/>
            </a:pPr>
            <a:r>
              <a:rPr lang="en-US" sz="1500" dirty="0">
                <a:solidFill>
                  <a:schemeClr val="bg1"/>
                </a:solidFill>
              </a:rPr>
              <a:t>Assurance des justes</a:t>
            </a:r>
            <a:endParaRPr lang="en-US" sz="1500" dirty="0"/>
          </a:p>
        </p:txBody>
      </p:sp>
      <p:sp>
        <p:nvSpPr>
          <p:cNvPr id="17" name="Temps 5"/>
          <p:cNvSpPr/>
          <p:nvPr/>
        </p:nvSpPr>
        <p:spPr>
          <a:xfrm>
            <a:off x="9509760" y="1901952"/>
            <a:ext cx="2130552" cy="1097280"/>
          </a:xfrm>
          <a:prstGeom prst="roundRect">
            <a:avLst>
              <a:gd name="adj" fmla="val 6667"/>
            </a:avLst>
          </a:prstGeom>
          <a:solidFill>
            <a:schemeClr val="accent4"/>
          </a:solidFill>
          <a:ln w="12700">
            <a:solidFill>
              <a:schemeClr val="accent6"/>
            </a:solidFill>
            <a:prstDash val="solid"/>
          </a:ln>
        </p:spPr>
      </p:sp>
      <p:sp>
        <p:nvSpPr>
          <p:cNvPr id="18" name="Text 16"/>
          <p:cNvSpPr txBox="1"/>
          <p:nvPr/>
        </p:nvSpPr>
        <p:spPr>
          <a:xfrm>
            <a:off x="9646920" y="1993392"/>
            <a:ext cx="1856232" cy="274320"/>
          </a:xfrm>
          <a:prstGeom prst="rect">
            <a:avLst/>
          </a:prstGeom>
          <a:noFill/>
          <a:ln/>
        </p:spPr>
        <p:txBody>
          <a:bodyPr wrap="square" lIns="0" tIns="0" rIns="0" bIns="0" rtlCol="0" anchor="t"/>
          <a:lstStyle/>
          <a:p>
            <a:pPr indent="0" marL="0">
              <a:buNone/>
            </a:pPr>
            <a:r>
              <a:rPr lang="en-US" sz="1400" b="1" dirty="0">
                <a:solidFill>
                  <a:schemeClr val="accent2"/>
                </a:solidFill>
              </a:rPr>
              <a:t>94.16-23</a:t>
            </a:r>
            <a:endParaRPr lang="en-US" sz="1400" dirty="0"/>
          </a:p>
        </p:txBody>
      </p:sp>
      <p:sp>
        <p:nvSpPr>
          <p:cNvPr id="19" name="Text 17"/>
          <p:cNvSpPr txBox="1"/>
          <p:nvPr/>
        </p:nvSpPr>
        <p:spPr>
          <a:xfrm>
            <a:off x="9646920" y="2286000"/>
            <a:ext cx="1856232" cy="640080"/>
          </a:xfrm>
          <a:prstGeom prst="rect">
            <a:avLst/>
          </a:prstGeom>
          <a:noFill/>
          <a:ln/>
        </p:spPr>
        <p:txBody>
          <a:bodyPr wrap="square" lIns="0" tIns="0" rIns="0" bIns="0" rtlCol="0" anchor="t"/>
          <a:lstStyle/>
          <a:p>
            <a:pPr indent="0" marL="0">
              <a:buNone/>
            </a:pPr>
            <a:r>
              <a:rPr lang="en-US" sz="1500" dirty="0">
                <a:solidFill>
                  <a:schemeClr val="bg1"/>
                </a:solidFill>
              </a:rPr>
              <a:t>Défense des justes par Dieu</a:t>
            </a:r>
            <a:endParaRPr lang="en-US" sz="1500" dirty="0"/>
          </a:p>
        </p:txBody>
      </p:sp>
      <p:sp>
        <p:nvSpPr>
          <p:cNvPr id="20" name="Lien 1-0"/>
          <p:cNvSpPr/>
          <p:nvPr/>
        </p:nvSpPr>
        <p:spPr>
          <a:xfrm>
            <a:off x="1613916" y="3017520"/>
            <a:ext cx="571500" cy="1005840"/>
          </a:xfrm>
          <a:prstGeom prst="line">
            <a:avLst/>
          </a:prstGeom>
          <a:noFill/>
          <a:ln w="25400">
            <a:solidFill>
              <a:schemeClr val="accent1"/>
            </a:solidFill>
            <a:prstDash val="solid"/>
            <a:tailEnd type="triangle"/>
          </a:ln>
        </p:spPr>
      </p:sp>
      <p:sp>
        <p:nvSpPr>
          <p:cNvPr id="21" name="Lien 1-1"/>
          <p:cNvSpPr/>
          <p:nvPr/>
        </p:nvSpPr>
        <p:spPr>
          <a:xfrm flipH="1">
            <a:off x="3282696" y="3017520"/>
            <a:ext cx="571500" cy="1005840"/>
          </a:xfrm>
          <a:prstGeom prst="line">
            <a:avLst/>
          </a:prstGeom>
          <a:noFill/>
          <a:ln w="25400">
            <a:solidFill>
              <a:schemeClr val="accent1"/>
            </a:solidFill>
            <a:prstDash val="solid"/>
            <a:tailEnd type="triangle"/>
          </a:ln>
        </p:spPr>
      </p:sp>
      <p:sp>
        <p:nvSpPr>
          <p:cNvPr id="22" name="Lien 2-2"/>
          <p:cNvSpPr/>
          <p:nvPr/>
        </p:nvSpPr>
        <p:spPr>
          <a:xfrm>
            <a:off x="6094476" y="3017520"/>
            <a:ext cx="0" cy="1005840"/>
          </a:xfrm>
          <a:prstGeom prst="line">
            <a:avLst/>
          </a:prstGeom>
          <a:noFill/>
          <a:ln w="25400">
            <a:solidFill>
              <a:schemeClr val="accent2"/>
            </a:solidFill>
            <a:prstDash val="solid"/>
            <a:tailEnd type="triangle"/>
          </a:ln>
        </p:spPr>
      </p:sp>
      <p:sp>
        <p:nvSpPr>
          <p:cNvPr id="23" name="Lien 3-3"/>
          <p:cNvSpPr/>
          <p:nvPr/>
        </p:nvSpPr>
        <p:spPr>
          <a:xfrm>
            <a:off x="8334756" y="3017520"/>
            <a:ext cx="0" cy="1005840"/>
          </a:xfrm>
          <a:prstGeom prst="line">
            <a:avLst/>
          </a:prstGeom>
          <a:noFill/>
          <a:ln w="25400">
            <a:solidFill>
              <a:schemeClr val="accent3"/>
            </a:solidFill>
            <a:prstDash val="solid"/>
            <a:tailEnd type="triangle"/>
          </a:ln>
        </p:spPr>
      </p:sp>
      <p:sp>
        <p:nvSpPr>
          <p:cNvPr id="24" name="Lien 4-4"/>
          <p:cNvSpPr/>
          <p:nvPr/>
        </p:nvSpPr>
        <p:spPr>
          <a:xfrm>
            <a:off x="10575036" y="3017520"/>
            <a:ext cx="0" cy="1005840"/>
          </a:xfrm>
          <a:prstGeom prst="line">
            <a:avLst/>
          </a:prstGeom>
          <a:noFill/>
          <a:ln w="25400">
            <a:solidFill>
              <a:schemeClr val="accent5"/>
            </a:solidFill>
            <a:prstDash val="solid"/>
            <a:tailEnd type="triangle"/>
          </a:ln>
        </p:spPr>
      </p:sp>
      <p:sp>
        <p:nvSpPr>
          <p:cNvPr id="25" name="Text 23"/>
          <p:cNvSpPr txBox="1"/>
          <p:nvPr/>
        </p:nvSpPr>
        <p:spPr>
          <a:xfrm>
            <a:off x="548640" y="5504688"/>
            <a:ext cx="7315200" cy="256032"/>
          </a:xfrm>
          <a:prstGeom prst="rect">
            <a:avLst/>
          </a:prstGeom>
          <a:noFill/>
          <a:ln/>
        </p:spPr>
        <p:txBody>
          <a:bodyPr wrap="square" lIns="0" tIns="0" rIns="0" bIns="0" rtlCol="0" anchor="t"/>
          <a:lstStyle/>
          <a:p>
            <a:pPr indent="0" marL="0">
              <a:buNone/>
            </a:pPr>
            <a:r>
              <a:rPr lang="en-US" sz="1400" b="1" dirty="0">
                <a:solidFill>
                  <a:schemeClr val="bg2"/>
                </a:solidFill>
              </a:rPr>
              <a:t>Les points de la prédication</a:t>
            </a:r>
            <a:endParaRPr lang="en-US" sz="1400" dirty="0"/>
          </a:p>
        </p:txBody>
      </p:sp>
      <p:sp>
        <p:nvSpPr>
          <p:cNvPr id="26" name="Point 1"/>
          <p:cNvSpPr/>
          <p:nvPr/>
        </p:nvSpPr>
        <p:spPr>
          <a:xfrm>
            <a:off x="548640" y="4069080"/>
            <a:ext cx="4370832" cy="1417320"/>
          </a:xfrm>
          <a:prstGeom prst="roundRect">
            <a:avLst>
              <a:gd name="adj" fmla="val 5161"/>
            </a:avLst>
          </a:prstGeom>
          <a:solidFill>
            <a:schemeClr val="accent1"/>
          </a:solidFill>
          <a:ln/>
        </p:spPr>
        <p:txBody>
          <a:bodyPr wrap="square" lIns="1905" tIns="1905" rIns="1905" bIns="1905" rtlCol="0" anchor="ctr"/>
          <a:lstStyle/>
          <a:p>
            <a:pPr algn="l" indent="0" marL="0">
              <a:buNone/>
            </a:pPr>
            <a:r>
              <a:rPr lang="en-US" sz="1700" b="1" dirty="0">
                <a:solidFill>
                  <a:schemeClr val="tx1"/>
                </a:solidFill>
                <a:latin typeface="Cambria" pitchFamily="34" charset="0"/>
                <a:ea typeface="Cambria" pitchFamily="34" charset="-122"/>
                <a:cs typeface="Cambria" pitchFamily="34" charset="-120"/>
              </a:rPr>
              <a:t>I · Le Dieu à qui l'on crie</a:t>
            </a:r>
            <a:endParaRPr lang="en-US" sz="1700" dirty="0"/>
          </a:p>
          <a:p>
            <a:pPr algn="l" indent="0" marL="0">
              <a:buNone/>
            </a:pPr>
            <a:r>
              <a:rPr lang="en-US" sz="1500" b="1" dirty="0">
                <a:solidFill>
                  <a:schemeClr val="tx1"/>
                </a:solidFill>
              </a:rPr>
              <a:t>94.1-7</a:t>
            </a:r>
            <a:endParaRPr lang="en-US" sz="1700" dirty="0"/>
          </a:p>
        </p:txBody>
      </p:sp>
      <p:sp>
        <p:nvSpPr>
          <p:cNvPr id="27" name="Point 2"/>
          <p:cNvSpPr/>
          <p:nvPr/>
        </p:nvSpPr>
        <p:spPr>
          <a:xfrm>
            <a:off x="5029200" y="4069080"/>
            <a:ext cx="2130552" cy="1417320"/>
          </a:xfrm>
          <a:prstGeom prst="roundRect">
            <a:avLst>
              <a:gd name="adj" fmla="val 5161"/>
            </a:avLst>
          </a:prstGeom>
          <a:solidFill>
            <a:schemeClr val="accent2"/>
          </a:solidFill>
          <a:ln/>
        </p:spPr>
        <p:txBody>
          <a:bodyPr wrap="square" lIns="1905" tIns="1905" rIns="1905" bIns="1905" rtlCol="0" anchor="ctr"/>
          <a:lstStyle/>
          <a:p>
            <a:pPr algn="l" indent="0" marL="0">
              <a:buNone/>
            </a:pPr>
            <a:r>
              <a:rPr lang="en-US" sz="1700" b="1" dirty="0">
                <a:solidFill>
                  <a:schemeClr val="tx1"/>
                </a:solidFill>
                <a:latin typeface="Cambria" pitchFamily="34" charset="0"/>
                <a:ea typeface="Cambria" pitchFamily="34" charset="-122"/>
                <a:cs typeface="Cambria" pitchFamily="34" charset="-120"/>
              </a:rPr>
              <a:t>II · Le Dieu qui voit</a:t>
            </a:r>
            <a:endParaRPr lang="en-US" sz="1700" dirty="0"/>
          </a:p>
          <a:p>
            <a:pPr algn="l" indent="0" marL="0">
              <a:buNone/>
            </a:pPr>
            <a:r>
              <a:rPr lang="en-US" sz="1500" b="1" dirty="0">
                <a:solidFill>
                  <a:schemeClr val="tx1"/>
                </a:solidFill>
              </a:rPr>
              <a:t>94.8-11</a:t>
            </a:r>
            <a:endParaRPr lang="en-US" sz="1700" dirty="0"/>
          </a:p>
        </p:txBody>
      </p:sp>
      <p:sp>
        <p:nvSpPr>
          <p:cNvPr id="28" name="Point 3"/>
          <p:cNvSpPr/>
          <p:nvPr/>
        </p:nvSpPr>
        <p:spPr>
          <a:xfrm>
            <a:off x="7269480" y="4069080"/>
            <a:ext cx="2130552" cy="1417320"/>
          </a:xfrm>
          <a:prstGeom prst="roundRect">
            <a:avLst>
              <a:gd name="adj" fmla="val 5161"/>
            </a:avLst>
          </a:prstGeom>
          <a:solidFill>
            <a:schemeClr val="accent3"/>
          </a:solidFill>
          <a:ln/>
        </p:spPr>
        <p:txBody>
          <a:bodyPr wrap="square" lIns="1905" tIns="1905" rIns="1905" bIns="1905" rtlCol="0" anchor="ctr"/>
          <a:lstStyle/>
          <a:p>
            <a:pPr algn="l" indent="0" marL="0">
              <a:buNone/>
            </a:pPr>
            <a:r>
              <a:rPr lang="en-US" sz="1700" b="1" dirty="0">
                <a:solidFill>
                  <a:schemeClr val="bg1"/>
                </a:solidFill>
                <a:latin typeface="Cambria" pitchFamily="34" charset="0"/>
                <a:ea typeface="Cambria" pitchFamily="34" charset="-122"/>
                <a:cs typeface="Cambria" pitchFamily="34" charset="-120"/>
              </a:rPr>
              <a:t>III · Le Dieu qui instruit dans l'attente</a:t>
            </a:r>
            <a:endParaRPr lang="en-US" sz="1700" dirty="0"/>
          </a:p>
          <a:p>
            <a:pPr algn="l" indent="0" marL="0">
              <a:buNone/>
            </a:pPr>
            <a:r>
              <a:rPr lang="en-US" sz="1500" b="1" dirty="0">
                <a:solidFill>
                  <a:schemeClr val="bg1"/>
                </a:solidFill>
              </a:rPr>
              <a:t>94.12-15</a:t>
            </a:r>
            <a:endParaRPr lang="en-US" sz="1700" dirty="0"/>
          </a:p>
        </p:txBody>
      </p:sp>
      <p:sp>
        <p:nvSpPr>
          <p:cNvPr id="29" name="Point 4"/>
          <p:cNvSpPr/>
          <p:nvPr/>
        </p:nvSpPr>
        <p:spPr>
          <a:xfrm>
            <a:off x="9509760" y="4069080"/>
            <a:ext cx="2130552" cy="1417320"/>
          </a:xfrm>
          <a:prstGeom prst="roundRect">
            <a:avLst>
              <a:gd name="adj" fmla="val 5161"/>
            </a:avLst>
          </a:prstGeom>
          <a:solidFill>
            <a:schemeClr val="accent5"/>
          </a:solidFill>
          <a:ln/>
        </p:spPr>
        <p:txBody>
          <a:bodyPr wrap="square" lIns="1905" tIns="1905" rIns="1905" bIns="1905" rtlCol="0" anchor="ctr"/>
          <a:lstStyle/>
          <a:p>
            <a:pPr algn="l" indent="0" marL="0">
              <a:buNone/>
            </a:pPr>
            <a:r>
              <a:rPr lang="en-US" sz="1700" b="1" dirty="0">
                <a:solidFill>
                  <a:schemeClr val="tx1"/>
                </a:solidFill>
                <a:latin typeface="Cambria" pitchFamily="34" charset="0"/>
                <a:ea typeface="Cambria" pitchFamily="34" charset="-122"/>
                <a:cs typeface="Cambria" pitchFamily="34" charset="-120"/>
              </a:rPr>
              <a:t>IV · Le Dieu qui soutient et qui rendra</a:t>
            </a:r>
            <a:endParaRPr lang="en-US" sz="1700" dirty="0"/>
          </a:p>
          <a:p>
            <a:pPr algn="l" indent="0" marL="0">
              <a:buNone/>
            </a:pPr>
            <a:r>
              <a:rPr lang="en-US" sz="1500" b="1" dirty="0">
                <a:solidFill>
                  <a:schemeClr val="tx1"/>
                </a:solidFill>
              </a:rPr>
              <a:t>94.16-23</a:t>
            </a:r>
            <a:endParaRPr lang="en-US" sz="1700" dirty="0"/>
          </a:p>
        </p:txBody>
      </p:sp>
      <p:sp>
        <p:nvSpPr>
          <p:cNvPr id="30" name="Text 28"/>
          <p:cNvSpPr txBox="1"/>
          <p:nvPr/>
        </p:nvSpPr>
        <p:spPr>
          <a:xfrm>
            <a:off x="548640" y="5852160"/>
            <a:ext cx="11064240" cy="365760"/>
          </a:xfrm>
          <a:prstGeom prst="rect">
            <a:avLst/>
          </a:prstGeom>
          <a:noFill/>
          <a:ln/>
        </p:spPr>
        <p:txBody>
          <a:bodyPr wrap="square" lIns="0" tIns="0" rIns="0" bIns="0" rtlCol="0" anchor="t"/>
          <a:lstStyle/>
          <a:p>
            <a:pPr algn="ctr" indent="0" marL="0">
              <a:buNone/>
            </a:pPr>
            <a:r>
              <a:rPr lang="en-US" sz="1600" i="1" dirty="0">
                <a:solidFill>
                  <a:schemeClr val="accent5"/>
                </a:solidFill>
              </a:rPr>
              <a:t>Seule la fusion des deux premiers temps sépare le plan du sermon de celui de la note.</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Balance section I mât"/>
          <p:cNvSpPr/>
          <p:nvPr/>
        </p:nvSpPr>
        <p:spPr>
          <a:xfrm>
            <a:off x="9637776" y="2240280"/>
            <a:ext cx="109728" cy="2159447"/>
          </a:xfrm>
          <a:prstGeom prst="rect">
            <a:avLst/>
          </a:prstGeom>
          <a:solidFill>
            <a:schemeClr val="bg1"/>
          </a:solidFill>
          <a:ln/>
        </p:spPr>
      </p:sp>
      <p:sp>
        <p:nvSpPr>
          <p:cNvPr id="3" name="Balance section I socle"/>
          <p:cNvSpPr/>
          <p:nvPr/>
        </p:nvSpPr>
        <p:spPr>
          <a:xfrm>
            <a:off x="9107424" y="4399727"/>
            <a:ext cx="1170432" cy="237744"/>
          </a:xfrm>
          <a:prstGeom prst="trapezoid">
            <a:avLst/>
          </a:prstGeom>
          <a:solidFill>
            <a:schemeClr val="accent1"/>
          </a:solidFill>
          <a:ln/>
        </p:spPr>
      </p:sp>
      <p:sp>
        <p:nvSpPr>
          <p:cNvPr id="4" name="Balance section I fléau"/>
          <p:cNvSpPr/>
          <p:nvPr/>
        </p:nvSpPr>
        <p:spPr>
          <a:xfrm>
            <a:off x="8229600" y="2240280"/>
            <a:ext cx="2926080" cy="0"/>
          </a:xfrm>
          <a:prstGeom prst="line">
            <a:avLst/>
          </a:prstGeom>
          <a:noFill/>
          <a:ln w="63500">
            <a:solidFill>
              <a:schemeClr val="bg1"/>
            </a:solidFill>
            <a:prstDash val="solid"/>
          </a:ln>
        </p:spPr>
      </p:sp>
      <p:sp>
        <p:nvSpPr>
          <p:cNvPr id="5" name="Balance section I chaîne"/>
          <p:cNvSpPr/>
          <p:nvPr/>
        </p:nvSpPr>
        <p:spPr>
          <a:xfrm flipH="1">
            <a:off x="7732166" y="2240280"/>
            <a:ext cx="497434" cy="1211397"/>
          </a:xfrm>
          <a:prstGeom prst="line">
            <a:avLst/>
          </a:prstGeom>
          <a:noFill/>
          <a:ln w="19050">
            <a:solidFill>
              <a:schemeClr val="accent6"/>
            </a:solidFill>
            <a:prstDash val="solid"/>
          </a:ln>
        </p:spPr>
      </p:sp>
      <p:sp>
        <p:nvSpPr>
          <p:cNvPr id="6" name="Balance section I chaîne"/>
          <p:cNvSpPr/>
          <p:nvPr/>
        </p:nvSpPr>
        <p:spPr>
          <a:xfrm>
            <a:off x="8229600" y="2240280"/>
            <a:ext cx="497434" cy="1211397"/>
          </a:xfrm>
          <a:prstGeom prst="line">
            <a:avLst/>
          </a:prstGeom>
          <a:noFill/>
          <a:ln w="19050">
            <a:solidFill>
              <a:schemeClr val="accent6"/>
            </a:solidFill>
            <a:prstDash val="solid"/>
          </a:ln>
        </p:spPr>
      </p:sp>
      <p:sp>
        <p:nvSpPr>
          <p:cNvPr id="7" name="Balance section I plateau"/>
          <p:cNvSpPr/>
          <p:nvPr/>
        </p:nvSpPr>
        <p:spPr>
          <a:xfrm>
            <a:off x="7644384" y="3451677"/>
            <a:ext cx="1170432" cy="384048"/>
          </a:xfrm>
          <a:custGeom>
            <a:avLst/>
            <a:gdLst/>
            <a:ahLst/>
            <a:cxnLst/>
            <a:rect l="l" t="t" r="r" b="b"/>
            <a:pathLst>
              <a:path w="1170432" h="384048">
                <a:moveTo>
                  <a:pt x="0" y="0"/>
                </a:moveTo>
                <a:lnTo>
                  <a:pt x="1170432" y="0"/>
                </a:lnTo>
                <a:quadBezTo>
                  <a:pt x="585216" y="768096"/>
                  <a:pt x="0" y="0"/>
                </a:quadBezTo>
                <a:close/>
              </a:path>
            </a:pathLst>
          </a:custGeom>
          <a:solidFill>
            <a:schemeClr val="accent1"/>
          </a:solidFill>
          <a:ln/>
        </p:spPr>
      </p:sp>
      <p:sp>
        <p:nvSpPr>
          <p:cNvPr id="8" name="Balance section I chaîne"/>
          <p:cNvSpPr/>
          <p:nvPr/>
        </p:nvSpPr>
        <p:spPr>
          <a:xfrm flipH="1">
            <a:off x="10658246" y="2240280"/>
            <a:ext cx="497434" cy="1211397"/>
          </a:xfrm>
          <a:prstGeom prst="line">
            <a:avLst/>
          </a:prstGeom>
          <a:noFill/>
          <a:ln w="19050">
            <a:solidFill>
              <a:schemeClr val="accent6"/>
            </a:solidFill>
            <a:prstDash val="solid"/>
          </a:ln>
        </p:spPr>
      </p:sp>
      <p:sp>
        <p:nvSpPr>
          <p:cNvPr id="9" name="Balance section I chaîne"/>
          <p:cNvSpPr/>
          <p:nvPr/>
        </p:nvSpPr>
        <p:spPr>
          <a:xfrm>
            <a:off x="11155680" y="2240280"/>
            <a:ext cx="497434" cy="1211397"/>
          </a:xfrm>
          <a:prstGeom prst="line">
            <a:avLst/>
          </a:prstGeom>
          <a:noFill/>
          <a:ln w="19050">
            <a:solidFill>
              <a:schemeClr val="accent6"/>
            </a:solidFill>
            <a:prstDash val="solid"/>
          </a:ln>
        </p:spPr>
      </p:sp>
      <p:sp>
        <p:nvSpPr>
          <p:cNvPr id="10" name="Balance section I plateau"/>
          <p:cNvSpPr/>
          <p:nvPr/>
        </p:nvSpPr>
        <p:spPr>
          <a:xfrm>
            <a:off x="10570464" y="3451677"/>
            <a:ext cx="1170432" cy="384048"/>
          </a:xfrm>
          <a:custGeom>
            <a:avLst/>
            <a:gdLst/>
            <a:ahLst/>
            <a:cxnLst/>
            <a:rect l="l" t="t" r="r" b="b"/>
            <a:pathLst>
              <a:path w="1170432" h="384048">
                <a:moveTo>
                  <a:pt x="0" y="0"/>
                </a:moveTo>
                <a:lnTo>
                  <a:pt x="1170432" y="0"/>
                </a:lnTo>
                <a:quadBezTo>
                  <a:pt x="585216" y="768096"/>
                  <a:pt x="0" y="0"/>
                </a:quadBezTo>
                <a:close/>
              </a:path>
            </a:pathLst>
          </a:custGeom>
          <a:solidFill>
            <a:schemeClr val="accent1"/>
          </a:solidFill>
          <a:ln/>
        </p:spPr>
      </p:sp>
      <p:sp>
        <p:nvSpPr>
          <p:cNvPr id="11" name="Balance section I pivot"/>
          <p:cNvSpPr/>
          <p:nvPr/>
        </p:nvSpPr>
        <p:spPr>
          <a:xfrm>
            <a:off x="9555480" y="2103120"/>
            <a:ext cx="274320" cy="274320"/>
          </a:xfrm>
          <a:prstGeom prst="ellipse">
            <a:avLst/>
          </a:prstGeom>
          <a:solidFill>
            <a:schemeClr val="accent1"/>
          </a:solidFill>
          <a:ln w="12700">
            <a:solidFill>
              <a:schemeClr val="bg1"/>
            </a:solidFill>
            <a:prstDash val="solid"/>
          </a:ln>
        </p:spPr>
      </p:sp>
      <p:sp>
        <p:nvSpPr>
          <p:cNvPr id="12" name="Text 0"/>
          <p:cNvSpPr/>
          <p:nvPr>
            <p:ph idx="100" type="body" hasCustomPrompt="1"/>
          </p:nvPr>
        </p:nvSpPr>
        <p:spPr>
          <a:xfrm>
            <a:off x="731520" y="914400"/>
            <a:ext cx="2743200" cy="1005840"/>
          </a:xfrm>
          <a:prstGeom prst="rect">
            <a:avLst/>
          </a:prstGeom>
          <a:noFill/>
          <a:ln/>
        </p:spPr>
        <p:txBody>
          <a:bodyPr wrap="square" lIns="0" tIns="0" rIns="0" bIns="0" rtlCol="0"/>
          <a:lstStyle/>
          <a:p>
            <a:pPr indent="0" marL="0">
              <a:buNone/>
            </a:pPr>
            <a:r>
              <a:rPr lang="en-US" sz="6600" b="1" dirty="0">
                <a:solidFill>
                  <a:schemeClr val="accent1"/>
                </a:solidFill>
                <a:latin typeface="Cambria" pitchFamily="34" charset="0"/>
                <a:ea typeface="Cambria" pitchFamily="34" charset="-122"/>
                <a:cs typeface="Cambria" pitchFamily="34" charset="-120"/>
              </a:rPr>
              <a:t>I</a:t>
            </a:r>
            <a:endParaRPr lang="en-US" sz="6600" dirty="0"/>
          </a:p>
        </p:txBody>
      </p:sp>
      <p:sp>
        <p:nvSpPr>
          <p:cNvPr id="13" name="Text 0"/>
          <p:cNvSpPr/>
          <p:nvPr>
            <p:ph idx="101" type="title" hasCustomPrompt="1"/>
          </p:nvPr>
        </p:nvSpPr>
        <p:spPr>
          <a:xfrm>
            <a:off x="731520" y="2011680"/>
            <a:ext cx="6400800" cy="146304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Le Dieu à qui l'on crie</a:t>
            </a:r>
            <a:endParaRPr lang="en-US" sz="4000" dirty="0"/>
          </a:p>
        </p:txBody>
      </p:sp>
      <p:sp>
        <p:nvSpPr>
          <p:cNvPr id="14" name="Text 0"/>
          <p:cNvSpPr/>
          <p:nvPr>
            <p:ph idx="102" type="body" hasCustomPrompt="1"/>
          </p:nvPr>
        </p:nvSpPr>
        <p:spPr>
          <a:xfrm>
            <a:off x="731520" y="3657600"/>
            <a:ext cx="6400800" cy="1463040"/>
          </a:xfrm>
          <a:prstGeom prst="rect">
            <a:avLst/>
          </a:prstGeom>
          <a:noFill/>
          <a:ln/>
        </p:spPr>
        <p:txBody>
          <a:bodyPr wrap="square" lIns="0" tIns="0" rIns="0" bIns="0" rtlCol="0" anchor="t"/>
          <a:lstStyle/>
          <a:p>
            <a:pPr indent="0" marL="0">
              <a:buNone/>
            </a:pPr>
            <a:r>
              <a:rPr lang="en-US" sz="2200" i="1" dirty="0">
                <a:solidFill>
                  <a:schemeClr val="bg1"/>
                </a:solidFill>
                <a:latin typeface="Cambria" pitchFamily="34" charset="0"/>
                <a:ea typeface="Cambria" pitchFamily="34" charset="-122"/>
                <a:cs typeface="Cambria" pitchFamily="34" charset="-120"/>
              </a:rPr>
              <a:t>La foi ne tait pas l'injustice; elle la remet au juge.</a:t>
            </a:r>
            <a:endParaRPr lang="en-US" sz="2200" dirty="0"/>
          </a:p>
        </p:txBody>
      </p:sp>
      <p:sp>
        <p:nvSpPr>
          <p:cNvPr id="15" name="Text 0"/>
          <p:cNvSpPr/>
          <p:nvPr>
            <p:ph idx="103" type="body" hasCustomPrompt="1"/>
          </p:nvPr>
        </p:nvSpPr>
        <p:spPr>
          <a:xfrm>
            <a:off x="731520" y="5349240"/>
            <a:ext cx="6400800" cy="411480"/>
          </a:xfrm>
          <a:prstGeom prst="rect">
            <a:avLst/>
          </a:prstGeom>
          <a:noFill/>
          <a:ln/>
        </p:spPr>
        <p:txBody>
          <a:bodyPr wrap="square" lIns="0" tIns="0" rIns="0" bIns="0" rtlCol="0"/>
          <a:lstStyle/>
          <a:p>
            <a:pPr indent="0" marL="0">
              <a:buNone/>
            </a:pPr>
            <a:r>
              <a:rPr lang="en-US" sz="1600" dirty="0">
                <a:solidFill>
                  <a:schemeClr val="accent2"/>
                </a:solidFill>
              </a:rPr>
              <a:t>Psaume 94.1-7 · 8 min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0058400" cy="320040"/>
          </a:xfrm>
          <a:prstGeom prst="rect">
            <a:avLst/>
          </a:prstGeom>
          <a:noFill/>
          <a:ln/>
        </p:spPr>
        <p:txBody>
          <a:bodyPr wrap="square" lIns="0" tIns="0" rIns="0" bIns="0" rtlCol="0"/>
          <a:lstStyle/>
          <a:p>
            <a:pPr indent="0" marL="0">
              <a:buNone/>
            </a:pPr>
            <a:r>
              <a:rPr lang="en-US" sz="1300" b="1" spc="100" kern="0" dirty="0">
                <a:solidFill>
                  <a:schemeClr val="accent2"/>
                </a:solidFill>
              </a:rPr>
              <a:t>I · Le Dieu à qui l'on crie · 94.1-2</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Quelle vengeance?</a:t>
            </a:r>
            <a:endParaRPr lang="en-US" sz="3000" dirty="0"/>
          </a:p>
        </p:txBody>
      </p:sp>
      <p:sp>
        <p:nvSpPr>
          <p:cNvPr id="4" name="Pas ceci"/>
          <p:cNvSpPr/>
          <p:nvPr/>
        </p:nvSpPr>
        <p:spPr>
          <a:xfrm>
            <a:off x="548640" y="1691640"/>
            <a:ext cx="2743200" cy="3063240"/>
          </a:xfrm>
          <a:prstGeom prst="roundRect">
            <a:avLst>
              <a:gd name="adj" fmla="val 2667"/>
            </a:avLst>
          </a:prstGeom>
          <a:solidFill>
            <a:schemeClr val="tx2"/>
          </a:solidFill>
          <a:ln/>
        </p:spPr>
      </p:sp>
      <p:sp>
        <p:nvSpPr>
          <p:cNvPr id="5" name="Refus disque"/>
          <p:cNvSpPr/>
          <p:nvPr/>
        </p:nvSpPr>
        <p:spPr>
          <a:xfrm>
            <a:off x="777240" y="1874520"/>
            <a:ext cx="548640" cy="548640"/>
          </a:xfrm>
          <a:prstGeom prst="ellipse">
            <a:avLst/>
          </a:prstGeom>
          <a:solidFill>
            <a:schemeClr val="accent3"/>
          </a:solidFill>
          <a:ln/>
        </p:spPr>
      </p:sp>
      <p:sp>
        <p:nvSpPr>
          <p:cNvPr id="6" name="Refus a"/>
          <p:cNvSpPr/>
          <p:nvPr/>
        </p:nvSpPr>
        <p:spPr>
          <a:xfrm>
            <a:off x="941832" y="2039112"/>
            <a:ext cx="219456" cy="219456"/>
          </a:xfrm>
          <a:prstGeom prst="line">
            <a:avLst/>
          </a:prstGeom>
          <a:noFill/>
          <a:ln w="38100">
            <a:solidFill>
              <a:schemeClr val="bg1"/>
            </a:solidFill>
            <a:prstDash val="solid"/>
          </a:ln>
        </p:spPr>
      </p:sp>
      <p:sp>
        <p:nvSpPr>
          <p:cNvPr id="7" name="Refus b"/>
          <p:cNvSpPr/>
          <p:nvPr/>
        </p:nvSpPr>
        <p:spPr>
          <a:xfrm flipH="1">
            <a:off x="941832" y="2039112"/>
            <a:ext cx="219456" cy="219456"/>
          </a:xfrm>
          <a:prstGeom prst="line">
            <a:avLst/>
          </a:prstGeom>
          <a:noFill/>
          <a:ln w="38100">
            <a:solidFill>
              <a:schemeClr val="bg1"/>
            </a:solidFill>
            <a:prstDash val="solid"/>
          </a:ln>
        </p:spPr>
      </p:sp>
      <p:sp>
        <p:nvSpPr>
          <p:cNvPr id="8" name="Text 6"/>
          <p:cNvSpPr txBox="1"/>
          <p:nvPr/>
        </p:nvSpPr>
        <p:spPr>
          <a:xfrm>
            <a:off x="1463040" y="1920240"/>
            <a:ext cx="1737360" cy="457200"/>
          </a:xfrm>
          <a:prstGeom prst="rect">
            <a:avLst/>
          </a:prstGeom>
          <a:noFill/>
          <a:ln/>
        </p:spPr>
        <p:txBody>
          <a:bodyPr wrap="square" lIns="0" tIns="0" rIns="0" bIns="0" rtlCol="0" anchor="ctr"/>
          <a:lstStyle/>
          <a:p>
            <a:pPr indent="0" marL="0">
              <a:buNone/>
            </a:pPr>
            <a:r>
              <a:rPr lang="en-US" sz="1800" b="1" dirty="0">
                <a:solidFill>
                  <a:schemeClr val="accent2"/>
                </a:solidFill>
              </a:rPr>
              <a:t>Pas ceci</a:t>
            </a:r>
            <a:endParaRPr lang="en-US" sz="1800" dirty="0"/>
          </a:p>
        </p:txBody>
      </p:sp>
      <p:sp>
        <p:nvSpPr>
          <p:cNvPr id="9" name="Text 7"/>
          <p:cNvSpPr txBox="1"/>
          <p:nvPr/>
        </p:nvSpPr>
        <p:spPr>
          <a:xfrm>
            <a:off x="777240" y="2697480"/>
            <a:ext cx="2286000" cy="10972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Une agressivité incontrôlée</a:t>
            </a:r>
            <a:endParaRPr lang="en-US" sz="2200" dirty="0"/>
          </a:p>
        </p:txBody>
      </p:sp>
      <p:sp>
        <p:nvSpPr>
          <p:cNvPr id="10" name="Text 8"/>
          <p:cNvSpPr txBox="1"/>
          <p:nvPr/>
        </p:nvSpPr>
        <p:spPr>
          <a:xfrm>
            <a:off x="777240" y="3840480"/>
            <a:ext cx="2286000" cy="822960"/>
          </a:xfrm>
          <a:prstGeom prst="rect">
            <a:avLst/>
          </a:prstGeom>
          <a:noFill/>
          <a:ln/>
        </p:spPr>
        <p:txBody>
          <a:bodyPr wrap="square" lIns="0" tIns="0" rIns="0" bIns="0" rtlCol="0" anchor="t"/>
          <a:lstStyle/>
          <a:p>
            <a:pPr indent="0" marL="0">
              <a:buNone/>
            </a:pPr>
            <a:r>
              <a:rPr lang="en-US" sz="1400" dirty="0">
                <a:solidFill>
                  <a:schemeClr val="bg2"/>
                </a:solidFill>
              </a:rPr>
              <a:t>La vengeance du psaume n'est pas un emportement.</a:t>
            </a:r>
            <a:endParaRPr lang="en-US" sz="1400" dirty="0"/>
          </a:p>
        </p:txBody>
      </p:sp>
      <p:sp>
        <p:nvSpPr>
          <p:cNvPr id="11" name="Balance mât"/>
          <p:cNvSpPr/>
          <p:nvPr/>
        </p:nvSpPr>
        <p:spPr>
          <a:xfrm>
            <a:off x="6044184" y="2011680"/>
            <a:ext cx="109728" cy="2159447"/>
          </a:xfrm>
          <a:prstGeom prst="rect">
            <a:avLst/>
          </a:prstGeom>
          <a:solidFill>
            <a:schemeClr val="bg1"/>
          </a:solidFill>
          <a:ln/>
        </p:spPr>
      </p:sp>
      <p:sp>
        <p:nvSpPr>
          <p:cNvPr id="12" name="Balance socle"/>
          <p:cNvSpPr/>
          <p:nvPr/>
        </p:nvSpPr>
        <p:spPr>
          <a:xfrm>
            <a:off x="5513832" y="4171127"/>
            <a:ext cx="1170432" cy="237744"/>
          </a:xfrm>
          <a:prstGeom prst="trapezoid">
            <a:avLst/>
          </a:prstGeom>
          <a:solidFill>
            <a:schemeClr val="accent1"/>
          </a:solidFill>
          <a:ln/>
        </p:spPr>
      </p:sp>
      <p:sp>
        <p:nvSpPr>
          <p:cNvPr id="13" name="Balance fléau"/>
          <p:cNvSpPr/>
          <p:nvPr/>
        </p:nvSpPr>
        <p:spPr>
          <a:xfrm>
            <a:off x="4636008" y="2011680"/>
            <a:ext cx="2926080" cy="0"/>
          </a:xfrm>
          <a:prstGeom prst="line">
            <a:avLst/>
          </a:prstGeom>
          <a:noFill/>
          <a:ln w="63500">
            <a:solidFill>
              <a:schemeClr val="bg1"/>
            </a:solidFill>
            <a:prstDash val="solid"/>
          </a:ln>
        </p:spPr>
      </p:sp>
      <p:sp>
        <p:nvSpPr>
          <p:cNvPr id="14" name="Balance chaîne"/>
          <p:cNvSpPr/>
          <p:nvPr/>
        </p:nvSpPr>
        <p:spPr>
          <a:xfrm flipH="1">
            <a:off x="4138574" y="2011680"/>
            <a:ext cx="497434" cy="1211397"/>
          </a:xfrm>
          <a:prstGeom prst="line">
            <a:avLst/>
          </a:prstGeom>
          <a:noFill/>
          <a:ln w="19050">
            <a:solidFill>
              <a:schemeClr val="accent6"/>
            </a:solidFill>
            <a:prstDash val="solid"/>
          </a:ln>
        </p:spPr>
      </p:sp>
      <p:sp>
        <p:nvSpPr>
          <p:cNvPr id="15" name="Balance chaîne"/>
          <p:cNvSpPr/>
          <p:nvPr/>
        </p:nvSpPr>
        <p:spPr>
          <a:xfrm>
            <a:off x="4636008" y="2011680"/>
            <a:ext cx="497434" cy="1211397"/>
          </a:xfrm>
          <a:prstGeom prst="line">
            <a:avLst/>
          </a:prstGeom>
          <a:noFill/>
          <a:ln w="19050">
            <a:solidFill>
              <a:schemeClr val="accent6"/>
            </a:solidFill>
            <a:prstDash val="solid"/>
          </a:ln>
        </p:spPr>
      </p:sp>
      <p:sp>
        <p:nvSpPr>
          <p:cNvPr id="16" name="Balance plateau"/>
          <p:cNvSpPr/>
          <p:nvPr/>
        </p:nvSpPr>
        <p:spPr>
          <a:xfrm>
            <a:off x="4050792" y="3223077"/>
            <a:ext cx="1170432" cy="384048"/>
          </a:xfrm>
          <a:custGeom>
            <a:avLst/>
            <a:gdLst/>
            <a:ahLst/>
            <a:cxnLst/>
            <a:rect l="l" t="t" r="r" b="b"/>
            <a:pathLst>
              <a:path w="1170432" h="384048">
                <a:moveTo>
                  <a:pt x="0" y="0"/>
                </a:moveTo>
                <a:lnTo>
                  <a:pt x="1170432" y="0"/>
                </a:lnTo>
                <a:quadBezTo>
                  <a:pt x="585216" y="768096"/>
                  <a:pt x="0" y="0"/>
                </a:quadBezTo>
                <a:close/>
              </a:path>
            </a:pathLst>
          </a:custGeom>
          <a:solidFill>
            <a:schemeClr val="accent1"/>
          </a:solidFill>
          <a:ln/>
        </p:spPr>
      </p:sp>
      <p:sp>
        <p:nvSpPr>
          <p:cNvPr id="17" name="Balance chaîne"/>
          <p:cNvSpPr/>
          <p:nvPr/>
        </p:nvSpPr>
        <p:spPr>
          <a:xfrm flipH="1">
            <a:off x="7064654" y="2011680"/>
            <a:ext cx="497434" cy="1211397"/>
          </a:xfrm>
          <a:prstGeom prst="line">
            <a:avLst/>
          </a:prstGeom>
          <a:noFill/>
          <a:ln w="19050">
            <a:solidFill>
              <a:schemeClr val="accent6"/>
            </a:solidFill>
            <a:prstDash val="solid"/>
          </a:ln>
        </p:spPr>
      </p:sp>
      <p:sp>
        <p:nvSpPr>
          <p:cNvPr id="18" name="Balance chaîne"/>
          <p:cNvSpPr/>
          <p:nvPr/>
        </p:nvSpPr>
        <p:spPr>
          <a:xfrm>
            <a:off x="7562088" y="2011680"/>
            <a:ext cx="497434" cy="1211397"/>
          </a:xfrm>
          <a:prstGeom prst="line">
            <a:avLst/>
          </a:prstGeom>
          <a:noFill/>
          <a:ln w="19050">
            <a:solidFill>
              <a:schemeClr val="accent6"/>
            </a:solidFill>
            <a:prstDash val="solid"/>
          </a:ln>
        </p:spPr>
      </p:sp>
      <p:sp>
        <p:nvSpPr>
          <p:cNvPr id="19" name="Balance plateau"/>
          <p:cNvSpPr/>
          <p:nvPr/>
        </p:nvSpPr>
        <p:spPr>
          <a:xfrm>
            <a:off x="6976872" y="3223077"/>
            <a:ext cx="1170432" cy="384048"/>
          </a:xfrm>
          <a:custGeom>
            <a:avLst/>
            <a:gdLst/>
            <a:ahLst/>
            <a:cxnLst/>
            <a:rect l="l" t="t" r="r" b="b"/>
            <a:pathLst>
              <a:path w="1170432" h="384048">
                <a:moveTo>
                  <a:pt x="0" y="0"/>
                </a:moveTo>
                <a:lnTo>
                  <a:pt x="1170432" y="0"/>
                </a:lnTo>
                <a:quadBezTo>
                  <a:pt x="585216" y="768096"/>
                  <a:pt x="0" y="0"/>
                </a:quadBezTo>
                <a:close/>
              </a:path>
            </a:pathLst>
          </a:custGeom>
          <a:solidFill>
            <a:schemeClr val="accent1"/>
          </a:solidFill>
          <a:ln/>
        </p:spPr>
      </p:sp>
      <p:sp>
        <p:nvSpPr>
          <p:cNvPr id="20" name="Balance pivot"/>
          <p:cNvSpPr/>
          <p:nvPr/>
        </p:nvSpPr>
        <p:spPr>
          <a:xfrm>
            <a:off x="5961888" y="1874520"/>
            <a:ext cx="274320" cy="274320"/>
          </a:xfrm>
          <a:prstGeom prst="ellipse">
            <a:avLst/>
          </a:prstGeom>
          <a:solidFill>
            <a:schemeClr val="accent1"/>
          </a:solidFill>
          <a:ln w="12700">
            <a:solidFill>
              <a:schemeClr val="bg1"/>
            </a:solidFill>
            <a:prstDash val="solid"/>
          </a:ln>
        </p:spPr>
      </p:sp>
      <p:sp>
        <p:nvSpPr>
          <p:cNvPr id="21" name="Text 19"/>
          <p:cNvSpPr txBox="1"/>
          <p:nvPr/>
        </p:nvSpPr>
        <p:spPr>
          <a:xfrm>
            <a:off x="3383280" y="4800600"/>
            <a:ext cx="2103120" cy="640080"/>
          </a:xfrm>
          <a:prstGeom prst="rect">
            <a:avLst/>
          </a:prstGeom>
          <a:noFill/>
          <a:ln/>
        </p:spPr>
        <p:txBody>
          <a:bodyPr wrap="square" lIns="0" tIns="0" rIns="0" bIns="0" rtlCol="0" anchor="t"/>
          <a:lstStyle/>
          <a:p>
            <a:pPr algn="ctr" indent="0" marL="0">
              <a:buNone/>
            </a:pPr>
            <a:r>
              <a:rPr lang="en-US" sz="1400" b="1" dirty="0">
                <a:solidFill>
                  <a:schemeClr val="accent2"/>
                </a:solidFill>
              </a:rPr>
              <a:t>Infractions contre la loi divine</a:t>
            </a:r>
            <a:endParaRPr lang="en-US" sz="1400" dirty="0"/>
          </a:p>
        </p:txBody>
      </p:sp>
      <p:sp>
        <p:nvSpPr>
          <p:cNvPr id="22" name="Text 20"/>
          <p:cNvSpPr txBox="1"/>
          <p:nvPr/>
        </p:nvSpPr>
        <p:spPr>
          <a:xfrm>
            <a:off x="6720840" y="4800600"/>
            <a:ext cx="2103120" cy="640080"/>
          </a:xfrm>
          <a:prstGeom prst="rect">
            <a:avLst/>
          </a:prstGeom>
          <a:noFill/>
          <a:ln/>
        </p:spPr>
        <p:txBody>
          <a:bodyPr wrap="square" lIns="0" tIns="0" rIns="0" bIns="0" rtlCol="0" anchor="t"/>
          <a:lstStyle/>
          <a:p>
            <a:pPr algn="ctr" indent="0" marL="0">
              <a:buNone/>
            </a:pPr>
            <a:r>
              <a:rPr lang="en-US" sz="1400" b="1" dirty="0">
                <a:solidFill>
                  <a:schemeClr val="accent2"/>
                </a:solidFill>
              </a:rPr>
              <a:t>Juste rétribution</a:t>
            </a:r>
            <a:endParaRPr lang="en-US" sz="1400" dirty="0"/>
          </a:p>
        </p:txBody>
      </p:sp>
      <p:sp>
        <p:nvSpPr>
          <p:cNvPr id="23" name="Mais ceci"/>
          <p:cNvSpPr/>
          <p:nvPr/>
        </p:nvSpPr>
        <p:spPr>
          <a:xfrm>
            <a:off x="8915400" y="1691640"/>
            <a:ext cx="2724912" cy="3063240"/>
          </a:xfrm>
          <a:prstGeom prst="roundRect">
            <a:avLst>
              <a:gd name="adj" fmla="val 2685"/>
            </a:avLst>
          </a:prstGeom>
          <a:solidFill>
            <a:schemeClr val="accent3"/>
          </a:solidFill>
          <a:ln/>
        </p:spPr>
      </p:sp>
      <p:sp>
        <p:nvSpPr>
          <p:cNvPr id="24" name="Accord disque"/>
          <p:cNvSpPr/>
          <p:nvPr/>
        </p:nvSpPr>
        <p:spPr>
          <a:xfrm>
            <a:off x="9144000" y="1874520"/>
            <a:ext cx="548640" cy="548640"/>
          </a:xfrm>
          <a:prstGeom prst="ellipse">
            <a:avLst/>
          </a:prstGeom>
          <a:solidFill>
            <a:schemeClr val="accent1"/>
          </a:solidFill>
          <a:ln/>
        </p:spPr>
      </p:sp>
      <p:sp>
        <p:nvSpPr>
          <p:cNvPr id="25" name="Accord trait"/>
          <p:cNvSpPr/>
          <p:nvPr/>
        </p:nvSpPr>
        <p:spPr>
          <a:xfrm>
            <a:off x="9253728" y="2011680"/>
            <a:ext cx="329184" cy="274320"/>
          </a:xfrm>
          <a:custGeom>
            <a:avLst/>
            <a:gdLst/>
            <a:ahLst/>
            <a:cxnLst/>
            <a:rect l="l" t="t" r="r" b="b"/>
            <a:pathLst>
              <a:path w="329184" h="274320">
                <a:moveTo>
                  <a:pt x="0" y="153619"/>
                </a:moveTo>
                <a:lnTo>
                  <a:pt x="109728" y="263347"/>
                </a:lnTo>
                <a:lnTo>
                  <a:pt x="329184" y="0"/>
                </a:lnTo>
              </a:path>
            </a:pathLst>
          </a:custGeom>
          <a:ln w="38100">
            <a:solidFill>
              <a:schemeClr val="tx1"/>
            </a:solidFill>
            <a:prstDash val="solid"/>
          </a:ln>
        </p:spPr>
      </p:sp>
      <p:sp>
        <p:nvSpPr>
          <p:cNvPr id="26" name="Text 24"/>
          <p:cNvSpPr txBox="1"/>
          <p:nvPr/>
        </p:nvSpPr>
        <p:spPr>
          <a:xfrm>
            <a:off x="9829800" y="1920240"/>
            <a:ext cx="1645920" cy="457200"/>
          </a:xfrm>
          <a:prstGeom prst="rect">
            <a:avLst/>
          </a:prstGeom>
          <a:noFill/>
          <a:ln/>
        </p:spPr>
        <p:txBody>
          <a:bodyPr wrap="square" lIns="0" tIns="0" rIns="0" bIns="0" rtlCol="0" anchor="ctr"/>
          <a:lstStyle/>
          <a:p>
            <a:pPr indent="0" marL="0">
              <a:buNone/>
            </a:pPr>
            <a:r>
              <a:rPr lang="en-US" sz="1800" b="1" dirty="0">
                <a:solidFill>
                  <a:schemeClr val="accent5"/>
                </a:solidFill>
              </a:rPr>
              <a:t>Mais ceci</a:t>
            </a:r>
            <a:endParaRPr lang="en-US" sz="1800" dirty="0"/>
          </a:p>
        </p:txBody>
      </p:sp>
      <p:sp>
        <p:nvSpPr>
          <p:cNvPr id="27" name="Text 25"/>
          <p:cNvSpPr txBox="1"/>
          <p:nvPr/>
        </p:nvSpPr>
        <p:spPr>
          <a:xfrm>
            <a:off x="9144000" y="2651760"/>
            <a:ext cx="2286000" cy="2011680"/>
          </a:xfrm>
          <a:prstGeom prst="rect">
            <a:avLst/>
          </a:prstGeom>
          <a:noFill/>
          <a:ln/>
        </p:spPr>
        <p:txBody>
          <a:bodyPr wrap="square" lIns="0" tIns="0" rIns="0" bIns="0" rtlCol="0" anchor="t"/>
          <a:lstStyle/>
          <a:p>
            <a:pPr indent="0" marL="0">
              <a:buNone/>
            </a:pPr>
            <a:r>
              <a:rPr lang="en-US" sz="1600" i="1" dirty="0">
                <a:solidFill>
                  <a:schemeClr val="bg1"/>
                </a:solidFill>
                <a:latin typeface="Cambria" pitchFamily="34" charset="0"/>
                <a:ea typeface="Cambria" pitchFamily="34" charset="-122"/>
                <a:cs typeface="Cambria" pitchFamily="34" charset="-120"/>
              </a:rPr>
              <a:t>« une juste rétribution appliquée en proportion des infractions commises contre la loi divine »</a:t>
            </a:r>
            <a:endParaRPr lang="en-US" sz="1600" dirty="0"/>
          </a:p>
        </p:txBody>
      </p:sp>
      <p:sp>
        <p:nvSpPr>
          <p:cNvPr id="28" name="Text 26"/>
          <p:cNvSpPr txBox="1"/>
          <p:nvPr/>
        </p:nvSpPr>
        <p:spPr>
          <a:xfrm>
            <a:off x="9144000" y="4389120"/>
            <a:ext cx="2286000" cy="274320"/>
          </a:xfrm>
          <a:prstGeom prst="rect">
            <a:avLst/>
          </a:prstGeom>
          <a:noFill/>
          <a:ln/>
        </p:spPr>
        <p:txBody>
          <a:bodyPr wrap="square" lIns="0" tIns="0" rIns="0" bIns="0" rtlCol="0" anchor="t"/>
          <a:lstStyle/>
          <a:p>
            <a:pPr indent="0" marL="0">
              <a:buNone/>
            </a:pPr>
            <a:r>
              <a:rPr lang="en-US" sz="1200" dirty="0">
                <a:solidFill>
                  <a:schemeClr val="accent5"/>
                </a:solidFill>
              </a:rPr>
              <a:t>MacArthur, note sur 94.1</a:t>
            </a:r>
            <a:endParaRPr lang="en-US" sz="1200" dirty="0"/>
          </a:p>
        </p:txBody>
      </p:sp>
      <p:sp>
        <p:nvSpPr>
          <p:cNvPr id="29" name="Appuis du texte"/>
          <p:cNvSpPr/>
          <p:nvPr/>
        </p:nvSpPr>
        <p:spPr>
          <a:xfrm>
            <a:off x="548640" y="5532120"/>
            <a:ext cx="11091672" cy="658368"/>
          </a:xfrm>
          <a:prstGeom prst="roundRect">
            <a:avLst>
              <a:gd name="adj" fmla="val 11111"/>
            </a:avLst>
          </a:prstGeom>
          <a:solidFill>
            <a:schemeClr val="tx2"/>
          </a:solidFill>
          <a:ln/>
        </p:spPr>
      </p:sp>
      <p:sp>
        <p:nvSpPr>
          <p:cNvPr id="30" name="Text 28"/>
          <p:cNvSpPr txBox="1"/>
          <p:nvPr/>
        </p:nvSpPr>
        <p:spPr>
          <a:xfrm>
            <a:off x="777240" y="5577840"/>
            <a:ext cx="10652760" cy="566928"/>
          </a:xfrm>
          <a:prstGeom prst="rect">
            <a:avLst/>
          </a:prstGeom>
          <a:noFill/>
          <a:ln/>
        </p:spPr>
        <p:txBody>
          <a:bodyPr wrap="square" lIns="0" tIns="0" rIns="0" bIns="0" rtlCol="0" anchor="ctr"/>
          <a:lstStyle/>
          <a:p>
            <a:pPr indent="0" marL="0">
              <a:buNone/>
            </a:pPr>
            <a:r>
              <a:rPr lang="en-US" sz="1400" dirty="0">
                <a:solidFill>
                  <a:schemeClr val="bg1"/>
                </a:solidFill>
              </a:rPr>
              <a:t>Le texte appuie : « juge de la terre » et « selon leurs œuvres » (94.2); à la fin, c'est « leur iniquité » qui retombe (94.23). La proportion va au-delà du lexique : décision d'interprétation.</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0058400" cy="320040"/>
          </a:xfrm>
          <a:prstGeom prst="rect">
            <a:avLst/>
          </a:prstGeom>
          <a:noFill/>
          <a:ln/>
        </p:spPr>
        <p:txBody>
          <a:bodyPr wrap="square" lIns="0" tIns="0" rIns="0" bIns="0" rtlCol="0"/>
          <a:lstStyle/>
          <a:p>
            <a:pPr indent="0" marL="0">
              <a:buNone/>
            </a:pPr>
            <a:r>
              <a:rPr lang="en-US" sz="1300" b="1" spc="100" kern="0" dirty="0">
                <a:solidFill>
                  <a:schemeClr val="accent2"/>
                </a:solidFill>
              </a:rPr>
              <a:t>I · Le Dieu à qui l'on crie · 94.1-2</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Trois impératifs adressés à Dieu</a:t>
            </a:r>
            <a:endParaRPr lang="en-US" sz="3000" dirty="0"/>
          </a:p>
        </p:txBody>
      </p:sp>
      <p:sp>
        <p:nvSpPr>
          <p:cNvPr id="4" name="Marche 1"/>
          <p:cNvSpPr/>
          <p:nvPr/>
        </p:nvSpPr>
        <p:spPr>
          <a:xfrm>
            <a:off x="548640" y="2377440"/>
            <a:ext cx="3593592" cy="2103120"/>
          </a:xfrm>
          <a:prstGeom prst="roundRect">
            <a:avLst>
              <a:gd name="adj" fmla="val 3478"/>
            </a:avLst>
          </a:prstGeom>
          <a:solidFill>
            <a:schemeClr val="tx2"/>
          </a:solidFill>
          <a:ln/>
        </p:spPr>
      </p:sp>
      <p:sp>
        <p:nvSpPr>
          <p:cNvPr id="5" name="Pastille 1"/>
          <p:cNvSpPr/>
          <p:nvPr/>
        </p:nvSpPr>
        <p:spPr>
          <a:xfrm>
            <a:off x="777240" y="2560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Text 4"/>
          <p:cNvSpPr txBox="1"/>
          <p:nvPr/>
        </p:nvSpPr>
        <p:spPr>
          <a:xfrm>
            <a:off x="1463040" y="2560320"/>
            <a:ext cx="2560320" cy="50292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Parais</a:t>
            </a:r>
            <a:endParaRPr lang="en-US" sz="2800" dirty="0"/>
          </a:p>
        </p:txBody>
      </p:sp>
      <p:sp>
        <p:nvSpPr>
          <p:cNvPr id="7" name="Text 5"/>
          <p:cNvSpPr txBox="1"/>
          <p:nvPr/>
        </p:nvSpPr>
        <p:spPr>
          <a:xfrm>
            <a:off x="777240" y="3200400"/>
            <a:ext cx="3108960" cy="274320"/>
          </a:xfrm>
          <a:prstGeom prst="rect">
            <a:avLst/>
          </a:prstGeom>
          <a:noFill/>
          <a:ln/>
        </p:spPr>
        <p:txBody>
          <a:bodyPr wrap="square" lIns="0" tIns="0" rIns="0" bIns="0" rtlCol="0" anchor="t"/>
          <a:lstStyle/>
          <a:p>
            <a:pPr indent="0" marL="0">
              <a:buNone/>
            </a:pPr>
            <a:r>
              <a:rPr lang="en-US" sz="1400" i="1" dirty="0">
                <a:solidFill>
                  <a:schemeClr val="accent2"/>
                </a:solidFill>
              </a:rPr>
              <a:t>hôpîaʿ</a:t>
            </a:r>
            <a:endParaRPr lang="en-US" sz="1400" dirty="0"/>
          </a:p>
        </p:txBody>
      </p:sp>
      <p:sp>
        <p:nvSpPr>
          <p:cNvPr id="8" name="Text 6"/>
          <p:cNvSpPr txBox="1"/>
          <p:nvPr/>
        </p:nvSpPr>
        <p:spPr>
          <a:xfrm>
            <a:off x="777240" y="3547872"/>
            <a:ext cx="3154680" cy="868680"/>
          </a:xfrm>
          <a:prstGeom prst="rect">
            <a:avLst/>
          </a:prstGeom>
          <a:noFill/>
          <a:ln/>
        </p:spPr>
        <p:txBody>
          <a:bodyPr wrap="square" lIns="0" tIns="0" rIns="0" bIns="0" rtlCol="0" anchor="t"/>
          <a:lstStyle/>
          <a:p>
            <a:pPr indent="0" marL="0">
              <a:buNone/>
            </a:pPr>
            <a:r>
              <a:rPr lang="en-US" sz="1500" dirty="0">
                <a:solidFill>
                  <a:schemeClr val="bg1"/>
                </a:solidFill>
              </a:rPr>
              <a:t>« Pt-ê. s'agit-il ici d'une demande de théophanie (cf. 50.2; 80.2) » Au Psaume 80.2 : « Parais dans ta splendeur ».</a:t>
            </a:r>
            <a:endParaRPr lang="en-US" sz="1500" dirty="0"/>
          </a:p>
        </p:txBody>
      </p:sp>
      <p:sp>
        <p:nvSpPr>
          <p:cNvPr id="9" name="Marche 2"/>
          <p:cNvSpPr/>
          <p:nvPr/>
        </p:nvSpPr>
        <p:spPr>
          <a:xfrm>
            <a:off x="4297680" y="2057400"/>
            <a:ext cx="3593592" cy="2423160"/>
          </a:xfrm>
          <a:prstGeom prst="roundRect">
            <a:avLst>
              <a:gd name="adj" fmla="val 3019"/>
            </a:avLst>
          </a:prstGeom>
          <a:solidFill>
            <a:schemeClr val="tx2"/>
          </a:solidFill>
          <a:ln/>
        </p:spPr>
      </p:sp>
      <p:sp>
        <p:nvSpPr>
          <p:cNvPr id="10" name="Pastille 2"/>
          <p:cNvSpPr/>
          <p:nvPr/>
        </p:nvSpPr>
        <p:spPr>
          <a:xfrm>
            <a:off x="4526280" y="224028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1" name="Text 9"/>
          <p:cNvSpPr txBox="1"/>
          <p:nvPr/>
        </p:nvSpPr>
        <p:spPr>
          <a:xfrm>
            <a:off x="5212080" y="2240280"/>
            <a:ext cx="2560320" cy="50292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Lève-toi</a:t>
            </a:r>
            <a:endParaRPr lang="en-US" sz="2800" dirty="0"/>
          </a:p>
        </p:txBody>
      </p:sp>
      <p:sp>
        <p:nvSpPr>
          <p:cNvPr id="12" name="Text 10"/>
          <p:cNvSpPr txBox="1"/>
          <p:nvPr/>
        </p:nvSpPr>
        <p:spPr>
          <a:xfrm>
            <a:off x="4526280" y="2880360"/>
            <a:ext cx="3108960" cy="274320"/>
          </a:xfrm>
          <a:prstGeom prst="rect">
            <a:avLst/>
          </a:prstGeom>
          <a:noFill/>
          <a:ln/>
        </p:spPr>
        <p:txBody>
          <a:bodyPr wrap="square" lIns="0" tIns="0" rIns="0" bIns="0" rtlCol="0" anchor="t"/>
          <a:lstStyle/>
          <a:p>
            <a:pPr indent="0" marL="0">
              <a:buNone/>
            </a:pPr>
            <a:r>
              <a:rPr lang="en-US" sz="1400" i="1" dirty="0">
                <a:solidFill>
                  <a:schemeClr val="accent2"/>
                </a:solidFill>
              </a:rPr>
              <a:t>hinnāśēʾ</a:t>
            </a:r>
            <a:endParaRPr lang="en-US" sz="1400" dirty="0"/>
          </a:p>
        </p:txBody>
      </p:sp>
      <p:sp>
        <p:nvSpPr>
          <p:cNvPr id="13" name="Text 11"/>
          <p:cNvSpPr txBox="1"/>
          <p:nvPr/>
        </p:nvSpPr>
        <p:spPr>
          <a:xfrm>
            <a:off x="4526280" y="3227832"/>
            <a:ext cx="3154680" cy="1188720"/>
          </a:xfrm>
          <a:prstGeom prst="rect">
            <a:avLst/>
          </a:prstGeom>
          <a:noFill/>
          <a:ln/>
        </p:spPr>
        <p:txBody>
          <a:bodyPr wrap="square" lIns="0" tIns="0" rIns="0" bIns="0" rtlCol="0" anchor="t"/>
          <a:lstStyle/>
          <a:p>
            <a:pPr indent="0" marL="0">
              <a:buNone/>
            </a:pPr>
            <a:r>
              <a:rPr lang="en-US" sz="1500" dirty="0">
                <a:solidFill>
                  <a:schemeClr val="bg1"/>
                </a:solidFill>
              </a:rPr>
              <a:t>Le Dieu des vengeances est le « juge de la terre » (94.2).</a:t>
            </a:r>
            <a:endParaRPr lang="en-US" sz="1500" dirty="0"/>
          </a:p>
        </p:txBody>
      </p:sp>
      <p:sp>
        <p:nvSpPr>
          <p:cNvPr id="14" name="Marche 3"/>
          <p:cNvSpPr/>
          <p:nvPr/>
        </p:nvSpPr>
        <p:spPr>
          <a:xfrm>
            <a:off x="8046720" y="1737360"/>
            <a:ext cx="3593592" cy="2743200"/>
          </a:xfrm>
          <a:prstGeom prst="roundRect">
            <a:avLst>
              <a:gd name="adj" fmla="val 2667"/>
            </a:avLst>
          </a:prstGeom>
          <a:solidFill>
            <a:schemeClr val="accent3"/>
          </a:solidFill>
          <a:ln/>
        </p:spPr>
      </p:sp>
      <p:sp>
        <p:nvSpPr>
          <p:cNvPr id="15" name="Pastille 3"/>
          <p:cNvSpPr/>
          <p:nvPr/>
        </p:nvSpPr>
        <p:spPr>
          <a:xfrm>
            <a:off x="8275320" y="192024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6" name="Text 14"/>
          <p:cNvSpPr txBox="1"/>
          <p:nvPr/>
        </p:nvSpPr>
        <p:spPr>
          <a:xfrm>
            <a:off x="8961120" y="1920240"/>
            <a:ext cx="2560320" cy="50292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Rends</a:t>
            </a:r>
            <a:endParaRPr lang="en-US" sz="2800" dirty="0"/>
          </a:p>
        </p:txBody>
      </p:sp>
      <p:sp>
        <p:nvSpPr>
          <p:cNvPr id="17" name="Text 15"/>
          <p:cNvSpPr txBox="1"/>
          <p:nvPr/>
        </p:nvSpPr>
        <p:spPr>
          <a:xfrm>
            <a:off x="8275320" y="2560320"/>
            <a:ext cx="3108960" cy="274320"/>
          </a:xfrm>
          <a:prstGeom prst="rect">
            <a:avLst/>
          </a:prstGeom>
          <a:noFill/>
          <a:ln/>
        </p:spPr>
        <p:txBody>
          <a:bodyPr wrap="square" lIns="0" tIns="0" rIns="0" bIns="0" rtlCol="0" anchor="t"/>
          <a:lstStyle/>
          <a:p>
            <a:pPr indent="0" marL="0">
              <a:buNone/>
            </a:pPr>
            <a:r>
              <a:rPr lang="en-US" sz="1400" i="1" dirty="0">
                <a:solidFill>
                  <a:schemeClr val="accent2"/>
                </a:solidFill>
              </a:rPr>
              <a:t>hāšēb</a:t>
            </a:r>
            <a:endParaRPr lang="en-US" sz="1400" dirty="0"/>
          </a:p>
        </p:txBody>
      </p:sp>
      <p:sp>
        <p:nvSpPr>
          <p:cNvPr id="18" name="Text 16"/>
          <p:cNvSpPr txBox="1"/>
          <p:nvPr/>
        </p:nvSpPr>
        <p:spPr>
          <a:xfrm>
            <a:off x="8275320" y="2907792"/>
            <a:ext cx="3154680" cy="1508760"/>
          </a:xfrm>
          <a:prstGeom prst="rect">
            <a:avLst/>
          </a:prstGeom>
          <a:noFill/>
          <a:ln/>
        </p:spPr>
        <p:txBody>
          <a:bodyPr wrap="square" lIns="0" tIns="0" rIns="0" bIns="0" rtlCol="0" anchor="t"/>
          <a:lstStyle/>
          <a:p>
            <a:pPr indent="0" marL="0">
              <a:buNone/>
            </a:pPr>
            <a:r>
              <a:rPr lang="en-US" sz="1500" dirty="0">
                <a:solidFill>
                  <a:schemeClr val="bg1"/>
                </a:solidFill>
              </a:rPr>
              <a:t>« aux orgueilleux selon leurs œuvres! » La réponse viendra au verset 23.</a:t>
            </a:r>
            <a:endParaRPr lang="en-US" sz="1500" dirty="0"/>
          </a:p>
        </p:txBody>
      </p:sp>
      <p:sp>
        <p:nvSpPr>
          <p:cNvPr id="19" name="Droit réservé"/>
          <p:cNvSpPr/>
          <p:nvPr/>
        </p:nvSpPr>
        <p:spPr>
          <a:xfrm>
            <a:off x="548640" y="4709160"/>
            <a:ext cx="11091672" cy="1463040"/>
          </a:xfrm>
          <a:prstGeom prst="roundRect">
            <a:avLst>
              <a:gd name="adj" fmla="val 5000"/>
            </a:avLst>
          </a:prstGeom>
          <a:solidFill>
            <a:schemeClr val="tx2"/>
          </a:solidFill>
          <a:ln/>
        </p:spPr>
      </p:sp>
      <p:sp>
        <p:nvSpPr>
          <p:cNvPr id="20" name="Refus"/>
          <p:cNvSpPr/>
          <p:nvPr/>
        </p:nvSpPr>
        <p:spPr>
          <a:xfrm>
            <a:off x="822960" y="4983480"/>
            <a:ext cx="2743200" cy="685800"/>
          </a:xfrm>
          <a:prstGeom prst="roundRect">
            <a:avLst>
              <a:gd name="adj" fmla="val 10667"/>
            </a:avLst>
          </a:prstGeom>
          <a:solidFill>
            <a:schemeClr val="tx1"/>
          </a:solidFill>
          <a:ln w="12700">
            <a:solidFill>
              <a:schemeClr val="accent6"/>
            </a:solidFill>
          </a:ln>
        </p:spPr>
        <p:txBody>
          <a:bodyPr wrap="square" lIns="1524" tIns="1524" rIns="1524" bIns="1524" rtlCol="0" anchor="ctr"/>
          <a:lstStyle/>
          <a:p>
            <a:pPr algn="ctr" indent="0" marL="0">
              <a:buNone/>
            </a:pPr>
            <a:r>
              <a:rPr lang="en-US" sz="1500" dirty="0">
                <a:solidFill>
                  <a:schemeClr val="bg1"/>
                </a:solidFill>
              </a:rPr>
              <a:t>Me faire justice moi-même</a:t>
            </a:r>
            <a:endParaRPr lang="en-US" sz="1500" dirty="0"/>
          </a:p>
        </p:txBody>
      </p:sp>
      <p:sp>
        <p:nvSpPr>
          <p:cNvPr id="21" name="Refus 1 disque"/>
          <p:cNvSpPr/>
          <p:nvPr/>
        </p:nvSpPr>
        <p:spPr>
          <a:xfrm>
            <a:off x="3657600" y="5029200"/>
            <a:ext cx="594360" cy="594360"/>
          </a:xfrm>
          <a:prstGeom prst="ellipse">
            <a:avLst/>
          </a:prstGeom>
          <a:solidFill>
            <a:schemeClr val="accent3"/>
          </a:solidFill>
          <a:ln/>
        </p:spPr>
      </p:sp>
      <p:sp>
        <p:nvSpPr>
          <p:cNvPr id="22" name="Refus 1 a"/>
          <p:cNvSpPr/>
          <p:nvPr/>
        </p:nvSpPr>
        <p:spPr>
          <a:xfrm>
            <a:off x="3835908" y="5207508"/>
            <a:ext cx="237744" cy="237744"/>
          </a:xfrm>
          <a:prstGeom prst="line">
            <a:avLst/>
          </a:prstGeom>
          <a:noFill/>
          <a:ln w="38100">
            <a:solidFill>
              <a:schemeClr val="bg1"/>
            </a:solidFill>
            <a:prstDash val="solid"/>
          </a:ln>
        </p:spPr>
      </p:sp>
      <p:sp>
        <p:nvSpPr>
          <p:cNvPr id="23" name="Refus 1 b"/>
          <p:cNvSpPr/>
          <p:nvPr/>
        </p:nvSpPr>
        <p:spPr>
          <a:xfrm flipH="1">
            <a:off x="3835908" y="5207508"/>
            <a:ext cx="237744" cy="237744"/>
          </a:xfrm>
          <a:prstGeom prst="line">
            <a:avLst/>
          </a:prstGeom>
          <a:noFill/>
          <a:ln w="38100">
            <a:solidFill>
              <a:schemeClr val="bg1"/>
            </a:solidFill>
            <a:prstDash val="solid"/>
          </a:ln>
        </p:spPr>
      </p:sp>
      <p:sp>
        <p:nvSpPr>
          <p:cNvPr id="24" name="Voie du psaume"/>
          <p:cNvSpPr/>
          <p:nvPr/>
        </p:nvSpPr>
        <p:spPr>
          <a:xfrm>
            <a:off x="4526280" y="4983480"/>
            <a:ext cx="3017520" cy="685800"/>
          </a:xfrm>
          <a:prstGeom prst="roundRect">
            <a:avLst>
              <a:gd name="adj" fmla="val 10667"/>
            </a:avLst>
          </a:prstGeom>
          <a:solidFill>
            <a:schemeClr val="accent1"/>
          </a:solidFill>
          <a:ln/>
        </p:spPr>
        <p:txBody>
          <a:bodyPr wrap="square" lIns="1524" tIns="1524" rIns="1524" bIns="1524" rtlCol="0" anchor="ctr"/>
          <a:lstStyle/>
          <a:p>
            <a:pPr algn="ctr" indent="0" marL="0">
              <a:buNone/>
            </a:pPr>
            <a:r>
              <a:rPr lang="en-US" sz="1500" b="1" dirty="0">
                <a:solidFill>
                  <a:schemeClr val="tx1"/>
                </a:solidFill>
              </a:rPr>
              <a:t>Remettre la cause au juge</a:t>
            </a:r>
            <a:endParaRPr lang="en-US" sz="1500" dirty="0"/>
          </a:p>
        </p:txBody>
      </p:sp>
      <p:sp>
        <p:nvSpPr>
          <p:cNvPr id="25" name="Voie 1 disque"/>
          <p:cNvSpPr/>
          <p:nvPr/>
        </p:nvSpPr>
        <p:spPr>
          <a:xfrm>
            <a:off x="7635240" y="5029200"/>
            <a:ext cx="594360" cy="594360"/>
          </a:xfrm>
          <a:prstGeom prst="ellipse">
            <a:avLst/>
          </a:prstGeom>
          <a:solidFill>
            <a:schemeClr val="accent1"/>
          </a:solidFill>
          <a:ln/>
        </p:spPr>
      </p:sp>
      <p:sp>
        <p:nvSpPr>
          <p:cNvPr id="26" name="Voie 1 trait"/>
          <p:cNvSpPr/>
          <p:nvPr/>
        </p:nvSpPr>
        <p:spPr>
          <a:xfrm>
            <a:off x="7754112" y="5177790"/>
            <a:ext cx="356616" cy="297180"/>
          </a:xfrm>
          <a:custGeom>
            <a:avLst/>
            <a:gdLst/>
            <a:ahLst/>
            <a:cxnLst/>
            <a:rect l="l" t="t" r="r" b="b"/>
            <a:pathLst>
              <a:path w="356616" h="297180">
                <a:moveTo>
                  <a:pt x="0" y="166421"/>
                </a:moveTo>
                <a:lnTo>
                  <a:pt x="118872" y="285293"/>
                </a:lnTo>
                <a:lnTo>
                  <a:pt x="356616" y="0"/>
                </a:lnTo>
              </a:path>
            </a:pathLst>
          </a:custGeom>
          <a:ln w="38100">
            <a:solidFill>
              <a:schemeClr val="tx1"/>
            </a:solidFill>
            <a:prstDash val="solid"/>
          </a:ln>
        </p:spPr>
      </p:sp>
      <p:sp>
        <p:nvSpPr>
          <p:cNvPr id="27" name="Text 25"/>
          <p:cNvSpPr txBox="1"/>
          <p:nvPr/>
        </p:nvSpPr>
        <p:spPr>
          <a:xfrm>
            <a:off x="8412480" y="4846320"/>
            <a:ext cx="3063240" cy="868680"/>
          </a:xfrm>
          <a:prstGeom prst="rect">
            <a:avLst/>
          </a:prstGeom>
          <a:noFill/>
          <a:ln/>
        </p:spPr>
        <p:txBody>
          <a:bodyPr wrap="square" lIns="0" tIns="0" rIns="0" bIns="0" rtlCol="0" anchor="t"/>
          <a:lstStyle/>
          <a:p>
            <a:pPr indent="0" marL="0">
              <a:buNone/>
            </a:pPr>
            <a:r>
              <a:rPr lang="en-US" sz="1500" i="1" dirty="0">
                <a:solidFill>
                  <a:schemeClr val="bg1"/>
                </a:solidFill>
              </a:rPr>
              <a:t>« A moi la vengeance et la rétribution, Quand leur pied chancellera! »</a:t>
            </a:r>
            <a:endParaRPr lang="en-US" sz="1500" dirty="0"/>
          </a:p>
        </p:txBody>
      </p:sp>
      <p:sp>
        <p:nvSpPr>
          <p:cNvPr id="28" name="Text 26"/>
          <p:cNvSpPr txBox="1"/>
          <p:nvPr/>
        </p:nvSpPr>
        <p:spPr>
          <a:xfrm>
            <a:off x="8412480" y="5742432"/>
            <a:ext cx="3063240" cy="274320"/>
          </a:xfrm>
          <a:prstGeom prst="rect">
            <a:avLst/>
          </a:prstGeom>
          <a:noFill/>
          <a:ln/>
        </p:spPr>
        <p:txBody>
          <a:bodyPr wrap="square" lIns="0" tIns="0" rIns="0" bIns="0" rtlCol="0" anchor="t"/>
          <a:lstStyle/>
          <a:p>
            <a:pPr indent="0" marL="0">
              <a:buNone/>
            </a:pPr>
            <a:r>
              <a:rPr lang="en-US" sz="1300" b="1" dirty="0">
                <a:solidFill>
                  <a:schemeClr val="accent2"/>
                </a:solidFill>
              </a:rPr>
              <a:t>Deutéronome 32.35</a:t>
            </a:r>
            <a:endParaRPr lang="en-US" sz="1300" dirty="0"/>
          </a:p>
        </p:txBody>
      </p:sp>
      <p:sp>
        <p:nvSpPr>
          <p:cNvPr id="29" name="Text 27"/>
          <p:cNvSpPr txBox="1"/>
          <p:nvPr/>
        </p:nvSpPr>
        <p:spPr>
          <a:xfrm>
            <a:off x="822960" y="5742432"/>
            <a:ext cx="7315200" cy="365760"/>
          </a:xfrm>
          <a:prstGeom prst="rect">
            <a:avLst/>
          </a:prstGeom>
          <a:noFill/>
          <a:ln/>
        </p:spPr>
        <p:txBody>
          <a:bodyPr wrap="square" lIns="0" tIns="0" rIns="0" bIns="0" rtlCol="0" anchor="t"/>
          <a:lstStyle/>
          <a:p>
            <a:pPr indent="0" marL="0">
              <a:buNone/>
            </a:pPr>
            <a:r>
              <a:rPr lang="en-US" sz="1300" dirty="0">
                <a:solidFill>
                  <a:schemeClr val="bg2"/>
                </a:solidFill>
              </a:rPr>
              <a:t>Il ne réclame pas un droit qu'il exercerait lui-même : il demande à l'Éternel d'exercer celui qu'il s'est réservé.</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0058400" cy="320040"/>
          </a:xfrm>
          <a:prstGeom prst="rect">
            <a:avLst/>
          </a:prstGeom>
          <a:noFill/>
          <a:ln/>
        </p:spPr>
        <p:txBody>
          <a:bodyPr wrap="square" lIns="0" tIns="0" rIns="0" bIns="0" rtlCol="0"/>
          <a:lstStyle/>
          <a:p>
            <a:pPr indent="0" marL="0">
              <a:buNone/>
            </a:pPr>
            <a:r>
              <a:rPr lang="en-US" sz="1300" b="1" spc="100" kern="0" dirty="0">
                <a:solidFill>
                  <a:schemeClr val="accent2"/>
                </a:solidFill>
              </a:rPr>
              <a:t>I · Le Dieu à qui l'on crie · 94.3-6 · texte seul</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 Jusqu'à quand » : ceux que la loi protégeait</a:t>
            </a:r>
            <a:endParaRPr lang="en-US" sz="3000" dirty="0"/>
          </a:p>
        </p:txBody>
      </p:sp>
      <p:sp>
        <p:nvSpPr>
          <p:cNvPr id="4" name="Question du verset 3"/>
          <p:cNvSpPr/>
          <p:nvPr/>
        </p:nvSpPr>
        <p:spPr>
          <a:xfrm>
            <a:off x="548640" y="1600200"/>
            <a:ext cx="11091672" cy="731520"/>
          </a:xfrm>
          <a:prstGeom prst="roundRect">
            <a:avLst>
              <a:gd name="adj" fmla="val 10000"/>
            </a:avLst>
          </a:prstGeom>
          <a:solidFill>
            <a:schemeClr val="tx2"/>
          </a:solidFill>
          <a:ln/>
        </p:spPr>
      </p:sp>
      <p:sp>
        <p:nvSpPr>
          <p:cNvPr id="5" name="Text 3"/>
          <p:cNvSpPr txBox="1"/>
          <p:nvPr/>
        </p:nvSpPr>
        <p:spPr>
          <a:xfrm>
            <a:off x="777240" y="1600200"/>
            <a:ext cx="10607040" cy="731520"/>
          </a:xfrm>
          <a:prstGeom prst="rect">
            <a:avLst/>
          </a:prstGeom>
          <a:noFill/>
          <a:ln/>
        </p:spPr>
        <p:txBody>
          <a:bodyPr wrap="square" lIns="0" tIns="0" rIns="0" bIns="0" rtlCol="0" anchor="ctr"/>
          <a:lstStyle/>
          <a:p>
            <a:pPr algn="ctr" indent="0" marL="0">
              <a:buNone/>
            </a:pPr>
            <a:r>
              <a:rPr lang="en-US" sz="2000" i="1" dirty="0">
                <a:solidFill>
                  <a:schemeClr val="bg1"/>
                </a:solidFill>
                <a:latin typeface="Cambria" pitchFamily="34" charset="0"/>
                <a:ea typeface="Cambria" pitchFamily="34" charset="-122"/>
                <a:cs typeface="Cambria" pitchFamily="34" charset="-120"/>
              </a:rPr>
              <a:t>« Jusqu'à quand les méchants, ô Eternel! Jusqu'à quand les méchants triompheront-ils? » (94.3)</a:t>
            </a:r>
            <a:endParaRPr lang="en-US" sz="2000" dirty="0"/>
          </a:p>
        </p:txBody>
      </p:sp>
      <p:sp>
        <p:nvSpPr>
          <p:cNvPr id="6" name="Les méchants"/>
          <p:cNvSpPr/>
          <p:nvPr/>
        </p:nvSpPr>
        <p:spPr>
          <a:xfrm>
            <a:off x="548640" y="2560320"/>
            <a:ext cx="5943600" cy="548640"/>
          </a:xfrm>
          <a:prstGeom prst="roundRect">
            <a:avLst>
              <a:gd name="adj" fmla="val 13333"/>
            </a:avLst>
          </a:prstGeom>
          <a:solidFill>
            <a:schemeClr val="accent3"/>
          </a:solidFill>
          <a:ln/>
        </p:spPr>
        <p:txBody>
          <a:bodyPr wrap="square" lIns="1524" tIns="1524" rIns="1524" bIns="1524" rtlCol="0" anchor="ctr"/>
          <a:lstStyle/>
          <a:p>
            <a:pPr algn="ctr" indent="0" marL="0">
              <a:buNone/>
            </a:pPr>
            <a:r>
              <a:rPr lang="en-US" sz="1600" b="1" dirty="0">
                <a:solidFill>
                  <a:schemeClr val="bg1"/>
                </a:solidFill>
              </a:rPr>
              <a:t>Les méchants : « ils parlent avec arrogance » (94.4)</a:t>
            </a:r>
            <a:endParaRPr lang="en-US" sz="1600" dirty="0"/>
          </a:p>
        </p:txBody>
      </p:sp>
      <p:sp>
        <p:nvSpPr>
          <p:cNvPr id="7" name="Écrasement la veuve"/>
          <p:cNvSpPr/>
          <p:nvPr/>
        </p:nvSpPr>
        <p:spPr>
          <a:xfrm>
            <a:off x="1490472" y="3200400"/>
            <a:ext cx="402336" cy="548640"/>
          </a:xfrm>
          <a:prstGeom prst="downArrow">
            <a:avLst/>
          </a:prstGeom>
          <a:solidFill>
            <a:schemeClr val="accent3"/>
          </a:solidFill>
          <a:ln/>
        </p:spPr>
      </p:sp>
      <p:sp>
        <p:nvSpPr>
          <p:cNvPr id="8" name="Victime la veuve tête"/>
          <p:cNvSpPr/>
          <p:nvPr/>
        </p:nvSpPr>
        <p:spPr>
          <a:xfrm>
            <a:off x="1489558" y="3840480"/>
            <a:ext cx="404165" cy="404165"/>
          </a:xfrm>
          <a:prstGeom prst="ellipse">
            <a:avLst/>
          </a:prstGeom>
          <a:solidFill>
            <a:schemeClr val="bg2"/>
          </a:solidFill>
          <a:ln/>
        </p:spPr>
      </p:sp>
      <p:sp>
        <p:nvSpPr>
          <p:cNvPr id="9" name="Victime la veuve buste"/>
          <p:cNvSpPr/>
          <p:nvPr/>
        </p:nvSpPr>
        <p:spPr>
          <a:xfrm>
            <a:off x="1335024" y="4299509"/>
            <a:ext cx="713232" cy="729691"/>
          </a:xfrm>
          <a:prstGeom prst="round2SameRect">
            <a:avLst/>
          </a:prstGeom>
          <a:solidFill>
            <a:schemeClr val="bg2"/>
          </a:solidFill>
          <a:ln/>
        </p:spPr>
      </p:sp>
      <p:sp>
        <p:nvSpPr>
          <p:cNvPr id="10" name="Text 8"/>
          <p:cNvSpPr txBox="1"/>
          <p:nvPr/>
        </p:nvSpPr>
        <p:spPr>
          <a:xfrm>
            <a:off x="822960" y="5102352"/>
            <a:ext cx="1737360" cy="320040"/>
          </a:xfrm>
          <a:prstGeom prst="rect">
            <a:avLst/>
          </a:prstGeom>
          <a:noFill/>
          <a:ln/>
        </p:spPr>
        <p:txBody>
          <a:bodyPr wrap="square" lIns="0" tIns="0" rIns="0" bIns="0" rtlCol="0" anchor="t"/>
          <a:lstStyle/>
          <a:p>
            <a:pPr algn="ctr" indent="0" marL="0">
              <a:buNone/>
            </a:pPr>
            <a:r>
              <a:rPr lang="en-US" sz="1500" b="1" dirty="0">
                <a:solidFill>
                  <a:schemeClr val="bg1"/>
                </a:solidFill>
              </a:rPr>
              <a:t>la veuve</a:t>
            </a:r>
            <a:endParaRPr lang="en-US" sz="1500" dirty="0"/>
          </a:p>
        </p:txBody>
      </p:sp>
      <p:sp>
        <p:nvSpPr>
          <p:cNvPr id="11" name="Écrasement l'étranger"/>
          <p:cNvSpPr/>
          <p:nvPr/>
        </p:nvSpPr>
        <p:spPr>
          <a:xfrm>
            <a:off x="3319272" y="3200400"/>
            <a:ext cx="402336" cy="548640"/>
          </a:xfrm>
          <a:prstGeom prst="downArrow">
            <a:avLst/>
          </a:prstGeom>
          <a:solidFill>
            <a:schemeClr val="accent3"/>
          </a:solidFill>
          <a:ln/>
        </p:spPr>
      </p:sp>
      <p:sp>
        <p:nvSpPr>
          <p:cNvPr id="12" name="Victime l'étranger tête"/>
          <p:cNvSpPr/>
          <p:nvPr/>
        </p:nvSpPr>
        <p:spPr>
          <a:xfrm>
            <a:off x="3318358" y="3840480"/>
            <a:ext cx="404165" cy="404165"/>
          </a:xfrm>
          <a:prstGeom prst="ellipse">
            <a:avLst/>
          </a:prstGeom>
          <a:solidFill>
            <a:schemeClr val="bg2"/>
          </a:solidFill>
          <a:ln/>
        </p:spPr>
      </p:sp>
      <p:sp>
        <p:nvSpPr>
          <p:cNvPr id="13" name="Victime l'étranger buste"/>
          <p:cNvSpPr/>
          <p:nvPr/>
        </p:nvSpPr>
        <p:spPr>
          <a:xfrm>
            <a:off x="3163824" y="4299509"/>
            <a:ext cx="713232" cy="729691"/>
          </a:xfrm>
          <a:prstGeom prst="round2SameRect">
            <a:avLst/>
          </a:prstGeom>
          <a:solidFill>
            <a:schemeClr val="bg2"/>
          </a:solidFill>
          <a:ln/>
        </p:spPr>
      </p:sp>
      <p:sp>
        <p:nvSpPr>
          <p:cNvPr id="14" name="Text 12"/>
          <p:cNvSpPr txBox="1"/>
          <p:nvPr/>
        </p:nvSpPr>
        <p:spPr>
          <a:xfrm>
            <a:off x="2651760" y="5102352"/>
            <a:ext cx="1737360" cy="320040"/>
          </a:xfrm>
          <a:prstGeom prst="rect">
            <a:avLst/>
          </a:prstGeom>
          <a:noFill/>
          <a:ln/>
        </p:spPr>
        <p:txBody>
          <a:bodyPr wrap="square" lIns="0" tIns="0" rIns="0" bIns="0" rtlCol="0" anchor="t"/>
          <a:lstStyle/>
          <a:p>
            <a:pPr algn="ctr" indent="0" marL="0">
              <a:buNone/>
            </a:pPr>
            <a:r>
              <a:rPr lang="en-US" sz="1500" b="1" dirty="0">
                <a:solidFill>
                  <a:schemeClr val="bg1"/>
                </a:solidFill>
              </a:rPr>
              <a:t>l'étranger</a:t>
            </a:r>
            <a:endParaRPr lang="en-US" sz="1500" dirty="0"/>
          </a:p>
        </p:txBody>
      </p:sp>
      <p:sp>
        <p:nvSpPr>
          <p:cNvPr id="15" name="Écrasement les orphelins"/>
          <p:cNvSpPr/>
          <p:nvPr/>
        </p:nvSpPr>
        <p:spPr>
          <a:xfrm>
            <a:off x="5148072" y="3200400"/>
            <a:ext cx="402336" cy="548640"/>
          </a:xfrm>
          <a:prstGeom prst="downArrow">
            <a:avLst/>
          </a:prstGeom>
          <a:solidFill>
            <a:schemeClr val="accent3"/>
          </a:solidFill>
          <a:ln/>
        </p:spPr>
      </p:sp>
      <p:sp>
        <p:nvSpPr>
          <p:cNvPr id="16" name="Victime les orphelins tête"/>
          <p:cNvSpPr/>
          <p:nvPr/>
        </p:nvSpPr>
        <p:spPr>
          <a:xfrm>
            <a:off x="5147158" y="3840480"/>
            <a:ext cx="404165" cy="404165"/>
          </a:xfrm>
          <a:prstGeom prst="ellipse">
            <a:avLst/>
          </a:prstGeom>
          <a:solidFill>
            <a:schemeClr val="bg2"/>
          </a:solidFill>
          <a:ln/>
        </p:spPr>
      </p:sp>
      <p:sp>
        <p:nvSpPr>
          <p:cNvPr id="17" name="Victime les orphelins buste"/>
          <p:cNvSpPr/>
          <p:nvPr/>
        </p:nvSpPr>
        <p:spPr>
          <a:xfrm>
            <a:off x="4992624" y="4299509"/>
            <a:ext cx="713232" cy="729691"/>
          </a:xfrm>
          <a:prstGeom prst="round2SameRect">
            <a:avLst/>
          </a:prstGeom>
          <a:solidFill>
            <a:schemeClr val="bg2"/>
          </a:solidFill>
          <a:ln/>
        </p:spPr>
      </p:sp>
      <p:sp>
        <p:nvSpPr>
          <p:cNvPr id="18" name="Text 16"/>
          <p:cNvSpPr txBox="1"/>
          <p:nvPr/>
        </p:nvSpPr>
        <p:spPr>
          <a:xfrm>
            <a:off x="4480560" y="5102352"/>
            <a:ext cx="1737360" cy="320040"/>
          </a:xfrm>
          <a:prstGeom prst="rect">
            <a:avLst/>
          </a:prstGeom>
          <a:noFill/>
          <a:ln/>
        </p:spPr>
        <p:txBody>
          <a:bodyPr wrap="square" lIns="0" tIns="0" rIns="0" bIns="0" rtlCol="0" anchor="t"/>
          <a:lstStyle/>
          <a:p>
            <a:pPr algn="ctr" indent="0" marL="0">
              <a:buNone/>
            </a:pPr>
            <a:r>
              <a:rPr lang="en-US" sz="1500" b="1" dirty="0">
                <a:solidFill>
                  <a:schemeClr val="bg1"/>
                </a:solidFill>
              </a:rPr>
              <a:t>les orphelins</a:t>
            </a:r>
            <a:endParaRPr lang="en-US" sz="1500" dirty="0"/>
          </a:p>
        </p:txBody>
      </p:sp>
      <p:sp>
        <p:nvSpPr>
          <p:cNvPr id="19" name="Accolade ton peuple"/>
          <p:cNvSpPr/>
          <p:nvPr/>
        </p:nvSpPr>
        <p:spPr>
          <a:xfrm>
            <a:off x="822960" y="5559552"/>
            <a:ext cx="5486400" cy="0"/>
          </a:xfrm>
          <a:prstGeom prst="line">
            <a:avLst/>
          </a:prstGeom>
          <a:noFill/>
          <a:ln w="25400">
            <a:solidFill>
              <a:schemeClr val="accent2"/>
            </a:solidFill>
            <a:prstDash val="solid"/>
          </a:ln>
        </p:spPr>
      </p:sp>
      <p:sp>
        <p:nvSpPr>
          <p:cNvPr id="20" name="Text 18"/>
          <p:cNvSpPr txBox="1"/>
          <p:nvPr/>
        </p:nvSpPr>
        <p:spPr>
          <a:xfrm>
            <a:off x="548640" y="5650992"/>
            <a:ext cx="5943600" cy="502920"/>
          </a:xfrm>
          <a:prstGeom prst="rect">
            <a:avLst/>
          </a:prstGeom>
          <a:noFill/>
          <a:ln/>
        </p:spPr>
        <p:txBody>
          <a:bodyPr wrap="square" lIns="0" tIns="0" rIns="0" bIns="0" rtlCol="0" anchor="t"/>
          <a:lstStyle/>
          <a:p>
            <a:pPr algn="ctr" indent="0" marL="0">
              <a:buNone/>
            </a:pPr>
            <a:r>
              <a:rPr lang="en-US" sz="1400" dirty="0">
                <a:solidFill>
                  <a:schemeClr val="accent2"/>
                </a:solidFill>
              </a:rPr>
              <a:t>« ils écrasent ton peuple, Ils oppriment ton héritage » (94.5) : le psalmiste dit « ton ».</a:t>
            </a:r>
            <a:endParaRPr lang="en-US" sz="1400" dirty="0"/>
          </a:p>
        </p:txBody>
      </p:sp>
      <p:sp>
        <p:nvSpPr>
          <p:cNvPr id="21" name="La garde de l'Éternel"/>
          <p:cNvSpPr/>
          <p:nvPr/>
        </p:nvSpPr>
        <p:spPr>
          <a:xfrm>
            <a:off x="6812280" y="2560320"/>
            <a:ext cx="4828032" cy="3611880"/>
          </a:xfrm>
          <a:prstGeom prst="roundRect">
            <a:avLst>
              <a:gd name="adj" fmla="val 2025"/>
            </a:avLst>
          </a:prstGeom>
          <a:solidFill>
            <a:schemeClr val="tx2"/>
          </a:solidFill>
          <a:ln/>
        </p:spPr>
      </p:sp>
      <p:sp>
        <p:nvSpPr>
          <p:cNvPr id="22" name="Text 20"/>
          <p:cNvSpPr txBox="1"/>
          <p:nvPr/>
        </p:nvSpPr>
        <p:spPr>
          <a:xfrm>
            <a:off x="7086600" y="2743200"/>
            <a:ext cx="4297680" cy="685800"/>
          </a:xfrm>
          <a:prstGeom prst="rect">
            <a:avLst/>
          </a:prstGeom>
          <a:noFill/>
          <a:ln/>
        </p:spPr>
        <p:txBody>
          <a:bodyPr wrap="square" lIns="0" tIns="0" rIns="0" bIns="0" rtlCol="0" anchor="t"/>
          <a:lstStyle/>
          <a:p>
            <a:pPr indent="0" marL="0">
              <a:buNone/>
            </a:pPr>
            <a:r>
              <a:rPr lang="en-US" sz="1900" b="1" dirty="0">
                <a:solidFill>
                  <a:schemeClr val="accent2"/>
                </a:solidFill>
                <a:latin typeface="Cambria" pitchFamily="34" charset="0"/>
                <a:ea typeface="Cambria" pitchFamily="34" charset="-122"/>
                <a:cs typeface="Cambria" pitchFamily="34" charset="-120"/>
              </a:rPr>
              <a:t>La loi les plaçait sous la garde de l'Éternel</a:t>
            </a:r>
            <a:endParaRPr lang="en-US" sz="1900" dirty="0"/>
          </a:p>
        </p:txBody>
      </p:sp>
      <p:sp>
        <p:nvSpPr>
          <p:cNvPr id="23" name="Text 21"/>
          <p:cNvSpPr txBox="1"/>
          <p:nvPr/>
        </p:nvSpPr>
        <p:spPr>
          <a:xfrm>
            <a:off x="7086600" y="3520440"/>
            <a:ext cx="4297680" cy="548640"/>
          </a:xfrm>
          <a:prstGeom prst="rect">
            <a:avLst/>
          </a:prstGeom>
          <a:noFill/>
          <a:ln/>
        </p:spPr>
        <p:txBody>
          <a:bodyPr wrap="square" lIns="0" tIns="0" rIns="0" bIns="0" rtlCol="0" anchor="t"/>
          <a:lstStyle/>
          <a:p>
            <a:pPr indent="0" marL="0">
              <a:buNone/>
            </a:pPr>
            <a:r>
              <a:rPr lang="en-US" sz="1600" i="1" dirty="0">
                <a:solidFill>
                  <a:schemeClr val="bg1"/>
                </a:solidFill>
              </a:rPr>
              <a:t>« Tu ne maltraiteras point l'étranger »</a:t>
            </a:r>
            <a:endParaRPr lang="en-US" sz="1600" dirty="0"/>
          </a:p>
        </p:txBody>
      </p:sp>
      <p:sp>
        <p:nvSpPr>
          <p:cNvPr id="24" name="Text 22"/>
          <p:cNvSpPr txBox="1"/>
          <p:nvPr/>
        </p:nvSpPr>
        <p:spPr>
          <a:xfrm>
            <a:off x="7086600" y="4023360"/>
            <a:ext cx="4297680" cy="274320"/>
          </a:xfrm>
          <a:prstGeom prst="rect">
            <a:avLst/>
          </a:prstGeom>
          <a:noFill/>
          <a:ln/>
        </p:spPr>
        <p:txBody>
          <a:bodyPr wrap="square" lIns="0" tIns="0" rIns="0" bIns="0" rtlCol="0" anchor="t"/>
          <a:lstStyle/>
          <a:p>
            <a:pPr indent="0" marL="0">
              <a:buNone/>
            </a:pPr>
            <a:r>
              <a:rPr lang="en-US" sz="1300" b="1" dirty="0">
                <a:solidFill>
                  <a:schemeClr val="accent2"/>
                </a:solidFill>
              </a:rPr>
              <a:t>Exode 22.21</a:t>
            </a:r>
            <a:endParaRPr lang="en-US" sz="1300" dirty="0"/>
          </a:p>
        </p:txBody>
      </p:sp>
      <p:sp>
        <p:nvSpPr>
          <p:cNvPr id="25" name="Text 23"/>
          <p:cNvSpPr txBox="1"/>
          <p:nvPr/>
        </p:nvSpPr>
        <p:spPr>
          <a:xfrm>
            <a:off x="7086600" y="4389120"/>
            <a:ext cx="4297680" cy="548640"/>
          </a:xfrm>
          <a:prstGeom prst="rect">
            <a:avLst/>
          </a:prstGeom>
          <a:noFill/>
          <a:ln/>
        </p:spPr>
        <p:txBody>
          <a:bodyPr wrap="square" lIns="0" tIns="0" rIns="0" bIns="0" rtlCol="0" anchor="t"/>
          <a:lstStyle/>
          <a:p>
            <a:pPr indent="0" marL="0">
              <a:buNone/>
            </a:pPr>
            <a:r>
              <a:rPr lang="en-US" sz="1600" i="1" dirty="0">
                <a:solidFill>
                  <a:schemeClr val="bg1"/>
                </a:solidFill>
              </a:rPr>
              <a:t>« Tu n'affligeras point la veuve, ni l'orphelin »</a:t>
            </a:r>
            <a:endParaRPr lang="en-US" sz="1600" dirty="0"/>
          </a:p>
        </p:txBody>
      </p:sp>
      <p:sp>
        <p:nvSpPr>
          <p:cNvPr id="26" name="Text 24"/>
          <p:cNvSpPr txBox="1"/>
          <p:nvPr/>
        </p:nvSpPr>
        <p:spPr>
          <a:xfrm>
            <a:off x="7086600" y="4892040"/>
            <a:ext cx="4297680" cy="274320"/>
          </a:xfrm>
          <a:prstGeom prst="rect">
            <a:avLst/>
          </a:prstGeom>
          <a:noFill/>
          <a:ln/>
        </p:spPr>
        <p:txBody>
          <a:bodyPr wrap="square" lIns="0" tIns="0" rIns="0" bIns="0" rtlCol="0" anchor="t"/>
          <a:lstStyle/>
          <a:p>
            <a:pPr indent="0" marL="0">
              <a:buNone/>
            </a:pPr>
            <a:r>
              <a:rPr lang="en-US" sz="1300" b="1" dirty="0">
                <a:solidFill>
                  <a:schemeClr val="accent2"/>
                </a:solidFill>
              </a:rPr>
              <a:t>Exode 22.22</a:t>
            </a:r>
            <a:endParaRPr lang="en-US" sz="1300" dirty="0"/>
          </a:p>
        </p:txBody>
      </p:sp>
      <p:sp>
        <p:nvSpPr>
          <p:cNvPr id="27" name="Text 25"/>
          <p:cNvSpPr txBox="1"/>
          <p:nvPr/>
        </p:nvSpPr>
        <p:spPr>
          <a:xfrm>
            <a:off x="7086600" y="5257800"/>
            <a:ext cx="4297680" cy="548640"/>
          </a:xfrm>
          <a:prstGeom prst="rect">
            <a:avLst/>
          </a:prstGeom>
          <a:noFill/>
          <a:ln/>
        </p:spPr>
        <p:txBody>
          <a:bodyPr wrap="square" lIns="0" tIns="0" rIns="0" bIns="0" rtlCol="0" anchor="t"/>
          <a:lstStyle/>
          <a:p>
            <a:pPr indent="0" marL="0">
              <a:buNone/>
            </a:pPr>
            <a:r>
              <a:rPr lang="en-US" sz="1600" i="1" dirty="0">
                <a:solidFill>
                  <a:schemeClr val="bg1"/>
                </a:solidFill>
              </a:rPr>
              <a:t>avec la promesse : « j'entendrai leurs cris »</a:t>
            </a:r>
            <a:endParaRPr lang="en-US" sz="1600" dirty="0"/>
          </a:p>
        </p:txBody>
      </p:sp>
      <p:sp>
        <p:nvSpPr>
          <p:cNvPr id="28" name="Text 26"/>
          <p:cNvSpPr txBox="1"/>
          <p:nvPr/>
        </p:nvSpPr>
        <p:spPr>
          <a:xfrm>
            <a:off x="7086600" y="5760720"/>
            <a:ext cx="4297680" cy="274320"/>
          </a:xfrm>
          <a:prstGeom prst="rect">
            <a:avLst/>
          </a:prstGeom>
          <a:noFill/>
          <a:ln/>
        </p:spPr>
        <p:txBody>
          <a:bodyPr wrap="square" lIns="0" tIns="0" rIns="0" bIns="0" rtlCol="0" anchor="t"/>
          <a:lstStyle/>
          <a:p>
            <a:pPr indent="0" marL="0">
              <a:buNone/>
            </a:pPr>
            <a:r>
              <a:rPr lang="en-US" sz="1300" b="1" dirty="0">
                <a:solidFill>
                  <a:schemeClr val="accent2"/>
                </a:solidFill>
              </a:rPr>
              <a:t>Exode 22.23</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0058400" cy="320040"/>
          </a:xfrm>
          <a:prstGeom prst="rect">
            <a:avLst/>
          </a:prstGeom>
          <a:noFill/>
          <a:ln/>
        </p:spPr>
        <p:txBody>
          <a:bodyPr wrap="square" lIns="0" tIns="0" rIns="0" bIns="0" rtlCol="0"/>
          <a:lstStyle/>
          <a:p>
            <a:pPr indent="0" marL="0">
              <a:buNone/>
            </a:pPr>
            <a:r>
              <a:rPr lang="en-US" sz="1300" b="1" spc="100" kern="0" dirty="0">
                <a:solidFill>
                  <a:schemeClr val="accent2"/>
                </a:solidFill>
              </a:rPr>
              <a:t>I · Le Dieu à qui l'on crie · 94.7</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Dit de Dieu, ou dit à Dieu</a:t>
            </a:r>
            <a:endParaRPr lang="en-US" sz="3000" dirty="0"/>
          </a:p>
        </p:txBody>
      </p:sp>
      <p:sp>
        <p:nvSpPr>
          <p:cNvPr id="4" name="Voie 1"/>
          <p:cNvSpPr/>
          <p:nvPr/>
        </p:nvSpPr>
        <p:spPr>
          <a:xfrm>
            <a:off x="548640" y="1645920"/>
            <a:ext cx="5394960" cy="3200400"/>
          </a:xfrm>
          <a:prstGeom prst="roundRect">
            <a:avLst>
              <a:gd name="adj" fmla="val 2286"/>
            </a:avLst>
          </a:prstGeom>
          <a:solidFill>
            <a:schemeClr val="tx2"/>
          </a:solidFill>
          <a:ln/>
        </p:spPr>
      </p:sp>
      <p:sp>
        <p:nvSpPr>
          <p:cNvPr id="5" name="Text 3"/>
          <p:cNvSpPr txBox="1"/>
          <p:nvPr/>
        </p:nvSpPr>
        <p:spPr>
          <a:xfrm>
            <a:off x="822960" y="1783080"/>
            <a:ext cx="4846320" cy="457200"/>
          </a:xfrm>
          <a:prstGeom prst="rect">
            <a:avLst/>
          </a:prstGeom>
          <a:noFill/>
          <a:ln/>
        </p:spPr>
        <p:txBody>
          <a:bodyPr wrap="square" lIns="0" tIns="0" rIns="0" bIns="0" rtlCol="0" anchor="t"/>
          <a:lstStyle/>
          <a:p>
            <a:pPr indent="0" marL="0">
              <a:buNone/>
            </a:pPr>
            <a:r>
              <a:rPr lang="en-US" sz="2100" b="1" dirty="0">
                <a:solidFill>
                  <a:schemeClr val="accent2"/>
                </a:solidFill>
                <a:latin typeface="Cambria" pitchFamily="34" charset="0"/>
                <a:ea typeface="Cambria" pitchFamily="34" charset="-122"/>
                <a:cs typeface="Cambria" pitchFamily="34" charset="-120"/>
              </a:rPr>
              <a:t>Les méchants le disent DE Dieu</a:t>
            </a:r>
            <a:endParaRPr lang="en-US" sz="2100" dirty="0"/>
          </a:p>
        </p:txBody>
      </p:sp>
      <p:sp>
        <p:nvSpPr>
          <p:cNvPr id="6" name="Personnage 1 tête"/>
          <p:cNvSpPr/>
          <p:nvPr/>
        </p:nvSpPr>
        <p:spPr>
          <a:xfrm>
            <a:off x="1108253" y="2514600"/>
            <a:ext cx="435254" cy="435254"/>
          </a:xfrm>
          <a:prstGeom prst="ellipse">
            <a:avLst/>
          </a:prstGeom>
          <a:solidFill>
            <a:schemeClr val="bg2"/>
          </a:solidFill>
          <a:ln/>
        </p:spPr>
      </p:sp>
      <p:sp>
        <p:nvSpPr>
          <p:cNvPr id="7" name="Personnage 1 buste"/>
          <p:cNvSpPr/>
          <p:nvPr/>
        </p:nvSpPr>
        <p:spPr>
          <a:xfrm>
            <a:off x="941832" y="3004718"/>
            <a:ext cx="768096" cy="790042"/>
          </a:xfrm>
          <a:prstGeom prst="round2SameRect">
            <a:avLst/>
          </a:prstGeom>
          <a:solidFill>
            <a:schemeClr val="bg2"/>
          </a:solidFill>
          <a:ln/>
        </p:spPr>
      </p:sp>
      <p:sp>
        <p:nvSpPr>
          <p:cNvPr id="8" name="Pointe de bulle 1"/>
          <p:cNvSpPr/>
          <p:nvPr/>
        </p:nvSpPr>
        <p:spPr>
          <a:xfrm rot="16200000">
            <a:off x="1965960" y="2926080"/>
            <a:ext cx="274320" cy="320040"/>
          </a:xfrm>
          <a:prstGeom prst="triangle">
            <a:avLst/>
          </a:prstGeom>
          <a:solidFill>
            <a:schemeClr val="accent3"/>
          </a:solidFill>
          <a:ln/>
        </p:spPr>
      </p:sp>
      <p:sp>
        <p:nvSpPr>
          <p:cNvPr id="9" name="Bulle 1"/>
          <p:cNvSpPr/>
          <p:nvPr/>
        </p:nvSpPr>
        <p:spPr>
          <a:xfrm>
            <a:off x="2240280" y="2423160"/>
            <a:ext cx="3520440" cy="1463040"/>
          </a:xfrm>
          <a:prstGeom prst="roundRect">
            <a:avLst>
              <a:gd name="adj" fmla="val 7500"/>
            </a:avLst>
          </a:prstGeom>
          <a:solidFill>
            <a:schemeClr val="accent3"/>
          </a:solidFill>
          <a:ln/>
        </p:spPr>
        <p:txBody>
          <a:bodyPr wrap="square" lIns="1524" tIns="1524" rIns="1524" bIns="1524" rtlCol="0" anchor="ctr"/>
          <a:lstStyle/>
          <a:p>
            <a:pPr algn="l" indent="0" marL="0">
              <a:buNone/>
            </a:pPr>
            <a:r>
              <a:rPr lang="en-US" sz="1500" i="1" dirty="0">
                <a:solidFill>
                  <a:schemeClr val="bg1"/>
                </a:solidFill>
              </a:rPr>
              <a:t>« Et ils disent: L'Eternel ne regarde pas, Le Dieu de Jacob ne fait pas attention! » (94.7)</a:t>
            </a:r>
            <a:endParaRPr lang="en-US" sz="1500" dirty="0"/>
          </a:p>
        </p:txBody>
      </p:sp>
      <p:sp>
        <p:nvSpPr>
          <p:cNvPr id="10" name="Issue 1"/>
          <p:cNvSpPr/>
          <p:nvPr/>
        </p:nvSpPr>
        <p:spPr>
          <a:xfrm>
            <a:off x="822960" y="4114800"/>
            <a:ext cx="4846320" cy="502920"/>
          </a:xfrm>
          <a:prstGeom prst="roundRect">
            <a:avLst>
              <a:gd name="adj" fmla="val 14545"/>
            </a:avLst>
          </a:prstGeom>
          <a:solidFill>
            <a:schemeClr val="tx1"/>
          </a:solidFill>
          <a:ln w="15875">
            <a:solidFill>
              <a:schemeClr val="accent6"/>
            </a:solidFill>
          </a:ln>
        </p:spPr>
        <p:txBody>
          <a:bodyPr wrap="square" lIns="1524" tIns="1524" rIns="1524" bIns="1524" rtlCol="0" anchor="ctr"/>
          <a:lstStyle/>
          <a:p>
            <a:pPr algn="ctr" indent="0" marL="0">
              <a:buNone/>
            </a:pPr>
            <a:r>
              <a:rPr lang="en-US" sz="1600" b="1" dirty="0">
                <a:solidFill>
                  <a:schemeClr val="bg1"/>
                </a:solidFill>
              </a:rPr>
              <a:t>Conclusion : ils peuvent tout</a:t>
            </a:r>
            <a:endParaRPr lang="en-US" sz="1600" dirty="0"/>
          </a:p>
        </p:txBody>
      </p:sp>
      <p:sp>
        <p:nvSpPr>
          <p:cNvPr id="11" name="Voie 2"/>
          <p:cNvSpPr/>
          <p:nvPr/>
        </p:nvSpPr>
        <p:spPr>
          <a:xfrm>
            <a:off x="6245352" y="1645920"/>
            <a:ext cx="5394960" cy="3200400"/>
          </a:xfrm>
          <a:prstGeom prst="roundRect">
            <a:avLst>
              <a:gd name="adj" fmla="val 2286"/>
            </a:avLst>
          </a:prstGeom>
          <a:solidFill>
            <a:schemeClr val="tx2"/>
          </a:solidFill>
          <a:ln/>
        </p:spPr>
      </p:sp>
      <p:sp>
        <p:nvSpPr>
          <p:cNvPr id="12" name="Text 10"/>
          <p:cNvSpPr txBox="1"/>
          <p:nvPr/>
        </p:nvSpPr>
        <p:spPr>
          <a:xfrm>
            <a:off x="6519672" y="1783080"/>
            <a:ext cx="4846320" cy="457200"/>
          </a:xfrm>
          <a:prstGeom prst="rect">
            <a:avLst/>
          </a:prstGeom>
          <a:noFill/>
          <a:ln/>
        </p:spPr>
        <p:txBody>
          <a:bodyPr wrap="square" lIns="0" tIns="0" rIns="0" bIns="0" rtlCol="0" anchor="t"/>
          <a:lstStyle/>
          <a:p>
            <a:pPr indent="0" marL="0">
              <a:buNone/>
            </a:pPr>
            <a:r>
              <a:rPr lang="en-US" sz="2100" b="1" dirty="0">
                <a:solidFill>
                  <a:schemeClr val="accent2"/>
                </a:solidFill>
                <a:latin typeface="Cambria" pitchFamily="34" charset="0"/>
                <a:ea typeface="Cambria" pitchFamily="34" charset="-122"/>
                <a:cs typeface="Cambria" pitchFamily="34" charset="-120"/>
              </a:rPr>
              <a:t>Le psalmiste le dit À Dieu</a:t>
            </a:r>
            <a:endParaRPr lang="en-US" sz="2100" dirty="0"/>
          </a:p>
        </p:txBody>
      </p:sp>
      <p:sp>
        <p:nvSpPr>
          <p:cNvPr id="13" name="Personnage 2 tête"/>
          <p:cNvSpPr/>
          <p:nvPr/>
        </p:nvSpPr>
        <p:spPr>
          <a:xfrm>
            <a:off x="6804965" y="2514600"/>
            <a:ext cx="435254" cy="435254"/>
          </a:xfrm>
          <a:prstGeom prst="ellipse">
            <a:avLst/>
          </a:prstGeom>
          <a:solidFill>
            <a:schemeClr val="bg1"/>
          </a:solidFill>
          <a:ln/>
        </p:spPr>
      </p:sp>
      <p:sp>
        <p:nvSpPr>
          <p:cNvPr id="14" name="Personnage 2 buste"/>
          <p:cNvSpPr/>
          <p:nvPr/>
        </p:nvSpPr>
        <p:spPr>
          <a:xfrm>
            <a:off x="6638544" y="3004718"/>
            <a:ext cx="768096" cy="790042"/>
          </a:xfrm>
          <a:prstGeom prst="round2SameRect">
            <a:avLst/>
          </a:prstGeom>
          <a:solidFill>
            <a:schemeClr val="bg1"/>
          </a:solidFill>
          <a:ln/>
        </p:spPr>
      </p:sp>
      <p:sp>
        <p:nvSpPr>
          <p:cNvPr id="15" name="Pointe de bulle 2"/>
          <p:cNvSpPr/>
          <p:nvPr/>
        </p:nvSpPr>
        <p:spPr>
          <a:xfrm rot="16200000">
            <a:off x="7662672" y="2926080"/>
            <a:ext cx="274320" cy="320040"/>
          </a:xfrm>
          <a:prstGeom prst="triangle">
            <a:avLst/>
          </a:prstGeom>
          <a:solidFill>
            <a:schemeClr val="accent1"/>
          </a:solidFill>
          <a:ln/>
        </p:spPr>
      </p:sp>
      <p:sp>
        <p:nvSpPr>
          <p:cNvPr id="16" name="Bulle 2"/>
          <p:cNvSpPr/>
          <p:nvPr/>
        </p:nvSpPr>
        <p:spPr>
          <a:xfrm>
            <a:off x="7936992" y="2423160"/>
            <a:ext cx="3520440" cy="1463040"/>
          </a:xfrm>
          <a:prstGeom prst="roundRect">
            <a:avLst>
              <a:gd name="adj" fmla="val 7500"/>
            </a:avLst>
          </a:prstGeom>
          <a:solidFill>
            <a:schemeClr val="accent1"/>
          </a:solidFill>
          <a:ln/>
        </p:spPr>
        <p:txBody>
          <a:bodyPr wrap="square" lIns="1524" tIns="1524" rIns="1524" bIns="1524" rtlCol="0" anchor="ctr"/>
          <a:lstStyle/>
          <a:p>
            <a:pPr algn="l" indent="0" marL="0">
              <a:buNone/>
            </a:pPr>
            <a:r>
              <a:rPr lang="en-US" sz="1500" i="1" dirty="0">
                <a:solidFill>
                  <a:schemeClr val="tx1"/>
                </a:solidFill>
              </a:rPr>
              <a:t>« Jusqu'à quand les méchants, ô Eternel! » (94.3)  « Eternel! ils écrasent ton peuple » (94.5)</a:t>
            </a:r>
            <a:endParaRPr lang="en-US" sz="1500" dirty="0"/>
          </a:p>
        </p:txBody>
      </p:sp>
      <p:sp>
        <p:nvSpPr>
          <p:cNvPr id="17" name="Issue 2"/>
          <p:cNvSpPr/>
          <p:nvPr/>
        </p:nvSpPr>
        <p:spPr>
          <a:xfrm>
            <a:off x="6519672" y="4114800"/>
            <a:ext cx="4846320" cy="502920"/>
          </a:xfrm>
          <a:prstGeom prst="roundRect">
            <a:avLst>
              <a:gd name="adj" fmla="val 14545"/>
            </a:avLst>
          </a:prstGeom>
          <a:solidFill>
            <a:schemeClr val="tx1"/>
          </a:solidFill>
          <a:ln w="15875">
            <a:solidFill>
              <a:schemeClr val="accent1"/>
            </a:solidFill>
          </a:ln>
        </p:spPr>
        <p:txBody>
          <a:bodyPr wrap="square" lIns="1524" tIns="1524" rIns="1524" bIns="1524" rtlCol="0" anchor="ctr"/>
          <a:lstStyle/>
          <a:p>
            <a:pPr algn="ctr" indent="0" marL="0">
              <a:buNone/>
            </a:pPr>
            <a:r>
              <a:rPr lang="en-US" sz="1600" b="1" dirty="0">
                <a:solidFill>
                  <a:schemeClr val="bg1"/>
                </a:solidFill>
              </a:rPr>
              <a:t>Sa plainte reste une prière</a:t>
            </a:r>
            <a:endParaRPr lang="en-US" sz="1600" dirty="0"/>
          </a:p>
        </p:txBody>
      </p:sp>
      <p:sp>
        <p:nvSpPr>
          <p:cNvPr id="18" name="Note sur 94.7"/>
          <p:cNvSpPr/>
          <p:nvPr/>
        </p:nvSpPr>
        <p:spPr>
          <a:xfrm>
            <a:off x="548640" y="5074920"/>
            <a:ext cx="6858000" cy="1097280"/>
          </a:xfrm>
          <a:prstGeom prst="roundRect">
            <a:avLst>
              <a:gd name="adj" fmla="val 6667"/>
            </a:avLst>
          </a:prstGeom>
          <a:solidFill>
            <a:schemeClr val="tx2"/>
          </a:solidFill>
          <a:ln/>
        </p:spPr>
      </p:sp>
      <p:sp>
        <p:nvSpPr>
          <p:cNvPr id="19" name="Text 17"/>
          <p:cNvSpPr txBox="1"/>
          <p:nvPr/>
        </p:nvSpPr>
        <p:spPr>
          <a:xfrm>
            <a:off x="777240" y="5138928"/>
            <a:ext cx="6400800" cy="685800"/>
          </a:xfrm>
          <a:prstGeom prst="rect">
            <a:avLst/>
          </a:prstGeom>
          <a:noFill/>
          <a:ln/>
        </p:spPr>
        <p:txBody>
          <a:bodyPr wrap="square" lIns="0" tIns="0" rIns="0" bIns="0" rtlCol="0" anchor="t"/>
          <a:lstStyle/>
          <a:p>
            <a:pPr indent="0" marL="0">
              <a:buNone/>
            </a:pPr>
            <a:r>
              <a:rPr lang="en-US" sz="1600" i="1" dirty="0">
                <a:solidFill>
                  <a:schemeClr val="bg1"/>
                </a:solidFill>
                <a:latin typeface="Cambria" pitchFamily="34" charset="0"/>
                <a:ea typeface="Cambria" pitchFamily="34" charset="-122"/>
                <a:cs typeface="Cambria" pitchFamily="34" charset="-120"/>
              </a:rPr>
              <a:t>« Attitude caractéristique d'un homme qui refuse de dépendre de Dieu ou ne croit pas en son existence »</a:t>
            </a:r>
            <a:endParaRPr lang="en-US" sz="1600" dirty="0"/>
          </a:p>
        </p:txBody>
      </p:sp>
      <p:sp>
        <p:nvSpPr>
          <p:cNvPr id="20" name="Text 18"/>
          <p:cNvSpPr txBox="1"/>
          <p:nvPr/>
        </p:nvSpPr>
        <p:spPr>
          <a:xfrm>
            <a:off x="777240" y="5852160"/>
            <a:ext cx="6400800" cy="274320"/>
          </a:xfrm>
          <a:prstGeom prst="rect">
            <a:avLst/>
          </a:prstGeom>
          <a:noFill/>
          <a:ln/>
        </p:spPr>
        <p:txBody>
          <a:bodyPr wrap="square" lIns="0" tIns="0" rIns="0" bIns="0" rtlCol="0" anchor="t"/>
          <a:lstStyle/>
          <a:p>
            <a:pPr indent="0" marL="0">
              <a:buNone/>
            </a:pPr>
            <a:r>
              <a:rPr lang="en-US" sz="1200" dirty="0">
                <a:solidFill>
                  <a:schemeClr val="bg2"/>
                </a:solidFill>
              </a:rPr>
              <a:t>MacArthur, note sur 94.7</a:t>
            </a:r>
            <a:endParaRPr lang="en-US" sz="1200" dirty="0"/>
          </a:p>
        </p:txBody>
      </p:sp>
      <p:sp>
        <p:nvSpPr>
          <p:cNvPr id="21" name="Principe"/>
          <p:cNvSpPr/>
          <p:nvPr/>
        </p:nvSpPr>
        <p:spPr>
          <a:xfrm>
            <a:off x="7616952" y="5074920"/>
            <a:ext cx="4023360" cy="1097280"/>
          </a:xfrm>
          <a:prstGeom prst="roundRect">
            <a:avLst>
              <a:gd name="adj" fmla="val 6667"/>
            </a:avLst>
          </a:prstGeom>
          <a:solidFill>
            <a:schemeClr val="accent3"/>
          </a:solidFill>
          <a:ln/>
        </p:spPr>
      </p:sp>
      <p:sp>
        <p:nvSpPr>
          <p:cNvPr id="22" name="Text 20"/>
          <p:cNvSpPr txBox="1"/>
          <p:nvPr/>
        </p:nvSpPr>
        <p:spPr>
          <a:xfrm>
            <a:off x="7845552" y="5138928"/>
            <a:ext cx="3566160" cy="960120"/>
          </a:xfrm>
          <a:prstGeom prst="rect">
            <a:avLst/>
          </a:prstGeom>
          <a:noFill/>
          <a:ln/>
        </p:spPr>
        <p:txBody>
          <a:bodyPr wrap="square" lIns="0" tIns="0" rIns="0" bIns="0" rtlCol="0" anchor="ctr"/>
          <a:lstStyle/>
          <a:p>
            <a:pPr indent="0" marL="0">
              <a:buNone/>
            </a:pPr>
            <a:r>
              <a:rPr lang="en-US" sz="1500" b="1" dirty="0">
                <a:solidFill>
                  <a:schemeClr val="accent5"/>
                </a:solidFill>
              </a:rPr>
              <a:t>Principe</a:t>
            </a:r>
            <a:endParaRPr lang="en-US" sz="1500" dirty="0"/>
          </a:p>
          <a:p>
            <a:pPr indent="0" marL="0">
              <a:buNone/>
            </a:pPr>
            <a:r>
              <a:rPr lang="en-US" sz="1500" dirty="0">
                <a:solidFill>
                  <a:schemeClr val="bg1"/>
                </a:solidFill>
              </a:rPr>
              <a:t>la plainte est permise; la rétribution appartient au juge.</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Œil section II anneau externe"/>
          <p:cNvSpPr/>
          <p:nvPr/>
        </p:nvSpPr>
        <p:spPr>
          <a:xfrm>
            <a:off x="6942125" y="1225296"/>
            <a:ext cx="5135270" cy="3950208"/>
          </a:xfrm>
          <a:prstGeom prst="ellipse">
            <a:avLst/>
          </a:prstGeom>
          <a:noFill/>
          <a:ln w="12700">
            <a:solidFill>
              <a:schemeClr val="accent6"/>
            </a:solidFill>
            <a:prstDash val="solid"/>
          </a:ln>
        </p:spPr>
      </p:sp>
      <p:sp>
        <p:nvSpPr>
          <p:cNvPr id="3" name="Œil section II anneau"/>
          <p:cNvSpPr/>
          <p:nvPr/>
        </p:nvSpPr>
        <p:spPr>
          <a:xfrm>
            <a:off x="7402982" y="1587398"/>
            <a:ext cx="4213555" cy="3226003"/>
          </a:xfrm>
          <a:prstGeom prst="ellipse">
            <a:avLst/>
          </a:prstGeom>
          <a:noFill/>
          <a:ln w="19050">
            <a:solidFill>
              <a:schemeClr val="accent3"/>
            </a:solidFill>
            <a:prstDash val="solid"/>
          </a:ln>
        </p:spPr>
      </p:sp>
      <p:sp>
        <p:nvSpPr>
          <p:cNvPr id="4" name="Œil section II contour"/>
          <p:cNvSpPr/>
          <p:nvPr/>
        </p:nvSpPr>
        <p:spPr>
          <a:xfrm>
            <a:off x="7863840" y="2377440"/>
            <a:ext cx="3291840" cy="1645920"/>
          </a:xfrm>
          <a:custGeom>
            <a:avLst/>
            <a:gdLst/>
            <a:ahLst/>
            <a:cxnLst/>
            <a:rect l="l" t="t" r="r" b="b"/>
            <a:pathLst>
              <a:path w="3291840" h="1645920">
                <a:moveTo>
                  <a:pt x="0" y="822960"/>
                </a:moveTo>
                <a:quadBezTo>
                  <a:pt x="1645920" y="-822960"/>
                  <a:pt x="3291840" y="822960"/>
                </a:quadBezTo>
                <a:quadBezTo>
                  <a:pt x="1645920" y="2468880"/>
                  <a:pt x="0" y="822960"/>
                </a:quadBezTo>
                <a:close/>
              </a:path>
            </a:pathLst>
          </a:custGeom>
          <a:solidFill>
            <a:schemeClr val="tx1"/>
          </a:solidFill>
          <a:ln w="31750">
            <a:solidFill>
              <a:schemeClr val="accent1"/>
            </a:solidFill>
            <a:prstDash val="solid"/>
          </a:ln>
        </p:spPr>
      </p:sp>
      <p:sp>
        <p:nvSpPr>
          <p:cNvPr id="5" name="Œil section II iris"/>
          <p:cNvSpPr/>
          <p:nvPr/>
        </p:nvSpPr>
        <p:spPr>
          <a:xfrm>
            <a:off x="8851392" y="2542032"/>
            <a:ext cx="1316736" cy="1316736"/>
          </a:xfrm>
          <a:prstGeom prst="ellipse">
            <a:avLst/>
          </a:prstGeom>
          <a:solidFill>
            <a:schemeClr val="accent1"/>
          </a:solidFill>
          <a:ln w="19050">
            <a:solidFill>
              <a:schemeClr val="accent3"/>
            </a:solidFill>
            <a:prstDash val="solid"/>
          </a:ln>
        </p:spPr>
      </p:sp>
      <p:sp>
        <p:nvSpPr>
          <p:cNvPr id="6" name="Œil section II pupille"/>
          <p:cNvSpPr/>
          <p:nvPr/>
        </p:nvSpPr>
        <p:spPr>
          <a:xfrm>
            <a:off x="9213494" y="2904134"/>
            <a:ext cx="592531" cy="592531"/>
          </a:xfrm>
          <a:prstGeom prst="ellipse">
            <a:avLst/>
          </a:prstGeom>
          <a:solidFill>
            <a:schemeClr val="tx1"/>
          </a:solidFill>
          <a:ln/>
        </p:spPr>
      </p:sp>
      <p:sp>
        <p:nvSpPr>
          <p:cNvPr id="7" name="Œil section II reflet"/>
          <p:cNvSpPr/>
          <p:nvPr/>
        </p:nvSpPr>
        <p:spPr>
          <a:xfrm>
            <a:off x="9598640" y="2933761"/>
            <a:ext cx="165909" cy="165909"/>
          </a:xfrm>
          <a:prstGeom prst="ellipse">
            <a:avLst/>
          </a:prstGeom>
          <a:solidFill>
            <a:schemeClr val="bg1"/>
          </a:solidFill>
          <a:ln/>
        </p:spPr>
      </p:sp>
      <p:sp>
        <p:nvSpPr>
          <p:cNvPr id="8" name="Text 0"/>
          <p:cNvSpPr/>
          <p:nvPr>
            <p:ph idx="100" type="body" hasCustomPrompt="1"/>
          </p:nvPr>
        </p:nvSpPr>
        <p:spPr>
          <a:xfrm>
            <a:off x="731520" y="914400"/>
            <a:ext cx="2743200" cy="1005840"/>
          </a:xfrm>
          <a:prstGeom prst="rect">
            <a:avLst/>
          </a:prstGeom>
          <a:noFill/>
          <a:ln/>
        </p:spPr>
        <p:txBody>
          <a:bodyPr wrap="square" lIns="0" tIns="0" rIns="0" bIns="0" rtlCol="0"/>
          <a:lstStyle/>
          <a:p>
            <a:pPr indent="0" marL="0">
              <a:buNone/>
            </a:pPr>
            <a:r>
              <a:rPr lang="en-US" sz="6600" b="1" dirty="0">
                <a:solidFill>
                  <a:schemeClr val="accent1"/>
                </a:solidFill>
                <a:latin typeface="Cambria" pitchFamily="34" charset="0"/>
                <a:ea typeface="Cambria" pitchFamily="34" charset="-122"/>
                <a:cs typeface="Cambria" pitchFamily="34" charset="-120"/>
              </a:rPr>
              <a:t>II</a:t>
            </a:r>
            <a:endParaRPr lang="en-US" sz="6600" dirty="0"/>
          </a:p>
        </p:txBody>
      </p:sp>
      <p:sp>
        <p:nvSpPr>
          <p:cNvPr id="9" name="Text 0"/>
          <p:cNvSpPr/>
          <p:nvPr>
            <p:ph idx="101" type="title" hasCustomPrompt="1"/>
          </p:nvPr>
        </p:nvSpPr>
        <p:spPr>
          <a:xfrm>
            <a:off x="731520" y="2011680"/>
            <a:ext cx="6400800" cy="146304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Le Dieu qui voit</a:t>
            </a:r>
            <a:endParaRPr lang="en-US" sz="4000" dirty="0"/>
          </a:p>
        </p:txBody>
      </p:sp>
      <p:sp>
        <p:nvSpPr>
          <p:cNvPr id="10" name="Text 0"/>
          <p:cNvSpPr/>
          <p:nvPr>
            <p:ph idx="102" type="body" hasCustomPrompt="1"/>
          </p:nvPr>
        </p:nvSpPr>
        <p:spPr>
          <a:xfrm>
            <a:off x="731520" y="3657600"/>
            <a:ext cx="6400800" cy="1463040"/>
          </a:xfrm>
          <a:prstGeom prst="rect">
            <a:avLst/>
          </a:prstGeom>
          <a:noFill/>
          <a:ln/>
        </p:spPr>
        <p:txBody>
          <a:bodyPr wrap="square" lIns="0" tIns="0" rIns="0" bIns="0" rtlCol="0" anchor="t"/>
          <a:lstStyle/>
          <a:p>
            <a:pPr indent="0" marL="0">
              <a:buNone/>
            </a:pPr>
            <a:r>
              <a:rPr lang="en-US" sz="2200" i="1" dirty="0">
                <a:solidFill>
                  <a:schemeClr val="bg1"/>
                </a:solidFill>
                <a:latin typeface="Cambria" pitchFamily="34" charset="0"/>
                <a:ea typeface="Cambria" pitchFamily="34" charset="-122"/>
                <a:cs typeface="Cambria" pitchFamily="34" charset="-120"/>
              </a:rPr>
              <a:t>Ce n'est pas Dieu qui ne discerne pas; c'est l'insensé.</a:t>
            </a:r>
            <a:endParaRPr lang="en-US" sz="2200" dirty="0"/>
          </a:p>
        </p:txBody>
      </p:sp>
      <p:sp>
        <p:nvSpPr>
          <p:cNvPr id="11" name="Text 0"/>
          <p:cNvSpPr/>
          <p:nvPr>
            <p:ph idx="103" type="body" hasCustomPrompt="1"/>
          </p:nvPr>
        </p:nvSpPr>
        <p:spPr>
          <a:xfrm>
            <a:off x="731520" y="5349240"/>
            <a:ext cx="6400800" cy="411480"/>
          </a:xfrm>
          <a:prstGeom prst="rect">
            <a:avLst/>
          </a:prstGeom>
          <a:noFill/>
          <a:ln/>
        </p:spPr>
        <p:txBody>
          <a:bodyPr wrap="square" lIns="0" tIns="0" rIns="0" bIns="0" rtlCol="0"/>
          <a:lstStyle/>
          <a:p>
            <a:pPr indent="0" marL="0">
              <a:buNone/>
            </a:pPr>
            <a:r>
              <a:rPr lang="en-US" sz="1600" dirty="0">
                <a:solidFill>
                  <a:schemeClr val="accent2"/>
                </a:solidFill>
              </a:rPr>
              <a:t>Psaume 94.8-11 · 7 min</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0058400" cy="320040"/>
          </a:xfrm>
          <a:prstGeom prst="rect">
            <a:avLst/>
          </a:prstGeom>
          <a:noFill/>
          <a:ln/>
        </p:spPr>
        <p:txBody>
          <a:bodyPr wrap="square" lIns="0" tIns="0" rIns="0" bIns="0" rtlCol="0"/>
          <a:lstStyle/>
          <a:p>
            <a:pPr indent="0" marL="0">
              <a:buNone/>
            </a:pPr>
            <a:r>
              <a:rPr lang="en-US" sz="1300" b="1" spc="100" kern="0" dirty="0">
                <a:solidFill>
                  <a:schemeClr val="accent2"/>
                </a:solidFill>
              </a:rPr>
              <a:t>II · Le Dieu qui voit · 94.7-8 · texte seul</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Le psalmiste renvoie aux insensés leur mot</a:t>
            </a:r>
            <a:endParaRPr lang="en-US" sz="3000" dirty="0"/>
          </a:p>
        </p:txBody>
      </p:sp>
      <p:sp>
        <p:nvSpPr>
          <p:cNvPr id="4" name="Source 1"/>
          <p:cNvSpPr/>
          <p:nvPr/>
        </p:nvSpPr>
        <p:spPr>
          <a:xfrm>
            <a:off x="548640" y="1691640"/>
            <a:ext cx="4846320" cy="1554480"/>
          </a:xfrm>
          <a:prstGeom prst="roundRect">
            <a:avLst>
              <a:gd name="adj" fmla="val 4706"/>
            </a:avLst>
          </a:prstGeom>
          <a:solidFill>
            <a:schemeClr val="tx2"/>
          </a:solidFill>
          <a:ln/>
        </p:spPr>
      </p:sp>
      <p:sp>
        <p:nvSpPr>
          <p:cNvPr id="5" name="Text 3"/>
          <p:cNvSpPr txBox="1"/>
          <p:nvPr/>
        </p:nvSpPr>
        <p:spPr>
          <a:xfrm>
            <a:off x="777240" y="1828800"/>
            <a:ext cx="4389120" cy="274320"/>
          </a:xfrm>
          <a:prstGeom prst="rect">
            <a:avLst/>
          </a:prstGeom>
          <a:noFill/>
          <a:ln/>
        </p:spPr>
        <p:txBody>
          <a:bodyPr wrap="square" lIns="0" tIns="0" rIns="0" bIns="0" rtlCol="0" anchor="t"/>
          <a:lstStyle/>
          <a:p>
            <a:pPr indent="0" marL="0">
              <a:buNone/>
            </a:pPr>
            <a:r>
              <a:rPr lang="en-US" sz="1300" b="1" dirty="0">
                <a:solidFill>
                  <a:schemeClr val="accent2"/>
                </a:solidFill>
              </a:rPr>
              <a:t>94.7 · le credo</a:t>
            </a:r>
            <a:endParaRPr lang="en-US" sz="1300" dirty="0"/>
          </a:p>
        </p:txBody>
      </p:sp>
      <p:sp>
        <p:nvSpPr>
          <p:cNvPr id="6" name="Text 4"/>
          <p:cNvSpPr txBox="1"/>
          <p:nvPr/>
        </p:nvSpPr>
        <p:spPr>
          <a:xfrm>
            <a:off x="777240" y="2148840"/>
            <a:ext cx="4389120" cy="50292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 ne fait pas attention »</a:t>
            </a:r>
            <a:endParaRPr lang="en-US" sz="2200" dirty="0"/>
          </a:p>
        </p:txBody>
      </p:sp>
      <p:sp>
        <p:nvSpPr>
          <p:cNvPr id="7" name="Text 5"/>
          <p:cNvSpPr txBox="1"/>
          <p:nvPr/>
        </p:nvSpPr>
        <p:spPr>
          <a:xfrm>
            <a:off x="777240" y="2715768"/>
            <a:ext cx="4389120" cy="365760"/>
          </a:xfrm>
          <a:prstGeom prst="rect">
            <a:avLst/>
          </a:prstGeom>
          <a:noFill/>
          <a:ln/>
        </p:spPr>
        <p:txBody>
          <a:bodyPr wrap="square" lIns="0" tIns="0" rIns="0" bIns="0" rtlCol="0" anchor="t"/>
          <a:lstStyle/>
          <a:p>
            <a:pPr indent="0" marL="0">
              <a:buNone/>
            </a:pPr>
            <a:r>
              <a:rPr lang="en-US" sz="1500" i="1" dirty="0">
                <a:solidFill>
                  <a:schemeClr val="accent5"/>
                </a:solidFill>
              </a:rPr>
              <a:t>lōʾ yābîn : « il ne discerne pas »</a:t>
            </a:r>
            <a:endParaRPr lang="en-US" sz="1500" dirty="0"/>
          </a:p>
        </p:txBody>
      </p:sp>
      <p:sp>
        <p:nvSpPr>
          <p:cNvPr id="8" name="Renvoi 1"/>
          <p:cNvSpPr/>
          <p:nvPr/>
        </p:nvSpPr>
        <p:spPr>
          <a:xfrm>
            <a:off x="5486400" y="2468880"/>
            <a:ext cx="1188720" cy="0"/>
          </a:xfrm>
          <a:prstGeom prst="line">
            <a:avLst/>
          </a:prstGeom>
          <a:noFill/>
          <a:ln w="28575">
            <a:solidFill>
              <a:schemeClr val="accent1"/>
            </a:solidFill>
            <a:prstDash val="solid"/>
            <a:tailEnd type="triangle"/>
          </a:ln>
        </p:spPr>
      </p:sp>
      <p:sp>
        <p:nvSpPr>
          <p:cNvPr id="9" name="Text 7"/>
          <p:cNvSpPr txBox="1"/>
          <p:nvPr/>
        </p:nvSpPr>
        <p:spPr>
          <a:xfrm>
            <a:off x="5440680" y="2148840"/>
            <a:ext cx="1280160" cy="274320"/>
          </a:xfrm>
          <a:prstGeom prst="rect">
            <a:avLst/>
          </a:prstGeom>
          <a:noFill/>
          <a:ln/>
        </p:spPr>
        <p:txBody>
          <a:bodyPr wrap="square" lIns="0" tIns="0" rIns="0" bIns="0" rtlCol="0" anchor="t"/>
          <a:lstStyle/>
          <a:p>
            <a:pPr algn="ctr" indent="0" marL="0">
              <a:buNone/>
            </a:pPr>
            <a:r>
              <a:rPr lang="en-US" sz="1400" i="1" dirty="0">
                <a:solidFill>
                  <a:schemeClr val="accent2"/>
                </a:solidFill>
              </a:rPr>
              <a:t>renvoyé</a:t>
            </a:r>
            <a:endParaRPr lang="en-US" sz="1400" dirty="0"/>
          </a:p>
        </p:txBody>
      </p:sp>
      <p:sp>
        <p:nvSpPr>
          <p:cNvPr id="10" name="Réplique 1"/>
          <p:cNvSpPr/>
          <p:nvPr/>
        </p:nvSpPr>
        <p:spPr>
          <a:xfrm>
            <a:off x="6766560" y="1691640"/>
            <a:ext cx="4873752" cy="1554480"/>
          </a:xfrm>
          <a:prstGeom prst="roundRect">
            <a:avLst>
              <a:gd name="adj" fmla="val 4706"/>
            </a:avLst>
          </a:prstGeom>
          <a:solidFill>
            <a:schemeClr val="accent3"/>
          </a:solidFill>
          <a:ln/>
        </p:spPr>
      </p:sp>
      <p:sp>
        <p:nvSpPr>
          <p:cNvPr id="11" name="Text 9"/>
          <p:cNvSpPr txBox="1"/>
          <p:nvPr/>
        </p:nvSpPr>
        <p:spPr>
          <a:xfrm>
            <a:off x="6995160" y="1828800"/>
            <a:ext cx="4389120" cy="274320"/>
          </a:xfrm>
          <a:prstGeom prst="rect">
            <a:avLst/>
          </a:prstGeom>
          <a:noFill/>
          <a:ln/>
        </p:spPr>
        <p:txBody>
          <a:bodyPr wrap="square" lIns="0" tIns="0" rIns="0" bIns="0" rtlCol="0" anchor="t"/>
          <a:lstStyle/>
          <a:p>
            <a:pPr indent="0" marL="0">
              <a:buNone/>
            </a:pPr>
            <a:r>
              <a:rPr lang="en-US" sz="1300" b="1" dirty="0">
                <a:solidFill>
                  <a:schemeClr val="accent5"/>
                </a:solidFill>
              </a:rPr>
              <a:t>94.8 · la réplique</a:t>
            </a:r>
            <a:endParaRPr lang="en-US" sz="1300" dirty="0"/>
          </a:p>
        </p:txBody>
      </p:sp>
      <p:sp>
        <p:nvSpPr>
          <p:cNvPr id="12" name="Text 10"/>
          <p:cNvSpPr txBox="1"/>
          <p:nvPr/>
        </p:nvSpPr>
        <p:spPr>
          <a:xfrm>
            <a:off x="6995160" y="2148840"/>
            <a:ext cx="4389120" cy="50292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 Prenez-y garde »</a:t>
            </a:r>
            <a:endParaRPr lang="en-US" sz="2200" dirty="0"/>
          </a:p>
        </p:txBody>
      </p:sp>
      <p:sp>
        <p:nvSpPr>
          <p:cNvPr id="13" name="Text 11"/>
          <p:cNvSpPr txBox="1"/>
          <p:nvPr/>
        </p:nvSpPr>
        <p:spPr>
          <a:xfrm>
            <a:off x="6995160" y="2715768"/>
            <a:ext cx="4389120" cy="365760"/>
          </a:xfrm>
          <a:prstGeom prst="rect">
            <a:avLst/>
          </a:prstGeom>
          <a:noFill/>
          <a:ln/>
        </p:spPr>
        <p:txBody>
          <a:bodyPr wrap="square" lIns="0" tIns="0" rIns="0" bIns="0" rtlCol="0" anchor="t"/>
          <a:lstStyle/>
          <a:p>
            <a:pPr indent="0" marL="0">
              <a:buNone/>
            </a:pPr>
            <a:r>
              <a:rPr lang="en-US" sz="1500" i="1" dirty="0">
                <a:solidFill>
                  <a:schemeClr val="accent5"/>
                </a:solidFill>
              </a:rPr>
              <a:t>bînû : « discernez »</a:t>
            </a:r>
            <a:endParaRPr lang="en-US" sz="1500" dirty="0"/>
          </a:p>
        </p:txBody>
      </p:sp>
      <p:sp>
        <p:nvSpPr>
          <p:cNvPr id="14" name="Source 2"/>
          <p:cNvSpPr/>
          <p:nvPr/>
        </p:nvSpPr>
        <p:spPr>
          <a:xfrm>
            <a:off x="548640" y="3474720"/>
            <a:ext cx="4846320" cy="1554480"/>
          </a:xfrm>
          <a:prstGeom prst="roundRect">
            <a:avLst>
              <a:gd name="adj" fmla="val 4706"/>
            </a:avLst>
          </a:prstGeom>
          <a:solidFill>
            <a:schemeClr val="tx2"/>
          </a:solidFill>
          <a:ln/>
        </p:spPr>
      </p:sp>
      <p:sp>
        <p:nvSpPr>
          <p:cNvPr id="15" name="Text 13"/>
          <p:cNvSpPr txBox="1"/>
          <p:nvPr/>
        </p:nvSpPr>
        <p:spPr>
          <a:xfrm>
            <a:off x="777240" y="3611880"/>
            <a:ext cx="4389120" cy="274320"/>
          </a:xfrm>
          <a:prstGeom prst="rect">
            <a:avLst/>
          </a:prstGeom>
          <a:noFill/>
          <a:ln/>
        </p:spPr>
        <p:txBody>
          <a:bodyPr wrap="square" lIns="0" tIns="0" rIns="0" bIns="0" rtlCol="0" anchor="t"/>
          <a:lstStyle/>
          <a:p>
            <a:pPr indent="0" marL="0">
              <a:buNone/>
            </a:pPr>
            <a:r>
              <a:rPr lang="en-US" sz="1300" b="1" dirty="0">
                <a:solidFill>
                  <a:schemeClr val="accent2"/>
                </a:solidFill>
              </a:rPr>
              <a:t>94.3 · la plainte à Dieu</a:t>
            </a:r>
            <a:endParaRPr lang="en-US" sz="1300" dirty="0"/>
          </a:p>
        </p:txBody>
      </p:sp>
      <p:sp>
        <p:nvSpPr>
          <p:cNvPr id="16" name="Text 14"/>
          <p:cNvSpPr txBox="1"/>
          <p:nvPr/>
        </p:nvSpPr>
        <p:spPr>
          <a:xfrm>
            <a:off x="777240" y="3931920"/>
            <a:ext cx="4389120" cy="50292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 Jusqu'à quand »</a:t>
            </a:r>
            <a:endParaRPr lang="en-US" sz="2200" dirty="0"/>
          </a:p>
        </p:txBody>
      </p:sp>
      <p:sp>
        <p:nvSpPr>
          <p:cNvPr id="17" name="Text 15"/>
          <p:cNvSpPr txBox="1"/>
          <p:nvPr/>
        </p:nvSpPr>
        <p:spPr>
          <a:xfrm>
            <a:off x="777240" y="4498848"/>
            <a:ext cx="4389120" cy="365760"/>
          </a:xfrm>
          <a:prstGeom prst="rect">
            <a:avLst/>
          </a:prstGeom>
          <a:noFill/>
          <a:ln/>
        </p:spPr>
        <p:txBody>
          <a:bodyPr wrap="square" lIns="0" tIns="0" rIns="0" bIns="0" rtlCol="0" anchor="t"/>
          <a:lstStyle/>
          <a:p>
            <a:pPr indent="0" marL="0">
              <a:buNone/>
            </a:pPr>
            <a:r>
              <a:rPr lang="en-US" sz="1500" i="1" dirty="0">
                <a:solidFill>
                  <a:schemeClr val="accent5"/>
                </a:solidFill>
              </a:rPr>
              <a:t>ʿad-mātay, dit deux fois</a:t>
            </a:r>
            <a:endParaRPr lang="en-US" sz="1500" dirty="0"/>
          </a:p>
        </p:txBody>
      </p:sp>
      <p:sp>
        <p:nvSpPr>
          <p:cNvPr id="18" name="Renvoi 2"/>
          <p:cNvSpPr/>
          <p:nvPr/>
        </p:nvSpPr>
        <p:spPr>
          <a:xfrm>
            <a:off x="5486400" y="4251960"/>
            <a:ext cx="1188720" cy="0"/>
          </a:xfrm>
          <a:prstGeom prst="line">
            <a:avLst/>
          </a:prstGeom>
          <a:noFill/>
          <a:ln w="28575">
            <a:solidFill>
              <a:schemeClr val="accent1"/>
            </a:solidFill>
            <a:prstDash val="solid"/>
            <a:tailEnd type="triangle"/>
          </a:ln>
        </p:spPr>
      </p:sp>
      <p:sp>
        <p:nvSpPr>
          <p:cNvPr id="19" name="Text 17"/>
          <p:cNvSpPr txBox="1"/>
          <p:nvPr/>
        </p:nvSpPr>
        <p:spPr>
          <a:xfrm>
            <a:off x="5440680" y="3931920"/>
            <a:ext cx="1280160" cy="274320"/>
          </a:xfrm>
          <a:prstGeom prst="rect">
            <a:avLst/>
          </a:prstGeom>
          <a:noFill/>
          <a:ln/>
        </p:spPr>
        <p:txBody>
          <a:bodyPr wrap="square" lIns="0" tIns="0" rIns="0" bIns="0" rtlCol="0" anchor="t"/>
          <a:lstStyle/>
          <a:p>
            <a:pPr algn="ctr" indent="0" marL="0">
              <a:buNone/>
            </a:pPr>
            <a:r>
              <a:rPr lang="en-US" sz="1400" i="1" dirty="0">
                <a:solidFill>
                  <a:schemeClr val="accent2"/>
                </a:solidFill>
              </a:rPr>
              <a:t>renvoyé</a:t>
            </a:r>
            <a:endParaRPr lang="en-US" sz="1400" dirty="0"/>
          </a:p>
        </p:txBody>
      </p:sp>
      <p:sp>
        <p:nvSpPr>
          <p:cNvPr id="20" name="Réplique 2"/>
          <p:cNvSpPr/>
          <p:nvPr/>
        </p:nvSpPr>
        <p:spPr>
          <a:xfrm>
            <a:off x="6766560" y="3474720"/>
            <a:ext cx="4873752" cy="1554480"/>
          </a:xfrm>
          <a:prstGeom prst="roundRect">
            <a:avLst>
              <a:gd name="adj" fmla="val 4706"/>
            </a:avLst>
          </a:prstGeom>
          <a:solidFill>
            <a:schemeClr val="accent3"/>
          </a:solidFill>
          <a:ln/>
        </p:spPr>
      </p:sp>
      <p:sp>
        <p:nvSpPr>
          <p:cNvPr id="21" name="Text 19"/>
          <p:cNvSpPr txBox="1"/>
          <p:nvPr/>
        </p:nvSpPr>
        <p:spPr>
          <a:xfrm>
            <a:off x="6995160" y="3611880"/>
            <a:ext cx="4389120" cy="274320"/>
          </a:xfrm>
          <a:prstGeom prst="rect">
            <a:avLst/>
          </a:prstGeom>
          <a:noFill/>
          <a:ln/>
        </p:spPr>
        <p:txBody>
          <a:bodyPr wrap="square" lIns="0" tIns="0" rIns="0" bIns="0" rtlCol="0" anchor="t"/>
          <a:lstStyle/>
          <a:p>
            <a:pPr indent="0" marL="0">
              <a:buNone/>
            </a:pPr>
            <a:r>
              <a:rPr lang="en-US" sz="1300" b="1" dirty="0">
                <a:solidFill>
                  <a:schemeClr val="accent5"/>
                </a:solidFill>
              </a:rPr>
              <a:t>94.8 · la question aux insensés</a:t>
            </a:r>
            <a:endParaRPr lang="en-US" sz="1300" dirty="0"/>
          </a:p>
        </p:txBody>
      </p:sp>
      <p:sp>
        <p:nvSpPr>
          <p:cNvPr id="22" name="Text 20"/>
          <p:cNvSpPr txBox="1"/>
          <p:nvPr/>
        </p:nvSpPr>
        <p:spPr>
          <a:xfrm>
            <a:off x="6995160" y="3931920"/>
            <a:ext cx="4389120" cy="50292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 quand serez-vous sages? »</a:t>
            </a:r>
            <a:endParaRPr lang="en-US" sz="2200" dirty="0"/>
          </a:p>
        </p:txBody>
      </p:sp>
      <p:sp>
        <p:nvSpPr>
          <p:cNvPr id="23" name="Text 21"/>
          <p:cNvSpPr txBox="1"/>
          <p:nvPr/>
        </p:nvSpPr>
        <p:spPr>
          <a:xfrm>
            <a:off x="6995160" y="4498848"/>
            <a:ext cx="4389120" cy="365760"/>
          </a:xfrm>
          <a:prstGeom prst="rect">
            <a:avLst/>
          </a:prstGeom>
          <a:noFill/>
          <a:ln/>
        </p:spPr>
        <p:txBody>
          <a:bodyPr wrap="square" lIns="0" tIns="0" rIns="0" bIns="0" rtlCol="0" anchor="t"/>
          <a:lstStyle/>
          <a:p>
            <a:pPr indent="0" marL="0">
              <a:buNone/>
            </a:pPr>
            <a:r>
              <a:rPr lang="en-US" sz="1500" i="1" dirty="0">
                <a:solidFill>
                  <a:schemeClr val="accent5"/>
                </a:solidFill>
              </a:rPr>
              <a:t>mātay : le même « quand »</a:t>
            </a:r>
            <a:endParaRPr lang="en-US" sz="1500" dirty="0"/>
          </a:p>
        </p:txBody>
      </p:sp>
      <p:sp>
        <p:nvSpPr>
          <p:cNvPr id="24" name="Participe"/>
          <p:cNvSpPr/>
          <p:nvPr/>
        </p:nvSpPr>
        <p:spPr>
          <a:xfrm>
            <a:off x="548640" y="5349240"/>
            <a:ext cx="5440680" cy="685800"/>
          </a:xfrm>
          <a:prstGeom prst="roundRect">
            <a:avLst>
              <a:gd name="adj" fmla="val 10667"/>
            </a:avLst>
          </a:prstGeom>
          <a:solidFill>
            <a:schemeClr val="accent4"/>
          </a:solidFill>
          <a:ln w="12700">
            <a:solidFill>
              <a:schemeClr val="accent6"/>
            </a:solidFill>
          </a:ln>
        </p:spPr>
        <p:txBody>
          <a:bodyPr wrap="square" lIns="1524" tIns="1524" rIns="1524" bIns="1524" rtlCol="0" anchor="ctr"/>
          <a:lstStyle/>
          <a:p>
            <a:pPr algn="ctr" indent="0" marL="0">
              <a:buNone/>
            </a:pPr>
            <a:r>
              <a:rPr lang="en-US" sz="1400" dirty="0">
                <a:solidFill>
                  <a:schemeClr val="bg1"/>
                </a:solidFill>
              </a:rPr>
              <a:t>bōʿărîm, « hommes stupides » : un participe, en parallèle avec « insensés » (BDB)</a:t>
            </a:r>
            <a:endParaRPr lang="en-US" sz="1400" dirty="0"/>
          </a:p>
        </p:txBody>
      </p:sp>
      <p:sp>
        <p:nvSpPr>
          <p:cNvPr id="25" name="Parmi le peuple"/>
          <p:cNvSpPr/>
          <p:nvPr/>
        </p:nvSpPr>
        <p:spPr>
          <a:xfrm>
            <a:off x="6199632" y="5349240"/>
            <a:ext cx="5440680" cy="685800"/>
          </a:xfrm>
          <a:prstGeom prst="roundRect">
            <a:avLst>
              <a:gd name="adj" fmla="val 10667"/>
            </a:avLst>
          </a:prstGeom>
          <a:solidFill>
            <a:schemeClr val="accent4"/>
          </a:solidFill>
          <a:ln w="12700">
            <a:solidFill>
              <a:schemeClr val="accent6"/>
            </a:solidFill>
          </a:ln>
        </p:spPr>
        <p:txBody>
          <a:bodyPr wrap="square" lIns="1524" tIns="1524" rIns="1524" bIns="1524" rtlCol="0" anchor="ctr"/>
          <a:lstStyle/>
          <a:p>
            <a:pPr algn="ctr" indent="0" marL="0">
              <a:buNone/>
            </a:pPr>
            <a:r>
              <a:rPr lang="en-US" sz="1400" dirty="0">
                <a:solidFill>
                  <a:schemeClr val="bg1"/>
                </a:solidFill>
              </a:rPr>
              <a:t>bāʿām, « parmi le peuple » : l'insensé n'est pas forcément au loin</a:t>
            </a:r>
            <a:endParaRPr lang="en-US" sz="1400" dirty="0"/>
          </a:p>
        </p:txBody>
      </p:sp>
      <p:sp>
        <p:nvSpPr>
          <p:cNvPr id="26" name="Text 24"/>
          <p:cNvSpPr txBox="1"/>
          <p:nvPr/>
        </p:nvSpPr>
        <p:spPr>
          <a:xfrm>
            <a:off x="548640" y="6108192"/>
            <a:ext cx="11091672" cy="256032"/>
          </a:xfrm>
          <a:prstGeom prst="rect">
            <a:avLst/>
          </a:prstGeom>
          <a:noFill/>
          <a:ln/>
        </p:spPr>
        <p:txBody>
          <a:bodyPr wrap="square" lIns="0" tIns="0" rIns="0" bIns="0" rtlCol="0" anchor="t"/>
          <a:lstStyle/>
          <a:p>
            <a:pPr indent="0" marL="0">
              <a:buNone/>
            </a:pPr>
            <a:r>
              <a:rPr lang="en-US" sz="1200" i="1" dirty="0">
                <a:solidFill>
                  <a:schemeClr val="bg2"/>
                </a:solidFill>
              </a:rPr>
              <a:t>Reprise de mātay et nature de bōʿărîm : observations de Kidner, vérifiées au texte hébreu.</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0058400" cy="320040"/>
          </a:xfrm>
          <a:prstGeom prst="rect">
            <a:avLst/>
          </a:prstGeom>
          <a:noFill/>
          <a:ln/>
        </p:spPr>
        <p:txBody>
          <a:bodyPr wrap="square" lIns="0" tIns="0" rIns="0" bIns="0" rtlCol="0"/>
          <a:lstStyle/>
          <a:p>
            <a:pPr indent="0" marL="0">
              <a:buNone/>
            </a:pPr>
            <a:r>
              <a:rPr lang="en-US" sz="1300" b="1" spc="100" kern="0" dirty="0">
                <a:solidFill>
                  <a:schemeClr val="accent2"/>
                </a:solidFill>
              </a:rPr>
              <a:t>II · Le Dieu qui voit · 94.9-10 · texte seul</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L'argument du Créateur</a:t>
            </a:r>
            <a:endParaRPr lang="en-US" sz="3000" dirty="0"/>
          </a:p>
        </p:txBody>
      </p:sp>
      <p:sp>
        <p:nvSpPr>
          <p:cNvPr id="4" name="Question 1"/>
          <p:cNvSpPr/>
          <p:nvPr/>
        </p:nvSpPr>
        <p:spPr>
          <a:xfrm>
            <a:off x="548640" y="1645920"/>
            <a:ext cx="6035040" cy="749808"/>
          </a:xfrm>
          <a:prstGeom prst="roundRect">
            <a:avLst>
              <a:gd name="adj" fmla="val 9756"/>
            </a:avLst>
          </a:prstGeom>
          <a:solidFill>
            <a:schemeClr val="tx2"/>
          </a:solidFill>
          <a:ln/>
        </p:spPr>
      </p:sp>
      <p:sp>
        <p:nvSpPr>
          <p:cNvPr id="5" name="Text 3"/>
          <p:cNvSpPr txBox="1"/>
          <p:nvPr/>
        </p:nvSpPr>
        <p:spPr>
          <a:xfrm>
            <a:off x="777240" y="1645920"/>
            <a:ext cx="5669280" cy="749808"/>
          </a:xfrm>
          <a:prstGeom prst="rect">
            <a:avLst/>
          </a:prstGeom>
          <a:noFill/>
          <a:ln/>
        </p:spPr>
        <p:txBody>
          <a:bodyPr wrap="square" lIns="0" tIns="0" rIns="0" bIns="0" rtlCol="0" anchor="ctr"/>
          <a:lstStyle/>
          <a:p>
            <a:pPr indent="0" marL="0">
              <a:buNone/>
            </a:pPr>
            <a:r>
              <a:rPr lang="en-US" sz="1800" b="1" dirty="0">
                <a:solidFill>
                  <a:schemeClr val="bg1"/>
                </a:solidFill>
              </a:rPr>
              <a:t>Celui qui a planté l'oreille   </a:t>
            </a:r>
            <a:pPr indent="0" marL="0">
              <a:buNone/>
            </a:pPr>
            <a:r>
              <a:rPr lang="en-US" sz="1400" i="1" dirty="0">
                <a:solidFill>
                  <a:schemeClr val="accent2"/>
                </a:solidFill>
              </a:rPr>
              <a:t>nōṭaʿ</a:t>
            </a:r>
            <a:endParaRPr lang="en-US" sz="1800" dirty="0"/>
          </a:p>
        </p:txBody>
      </p:sp>
      <p:sp>
        <p:nvSpPr>
          <p:cNvPr id="6" name="Conséquence 1"/>
          <p:cNvSpPr/>
          <p:nvPr/>
        </p:nvSpPr>
        <p:spPr>
          <a:xfrm>
            <a:off x="6675120" y="2020824"/>
            <a:ext cx="731520" cy="0"/>
          </a:xfrm>
          <a:prstGeom prst="line">
            <a:avLst/>
          </a:prstGeom>
          <a:noFill/>
          <a:ln w="28575">
            <a:solidFill>
              <a:schemeClr val="accent1"/>
            </a:solidFill>
            <a:prstDash val="solid"/>
            <a:tailEnd type="triangle"/>
          </a:ln>
        </p:spPr>
      </p:sp>
      <p:sp>
        <p:nvSpPr>
          <p:cNvPr id="7" name="Réponse 1"/>
          <p:cNvSpPr/>
          <p:nvPr/>
        </p:nvSpPr>
        <p:spPr>
          <a:xfrm>
            <a:off x="7498080" y="1645920"/>
            <a:ext cx="4142232" cy="749808"/>
          </a:xfrm>
          <a:prstGeom prst="roundRect">
            <a:avLst>
              <a:gd name="adj" fmla="val 9756"/>
            </a:avLst>
          </a:prstGeom>
          <a:solidFill>
            <a:schemeClr val="accent1"/>
          </a:solidFill>
          <a:ln/>
        </p:spPr>
        <p:txBody>
          <a:bodyPr wrap="square" lIns="1524" tIns="1524" rIns="1524" bIns="1524" rtlCol="0" anchor="ctr"/>
          <a:lstStyle/>
          <a:p>
            <a:pPr algn="ctr" indent="0" marL="0">
              <a:buNone/>
            </a:pPr>
            <a:r>
              <a:rPr lang="en-US" sz="1800" b="1" dirty="0">
                <a:solidFill>
                  <a:schemeClr val="tx1"/>
                </a:solidFill>
              </a:rPr>
              <a:t>n'entendrait-il pas?</a:t>
            </a:r>
            <a:endParaRPr lang="en-US" sz="1800" dirty="0"/>
          </a:p>
        </p:txBody>
      </p:sp>
      <p:sp>
        <p:nvSpPr>
          <p:cNvPr id="8" name="Text 6"/>
          <p:cNvSpPr txBox="1"/>
          <p:nvPr/>
        </p:nvSpPr>
        <p:spPr>
          <a:xfrm>
            <a:off x="10744200" y="1682496"/>
            <a:ext cx="822960" cy="228600"/>
          </a:xfrm>
          <a:prstGeom prst="rect">
            <a:avLst/>
          </a:prstGeom>
          <a:noFill/>
          <a:ln/>
        </p:spPr>
        <p:txBody>
          <a:bodyPr wrap="square" lIns="0" tIns="0" rIns="0" bIns="0" rtlCol="0" anchor="t"/>
          <a:lstStyle/>
          <a:p>
            <a:pPr algn="r" indent="0" marL="0">
              <a:buNone/>
            </a:pPr>
            <a:r>
              <a:rPr lang="en-US" sz="1200" b="1" dirty="0">
                <a:solidFill>
                  <a:schemeClr val="tx1"/>
                </a:solidFill>
              </a:rPr>
              <a:t>94.9</a:t>
            </a:r>
            <a:endParaRPr lang="en-US" sz="1200" dirty="0"/>
          </a:p>
        </p:txBody>
      </p:sp>
      <p:sp>
        <p:nvSpPr>
          <p:cNvPr id="9" name="Question 2"/>
          <p:cNvSpPr/>
          <p:nvPr/>
        </p:nvSpPr>
        <p:spPr>
          <a:xfrm>
            <a:off x="548640" y="2532888"/>
            <a:ext cx="6035040" cy="749808"/>
          </a:xfrm>
          <a:prstGeom prst="roundRect">
            <a:avLst>
              <a:gd name="adj" fmla="val 9756"/>
            </a:avLst>
          </a:prstGeom>
          <a:solidFill>
            <a:schemeClr val="tx2"/>
          </a:solidFill>
          <a:ln/>
        </p:spPr>
      </p:sp>
      <p:sp>
        <p:nvSpPr>
          <p:cNvPr id="10" name="Text 8"/>
          <p:cNvSpPr txBox="1"/>
          <p:nvPr/>
        </p:nvSpPr>
        <p:spPr>
          <a:xfrm>
            <a:off x="777240" y="2532888"/>
            <a:ext cx="5669280" cy="749808"/>
          </a:xfrm>
          <a:prstGeom prst="rect">
            <a:avLst/>
          </a:prstGeom>
          <a:noFill/>
          <a:ln/>
        </p:spPr>
        <p:txBody>
          <a:bodyPr wrap="square" lIns="0" tIns="0" rIns="0" bIns="0" rtlCol="0" anchor="ctr"/>
          <a:lstStyle/>
          <a:p>
            <a:pPr indent="0" marL="0">
              <a:buNone/>
            </a:pPr>
            <a:r>
              <a:rPr lang="en-US" sz="1800" b="1" dirty="0">
                <a:solidFill>
                  <a:schemeClr val="bg1"/>
                </a:solidFill>
              </a:rPr>
              <a:t>Celui qui a formé l'œil   </a:t>
            </a:r>
            <a:pPr indent="0" marL="0">
              <a:buNone/>
            </a:pPr>
            <a:r>
              <a:rPr lang="en-US" sz="1400" i="1" dirty="0">
                <a:solidFill>
                  <a:schemeClr val="accent2"/>
                </a:solidFill>
              </a:rPr>
              <a:t>yōṣēr</a:t>
            </a:r>
            <a:endParaRPr lang="en-US" sz="1800" dirty="0"/>
          </a:p>
        </p:txBody>
      </p:sp>
      <p:sp>
        <p:nvSpPr>
          <p:cNvPr id="11" name="Conséquence 2"/>
          <p:cNvSpPr/>
          <p:nvPr/>
        </p:nvSpPr>
        <p:spPr>
          <a:xfrm>
            <a:off x="6675120" y="2907792"/>
            <a:ext cx="731520" cy="0"/>
          </a:xfrm>
          <a:prstGeom prst="line">
            <a:avLst/>
          </a:prstGeom>
          <a:noFill/>
          <a:ln w="28575">
            <a:solidFill>
              <a:schemeClr val="accent1"/>
            </a:solidFill>
            <a:prstDash val="solid"/>
            <a:tailEnd type="triangle"/>
          </a:ln>
        </p:spPr>
      </p:sp>
      <p:sp>
        <p:nvSpPr>
          <p:cNvPr id="12" name="Réponse 2"/>
          <p:cNvSpPr/>
          <p:nvPr/>
        </p:nvSpPr>
        <p:spPr>
          <a:xfrm>
            <a:off x="7498080" y="2532888"/>
            <a:ext cx="4142232" cy="749808"/>
          </a:xfrm>
          <a:prstGeom prst="roundRect">
            <a:avLst>
              <a:gd name="adj" fmla="val 9756"/>
            </a:avLst>
          </a:prstGeom>
          <a:solidFill>
            <a:schemeClr val="accent1"/>
          </a:solidFill>
          <a:ln/>
        </p:spPr>
        <p:txBody>
          <a:bodyPr wrap="square" lIns="1524" tIns="1524" rIns="1524" bIns="1524" rtlCol="0" anchor="ctr"/>
          <a:lstStyle/>
          <a:p>
            <a:pPr algn="ctr" indent="0" marL="0">
              <a:buNone/>
            </a:pPr>
            <a:r>
              <a:rPr lang="en-US" sz="1800" b="1" dirty="0">
                <a:solidFill>
                  <a:schemeClr val="tx1"/>
                </a:solidFill>
              </a:rPr>
              <a:t>ne verrait-il pas?</a:t>
            </a:r>
            <a:endParaRPr lang="en-US" sz="1800" dirty="0"/>
          </a:p>
        </p:txBody>
      </p:sp>
      <p:sp>
        <p:nvSpPr>
          <p:cNvPr id="13" name="Text 11"/>
          <p:cNvSpPr txBox="1"/>
          <p:nvPr/>
        </p:nvSpPr>
        <p:spPr>
          <a:xfrm>
            <a:off x="10744200" y="2569464"/>
            <a:ext cx="822960" cy="228600"/>
          </a:xfrm>
          <a:prstGeom prst="rect">
            <a:avLst/>
          </a:prstGeom>
          <a:noFill/>
          <a:ln/>
        </p:spPr>
        <p:txBody>
          <a:bodyPr wrap="square" lIns="0" tIns="0" rIns="0" bIns="0" rtlCol="0" anchor="t"/>
          <a:lstStyle/>
          <a:p>
            <a:pPr algn="r" indent="0" marL="0">
              <a:buNone/>
            </a:pPr>
            <a:r>
              <a:rPr lang="en-US" sz="1200" b="1" dirty="0">
                <a:solidFill>
                  <a:schemeClr val="tx1"/>
                </a:solidFill>
              </a:rPr>
              <a:t>94.9</a:t>
            </a:r>
            <a:endParaRPr lang="en-US" sz="1200" dirty="0"/>
          </a:p>
        </p:txBody>
      </p:sp>
      <p:sp>
        <p:nvSpPr>
          <p:cNvPr id="14" name="Question 3"/>
          <p:cNvSpPr/>
          <p:nvPr/>
        </p:nvSpPr>
        <p:spPr>
          <a:xfrm>
            <a:off x="548640" y="3419856"/>
            <a:ext cx="6035040" cy="749808"/>
          </a:xfrm>
          <a:prstGeom prst="roundRect">
            <a:avLst>
              <a:gd name="adj" fmla="val 9756"/>
            </a:avLst>
          </a:prstGeom>
          <a:solidFill>
            <a:schemeClr val="tx2"/>
          </a:solidFill>
          <a:ln/>
        </p:spPr>
      </p:sp>
      <p:sp>
        <p:nvSpPr>
          <p:cNvPr id="15" name="Text 13"/>
          <p:cNvSpPr txBox="1"/>
          <p:nvPr/>
        </p:nvSpPr>
        <p:spPr>
          <a:xfrm>
            <a:off x="777240" y="3419856"/>
            <a:ext cx="5669280" cy="749808"/>
          </a:xfrm>
          <a:prstGeom prst="rect">
            <a:avLst/>
          </a:prstGeom>
          <a:noFill/>
          <a:ln/>
        </p:spPr>
        <p:txBody>
          <a:bodyPr wrap="square" lIns="0" tIns="0" rIns="0" bIns="0" rtlCol="0" anchor="ctr"/>
          <a:lstStyle/>
          <a:p>
            <a:pPr indent="0" marL="0">
              <a:buNone/>
            </a:pPr>
            <a:r>
              <a:rPr lang="en-US" sz="1800" b="1" dirty="0">
                <a:solidFill>
                  <a:schemeClr val="bg1"/>
                </a:solidFill>
              </a:rPr>
              <a:t>Celui qui châtie les nations   </a:t>
            </a:r>
            <a:pPr indent="0" marL="0">
              <a:buNone/>
            </a:pPr>
            <a:r>
              <a:rPr lang="en-US" sz="1400" i="1" dirty="0">
                <a:solidFill>
                  <a:schemeClr val="accent2"/>
                </a:solidFill>
              </a:rPr>
              <a:t>yōsēr</a:t>
            </a:r>
            <a:endParaRPr lang="en-US" sz="1800" dirty="0"/>
          </a:p>
        </p:txBody>
      </p:sp>
      <p:sp>
        <p:nvSpPr>
          <p:cNvPr id="16" name="Conséquence 3"/>
          <p:cNvSpPr/>
          <p:nvPr/>
        </p:nvSpPr>
        <p:spPr>
          <a:xfrm>
            <a:off x="6675120" y="3794760"/>
            <a:ext cx="731520" cy="0"/>
          </a:xfrm>
          <a:prstGeom prst="line">
            <a:avLst/>
          </a:prstGeom>
          <a:noFill/>
          <a:ln w="28575">
            <a:solidFill>
              <a:schemeClr val="accent1"/>
            </a:solidFill>
            <a:prstDash val="solid"/>
            <a:tailEnd type="triangle"/>
          </a:ln>
        </p:spPr>
      </p:sp>
      <p:sp>
        <p:nvSpPr>
          <p:cNvPr id="17" name="Réponse 3"/>
          <p:cNvSpPr/>
          <p:nvPr/>
        </p:nvSpPr>
        <p:spPr>
          <a:xfrm>
            <a:off x="7498080" y="3419856"/>
            <a:ext cx="4142232" cy="749808"/>
          </a:xfrm>
          <a:prstGeom prst="roundRect">
            <a:avLst>
              <a:gd name="adj" fmla="val 9756"/>
            </a:avLst>
          </a:prstGeom>
          <a:solidFill>
            <a:schemeClr val="accent1"/>
          </a:solidFill>
          <a:ln/>
        </p:spPr>
        <p:txBody>
          <a:bodyPr wrap="square" lIns="1524" tIns="1524" rIns="1524" bIns="1524" rtlCol="0" anchor="ctr"/>
          <a:lstStyle/>
          <a:p>
            <a:pPr algn="ctr" indent="0" marL="0">
              <a:buNone/>
            </a:pPr>
            <a:r>
              <a:rPr lang="en-US" sz="1800" b="1" dirty="0">
                <a:solidFill>
                  <a:schemeClr val="tx1"/>
                </a:solidFill>
              </a:rPr>
              <a:t>ne punirait-il point?</a:t>
            </a:r>
            <a:endParaRPr lang="en-US" sz="1800" dirty="0"/>
          </a:p>
        </p:txBody>
      </p:sp>
      <p:sp>
        <p:nvSpPr>
          <p:cNvPr id="18" name="Text 16"/>
          <p:cNvSpPr txBox="1"/>
          <p:nvPr/>
        </p:nvSpPr>
        <p:spPr>
          <a:xfrm>
            <a:off x="10744200" y="3456432"/>
            <a:ext cx="822960" cy="228600"/>
          </a:xfrm>
          <a:prstGeom prst="rect">
            <a:avLst/>
          </a:prstGeom>
          <a:noFill/>
          <a:ln/>
        </p:spPr>
        <p:txBody>
          <a:bodyPr wrap="square" lIns="0" tIns="0" rIns="0" bIns="0" rtlCol="0" anchor="t"/>
          <a:lstStyle/>
          <a:p>
            <a:pPr algn="r" indent="0" marL="0">
              <a:buNone/>
            </a:pPr>
            <a:r>
              <a:rPr lang="en-US" sz="1200" b="1" dirty="0">
                <a:solidFill>
                  <a:schemeClr val="tx1"/>
                </a:solidFill>
              </a:rPr>
              <a:t>94.10</a:t>
            </a:r>
            <a:endParaRPr lang="en-US" sz="1200" dirty="0"/>
          </a:p>
        </p:txBody>
      </p:sp>
      <p:sp>
        <p:nvSpPr>
          <p:cNvPr id="19" name="Question 4"/>
          <p:cNvSpPr/>
          <p:nvPr/>
        </p:nvSpPr>
        <p:spPr>
          <a:xfrm>
            <a:off x="548640" y="4306824"/>
            <a:ext cx="6035040" cy="749808"/>
          </a:xfrm>
          <a:prstGeom prst="roundRect">
            <a:avLst>
              <a:gd name="adj" fmla="val 9756"/>
            </a:avLst>
          </a:prstGeom>
          <a:solidFill>
            <a:schemeClr val="accent4"/>
          </a:solidFill>
          <a:ln w="12700">
            <a:solidFill>
              <a:schemeClr val="accent6"/>
            </a:solidFill>
            <a:prstDash val="dash"/>
          </a:ln>
        </p:spPr>
      </p:sp>
      <p:sp>
        <p:nvSpPr>
          <p:cNvPr id="20" name="Text 18"/>
          <p:cNvSpPr txBox="1"/>
          <p:nvPr/>
        </p:nvSpPr>
        <p:spPr>
          <a:xfrm>
            <a:off x="777240" y="4306824"/>
            <a:ext cx="5669280" cy="749808"/>
          </a:xfrm>
          <a:prstGeom prst="rect">
            <a:avLst/>
          </a:prstGeom>
          <a:noFill/>
          <a:ln/>
        </p:spPr>
        <p:txBody>
          <a:bodyPr wrap="square" lIns="0" tIns="0" rIns="0" bIns="0" rtlCol="0" anchor="ctr"/>
          <a:lstStyle/>
          <a:p>
            <a:pPr indent="0" marL="0">
              <a:buNone/>
            </a:pPr>
            <a:r>
              <a:rPr lang="en-US" sz="1800" b="1" dirty="0">
                <a:solidFill>
                  <a:schemeClr val="bg1"/>
                </a:solidFill>
              </a:rPr>
              <a:t>Lui qui donne à l'homme l'intelligence   </a:t>
            </a:r>
            <a:pPr indent="0" marL="0">
              <a:buNone/>
            </a:pPr>
            <a:r>
              <a:rPr lang="en-US" sz="1400" i="1" dirty="0">
                <a:solidFill>
                  <a:schemeClr val="accent2"/>
                </a:solidFill>
              </a:rPr>
              <a:t>mĕlammēd : celui qui enseigne</a:t>
            </a:r>
            <a:endParaRPr lang="en-US" sz="1800" dirty="0"/>
          </a:p>
        </p:txBody>
      </p:sp>
      <p:sp>
        <p:nvSpPr>
          <p:cNvPr id="21" name="Conséquence 4"/>
          <p:cNvSpPr/>
          <p:nvPr/>
        </p:nvSpPr>
        <p:spPr>
          <a:xfrm>
            <a:off x="6675120" y="4681728"/>
            <a:ext cx="731520" cy="0"/>
          </a:xfrm>
          <a:prstGeom prst="line">
            <a:avLst/>
          </a:prstGeom>
          <a:noFill/>
          <a:ln w="28575">
            <a:solidFill>
              <a:schemeClr val="accent1"/>
            </a:solidFill>
            <a:prstDash val="dash"/>
            <a:tailEnd type="triangle"/>
          </a:ln>
        </p:spPr>
      </p:sp>
      <p:sp>
        <p:nvSpPr>
          <p:cNvPr id="22" name="Réponse 4"/>
          <p:cNvSpPr/>
          <p:nvPr/>
        </p:nvSpPr>
        <p:spPr>
          <a:xfrm>
            <a:off x="7498080" y="4306824"/>
            <a:ext cx="4142232" cy="749808"/>
          </a:xfrm>
          <a:prstGeom prst="roundRect">
            <a:avLst>
              <a:gd name="adj" fmla="val 9756"/>
            </a:avLst>
          </a:prstGeom>
          <a:solidFill>
            <a:schemeClr val="accent4"/>
          </a:solidFill>
          <a:ln w="12700">
            <a:solidFill>
              <a:schemeClr val="accent6"/>
            </a:solidFill>
            <a:prstDash val="dash"/>
          </a:ln>
        </p:spPr>
        <p:txBody>
          <a:bodyPr wrap="square" lIns="1524" tIns="1524" rIns="1524" bIns="1524" rtlCol="0" anchor="ctr"/>
          <a:lstStyle/>
          <a:p>
            <a:pPr algn="ctr" indent="0" marL="0">
              <a:buNone/>
            </a:pPr>
            <a:r>
              <a:rPr lang="en-US" sz="1800" b="1" dirty="0">
                <a:solidFill>
                  <a:schemeClr val="bg1"/>
                </a:solidFill>
              </a:rPr>
              <a:t>reviendra au verset 12</a:t>
            </a:r>
            <a:endParaRPr lang="en-US" sz="1800" dirty="0"/>
          </a:p>
        </p:txBody>
      </p:sp>
      <p:sp>
        <p:nvSpPr>
          <p:cNvPr id="23" name="Text 21"/>
          <p:cNvSpPr txBox="1"/>
          <p:nvPr/>
        </p:nvSpPr>
        <p:spPr>
          <a:xfrm>
            <a:off x="10744200" y="4343400"/>
            <a:ext cx="822960" cy="228600"/>
          </a:xfrm>
          <a:prstGeom prst="rect">
            <a:avLst/>
          </a:prstGeom>
          <a:noFill/>
          <a:ln/>
        </p:spPr>
        <p:txBody>
          <a:bodyPr wrap="square" lIns="0" tIns="0" rIns="0" bIns="0" rtlCol="0" anchor="t"/>
          <a:lstStyle/>
          <a:p>
            <a:pPr algn="r" indent="0" marL="0">
              <a:buNone/>
            </a:pPr>
            <a:r>
              <a:rPr lang="en-US" sz="1200" b="1" dirty="0">
                <a:solidFill>
                  <a:schemeClr val="accent2"/>
                </a:solidFill>
              </a:rPr>
              <a:t>94.10</a:t>
            </a:r>
            <a:endParaRPr lang="en-US" sz="1200" dirty="0"/>
          </a:p>
        </p:txBody>
      </p:sp>
      <p:sp>
        <p:nvSpPr>
          <p:cNvPr id="24" name="Œil créateur contour"/>
          <p:cNvSpPr/>
          <p:nvPr/>
        </p:nvSpPr>
        <p:spPr>
          <a:xfrm>
            <a:off x="777240" y="5166360"/>
            <a:ext cx="1828800" cy="914400"/>
          </a:xfrm>
          <a:custGeom>
            <a:avLst/>
            <a:gdLst/>
            <a:ahLst/>
            <a:cxnLst/>
            <a:rect l="l" t="t" r="r" b="b"/>
            <a:pathLst>
              <a:path w="1828800" h="914400">
                <a:moveTo>
                  <a:pt x="0" y="457200"/>
                </a:moveTo>
                <a:quadBezTo>
                  <a:pt x="914400" y="-457200"/>
                  <a:pt x="1828800" y="457200"/>
                </a:quadBezTo>
                <a:quadBezTo>
                  <a:pt x="914400" y="1371600"/>
                  <a:pt x="0" y="457200"/>
                </a:quadBezTo>
                <a:close/>
              </a:path>
            </a:pathLst>
          </a:custGeom>
          <a:solidFill>
            <a:schemeClr val="tx1"/>
          </a:solidFill>
          <a:ln w="31750">
            <a:solidFill>
              <a:schemeClr val="accent1"/>
            </a:solidFill>
            <a:prstDash val="solid"/>
          </a:ln>
        </p:spPr>
      </p:sp>
      <p:sp>
        <p:nvSpPr>
          <p:cNvPr id="25" name="Œil créateur iris"/>
          <p:cNvSpPr/>
          <p:nvPr/>
        </p:nvSpPr>
        <p:spPr>
          <a:xfrm>
            <a:off x="1325880" y="5257800"/>
            <a:ext cx="731520" cy="731520"/>
          </a:xfrm>
          <a:prstGeom prst="ellipse">
            <a:avLst/>
          </a:prstGeom>
          <a:solidFill>
            <a:schemeClr val="accent1"/>
          </a:solidFill>
          <a:ln w="19050">
            <a:solidFill>
              <a:schemeClr val="accent3"/>
            </a:solidFill>
            <a:prstDash val="solid"/>
          </a:ln>
        </p:spPr>
      </p:sp>
      <p:sp>
        <p:nvSpPr>
          <p:cNvPr id="26" name="Œil créateur pupille"/>
          <p:cNvSpPr/>
          <p:nvPr/>
        </p:nvSpPr>
        <p:spPr>
          <a:xfrm>
            <a:off x="1527048" y="5458968"/>
            <a:ext cx="329184" cy="329184"/>
          </a:xfrm>
          <a:prstGeom prst="ellipse">
            <a:avLst/>
          </a:prstGeom>
          <a:solidFill>
            <a:schemeClr val="tx1"/>
          </a:solidFill>
          <a:ln/>
        </p:spPr>
      </p:sp>
      <p:sp>
        <p:nvSpPr>
          <p:cNvPr id="27" name="Œil créateur reflet"/>
          <p:cNvSpPr/>
          <p:nvPr/>
        </p:nvSpPr>
        <p:spPr>
          <a:xfrm>
            <a:off x="1741018" y="5475427"/>
            <a:ext cx="92172" cy="92172"/>
          </a:xfrm>
          <a:prstGeom prst="ellipse">
            <a:avLst/>
          </a:prstGeom>
          <a:solidFill>
            <a:schemeClr val="bg1"/>
          </a:solidFill>
          <a:ln/>
        </p:spPr>
      </p:sp>
      <p:sp>
        <p:nvSpPr>
          <p:cNvPr id="28" name="Text 26"/>
          <p:cNvSpPr txBox="1"/>
          <p:nvPr/>
        </p:nvSpPr>
        <p:spPr>
          <a:xfrm>
            <a:off x="3017520" y="5257800"/>
            <a:ext cx="8595360" cy="502920"/>
          </a:xfrm>
          <a:prstGeom prst="rect">
            <a:avLst/>
          </a:prstGeom>
          <a:noFill/>
          <a:ln/>
        </p:spPr>
        <p:txBody>
          <a:bodyPr wrap="square" lIns="0" tIns="0" rIns="0" bIns="0" rtlCol="0" anchor="t"/>
          <a:lstStyle/>
          <a:p>
            <a:pPr indent="0" marL="0">
              <a:buNone/>
            </a:pPr>
            <a:r>
              <a:rPr lang="en-US" sz="2400" b="1" i="1" dirty="0">
                <a:solidFill>
                  <a:schemeClr val="bg1"/>
                </a:solidFill>
                <a:latin typeface="Cambria" pitchFamily="34" charset="0"/>
                <a:ea typeface="Cambria" pitchFamily="34" charset="-122"/>
                <a:cs typeface="Cambria" pitchFamily="34" charset="-120"/>
              </a:rPr>
              <a:t>Ce n'est pas Dieu qui ne discerne pas; c'est l'insensé.</a:t>
            </a:r>
            <a:endParaRPr lang="en-US" sz="2400" dirty="0"/>
          </a:p>
        </p:txBody>
      </p:sp>
      <p:sp>
        <p:nvSpPr>
          <p:cNvPr id="29" name="Text 27"/>
          <p:cNvSpPr txBox="1"/>
          <p:nvPr/>
        </p:nvSpPr>
        <p:spPr>
          <a:xfrm>
            <a:off x="3017520" y="5806440"/>
            <a:ext cx="8595360" cy="320040"/>
          </a:xfrm>
          <a:prstGeom prst="rect">
            <a:avLst/>
          </a:prstGeom>
          <a:noFill/>
          <a:ln/>
        </p:spPr>
        <p:txBody>
          <a:bodyPr wrap="square" lIns="0" tIns="0" rIns="0" bIns="0" rtlCol="0" anchor="t"/>
          <a:lstStyle/>
          <a:p>
            <a:pPr indent="0" marL="0">
              <a:buNone/>
            </a:pPr>
            <a:r>
              <a:rPr lang="en-US" sz="1500" dirty="0">
                <a:solidFill>
                  <a:schemeClr val="accent2"/>
                </a:solidFill>
              </a:rPr>
              <a:t>Le texte réfute le credo par la création avant la menace.</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0058400" cy="320040"/>
          </a:xfrm>
          <a:prstGeom prst="rect">
            <a:avLst/>
          </a:prstGeom>
          <a:noFill/>
          <a:ln/>
        </p:spPr>
        <p:txBody>
          <a:bodyPr wrap="square" lIns="0" tIns="0" rIns="0" bIns="0" rtlCol="0"/>
          <a:lstStyle/>
          <a:p>
            <a:pPr indent="0" marL="0">
              <a:buNone/>
            </a:pPr>
            <a:r>
              <a:rPr lang="en-US" sz="1300" b="1" spc="100" kern="0" dirty="0">
                <a:solidFill>
                  <a:schemeClr val="accent2"/>
                </a:solidFill>
              </a:rPr>
              <a:t>II · Le Dieu qui voit · 94.11</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Il connaît les pensées de l'homme</a:t>
            </a:r>
            <a:endParaRPr lang="en-US" sz="3000" dirty="0"/>
          </a:p>
        </p:txBody>
      </p:sp>
      <p:sp>
        <p:nvSpPr>
          <p:cNvPr id="4" name="Pensées de Dieu"/>
          <p:cNvSpPr/>
          <p:nvPr/>
        </p:nvSpPr>
        <p:spPr>
          <a:xfrm>
            <a:off x="548640" y="1645920"/>
            <a:ext cx="5394960" cy="2651760"/>
          </a:xfrm>
          <a:prstGeom prst="roundRect">
            <a:avLst>
              <a:gd name="adj" fmla="val 2759"/>
            </a:avLst>
          </a:prstGeom>
          <a:solidFill>
            <a:schemeClr val="tx2"/>
          </a:solidFill>
          <a:ln/>
        </p:spPr>
      </p:sp>
      <p:sp>
        <p:nvSpPr>
          <p:cNvPr id="5" name="Text 3"/>
          <p:cNvSpPr txBox="1"/>
          <p:nvPr/>
        </p:nvSpPr>
        <p:spPr>
          <a:xfrm>
            <a:off x="822960" y="1783080"/>
            <a:ext cx="4846320" cy="457200"/>
          </a:xfrm>
          <a:prstGeom prst="rect">
            <a:avLst/>
          </a:prstGeom>
          <a:noFill/>
          <a:ln/>
        </p:spPr>
        <p:txBody>
          <a:bodyPr wrap="square" lIns="0" tIns="0" rIns="0" bIns="0" rtlCol="0" anchor="t"/>
          <a:lstStyle/>
          <a:p>
            <a:pPr indent="0" marL="0">
              <a:buNone/>
            </a:pPr>
            <a:r>
              <a:rPr lang="en-US" sz="2100" b="1" dirty="0">
                <a:solidFill>
                  <a:schemeClr val="accent2"/>
                </a:solidFill>
                <a:latin typeface="Cambria" pitchFamily="34" charset="0"/>
                <a:ea typeface="Cambria" pitchFamily="34" charset="-122"/>
                <a:cs typeface="Cambria" pitchFamily="34" charset="-120"/>
              </a:rPr>
              <a:t>Les pensées de Dieu</a:t>
            </a:r>
            <a:endParaRPr lang="en-US" sz="2100" dirty="0"/>
          </a:p>
        </p:txBody>
      </p:sp>
      <p:sp>
        <p:nvSpPr>
          <p:cNvPr id="6" name="Abîme"/>
          <p:cNvSpPr/>
          <p:nvPr/>
        </p:nvSpPr>
        <p:spPr>
          <a:xfrm>
            <a:off x="914400" y="2377440"/>
            <a:ext cx="868680" cy="1691640"/>
          </a:xfrm>
          <a:prstGeom prst="roundRect">
            <a:avLst>
              <a:gd name="adj" fmla="val 10526"/>
            </a:avLst>
          </a:prstGeom>
          <a:solidFill>
            <a:schemeClr val="accent3"/>
          </a:solidFill>
          <a:ln/>
        </p:spPr>
      </p:sp>
      <p:sp>
        <p:nvSpPr>
          <p:cNvPr id="7" name="Profondeur"/>
          <p:cNvSpPr/>
          <p:nvPr/>
        </p:nvSpPr>
        <p:spPr>
          <a:xfrm>
            <a:off x="1097280" y="2560320"/>
            <a:ext cx="502920" cy="1280160"/>
          </a:xfrm>
          <a:prstGeom prst="downArrow">
            <a:avLst/>
          </a:prstGeom>
          <a:solidFill>
            <a:schemeClr val="accent1"/>
          </a:solidFill>
          <a:ln/>
        </p:spPr>
      </p:sp>
      <p:sp>
        <p:nvSpPr>
          <p:cNvPr id="8" name="Text 6"/>
          <p:cNvSpPr txBox="1"/>
          <p:nvPr/>
        </p:nvSpPr>
        <p:spPr>
          <a:xfrm>
            <a:off x="2057400" y="2423160"/>
            <a:ext cx="3657600" cy="914400"/>
          </a:xfrm>
          <a:prstGeom prst="rect">
            <a:avLst/>
          </a:prstGeom>
          <a:noFill/>
          <a:ln/>
        </p:spPr>
        <p:txBody>
          <a:bodyPr wrap="square" lIns="0" tIns="0" rIns="0" bIns="0" rtlCol="0" anchor="t"/>
          <a:lstStyle/>
          <a:p>
            <a:pPr indent="0" marL="0">
              <a:buNone/>
            </a:pPr>
            <a:r>
              <a:rPr lang="en-US" sz="2100" i="1" dirty="0">
                <a:solidFill>
                  <a:schemeClr val="bg1"/>
                </a:solidFill>
                <a:latin typeface="Cambria" pitchFamily="34" charset="0"/>
                <a:ea typeface="Cambria" pitchFamily="34" charset="-122"/>
                <a:cs typeface="Cambria" pitchFamily="34" charset="-120"/>
              </a:rPr>
              <a:t>« Que tes pensées sont profondes! »</a:t>
            </a:r>
            <a:endParaRPr lang="en-US" sz="2100" dirty="0"/>
          </a:p>
        </p:txBody>
      </p:sp>
      <p:sp>
        <p:nvSpPr>
          <p:cNvPr id="9" name="Text 7"/>
          <p:cNvSpPr txBox="1"/>
          <p:nvPr/>
        </p:nvSpPr>
        <p:spPr>
          <a:xfrm>
            <a:off x="2057400" y="3383280"/>
            <a:ext cx="3657600" cy="274320"/>
          </a:xfrm>
          <a:prstGeom prst="rect">
            <a:avLst/>
          </a:prstGeom>
          <a:noFill/>
          <a:ln/>
        </p:spPr>
        <p:txBody>
          <a:bodyPr wrap="square" lIns="0" tIns="0" rIns="0" bIns="0" rtlCol="0" anchor="t"/>
          <a:lstStyle/>
          <a:p>
            <a:pPr indent="0" marL="0">
              <a:buNone/>
            </a:pPr>
            <a:r>
              <a:rPr lang="en-US" sz="1400" b="1" dirty="0">
                <a:solidFill>
                  <a:schemeClr val="accent2"/>
                </a:solidFill>
              </a:rPr>
              <a:t>Psaume 92.6</a:t>
            </a:r>
            <a:endParaRPr lang="en-US" sz="1400" dirty="0"/>
          </a:p>
        </p:txBody>
      </p:sp>
      <p:sp>
        <p:nvSpPr>
          <p:cNvPr id="10" name="Pensées de l'homme"/>
          <p:cNvSpPr/>
          <p:nvPr/>
        </p:nvSpPr>
        <p:spPr>
          <a:xfrm>
            <a:off x="6245352" y="1645920"/>
            <a:ext cx="5394960" cy="2651760"/>
          </a:xfrm>
          <a:prstGeom prst="roundRect">
            <a:avLst>
              <a:gd name="adj" fmla="val 2759"/>
            </a:avLst>
          </a:prstGeom>
          <a:solidFill>
            <a:schemeClr val="tx2"/>
          </a:solidFill>
          <a:ln/>
        </p:spPr>
      </p:sp>
      <p:sp>
        <p:nvSpPr>
          <p:cNvPr id="11" name="Text 9"/>
          <p:cNvSpPr txBox="1"/>
          <p:nvPr/>
        </p:nvSpPr>
        <p:spPr>
          <a:xfrm>
            <a:off x="6519672" y="1783080"/>
            <a:ext cx="4846320" cy="457200"/>
          </a:xfrm>
          <a:prstGeom prst="rect">
            <a:avLst/>
          </a:prstGeom>
          <a:noFill/>
          <a:ln/>
        </p:spPr>
        <p:txBody>
          <a:bodyPr wrap="square" lIns="0" tIns="0" rIns="0" bIns="0" rtlCol="0" anchor="t"/>
          <a:lstStyle/>
          <a:p>
            <a:pPr indent="0" marL="0">
              <a:buNone/>
            </a:pPr>
            <a:r>
              <a:rPr lang="en-US" sz="2100" b="1" dirty="0">
                <a:solidFill>
                  <a:schemeClr val="accent2"/>
                </a:solidFill>
                <a:latin typeface="Cambria" pitchFamily="34" charset="0"/>
                <a:ea typeface="Cambria" pitchFamily="34" charset="-122"/>
                <a:cs typeface="Cambria" pitchFamily="34" charset="-120"/>
              </a:rPr>
              <a:t>Les pensées de l'homme</a:t>
            </a:r>
            <a:endParaRPr lang="en-US" sz="2100" dirty="0"/>
          </a:p>
        </p:txBody>
      </p:sp>
      <p:sp>
        <p:nvSpPr>
          <p:cNvPr id="12" name="Vapeur"/>
          <p:cNvSpPr/>
          <p:nvPr/>
        </p:nvSpPr>
        <p:spPr>
          <a:xfrm>
            <a:off x="6492240" y="2377440"/>
            <a:ext cx="1737360" cy="1097280"/>
          </a:xfrm>
          <a:prstGeom prst="cloud">
            <a:avLst/>
          </a:prstGeom>
          <a:solidFill>
            <a:schemeClr val="accent6"/>
          </a:solidFill>
          <a:ln/>
        </p:spPr>
      </p:sp>
      <p:sp>
        <p:nvSpPr>
          <p:cNvPr id="13" name="Text 11"/>
          <p:cNvSpPr txBox="1"/>
          <p:nvPr/>
        </p:nvSpPr>
        <p:spPr>
          <a:xfrm>
            <a:off x="6400800" y="3520440"/>
            <a:ext cx="2011680" cy="457200"/>
          </a:xfrm>
          <a:prstGeom prst="rect">
            <a:avLst/>
          </a:prstGeom>
          <a:noFill/>
          <a:ln/>
        </p:spPr>
        <p:txBody>
          <a:bodyPr wrap="square" lIns="0" tIns="0" rIns="0" bIns="0" rtlCol="0" anchor="t"/>
          <a:lstStyle/>
          <a:p>
            <a:pPr algn="ctr" indent="0" marL="0">
              <a:buNone/>
            </a:pPr>
            <a:r>
              <a:rPr lang="en-US" sz="1300" i="1" dirty="0">
                <a:solidFill>
                  <a:schemeClr val="bg2"/>
                </a:solidFill>
              </a:rPr>
              <a:t>hebel : « vanité » (BDB)</a:t>
            </a:r>
            <a:endParaRPr lang="en-US" sz="1300" dirty="0"/>
          </a:p>
        </p:txBody>
      </p:sp>
      <p:sp>
        <p:nvSpPr>
          <p:cNvPr id="14" name="Text 12"/>
          <p:cNvSpPr txBox="1"/>
          <p:nvPr/>
        </p:nvSpPr>
        <p:spPr>
          <a:xfrm>
            <a:off x="8503920" y="2423160"/>
            <a:ext cx="2926080" cy="914400"/>
          </a:xfrm>
          <a:prstGeom prst="rect">
            <a:avLst/>
          </a:prstGeom>
          <a:noFill/>
          <a:ln/>
        </p:spPr>
        <p:txBody>
          <a:bodyPr wrap="square" lIns="0" tIns="0" rIns="0" bIns="0" rtlCol="0" anchor="t"/>
          <a:lstStyle/>
          <a:p>
            <a:pPr indent="0" marL="0">
              <a:buNone/>
            </a:pPr>
            <a:r>
              <a:rPr lang="en-US" sz="2100" i="1" dirty="0">
                <a:solidFill>
                  <a:schemeClr val="bg1"/>
                </a:solidFill>
                <a:latin typeface="Cambria" pitchFamily="34" charset="0"/>
                <a:ea typeface="Cambria" pitchFamily="34" charset="-122"/>
                <a:cs typeface="Cambria" pitchFamily="34" charset="-120"/>
              </a:rPr>
              <a:t>« Il sait qu'elles sont vaines. »</a:t>
            </a:r>
            <a:endParaRPr lang="en-US" sz="2100" dirty="0"/>
          </a:p>
        </p:txBody>
      </p:sp>
      <p:sp>
        <p:nvSpPr>
          <p:cNvPr id="15" name="Text 13"/>
          <p:cNvSpPr txBox="1"/>
          <p:nvPr/>
        </p:nvSpPr>
        <p:spPr>
          <a:xfrm>
            <a:off x="8503920" y="3383280"/>
            <a:ext cx="2926080" cy="274320"/>
          </a:xfrm>
          <a:prstGeom prst="rect">
            <a:avLst/>
          </a:prstGeom>
          <a:noFill/>
          <a:ln/>
        </p:spPr>
        <p:txBody>
          <a:bodyPr wrap="square" lIns="0" tIns="0" rIns="0" bIns="0" rtlCol="0" anchor="t"/>
          <a:lstStyle/>
          <a:p>
            <a:pPr indent="0" marL="0">
              <a:buNone/>
            </a:pPr>
            <a:r>
              <a:rPr lang="en-US" sz="1400" b="1" dirty="0">
                <a:solidFill>
                  <a:schemeClr val="accent2"/>
                </a:solidFill>
              </a:rPr>
              <a:t>Psaume 94.11</a:t>
            </a:r>
            <a:endParaRPr lang="en-US" sz="1400" dirty="0"/>
          </a:p>
        </p:txBody>
      </p:sp>
      <p:sp>
        <p:nvSpPr>
          <p:cNvPr id="16" name="Même mot"/>
          <p:cNvSpPr/>
          <p:nvPr/>
        </p:nvSpPr>
        <p:spPr>
          <a:xfrm>
            <a:off x="4434840" y="4069080"/>
            <a:ext cx="3319272" cy="502920"/>
          </a:xfrm>
          <a:prstGeom prst="roundRect">
            <a:avLst>
              <a:gd name="adj" fmla="val 54545"/>
            </a:avLst>
          </a:prstGeom>
          <a:solidFill>
            <a:schemeClr val="accent1"/>
          </a:solidFill>
          <a:ln/>
        </p:spPr>
        <p:txBody>
          <a:bodyPr wrap="square" lIns="1524" tIns="1524" rIns="1524" bIns="1524" rtlCol="0" anchor="ctr"/>
          <a:lstStyle/>
          <a:p>
            <a:pPr algn="ctr" indent="0" marL="0">
              <a:buNone/>
            </a:pPr>
            <a:r>
              <a:rPr lang="en-US" sz="1500" b="1" dirty="0">
                <a:solidFill>
                  <a:schemeClr val="tx1"/>
                </a:solidFill>
              </a:rPr>
              <a:t>même mot hébreu : maḥăšābāh</a:t>
            </a:r>
            <a:endParaRPr lang="en-US" sz="1500" dirty="0"/>
          </a:p>
        </p:txBody>
      </p:sp>
      <p:sp>
        <p:nvSpPr>
          <p:cNvPr id="17" name="Appui 1"/>
          <p:cNvSpPr/>
          <p:nvPr/>
        </p:nvSpPr>
        <p:spPr>
          <a:xfrm>
            <a:off x="548640" y="4846320"/>
            <a:ext cx="3593592" cy="1371600"/>
          </a:xfrm>
          <a:prstGeom prst="roundRect">
            <a:avLst>
              <a:gd name="adj" fmla="val 5333"/>
            </a:avLst>
          </a:prstGeom>
          <a:solidFill>
            <a:schemeClr val="accent4"/>
          </a:solidFill>
          <a:ln w="12700">
            <a:solidFill>
              <a:schemeClr val="accent6"/>
            </a:solidFill>
            <a:prstDash val="solid"/>
          </a:ln>
        </p:spPr>
      </p:sp>
      <p:sp>
        <p:nvSpPr>
          <p:cNvPr id="18" name="Text 16"/>
          <p:cNvSpPr txBox="1"/>
          <p:nvPr/>
        </p:nvSpPr>
        <p:spPr>
          <a:xfrm>
            <a:off x="731520" y="4919472"/>
            <a:ext cx="3246120" cy="274320"/>
          </a:xfrm>
          <a:prstGeom prst="rect">
            <a:avLst/>
          </a:prstGeom>
          <a:noFill/>
          <a:ln/>
        </p:spPr>
        <p:txBody>
          <a:bodyPr wrap="square" lIns="0" tIns="0" rIns="0" bIns="0" rtlCol="0" anchor="t"/>
          <a:lstStyle/>
          <a:p>
            <a:pPr indent="0" marL="0">
              <a:buNone/>
            </a:pPr>
            <a:r>
              <a:rPr lang="en-US" sz="1400" b="1" dirty="0">
                <a:solidFill>
                  <a:schemeClr val="accent2"/>
                </a:solidFill>
              </a:rPr>
              <a:t>La note de MacArthur</a:t>
            </a:r>
            <a:endParaRPr lang="en-US" sz="1400" dirty="0"/>
          </a:p>
        </p:txBody>
      </p:sp>
      <p:sp>
        <p:nvSpPr>
          <p:cNvPr id="19" name="Text 17"/>
          <p:cNvSpPr txBox="1"/>
          <p:nvPr/>
        </p:nvSpPr>
        <p:spPr>
          <a:xfrm>
            <a:off x="731520" y="5230368"/>
            <a:ext cx="3246120" cy="960120"/>
          </a:xfrm>
          <a:prstGeom prst="rect">
            <a:avLst/>
          </a:prstGeom>
          <a:noFill/>
          <a:ln/>
        </p:spPr>
        <p:txBody>
          <a:bodyPr wrap="square" lIns="0" tIns="0" rIns="0" bIns="0" rtlCol="0" anchor="t"/>
          <a:lstStyle/>
          <a:p>
            <a:pPr indent="0" marL="0">
              <a:buNone/>
            </a:pPr>
            <a:r>
              <a:rPr lang="en-US" sz="1400" i="1" dirty="0">
                <a:solidFill>
                  <a:schemeClr val="bg1"/>
                </a:solidFill>
              </a:rPr>
              <a:t>« Les projets conçus par l'esprit des méchants ne sont que vanité »</a:t>
            </a:r>
            <a:endParaRPr lang="en-US" sz="1400" dirty="0"/>
          </a:p>
        </p:txBody>
      </p:sp>
      <p:sp>
        <p:nvSpPr>
          <p:cNvPr id="20" name="Appui 2"/>
          <p:cNvSpPr/>
          <p:nvPr/>
        </p:nvSpPr>
        <p:spPr>
          <a:xfrm>
            <a:off x="4297680" y="4846320"/>
            <a:ext cx="3593592" cy="1371600"/>
          </a:xfrm>
          <a:prstGeom prst="roundRect">
            <a:avLst>
              <a:gd name="adj" fmla="val 5333"/>
            </a:avLst>
          </a:prstGeom>
          <a:solidFill>
            <a:schemeClr val="accent4"/>
          </a:solidFill>
          <a:ln w="12700">
            <a:solidFill>
              <a:schemeClr val="accent6"/>
            </a:solidFill>
            <a:prstDash val="solid"/>
          </a:ln>
        </p:spPr>
      </p:sp>
      <p:sp>
        <p:nvSpPr>
          <p:cNvPr id="21" name="Text 19"/>
          <p:cNvSpPr txBox="1"/>
          <p:nvPr/>
        </p:nvSpPr>
        <p:spPr>
          <a:xfrm>
            <a:off x="4480560" y="4919472"/>
            <a:ext cx="3246120" cy="274320"/>
          </a:xfrm>
          <a:prstGeom prst="rect">
            <a:avLst/>
          </a:prstGeom>
          <a:noFill/>
          <a:ln/>
        </p:spPr>
        <p:txBody>
          <a:bodyPr wrap="square" lIns="0" tIns="0" rIns="0" bIns="0" rtlCol="0" anchor="t"/>
          <a:lstStyle/>
          <a:p>
            <a:pPr indent="0" marL="0">
              <a:buNone/>
            </a:pPr>
            <a:r>
              <a:rPr lang="en-US" sz="1400" b="1" dirty="0">
                <a:solidFill>
                  <a:schemeClr val="accent2"/>
                </a:solidFill>
              </a:rPr>
              <a:t>Décision d'interprétation</a:t>
            </a:r>
            <a:endParaRPr lang="en-US" sz="1400" dirty="0"/>
          </a:p>
        </p:txBody>
      </p:sp>
      <p:sp>
        <p:nvSpPr>
          <p:cNvPr id="22" name="Text 20"/>
          <p:cNvSpPr txBox="1"/>
          <p:nvPr/>
        </p:nvSpPr>
        <p:spPr>
          <a:xfrm>
            <a:off x="4480560" y="5230368"/>
            <a:ext cx="3246120" cy="960120"/>
          </a:xfrm>
          <a:prstGeom prst="rect">
            <a:avLst/>
          </a:prstGeom>
          <a:noFill/>
          <a:ln/>
        </p:spPr>
        <p:txBody>
          <a:bodyPr wrap="square" lIns="0" tIns="0" rIns="0" bIns="0" rtlCol="0" anchor="t"/>
          <a:lstStyle/>
          <a:p>
            <a:pPr indent="0" marL="0">
              <a:buNone/>
            </a:pPr>
            <a:r>
              <a:rPr lang="en-US" sz="1400" dirty="0">
                <a:solidFill>
                  <a:schemeClr val="bg1"/>
                </a:solidFill>
              </a:rPr>
              <a:t>BDB range le mot sous « pensée, de l'homme »; la note y lit les méchants, et le contexte l'appuie (94.8-10).</a:t>
            </a:r>
            <a:endParaRPr lang="en-US" sz="1400" dirty="0"/>
          </a:p>
        </p:txBody>
      </p:sp>
      <p:sp>
        <p:nvSpPr>
          <p:cNvPr id="23" name="Appui 3"/>
          <p:cNvSpPr/>
          <p:nvPr/>
        </p:nvSpPr>
        <p:spPr>
          <a:xfrm>
            <a:off x="8046720" y="4846320"/>
            <a:ext cx="3593592" cy="1371600"/>
          </a:xfrm>
          <a:prstGeom prst="roundRect">
            <a:avLst>
              <a:gd name="adj" fmla="val 5333"/>
            </a:avLst>
          </a:prstGeom>
          <a:solidFill>
            <a:schemeClr val="accent3"/>
          </a:solidFill>
          <a:ln/>
        </p:spPr>
      </p:sp>
      <p:sp>
        <p:nvSpPr>
          <p:cNvPr id="24" name="Text 22"/>
          <p:cNvSpPr txBox="1"/>
          <p:nvPr/>
        </p:nvSpPr>
        <p:spPr>
          <a:xfrm>
            <a:off x="8229600" y="4919472"/>
            <a:ext cx="3246120" cy="274320"/>
          </a:xfrm>
          <a:prstGeom prst="rect">
            <a:avLst/>
          </a:prstGeom>
          <a:noFill/>
          <a:ln/>
        </p:spPr>
        <p:txBody>
          <a:bodyPr wrap="square" lIns="0" tIns="0" rIns="0" bIns="0" rtlCol="0" anchor="t"/>
          <a:lstStyle/>
          <a:p>
            <a:pPr indent="0" marL="0">
              <a:buNone/>
            </a:pPr>
            <a:r>
              <a:rPr lang="en-US" sz="1400" b="1" dirty="0">
                <a:solidFill>
                  <a:schemeClr val="accent5"/>
                </a:solidFill>
              </a:rPr>
              <a:t>Paul, d'après la Septante</a:t>
            </a:r>
            <a:endParaRPr lang="en-US" sz="1400" dirty="0"/>
          </a:p>
        </p:txBody>
      </p:sp>
      <p:sp>
        <p:nvSpPr>
          <p:cNvPr id="25" name="Text 23"/>
          <p:cNvSpPr txBox="1"/>
          <p:nvPr/>
        </p:nvSpPr>
        <p:spPr>
          <a:xfrm>
            <a:off x="8229600" y="5230368"/>
            <a:ext cx="3246120" cy="960120"/>
          </a:xfrm>
          <a:prstGeom prst="rect">
            <a:avLst/>
          </a:prstGeom>
          <a:noFill/>
          <a:ln/>
        </p:spPr>
        <p:txBody>
          <a:bodyPr wrap="square" lIns="0" tIns="0" rIns="0" bIns="0" rtlCol="0" anchor="t"/>
          <a:lstStyle/>
          <a:p>
            <a:pPr indent="0" marL="0">
              <a:buNone/>
            </a:pPr>
            <a:r>
              <a:rPr lang="en-US" sz="1400" i="1" dirty="0">
                <a:solidFill>
                  <a:schemeClr val="bg1"/>
                </a:solidFill>
              </a:rPr>
              <a:t>« Le Seigneur connaît les pensées des sages, Il sait qu'elles sont vaines » (1 Corinthiens 3.20)</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Livre section III page gauche"/>
          <p:cNvSpPr/>
          <p:nvPr/>
        </p:nvSpPr>
        <p:spPr>
          <a:xfrm>
            <a:off x="8138160" y="2468880"/>
            <a:ext cx="1618488" cy="2040941"/>
          </a:xfrm>
          <a:prstGeom prst="roundRect">
            <a:avLst>
              <a:gd name="adj" fmla="val 2825"/>
            </a:avLst>
          </a:prstGeom>
          <a:solidFill>
            <a:schemeClr val="bg1"/>
          </a:solidFill>
          <a:ln/>
        </p:spPr>
      </p:sp>
      <p:sp>
        <p:nvSpPr>
          <p:cNvPr id="3" name="Livre section III page droite"/>
          <p:cNvSpPr/>
          <p:nvPr/>
        </p:nvSpPr>
        <p:spPr>
          <a:xfrm>
            <a:off x="9811512" y="2468880"/>
            <a:ext cx="1618488" cy="2040941"/>
          </a:xfrm>
          <a:prstGeom prst="roundRect">
            <a:avLst>
              <a:gd name="adj" fmla="val 2825"/>
            </a:avLst>
          </a:prstGeom>
          <a:solidFill>
            <a:schemeClr val="bg1"/>
          </a:solidFill>
          <a:ln/>
        </p:spPr>
      </p:sp>
      <p:sp>
        <p:nvSpPr>
          <p:cNvPr id="4" name="Livre section III ligne g1"/>
          <p:cNvSpPr/>
          <p:nvPr/>
        </p:nvSpPr>
        <p:spPr>
          <a:xfrm>
            <a:off x="8368589" y="2954818"/>
            <a:ext cx="1119226" cy="0"/>
          </a:xfrm>
          <a:prstGeom prst="line">
            <a:avLst/>
          </a:prstGeom>
          <a:noFill/>
          <a:ln w="12700">
            <a:solidFill>
              <a:schemeClr val="accent6"/>
            </a:solidFill>
            <a:prstDash val="solid"/>
          </a:ln>
        </p:spPr>
      </p:sp>
      <p:sp>
        <p:nvSpPr>
          <p:cNvPr id="5" name="Livre section III ligne d1"/>
          <p:cNvSpPr/>
          <p:nvPr/>
        </p:nvSpPr>
        <p:spPr>
          <a:xfrm>
            <a:off x="10080346" y="2954818"/>
            <a:ext cx="1119226" cy="0"/>
          </a:xfrm>
          <a:prstGeom prst="line">
            <a:avLst/>
          </a:prstGeom>
          <a:noFill/>
          <a:ln w="12700">
            <a:solidFill>
              <a:schemeClr val="accent6"/>
            </a:solidFill>
            <a:prstDash val="solid"/>
          </a:ln>
        </p:spPr>
      </p:sp>
      <p:sp>
        <p:nvSpPr>
          <p:cNvPr id="6" name="Livre section III ligne g2"/>
          <p:cNvSpPr/>
          <p:nvPr/>
        </p:nvSpPr>
        <p:spPr>
          <a:xfrm>
            <a:off x="8368589" y="3440757"/>
            <a:ext cx="1119226" cy="0"/>
          </a:xfrm>
          <a:prstGeom prst="line">
            <a:avLst/>
          </a:prstGeom>
          <a:noFill/>
          <a:ln w="12700">
            <a:solidFill>
              <a:schemeClr val="accent6"/>
            </a:solidFill>
            <a:prstDash val="solid"/>
          </a:ln>
        </p:spPr>
      </p:sp>
      <p:sp>
        <p:nvSpPr>
          <p:cNvPr id="7" name="Livre section III ligne d2"/>
          <p:cNvSpPr/>
          <p:nvPr/>
        </p:nvSpPr>
        <p:spPr>
          <a:xfrm>
            <a:off x="10080346" y="3440757"/>
            <a:ext cx="1119226" cy="0"/>
          </a:xfrm>
          <a:prstGeom prst="line">
            <a:avLst/>
          </a:prstGeom>
          <a:noFill/>
          <a:ln w="12700">
            <a:solidFill>
              <a:schemeClr val="accent6"/>
            </a:solidFill>
            <a:prstDash val="solid"/>
          </a:ln>
        </p:spPr>
      </p:sp>
      <p:sp>
        <p:nvSpPr>
          <p:cNvPr id="8" name="Livre section III ligne g3"/>
          <p:cNvSpPr/>
          <p:nvPr/>
        </p:nvSpPr>
        <p:spPr>
          <a:xfrm>
            <a:off x="8368589" y="3926695"/>
            <a:ext cx="1119226" cy="0"/>
          </a:xfrm>
          <a:prstGeom prst="line">
            <a:avLst/>
          </a:prstGeom>
          <a:noFill/>
          <a:ln w="12700">
            <a:solidFill>
              <a:schemeClr val="accent6"/>
            </a:solidFill>
            <a:prstDash val="solid"/>
          </a:ln>
        </p:spPr>
      </p:sp>
      <p:sp>
        <p:nvSpPr>
          <p:cNvPr id="9" name="Livre section III ligne d3"/>
          <p:cNvSpPr/>
          <p:nvPr/>
        </p:nvSpPr>
        <p:spPr>
          <a:xfrm>
            <a:off x="10080346" y="3926695"/>
            <a:ext cx="1119226" cy="0"/>
          </a:xfrm>
          <a:prstGeom prst="line">
            <a:avLst/>
          </a:prstGeom>
          <a:noFill/>
          <a:ln w="12700">
            <a:solidFill>
              <a:schemeClr val="accent6"/>
            </a:solidFill>
            <a:prstDash val="solid"/>
          </a:ln>
        </p:spPr>
      </p:sp>
      <p:sp>
        <p:nvSpPr>
          <p:cNvPr id="10" name="Livre section III reliure"/>
          <p:cNvSpPr/>
          <p:nvPr/>
        </p:nvSpPr>
        <p:spPr>
          <a:xfrm>
            <a:off x="9756648" y="2432304"/>
            <a:ext cx="54864" cy="2114093"/>
          </a:xfrm>
          <a:prstGeom prst="rect">
            <a:avLst/>
          </a:prstGeom>
          <a:solidFill>
            <a:schemeClr val="accent1"/>
          </a:solidFill>
          <a:ln/>
        </p:spPr>
      </p:sp>
      <p:sp>
        <p:nvSpPr>
          <p:cNvPr id="11" name="Text 0"/>
          <p:cNvSpPr/>
          <p:nvPr>
            <p:ph idx="100" type="body" hasCustomPrompt="1"/>
          </p:nvPr>
        </p:nvSpPr>
        <p:spPr>
          <a:xfrm>
            <a:off x="731520" y="914400"/>
            <a:ext cx="2743200" cy="1005840"/>
          </a:xfrm>
          <a:prstGeom prst="rect">
            <a:avLst/>
          </a:prstGeom>
          <a:noFill/>
          <a:ln/>
        </p:spPr>
        <p:txBody>
          <a:bodyPr wrap="square" lIns="0" tIns="0" rIns="0" bIns="0" rtlCol="0"/>
          <a:lstStyle/>
          <a:p>
            <a:pPr indent="0" marL="0">
              <a:buNone/>
            </a:pPr>
            <a:r>
              <a:rPr lang="en-US" sz="6600" b="1" dirty="0">
                <a:solidFill>
                  <a:schemeClr val="accent1"/>
                </a:solidFill>
                <a:latin typeface="Cambria" pitchFamily="34" charset="0"/>
                <a:ea typeface="Cambria" pitchFamily="34" charset="-122"/>
                <a:cs typeface="Cambria" pitchFamily="34" charset="-120"/>
              </a:rPr>
              <a:t>III</a:t>
            </a:r>
            <a:endParaRPr lang="en-US" sz="6600" dirty="0"/>
          </a:p>
        </p:txBody>
      </p:sp>
      <p:sp>
        <p:nvSpPr>
          <p:cNvPr id="12" name="Text 0"/>
          <p:cNvSpPr/>
          <p:nvPr>
            <p:ph idx="101" type="title" hasCustomPrompt="1"/>
          </p:nvPr>
        </p:nvSpPr>
        <p:spPr>
          <a:xfrm>
            <a:off x="731520" y="2011680"/>
            <a:ext cx="6400800" cy="146304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Le Dieu qui instruit dans l'attente</a:t>
            </a:r>
            <a:endParaRPr lang="en-US" sz="4000" dirty="0"/>
          </a:p>
        </p:txBody>
      </p:sp>
      <p:sp>
        <p:nvSpPr>
          <p:cNvPr id="13" name="Text 0"/>
          <p:cNvSpPr/>
          <p:nvPr>
            <p:ph idx="102" type="body" hasCustomPrompt="1"/>
          </p:nvPr>
        </p:nvSpPr>
        <p:spPr>
          <a:xfrm>
            <a:off x="731520" y="3657600"/>
            <a:ext cx="6400800" cy="1463040"/>
          </a:xfrm>
          <a:prstGeom prst="rect">
            <a:avLst/>
          </a:prstGeom>
          <a:noFill/>
          <a:ln/>
        </p:spPr>
        <p:txBody>
          <a:bodyPr wrap="square" lIns="0" tIns="0" rIns="0" bIns="0" rtlCol="0" anchor="t"/>
          <a:lstStyle/>
          <a:p>
            <a:pPr indent="0" marL="0">
              <a:buNone/>
            </a:pPr>
            <a:r>
              <a:rPr lang="en-US" sz="2200" i="1" dirty="0">
                <a:solidFill>
                  <a:schemeClr val="bg1"/>
                </a:solidFill>
                <a:latin typeface="Cambria" pitchFamily="34" charset="0"/>
                <a:ea typeface="Cambria" pitchFamily="34" charset="-122"/>
                <a:cs typeface="Cambria" pitchFamily="34" charset="-120"/>
              </a:rPr>
              <a:t>Dieu ne donne pas toujours la date; il donne sa loi et le calme.</a:t>
            </a:r>
            <a:endParaRPr lang="en-US" sz="2200" dirty="0"/>
          </a:p>
        </p:txBody>
      </p:sp>
      <p:sp>
        <p:nvSpPr>
          <p:cNvPr id="14" name="Text 0"/>
          <p:cNvSpPr/>
          <p:nvPr>
            <p:ph idx="103" type="body" hasCustomPrompt="1"/>
          </p:nvPr>
        </p:nvSpPr>
        <p:spPr>
          <a:xfrm>
            <a:off x="731520" y="5349240"/>
            <a:ext cx="6400800" cy="411480"/>
          </a:xfrm>
          <a:prstGeom prst="rect">
            <a:avLst/>
          </a:prstGeom>
          <a:noFill/>
          <a:ln/>
        </p:spPr>
        <p:txBody>
          <a:bodyPr wrap="square" lIns="0" tIns="0" rIns="0" bIns="0" rtlCol="0"/>
          <a:lstStyle/>
          <a:p>
            <a:pPr indent="0" marL="0">
              <a:buNone/>
            </a:pPr>
            <a:r>
              <a:rPr lang="en-US" sz="1600" dirty="0">
                <a:solidFill>
                  <a:schemeClr val="accent2"/>
                </a:solidFill>
              </a:rPr>
              <a:t>Psaume 94.12-15 · 10 min</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0058400" cy="320040"/>
          </a:xfrm>
          <a:prstGeom prst="rect">
            <a:avLst/>
          </a:prstGeom>
          <a:noFill/>
          <a:ln/>
        </p:spPr>
        <p:txBody>
          <a:bodyPr wrap="square" lIns="0" tIns="0" rIns="0" bIns="0" rtlCol="0"/>
          <a:lstStyle/>
          <a:p>
            <a:pPr indent="0" marL="0">
              <a:buNone/>
            </a:pPr>
            <a:r>
              <a:rPr lang="en-US" sz="1300" b="1" spc="100" kern="0" dirty="0">
                <a:solidFill>
                  <a:schemeClr val="accent2"/>
                </a:solidFill>
              </a:rPr>
              <a:t>III · Le Dieu qui instruit dans l'attente · 94.12</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Heureux l'homme que Dieu forme</a:t>
            </a:r>
            <a:endParaRPr lang="en-US" sz="3000" dirty="0"/>
          </a:p>
        </p:txBody>
      </p:sp>
      <p:sp>
        <p:nvSpPr>
          <p:cNvPr id="4" name="Verset 12"/>
          <p:cNvSpPr/>
          <p:nvPr/>
        </p:nvSpPr>
        <p:spPr>
          <a:xfrm>
            <a:off x="548640" y="1645920"/>
            <a:ext cx="5212080" cy="2331720"/>
          </a:xfrm>
          <a:prstGeom prst="roundRect">
            <a:avLst>
              <a:gd name="adj" fmla="val 3137"/>
            </a:avLst>
          </a:prstGeom>
          <a:solidFill>
            <a:schemeClr val="tx2"/>
          </a:solidFill>
          <a:ln/>
        </p:spPr>
      </p:sp>
      <p:sp>
        <p:nvSpPr>
          <p:cNvPr id="5" name="Text 3"/>
          <p:cNvSpPr txBox="1"/>
          <p:nvPr/>
        </p:nvSpPr>
        <p:spPr>
          <a:xfrm>
            <a:off x="822960" y="1783080"/>
            <a:ext cx="4663440" cy="1737360"/>
          </a:xfrm>
          <a:prstGeom prst="rect">
            <a:avLst/>
          </a:prstGeom>
          <a:noFill/>
          <a:ln/>
        </p:spPr>
        <p:txBody>
          <a:bodyPr wrap="square" lIns="0" tIns="0" rIns="0" bIns="0" rtlCol="0" anchor="ctr"/>
          <a:lstStyle/>
          <a:p>
            <a:pPr indent="0" marL="0">
              <a:buNone/>
            </a:pPr>
            <a:r>
              <a:rPr lang="en-US" sz="2500" i="1" dirty="0">
                <a:solidFill>
                  <a:schemeClr val="bg1"/>
                </a:solidFill>
                <a:latin typeface="Cambria" pitchFamily="34" charset="0"/>
                <a:ea typeface="Cambria" pitchFamily="34" charset="-122"/>
                <a:cs typeface="Cambria" pitchFamily="34" charset="-120"/>
              </a:rPr>
              <a:t>« Heureux l'homme que tu châties, ô Eternel! Et que tu instruis par ta loi, »</a:t>
            </a:r>
            <a:endParaRPr lang="en-US" sz="2500" dirty="0"/>
          </a:p>
        </p:txBody>
      </p:sp>
      <p:sp>
        <p:nvSpPr>
          <p:cNvPr id="6" name="Text 4"/>
          <p:cNvSpPr txBox="1"/>
          <p:nvPr/>
        </p:nvSpPr>
        <p:spPr>
          <a:xfrm>
            <a:off x="822960" y="3566160"/>
            <a:ext cx="4663440" cy="274320"/>
          </a:xfrm>
          <a:prstGeom prst="rect">
            <a:avLst/>
          </a:prstGeom>
          <a:noFill/>
          <a:ln/>
        </p:spPr>
        <p:txBody>
          <a:bodyPr wrap="square" lIns="0" tIns="0" rIns="0" bIns="0" rtlCol="0" anchor="t"/>
          <a:lstStyle/>
          <a:p>
            <a:pPr indent="0" marL="0">
              <a:buNone/>
            </a:pPr>
            <a:r>
              <a:rPr lang="en-US" sz="1300" b="1" dirty="0">
                <a:solidFill>
                  <a:schemeClr val="accent2"/>
                </a:solidFill>
              </a:rPr>
              <a:t>Psaume 94.12 · ʾašrê : « ô bonheur de… » (BDB)</a:t>
            </a:r>
            <a:endParaRPr lang="en-US" sz="1300" dirty="0"/>
          </a:p>
        </p:txBody>
      </p:sp>
      <p:sp>
        <p:nvSpPr>
          <p:cNvPr id="7" name="Note de MacArthur"/>
          <p:cNvSpPr/>
          <p:nvPr/>
        </p:nvSpPr>
        <p:spPr>
          <a:xfrm>
            <a:off x="5971032" y="1645920"/>
            <a:ext cx="5669280" cy="2331720"/>
          </a:xfrm>
          <a:prstGeom prst="roundRect">
            <a:avLst>
              <a:gd name="adj" fmla="val 3137"/>
            </a:avLst>
          </a:prstGeom>
          <a:solidFill>
            <a:schemeClr val="accent3"/>
          </a:solidFill>
          <a:ln/>
        </p:spPr>
      </p:sp>
      <p:sp>
        <p:nvSpPr>
          <p:cNvPr id="8" name="Text 6"/>
          <p:cNvSpPr txBox="1"/>
          <p:nvPr/>
        </p:nvSpPr>
        <p:spPr>
          <a:xfrm>
            <a:off x="6245352" y="1755648"/>
            <a:ext cx="5120640" cy="274320"/>
          </a:xfrm>
          <a:prstGeom prst="rect">
            <a:avLst/>
          </a:prstGeom>
          <a:noFill/>
          <a:ln/>
        </p:spPr>
        <p:txBody>
          <a:bodyPr wrap="square" lIns="0" tIns="0" rIns="0" bIns="0" rtlCol="0" anchor="t"/>
          <a:lstStyle/>
          <a:p>
            <a:pPr indent="0" marL="0">
              <a:buNone/>
            </a:pPr>
            <a:r>
              <a:rPr lang="en-US" sz="1400" b="1" dirty="0">
                <a:solidFill>
                  <a:schemeClr val="accent5"/>
                </a:solidFill>
              </a:rPr>
              <a:t>La note de MacArthur</a:t>
            </a:r>
            <a:endParaRPr lang="en-US" sz="1400" dirty="0"/>
          </a:p>
        </p:txBody>
      </p:sp>
      <p:sp>
        <p:nvSpPr>
          <p:cNvPr id="9" name="Text 7"/>
          <p:cNvSpPr txBox="1"/>
          <p:nvPr/>
        </p:nvSpPr>
        <p:spPr>
          <a:xfrm>
            <a:off x="6245352" y="2103120"/>
            <a:ext cx="5120640" cy="1737360"/>
          </a:xfrm>
          <a:prstGeom prst="rect">
            <a:avLst/>
          </a:prstGeom>
          <a:noFill/>
          <a:ln/>
        </p:spPr>
        <p:txBody>
          <a:bodyPr wrap="square" lIns="0" tIns="0" rIns="0" bIns="0" rtlCol="0" anchor="t"/>
          <a:lstStyle/>
          <a:p>
            <a:pPr indent="0" marL="0">
              <a:buNone/>
            </a:pPr>
            <a:r>
              <a:rPr lang="en-US" sz="2000" i="1" dirty="0">
                <a:solidFill>
                  <a:schemeClr val="bg1"/>
                </a:solidFill>
                <a:latin typeface="Cambria" pitchFamily="34" charset="0"/>
                <a:ea typeface="Cambria" pitchFamily="34" charset="-122"/>
                <a:cs typeface="Cambria" pitchFamily="34" charset="-120"/>
              </a:rPr>
              <a:t>« Etre «heureux» signifie être sage et prospère dans la vie, grâce à l'instruction reçue de Dieu (cf. 84.6, 13) »</a:t>
            </a:r>
            <a:endParaRPr lang="en-US" sz="2000" dirty="0"/>
          </a:p>
        </p:txBody>
      </p:sp>
      <p:sp>
        <p:nvSpPr>
          <p:cNvPr id="10" name="Sage"/>
          <p:cNvSpPr/>
          <p:nvPr/>
        </p:nvSpPr>
        <p:spPr>
          <a:xfrm>
            <a:off x="548640" y="4160520"/>
            <a:ext cx="5440680" cy="868680"/>
          </a:xfrm>
          <a:prstGeom prst="roundRect">
            <a:avLst>
              <a:gd name="adj" fmla="val 8421"/>
            </a:avLst>
          </a:prstGeom>
          <a:solidFill>
            <a:schemeClr val="accent4"/>
          </a:solidFill>
          <a:ln w="12700">
            <a:solidFill>
              <a:schemeClr val="accent6"/>
            </a:solidFill>
          </a:ln>
        </p:spPr>
        <p:txBody>
          <a:bodyPr wrap="square" lIns="1524" tIns="1524" rIns="1524" bIns="1524" rtlCol="0" anchor="ctr"/>
          <a:lstStyle/>
          <a:p>
            <a:pPr algn="ctr" indent="0" marL="0">
              <a:buNone/>
            </a:pPr>
            <a:r>
              <a:rPr lang="en-US" sz="1400" dirty="0">
                <a:solidFill>
                  <a:schemeClr val="bg1"/>
                </a:solidFill>
              </a:rPr>
              <a:t>« Sage » répond à l'apostrophe du verset 8 : « Insensés, quand serez-vous sages? »</a:t>
            </a:r>
            <a:endParaRPr lang="en-US" sz="1400" dirty="0"/>
          </a:p>
        </p:txBody>
      </p:sp>
      <p:sp>
        <p:nvSpPr>
          <p:cNvPr id="11" name="Prospère"/>
          <p:cNvSpPr/>
          <p:nvPr/>
        </p:nvSpPr>
        <p:spPr>
          <a:xfrm>
            <a:off x="6199632" y="4160520"/>
            <a:ext cx="5440680" cy="868680"/>
          </a:xfrm>
          <a:prstGeom prst="roundRect">
            <a:avLst>
              <a:gd name="adj" fmla="val 8421"/>
            </a:avLst>
          </a:prstGeom>
          <a:solidFill>
            <a:schemeClr val="accent4"/>
          </a:solidFill>
          <a:ln w="12700">
            <a:solidFill>
              <a:schemeClr val="accent6"/>
            </a:solidFill>
          </a:ln>
        </p:spPr>
        <p:txBody>
          <a:bodyPr wrap="square" lIns="1524" tIns="1524" rIns="1524" bIns="1524" rtlCol="0" anchor="ctr"/>
          <a:lstStyle/>
          <a:p>
            <a:pPr algn="ctr" indent="0" marL="0">
              <a:buNone/>
            </a:pPr>
            <a:r>
              <a:rPr lang="en-US" sz="1400" dirty="0">
                <a:solidFill>
                  <a:schemeClr val="bg1"/>
                </a:solidFill>
              </a:rPr>
              <a:t>« Prospère » va au-delà du lexique et du verset : on garde l'accent du verset, l'instruction « par ta loi ».</a:t>
            </a:r>
            <a:endParaRPr lang="en-US" sz="1400" dirty="0"/>
          </a:p>
        </p:txBody>
      </p:sp>
      <p:sp>
        <p:nvSpPr>
          <p:cNvPr id="12" name="Text 10"/>
          <p:cNvSpPr txBox="1"/>
          <p:nvPr/>
        </p:nvSpPr>
        <p:spPr>
          <a:xfrm>
            <a:off x="548640" y="5193792"/>
            <a:ext cx="5486400" cy="274320"/>
          </a:xfrm>
          <a:prstGeom prst="rect">
            <a:avLst/>
          </a:prstGeom>
          <a:noFill/>
          <a:ln/>
        </p:spPr>
        <p:txBody>
          <a:bodyPr wrap="square" lIns="0" tIns="0" rIns="0" bIns="0" rtlCol="0" anchor="t"/>
          <a:lstStyle/>
          <a:p>
            <a:pPr indent="0" marL="0">
              <a:buNone/>
            </a:pPr>
            <a:r>
              <a:rPr lang="en-US" sz="1300" b="1" dirty="0">
                <a:solidFill>
                  <a:schemeClr val="bg2"/>
                </a:solidFill>
              </a:rPr>
              <a:t>yāsar : « châtie », sur l'échelle de BDB</a:t>
            </a:r>
            <a:endParaRPr lang="en-US" sz="1300" dirty="0"/>
          </a:p>
        </p:txBody>
      </p:sp>
      <p:sp>
        <p:nvSpPr>
          <p:cNvPr id="13" name="Sens 1"/>
          <p:cNvSpPr/>
          <p:nvPr/>
        </p:nvSpPr>
        <p:spPr>
          <a:xfrm>
            <a:off x="548640" y="5669280"/>
            <a:ext cx="5943600" cy="457200"/>
          </a:xfrm>
          <a:prstGeom prst="roundRect">
            <a:avLst>
              <a:gd name="adj" fmla="val 10000"/>
            </a:avLst>
          </a:prstGeom>
          <a:solidFill>
            <a:schemeClr val="accent1"/>
          </a:solidFill>
          <a:ln/>
        </p:spPr>
        <p:txBody>
          <a:bodyPr wrap="square" lIns="1524" tIns="1524" rIns="1524" bIns="1524" rtlCol="0" anchor="ctr"/>
          <a:lstStyle/>
          <a:p>
            <a:pPr algn="ctr" indent="0" marL="0">
              <a:buNone/>
            </a:pPr>
            <a:r>
              <a:rPr lang="en-US" sz="1400" b="1" dirty="0">
                <a:solidFill>
                  <a:schemeClr val="tx1"/>
                </a:solidFill>
              </a:rPr>
              <a:t>discipliner, corriger (formation morale)</a:t>
            </a:r>
            <a:endParaRPr lang="en-US" sz="1400" dirty="0"/>
          </a:p>
        </p:txBody>
      </p:sp>
      <p:sp>
        <p:nvSpPr>
          <p:cNvPr id="14" name="Sens 2"/>
          <p:cNvSpPr/>
          <p:nvPr/>
        </p:nvSpPr>
        <p:spPr>
          <a:xfrm>
            <a:off x="6537960" y="5669280"/>
            <a:ext cx="5102352" cy="457200"/>
          </a:xfrm>
          <a:prstGeom prst="roundRect">
            <a:avLst>
              <a:gd name="adj" fmla="val 10000"/>
            </a:avLst>
          </a:prstGeom>
          <a:solidFill>
            <a:schemeClr val="accent3"/>
          </a:solidFill>
          <a:ln/>
        </p:spPr>
        <p:txBody>
          <a:bodyPr wrap="square" lIns="1524" tIns="1524" rIns="1524" bIns="1524" rtlCol="0" anchor="ctr"/>
          <a:lstStyle/>
          <a:p>
            <a:pPr algn="ctr" indent="0" marL="0">
              <a:buNone/>
            </a:pPr>
            <a:r>
              <a:rPr lang="en-US" sz="1400" dirty="0">
                <a:solidFill>
                  <a:schemeClr val="bg1"/>
                </a:solidFill>
              </a:rPr>
              <a:t>plus sévèrement, châtier</a:t>
            </a:r>
            <a:endParaRPr lang="en-US" sz="1400" dirty="0"/>
          </a:p>
        </p:txBody>
      </p:sp>
      <p:sp>
        <p:nvSpPr>
          <p:cNvPr id="15" name="Repère 94.12"/>
          <p:cNvSpPr/>
          <p:nvPr/>
        </p:nvSpPr>
        <p:spPr>
          <a:xfrm flipV="1">
            <a:off x="3337560" y="5440680"/>
            <a:ext cx="365760" cy="219456"/>
          </a:xfrm>
          <a:prstGeom prst="triangle">
            <a:avLst/>
          </a:prstGeom>
          <a:solidFill>
            <a:schemeClr val="bg1"/>
          </a:solidFill>
          <a:ln/>
        </p:spPr>
      </p:sp>
      <p:sp>
        <p:nvSpPr>
          <p:cNvPr id="16" name="Text 14"/>
          <p:cNvSpPr txBox="1"/>
          <p:nvPr/>
        </p:nvSpPr>
        <p:spPr>
          <a:xfrm>
            <a:off x="3794760" y="5413248"/>
            <a:ext cx="2286000" cy="256032"/>
          </a:xfrm>
          <a:prstGeom prst="rect">
            <a:avLst/>
          </a:prstGeom>
          <a:noFill/>
          <a:ln/>
        </p:spPr>
        <p:txBody>
          <a:bodyPr wrap="square" lIns="0" tIns="0" rIns="0" bIns="0" rtlCol="0" anchor="t"/>
          <a:lstStyle/>
          <a:p>
            <a:pPr indent="0" marL="0">
              <a:buNone/>
            </a:pPr>
            <a:r>
              <a:rPr lang="en-US" sz="1300" b="1" dirty="0">
                <a:solidFill>
                  <a:schemeClr val="bg1"/>
                </a:solidFill>
              </a:rPr>
              <a:t>Psaume 94.12</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0058400" cy="320040"/>
          </a:xfrm>
          <a:prstGeom prst="rect">
            <a:avLst/>
          </a:prstGeom>
          <a:noFill/>
          <a:ln/>
        </p:spPr>
        <p:txBody>
          <a:bodyPr wrap="square" lIns="0" tIns="0" rIns="0" bIns="0" rtlCol="0"/>
          <a:lstStyle/>
          <a:p>
            <a:pPr indent="0" marL="0">
              <a:buNone/>
            </a:pPr>
            <a:r>
              <a:rPr lang="en-US" sz="1300" b="1" spc="100" kern="0" dirty="0">
                <a:solidFill>
                  <a:schemeClr val="accent2"/>
                </a:solidFill>
              </a:rPr>
              <a:t>III · Le Dieu qui instruit dans l'attente · 94.10-12</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L'oppression n'est pas la discipline</a:t>
            </a:r>
            <a:endParaRPr lang="en-US" sz="3000" dirty="0"/>
          </a:p>
        </p:txBody>
      </p:sp>
      <p:sp>
        <p:nvSpPr>
          <p:cNvPr id="4" name="Écho 1"/>
          <p:cNvSpPr/>
          <p:nvPr/>
        </p:nvSpPr>
        <p:spPr>
          <a:xfrm>
            <a:off x="548640" y="1600200"/>
            <a:ext cx="5440680" cy="1143000"/>
          </a:xfrm>
          <a:prstGeom prst="roundRect">
            <a:avLst>
              <a:gd name="adj" fmla="val 6400"/>
            </a:avLst>
          </a:prstGeom>
          <a:solidFill>
            <a:schemeClr val="tx2"/>
          </a:solidFill>
          <a:ln/>
        </p:spPr>
      </p:sp>
      <p:sp>
        <p:nvSpPr>
          <p:cNvPr id="5" name="Text 3"/>
          <p:cNvSpPr txBox="1"/>
          <p:nvPr/>
        </p:nvSpPr>
        <p:spPr>
          <a:xfrm>
            <a:off x="731520" y="1664208"/>
            <a:ext cx="1097280" cy="274320"/>
          </a:xfrm>
          <a:prstGeom prst="rect">
            <a:avLst/>
          </a:prstGeom>
          <a:noFill/>
          <a:ln/>
        </p:spPr>
        <p:txBody>
          <a:bodyPr wrap="square" lIns="0" tIns="0" rIns="0" bIns="0" rtlCol="0" anchor="t"/>
          <a:lstStyle/>
          <a:p>
            <a:pPr indent="0" marL="0">
              <a:buNone/>
            </a:pPr>
            <a:r>
              <a:rPr lang="en-US" sz="1300" b="1" i="1" dirty="0">
                <a:solidFill>
                  <a:schemeClr val="accent2"/>
                </a:solidFill>
              </a:rPr>
              <a:t>yāsar</a:t>
            </a:r>
            <a:endParaRPr lang="en-US" sz="1300" dirty="0"/>
          </a:p>
        </p:txBody>
      </p:sp>
      <p:sp>
        <p:nvSpPr>
          <p:cNvPr id="6" name="Verset 10 yāsar"/>
          <p:cNvSpPr/>
          <p:nvPr/>
        </p:nvSpPr>
        <p:spPr>
          <a:xfrm>
            <a:off x="731520" y="1965960"/>
            <a:ext cx="2377440" cy="640080"/>
          </a:xfrm>
          <a:prstGeom prst="roundRect">
            <a:avLst>
              <a:gd name="adj" fmla="val 11429"/>
            </a:avLst>
          </a:prstGeom>
          <a:solidFill>
            <a:schemeClr val="tx1"/>
          </a:solidFill>
          <a:ln w="12700">
            <a:solidFill>
              <a:schemeClr val="accent6"/>
            </a:solidFill>
          </a:ln>
        </p:spPr>
        <p:txBody>
          <a:bodyPr wrap="square" lIns="762" tIns="762" rIns="762" bIns="762" rtlCol="0" anchor="ctr"/>
          <a:lstStyle/>
          <a:p>
            <a:pPr algn="ctr" indent="0" marL="0">
              <a:buNone/>
            </a:pPr>
            <a:r>
              <a:rPr lang="en-US" sz="1200" i="1" dirty="0">
                <a:solidFill>
                  <a:schemeClr val="bg1"/>
                </a:solidFill>
              </a:rPr>
              <a:t>« Celui qui châtie les nations »  94.10</a:t>
            </a:r>
            <a:endParaRPr lang="en-US" sz="1200" dirty="0"/>
          </a:p>
        </p:txBody>
      </p:sp>
      <p:sp>
        <p:nvSpPr>
          <p:cNvPr id="7" name="Écho yāsar"/>
          <p:cNvSpPr/>
          <p:nvPr/>
        </p:nvSpPr>
        <p:spPr>
          <a:xfrm>
            <a:off x="3154680" y="2286000"/>
            <a:ext cx="320040" cy="0"/>
          </a:xfrm>
          <a:prstGeom prst="line">
            <a:avLst/>
          </a:prstGeom>
          <a:noFill/>
          <a:ln w="28575">
            <a:solidFill>
              <a:schemeClr val="accent1"/>
            </a:solidFill>
            <a:prstDash val="solid"/>
            <a:tailEnd type="triangle"/>
          </a:ln>
        </p:spPr>
      </p:sp>
      <p:sp>
        <p:nvSpPr>
          <p:cNvPr id="8" name="Verset 12 yāsar"/>
          <p:cNvSpPr/>
          <p:nvPr/>
        </p:nvSpPr>
        <p:spPr>
          <a:xfrm>
            <a:off x="3520440" y="1965960"/>
            <a:ext cx="2331720" cy="640080"/>
          </a:xfrm>
          <a:prstGeom prst="roundRect">
            <a:avLst>
              <a:gd name="adj" fmla="val 11429"/>
            </a:avLst>
          </a:prstGeom>
          <a:solidFill>
            <a:schemeClr val="accent1"/>
          </a:solidFill>
          <a:ln/>
        </p:spPr>
        <p:txBody>
          <a:bodyPr wrap="square" lIns="762" tIns="762" rIns="762" bIns="762" rtlCol="0" anchor="ctr"/>
          <a:lstStyle/>
          <a:p>
            <a:pPr algn="ctr" indent="0" marL="0">
              <a:buNone/>
            </a:pPr>
            <a:r>
              <a:rPr lang="en-US" sz="1200" b="1" i="1" dirty="0">
                <a:solidFill>
                  <a:schemeClr val="tx1"/>
                </a:solidFill>
              </a:rPr>
              <a:t>« l'homme que tu châties »  94.12</a:t>
            </a:r>
            <a:endParaRPr lang="en-US" sz="1200" dirty="0"/>
          </a:p>
        </p:txBody>
      </p:sp>
      <p:sp>
        <p:nvSpPr>
          <p:cNvPr id="9" name="Écho 2"/>
          <p:cNvSpPr/>
          <p:nvPr/>
        </p:nvSpPr>
        <p:spPr>
          <a:xfrm>
            <a:off x="6199632" y="1600200"/>
            <a:ext cx="5440680" cy="1143000"/>
          </a:xfrm>
          <a:prstGeom prst="roundRect">
            <a:avLst>
              <a:gd name="adj" fmla="val 6400"/>
            </a:avLst>
          </a:prstGeom>
          <a:solidFill>
            <a:schemeClr val="tx2"/>
          </a:solidFill>
          <a:ln/>
        </p:spPr>
      </p:sp>
      <p:sp>
        <p:nvSpPr>
          <p:cNvPr id="10" name="Text 8"/>
          <p:cNvSpPr txBox="1"/>
          <p:nvPr/>
        </p:nvSpPr>
        <p:spPr>
          <a:xfrm>
            <a:off x="6382512" y="1664208"/>
            <a:ext cx="1097280" cy="274320"/>
          </a:xfrm>
          <a:prstGeom prst="rect">
            <a:avLst/>
          </a:prstGeom>
          <a:noFill/>
          <a:ln/>
        </p:spPr>
        <p:txBody>
          <a:bodyPr wrap="square" lIns="0" tIns="0" rIns="0" bIns="0" rtlCol="0" anchor="t"/>
          <a:lstStyle/>
          <a:p>
            <a:pPr indent="0" marL="0">
              <a:buNone/>
            </a:pPr>
            <a:r>
              <a:rPr lang="en-US" sz="1300" b="1" i="1" dirty="0">
                <a:solidFill>
                  <a:schemeClr val="accent2"/>
                </a:solidFill>
              </a:rPr>
              <a:t>lāmad</a:t>
            </a:r>
            <a:endParaRPr lang="en-US" sz="1300" dirty="0"/>
          </a:p>
        </p:txBody>
      </p:sp>
      <p:sp>
        <p:nvSpPr>
          <p:cNvPr id="11" name="Verset 10 lāmad"/>
          <p:cNvSpPr/>
          <p:nvPr/>
        </p:nvSpPr>
        <p:spPr>
          <a:xfrm>
            <a:off x="6382512" y="1965960"/>
            <a:ext cx="2377440" cy="640080"/>
          </a:xfrm>
          <a:prstGeom prst="roundRect">
            <a:avLst>
              <a:gd name="adj" fmla="val 11429"/>
            </a:avLst>
          </a:prstGeom>
          <a:solidFill>
            <a:schemeClr val="tx1"/>
          </a:solidFill>
          <a:ln w="12700">
            <a:solidFill>
              <a:schemeClr val="accent6"/>
            </a:solidFill>
          </a:ln>
        </p:spPr>
        <p:txBody>
          <a:bodyPr wrap="square" lIns="762" tIns="762" rIns="762" bIns="762" rtlCol="0" anchor="ctr"/>
          <a:lstStyle/>
          <a:p>
            <a:pPr algn="ctr" indent="0" marL="0">
              <a:buNone/>
            </a:pPr>
            <a:r>
              <a:rPr lang="en-US" sz="1200" i="1" dirty="0">
                <a:solidFill>
                  <a:schemeClr val="bg1"/>
                </a:solidFill>
              </a:rPr>
              <a:t>« Lui qui donne à l'homme l'intelligence »  94.10</a:t>
            </a:r>
            <a:endParaRPr lang="en-US" sz="1200" dirty="0"/>
          </a:p>
        </p:txBody>
      </p:sp>
      <p:sp>
        <p:nvSpPr>
          <p:cNvPr id="12" name="Écho lāmad"/>
          <p:cNvSpPr/>
          <p:nvPr/>
        </p:nvSpPr>
        <p:spPr>
          <a:xfrm>
            <a:off x="8805672" y="2286000"/>
            <a:ext cx="320040" cy="0"/>
          </a:xfrm>
          <a:prstGeom prst="line">
            <a:avLst/>
          </a:prstGeom>
          <a:noFill/>
          <a:ln w="28575">
            <a:solidFill>
              <a:schemeClr val="accent1"/>
            </a:solidFill>
            <a:prstDash val="solid"/>
            <a:tailEnd type="triangle"/>
          </a:ln>
        </p:spPr>
      </p:sp>
      <p:sp>
        <p:nvSpPr>
          <p:cNvPr id="13" name="Verset 12 lāmad"/>
          <p:cNvSpPr/>
          <p:nvPr/>
        </p:nvSpPr>
        <p:spPr>
          <a:xfrm>
            <a:off x="9171432" y="1965960"/>
            <a:ext cx="2331720" cy="640080"/>
          </a:xfrm>
          <a:prstGeom prst="roundRect">
            <a:avLst>
              <a:gd name="adj" fmla="val 11429"/>
            </a:avLst>
          </a:prstGeom>
          <a:solidFill>
            <a:schemeClr val="accent1"/>
          </a:solidFill>
          <a:ln/>
        </p:spPr>
        <p:txBody>
          <a:bodyPr wrap="square" lIns="762" tIns="762" rIns="762" bIns="762" rtlCol="0" anchor="ctr"/>
          <a:lstStyle/>
          <a:p>
            <a:pPr algn="ctr" indent="0" marL="0">
              <a:buNone/>
            </a:pPr>
            <a:r>
              <a:rPr lang="en-US" sz="1200" b="1" i="1" dirty="0">
                <a:solidFill>
                  <a:schemeClr val="tx1"/>
                </a:solidFill>
              </a:rPr>
              <a:t>« que tu instruis par ta loi »  94.12</a:t>
            </a:r>
            <a:endParaRPr lang="en-US" sz="1200" dirty="0"/>
          </a:p>
        </p:txBody>
      </p:sp>
      <p:sp>
        <p:nvSpPr>
          <p:cNvPr id="14" name="Le croyant tête"/>
          <p:cNvSpPr/>
          <p:nvPr/>
        </p:nvSpPr>
        <p:spPr>
          <a:xfrm>
            <a:off x="5827014" y="3246120"/>
            <a:ext cx="544068" cy="544068"/>
          </a:xfrm>
          <a:prstGeom prst="ellipse">
            <a:avLst/>
          </a:prstGeom>
          <a:solidFill>
            <a:schemeClr val="bg1"/>
          </a:solidFill>
          <a:ln/>
        </p:spPr>
      </p:sp>
      <p:sp>
        <p:nvSpPr>
          <p:cNvPr id="15" name="Le croyant buste"/>
          <p:cNvSpPr/>
          <p:nvPr/>
        </p:nvSpPr>
        <p:spPr>
          <a:xfrm>
            <a:off x="5618988" y="3845052"/>
            <a:ext cx="960120" cy="1001268"/>
          </a:xfrm>
          <a:prstGeom prst="round2SameRect">
            <a:avLst/>
          </a:prstGeom>
          <a:solidFill>
            <a:schemeClr val="bg1"/>
          </a:solidFill>
          <a:ln/>
        </p:spPr>
      </p:sp>
      <p:sp>
        <p:nvSpPr>
          <p:cNvPr id="16" name="Sol"/>
          <p:cNvSpPr/>
          <p:nvPr/>
        </p:nvSpPr>
        <p:spPr>
          <a:xfrm>
            <a:off x="3291840" y="4892040"/>
            <a:ext cx="5623560" cy="0"/>
          </a:xfrm>
          <a:prstGeom prst="line">
            <a:avLst/>
          </a:prstGeom>
          <a:noFill/>
          <a:ln w="25400">
            <a:solidFill>
              <a:schemeClr val="accent6"/>
            </a:solidFill>
            <a:prstDash val="solid"/>
          </a:ln>
        </p:spPr>
      </p:sp>
      <p:sp>
        <p:nvSpPr>
          <p:cNvPr id="17" name="Text 15"/>
          <p:cNvSpPr txBox="1"/>
          <p:nvPr/>
        </p:nvSpPr>
        <p:spPr>
          <a:xfrm>
            <a:off x="3291840" y="4937760"/>
            <a:ext cx="5623560" cy="274320"/>
          </a:xfrm>
          <a:prstGeom prst="rect">
            <a:avLst/>
          </a:prstGeom>
          <a:noFill/>
          <a:ln/>
        </p:spPr>
        <p:txBody>
          <a:bodyPr wrap="square" lIns="0" tIns="0" rIns="0" bIns="0" rtlCol="0" anchor="t"/>
          <a:lstStyle/>
          <a:p>
            <a:pPr algn="ctr" indent="0" marL="0">
              <a:buNone/>
            </a:pPr>
            <a:r>
              <a:rPr lang="en-US" sz="1300" dirty="0">
                <a:solidFill>
                  <a:schemeClr val="bg2"/>
                </a:solidFill>
              </a:rPr>
              <a:t>le croyant, aux jours du malheur (94.13)</a:t>
            </a:r>
            <a:endParaRPr lang="en-US" sz="1300" dirty="0"/>
          </a:p>
        </p:txBody>
      </p:sp>
      <p:sp>
        <p:nvSpPr>
          <p:cNvPr id="18" name="Oppression"/>
          <p:cNvSpPr/>
          <p:nvPr/>
        </p:nvSpPr>
        <p:spPr>
          <a:xfrm>
            <a:off x="548640" y="3429000"/>
            <a:ext cx="3200400" cy="1005840"/>
          </a:xfrm>
          <a:prstGeom prst="roundRect">
            <a:avLst>
              <a:gd name="adj" fmla="val 7273"/>
            </a:avLst>
          </a:prstGeom>
          <a:solidFill>
            <a:schemeClr val="accent3"/>
          </a:solidFill>
          <a:ln/>
        </p:spPr>
        <p:txBody>
          <a:bodyPr wrap="square" lIns="1524" tIns="1524" rIns="1524" bIns="1524" rtlCol="0" anchor="ctr"/>
          <a:lstStyle/>
          <a:p>
            <a:pPr algn="ctr" indent="0" marL="0">
              <a:buNone/>
            </a:pPr>
            <a:r>
              <a:rPr lang="en-US" sz="1500" b="1" dirty="0">
                <a:solidFill>
                  <a:schemeClr val="bg1"/>
                </a:solidFill>
              </a:rPr>
              <a:t>Les méchants : « ils écrasent ton peuple » (94.5)</a:t>
            </a:r>
            <a:endParaRPr lang="en-US" sz="1500" dirty="0"/>
          </a:p>
        </p:txBody>
      </p:sp>
      <p:sp>
        <p:nvSpPr>
          <p:cNvPr id="19" name="Pression"/>
          <p:cNvSpPr/>
          <p:nvPr/>
        </p:nvSpPr>
        <p:spPr>
          <a:xfrm>
            <a:off x="3840480" y="3931920"/>
            <a:ext cx="1417320" cy="0"/>
          </a:xfrm>
          <a:prstGeom prst="line">
            <a:avLst/>
          </a:prstGeom>
          <a:noFill/>
          <a:ln w="44450">
            <a:solidFill>
              <a:schemeClr val="accent3"/>
            </a:solidFill>
            <a:prstDash val="solid"/>
            <a:tailEnd type="triangle"/>
          </a:ln>
        </p:spPr>
      </p:sp>
      <p:sp>
        <p:nvSpPr>
          <p:cNvPr id="20" name="Discipline"/>
          <p:cNvSpPr/>
          <p:nvPr/>
        </p:nvSpPr>
        <p:spPr>
          <a:xfrm>
            <a:off x="8439912" y="3429000"/>
            <a:ext cx="3200400" cy="1005840"/>
          </a:xfrm>
          <a:prstGeom prst="roundRect">
            <a:avLst>
              <a:gd name="adj" fmla="val 7273"/>
            </a:avLst>
          </a:prstGeom>
          <a:solidFill>
            <a:schemeClr val="accent1"/>
          </a:solidFill>
          <a:ln/>
        </p:spPr>
        <p:txBody>
          <a:bodyPr wrap="square" lIns="1524" tIns="1524" rIns="1524" bIns="1524" rtlCol="0" anchor="ctr"/>
          <a:lstStyle/>
          <a:p>
            <a:pPr algn="ctr" indent="0" marL="0">
              <a:buNone/>
            </a:pPr>
            <a:r>
              <a:rPr lang="en-US" sz="1500" b="1" dirty="0">
                <a:solidFill>
                  <a:schemeClr val="tx1"/>
                </a:solidFill>
              </a:rPr>
              <a:t>L'Éternel : « tu instruis par ta loi » (94.12)</a:t>
            </a:r>
            <a:endParaRPr lang="en-US" sz="1500" dirty="0"/>
          </a:p>
        </p:txBody>
      </p:sp>
      <p:sp>
        <p:nvSpPr>
          <p:cNvPr id="21" name="Instruction"/>
          <p:cNvSpPr/>
          <p:nvPr/>
        </p:nvSpPr>
        <p:spPr>
          <a:xfrm flipH="1">
            <a:off x="6949440" y="3931920"/>
            <a:ext cx="1399032" cy="0"/>
          </a:xfrm>
          <a:prstGeom prst="line">
            <a:avLst/>
          </a:prstGeom>
          <a:noFill/>
          <a:ln w="44450">
            <a:solidFill>
              <a:schemeClr val="accent1"/>
            </a:solidFill>
            <a:prstDash val="solid"/>
            <a:tailEnd type="triangle"/>
          </a:ln>
        </p:spPr>
      </p:sp>
      <p:sp>
        <p:nvSpPr>
          <p:cNvPr id="22" name="Phrase clé"/>
          <p:cNvSpPr/>
          <p:nvPr/>
        </p:nvSpPr>
        <p:spPr>
          <a:xfrm>
            <a:off x="548640" y="5440680"/>
            <a:ext cx="11091672" cy="777240"/>
          </a:xfrm>
          <a:prstGeom prst="roundRect">
            <a:avLst>
              <a:gd name="adj" fmla="val 9412"/>
            </a:avLst>
          </a:prstGeom>
          <a:solidFill>
            <a:schemeClr val="tx2"/>
          </a:solidFill>
          <a:ln/>
        </p:spPr>
      </p:sp>
      <p:sp>
        <p:nvSpPr>
          <p:cNvPr id="23" name="Text 21"/>
          <p:cNvSpPr txBox="1"/>
          <p:nvPr/>
        </p:nvSpPr>
        <p:spPr>
          <a:xfrm>
            <a:off x="777240" y="5440680"/>
            <a:ext cx="10652760" cy="777240"/>
          </a:xfrm>
          <a:prstGeom prst="rect">
            <a:avLst/>
          </a:prstGeom>
          <a:noFill/>
          <a:ln/>
        </p:spPr>
        <p:txBody>
          <a:bodyPr wrap="square" lIns="0" tIns="0" rIns="0" bIns="0" rtlCol="0" anchor="ctr"/>
          <a:lstStyle/>
          <a:p>
            <a:pPr algn="ctr" indent="0" marL="0">
              <a:buNone/>
            </a:pPr>
            <a:r>
              <a:rPr lang="en-US" sz="2300" b="1" i="1" dirty="0">
                <a:solidFill>
                  <a:schemeClr val="bg1"/>
                </a:solidFill>
                <a:latin typeface="Cambria" pitchFamily="34" charset="0"/>
                <a:ea typeface="Cambria" pitchFamily="34" charset="-122"/>
                <a:cs typeface="Cambria" pitchFamily="34" charset="-120"/>
              </a:rPr>
              <a:t>L'oppression n'est pas la discipline; mais dans les jours de l'oppression, Dieu instruit.</a:t>
            </a:r>
            <a:endParaRPr lang="en-US" sz="2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0058400" cy="320040"/>
          </a:xfrm>
          <a:prstGeom prst="rect">
            <a:avLst/>
          </a:prstGeom>
          <a:noFill/>
          <a:ln/>
        </p:spPr>
        <p:txBody>
          <a:bodyPr wrap="square" lIns="0" tIns="0" rIns="0" bIns="0" rtlCol="0"/>
          <a:lstStyle/>
          <a:p>
            <a:pPr indent="0" marL="0">
              <a:buNone/>
            </a:pPr>
            <a:r>
              <a:rPr lang="en-US" sz="1300" b="1" spc="100" kern="0" dirty="0">
                <a:solidFill>
                  <a:schemeClr val="accent2"/>
                </a:solidFill>
              </a:rPr>
              <a:t>III · Le Dieu qui instruit dans l'attente · 94.13 · texte seul</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Le calme, jusqu'à la fosse</a:t>
            </a:r>
            <a:endParaRPr lang="en-US" sz="3000" dirty="0"/>
          </a:p>
        </p:txBody>
      </p:sp>
      <p:sp>
        <p:nvSpPr>
          <p:cNvPr id="4" name="Text 2"/>
          <p:cNvSpPr txBox="1"/>
          <p:nvPr/>
        </p:nvSpPr>
        <p:spPr>
          <a:xfrm>
            <a:off x="2011680" y="1600200"/>
            <a:ext cx="6949440" cy="365760"/>
          </a:xfrm>
          <a:prstGeom prst="rect">
            <a:avLst/>
          </a:prstGeom>
          <a:noFill/>
          <a:ln/>
        </p:spPr>
        <p:txBody>
          <a:bodyPr wrap="square" lIns="0" tIns="0" rIns="0" bIns="0" rtlCol="0" anchor="t"/>
          <a:lstStyle/>
          <a:p>
            <a:pPr algn="ctr" indent="0" marL="0">
              <a:buNone/>
            </a:pPr>
            <a:r>
              <a:rPr lang="en-US" sz="1600" b="1" dirty="0">
                <a:solidFill>
                  <a:schemeClr val="accent2"/>
                </a:solidFill>
              </a:rPr>
              <a:t>lĕhašqîṭ : BDB « causer la tranquillité », avec Dieu pour sujet</a:t>
            </a:r>
            <a:endParaRPr lang="en-US" sz="1600" dirty="0"/>
          </a:p>
        </p:txBody>
      </p:sp>
      <p:sp>
        <p:nvSpPr>
          <p:cNvPr id="5" name="Question"/>
          <p:cNvSpPr/>
          <p:nvPr/>
        </p:nvSpPr>
        <p:spPr>
          <a:xfrm>
            <a:off x="548640" y="2606040"/>
            <a:ext cx="1143000" cy="1143000"/>
          </a:xfrm>
          <a:prstGeom prst="ellipse">
            <a:avLst/>
          </a:prstGeom>
          <a:solidFill>
            <a:schemeClr val="accent4"/>
          </a:solidFill>
          <a:ln w="25400">
            <a:solidFill>
              <a:schemeClr val="accent2"/>
            </a:solidFill>
          </a:ln>
        </p:spPr>
        <p:txBody>
          <a:bodyPr wrap="square" lIns="0" tIns="0" rIns="0" bIns="0" rtlCol="0" anchor="ctr"/>
          <a:lstStyle/>
          <a:p>
            <a:pPr algn="ctr" indent="0" marL="0">
              <a:buNone/>
            </a:pPr>
            <a:r>
              <a:rPr lang="en-US" sz="5400" b="1" dirty="0">
                <a:solidFill>
                  <a:schemeClr val="accent2"/>
                </a:solidFill>
                <a:latin typeface="Cambria" pitchFamily="34" charset="0"/>
                <a:ea typeface="Cambria" pitchFamily="34" charset="-122"/>
                <a:cs typeface="Cambria" pitchFamily="34" charset="-120"/>
              </a:rPr>
              <a:t>?</a:t>
            </a:r>
            <a:endParaRPr lang="en-US" sz="5400" dirty="0"/>
          </a:p>
        </p:txBody>
      </p:sp>
      <p:sp>
        <p:nvSpPr>
          <p:cNvPr id="6" name="Départ"/>
          <p:cNvSpPr/>
          <p:nvPr/>
        </p:nvSpPr>
        <p:spPr>
          <a:xfrm>
            <a:off x="1737360" y="3182112"/>
            <a:ext cx="365760" cy="0"/>
          </a:xfrm>
          <a:prstGeom prst="line">
            <a:avLst/>
          </a:prstGeom>
          <a:noFill/>
          <a:ln w="28575">
            <a:solidFill>
              <a:schemeClr val="accent1"/>
            </a:solidFill>
            <a:prstDash val="solid"/>
            <a:tailEnd type="triangle"/>
          </a:ln>
        </p:spPr>
      </p:sp>
      <p:sp>
        <p:nvSpPr>
          <p:cNvPr id="7" name="Bande du calme"/>
          <p:cNvSpPr/>
          <p:nvPr/>
        </p:nvSpPr>
        <p:spPr>
          <a:xfrm>
            <a:off x="2148840" y="2606040"/>
            <a:ext cx="6766560" cy="1143000"/>
          </a:xfrm>
          <a:prstGeom prst="roundRect">
            <a:avLst>
              <a:gd name="adj" fmla="val 9600"/>
            </a:avLst>
          </a:prstGeom>
          <a:solidFill>
            <a:schemeClr val="accent3"/>
          </a:solidFill>
          <a:ln/>
        </p:spPr>
        <p:txBody>
          <a:bodyPr wrap="square" lIns="1524" tIns="1524" rIns="1524" bIns="1524"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les jours du malheur : le calme que Dieu donne</a:t>
            </a:r>
            <a:endParaRPr lang="en-US" sz="2200" dirty="0"/>
          </a:p>
        </p:txBody>
      </p:sp>
      <p:sp>
        <p:nvSpPr>
          <p:cNvPr id="8" name="Arrivée"/>
          <p:cNvSpPr/>
          <p:nvPr/>
        </p:nvSpPr>
        <p:spPr>
          <a:xfrm>
            <a:off x="8961120" y="3182112"/>
            <a:ext cx="685800" cy="0"/>
          </a:xfrm>
          <a:prstGeom prst="line">
            <a:avLst/>
          </a:prstGeom>
          <a:noFill/>
          <a:ln w="28575">
            <a:solidFill>
              <a:schemeClr val="accent1"/>
            </a:solidFill>
            <a:prstDash val="solid"/>
            <a:tailEnd type="triangle"/>
          </a:ln>
        </p:spPr>
      </p:sp>
      <p:sp>
        <p:nvSpPr>
          <p:cNvPr id="9" name="Fosse"/>
          <p:cNvSpPr/>
          <p:nvPr/>
        </p:nvSpPr>
        <p:spPr>
          <a:xfrm flipV="1">
            <a:off x="9692640" y="2606040"/>
            <a:ext cx="1920240" cy="1143000"/>
          </a:xfrm>
          <a:prstGeom prst="trapezoid">
            <a:avLst/>
          </a:prstGeom>
          <a:solidFill>
            <a:schemeClr val="tx1"/>
          </a:solidFill>
          <a:ln w="25400">
            <a:solidFill>
              <a:schemeClr val="accent6"/>
            </a:solidFill>
            <a:prstDash val="solid"/>
          </a:ln>
        </p:spPr>
      </p:sp>
      <p:sp>
        <p:nvSpPr>
          <p:cNvPr id="10" name="Borne"/>
          <p:cNvSpPr/>
          <p:nvPr/>
        </p:nvSpPr>
        <p:spPr>
          <a:xfrm>
            <a:off x="9299448" y="2331720"/>
            <a:ext cx="0" cy="1645920"/>
          </a:xfrm>
          <a:prstGeom prst="line">
            <a:avLst/>
          </a:prstGeom>
          <a:noFill/>
          <a:ln w="25400">
            <a:solidFill>
              <a:schemeClr val="accent2"/>
            </a:solidFill>
            <a:prstDash val="dash"/>
          </a:ln>
        </p:spPr>
      </p:sp>
      <p:sp>
        <p:nvSpPr>
          <p:cNvPr id="11" name="Text 9"/>
          <p:cNvSpPr txBox="1"/>
          <p:nvPr/>
        </p:nvSpPr>
        <p:spPr>
          <a:xfrm>
            <a:off x="7863840" y="4023360"/>
            <a:ext cx="2651760" cy="274320"/>
          </a:xfrm>
          <a:prstGeom prst="rect">
            <a:avLst/>
          </a:prstGeom>
          <a:noFill/>
          <a:ln/>
        </p:spPr>
        <p:txBody>
          <a:bodyPr wrap="square" lIns="0" tIns="0" rIns="0" bIns="0" rtlCol="0" anchor="t"/>
          <a:lstStyle/>
          <a:p>
            <a:pPr algn="ctr" indent="0" marL="0">
              <a:buNone/>
            </a:pPr>
            <a:r>
              <a:rPr lang="en-US" sz="1400" b="1" dirty="0">
                <a:solidFill>
                  <a:schemeClr val="accent2"/>
                </a:solidFill>
              </a:rPr>
              <a:t>Jusqu'à ce que (ʿad)</a:t>
            </a:r>
            <a:endParaRPr lang="en-US" sz="1400" dirty="0"/>
          </a:p>
        </p:txBody>
      </p:sp>
      <p:sp>
        <p:nvSpPr>
          <p:cNvPr id="12" name="Text 10"/>
          <p:cNvSpPr txBox="1"/>
          <p:nvPr/>
        </p:nvSpPr>
        <p:spPr>
          <a:xfrm>
            <a:off x="274320" y="3858768"/>
            <a:ext cx="1691640" cy="274320"/>
          </a:xfrm>
          <a:prstGeom prst="rect">
            <a:avLst/>
          </a:prstGeom>
          <a:noFill/>
          <a:ln/>
        </p:spPr>
        <p:txBody>
          <a:bodyPr wrap="square" lIns="0" tIns="0" rIns="0" bIns="0" rtlCol="0" anchor="t"/>
          <a:lstStyle/>
          <a:p>
            <a:pPr algn="ctr" indent="0" marL="0">
              <a:buNone/>
            </a:pPr>
            <a:r>
              <a:rPr lang="en-US" sz="1400" b="1" dirty="0">
                <a:solidFill>
                  <a:schemeClr val="bg1"/>
                </a:solidFill>
              </a:rPr>
              <a:t>Jusqu'à quand?</a:t>
            </a:r>
            <a:endParaRPr lang="en-US" sz="1400" dirty="0"/>
          </a:p>
        </p:txBody>
      </p:sp>
      <p:sp>
        <p:nvSpPr>
          <p:cNvPr id="13" name="Text 11"/>
          <p:cNvSpPr txBox="1"/>
          <p:nvPr/>
        </p:nvSpPr>
        <p:spPr>
          <a:xfrm>
            <a:off x="274320" y="4133088"/>
            <a:ext cx="1691640" cy="274320"/>
          </a:xfrm>
          <a:prstGeom prst="rect">
            <a:avLst/>
          </a:prstGeom>
          <a:noFill/>
          <a:ln/>
        </p:spPr>
        <p:txBody>
          <a:bodyPr wrap="square" lIns="0" tIns="0" rIns="0" bIns="0" rtlCol="0" anchor="t"/>
          <a:lstStyle/>
          <a:p>
            <a:pPr algn="ctr" indent="0" marL="0">
              <a:buNone/>
            </a:pPr>
            <a:r>
              <a:rPr lang="en-US" sz="1300" dirty="0">
                <a:solidFill>
                  <a:schemeClr val="bg2"/>
                </a:solidFill>
              </a:rPr>
              <a:t>pas de date (94.3)</a:t>
            </a:r>
            <a:endParaRPr lang="en-US" sz="1300" dirty="0"/>
          </a:p>
        </p:txBody>
      </p:sp>
      <p:sp>
        <p:nvSpPr>
          <p:cNvPr id="14" name="Text 12"/>
          <p:cNvSpPr txBox="1"/>
          <p:nvPr/>
        </p:nvSpPr>
        <p:spPr>
          <a:xfrm>
            <a:off x="9509760" y="3858768"/>
            <a:ext cx="2286000" cy="502920"/>
          </a:xfrm>
          <a:prstGeom prst="rect">
            <a:avLst/>
          </a:prstGeom>
          <a:noFill/>
          <a:ln/>
        </p:spPr>
        <p:txBody>
          <a:bodyPr wrap="square" lIns="0" tIns="0" rIns="0" bIns="0" rtlCol="0" anchor="t"/>
          <a:lstStyle/>
          <a:p>
            <a:pPr algn="ctr" indent="0" marL="0">
              <a:buNone/>
            </a:pPr>
            <a:r>
              <a:rPr lang="en-US" sz="1400" b="1" dirty="0">
                <a:solidFill>
                  <a:schemeClr val="bg1"/>
                </a:solidFill>
              </a:rPr>
              <a:t>la fosse creusée pour le méchant</a:t>
            </a:r>
            <a:endParaRPr lang="en-US" sz="1400" dirty="0"/>
          </a:p>
        </p:txBody>
      </p:sp>
      <p:sp>
        <p:nvSpPr>
          <p:cNvPr id="15" name="Pas promis"/>
          <p:cNvSpPr/>
          <p:nvPr/>
        </p:nvSpPr>
        <p:spPr>
          <a:xfrm>
            <a:off x="1280160" y="4617720"/>
            <a:ext cx="4709160" cy="731520"/>
          </a:xfrm>
          <a:prstGeom prst="roundRect">
            <a:avLst>
              <a:gd name="adj" fmla="val 10000"/>
            </a:avLst>
          </a:prstGeom>
          <a:solidFill>
            <a:schemeClr val="accent4"/>
          </a:solidFill>
          <a:ln w="12700">
            <a:solidFill>
              <a:schemeClr val="accent6"/>
            </a:solidFill>
          </a:ln>
        </p:spPr>
        <p:txBody>
          <a:bodyPr wrap="square" lIns="1524" tIns="1524" rIns="1524" bIns="1524" rtlCol="0" anchor="ctr"/>
          <a:lstStyle/>
          <a:p>
            <a:pPr algn="ctr" indent="0" marL="0">
              <a:buNone/>
            </a:pPr>
            <a:r>
              <a:rPr lang="en-US" sz="1600" dirty="0">
                <a:solidFill>
                  <a:schemeClr val="bg1"/>
                </a:solidFill>
              </a:rPr>
              <a:t>Le verset ne promet pas la fin immédiate de l'épreuve</a:t>
            </a:r>
            <a:endParaRPr lang="en-US" sz="1600" dirty="0"/>
          </a:p>
        </p:txBody>
      </p:sp>
      <p:sp>
        <p:nvSpPr>
          <p:cNvPr id="16" name="Non promis disque"/>
          <p:cNvSpPr/>
          <p:nvPr/>
        </p:nvSpPr>
        <p:spPr>
          <a:xfrm>
            <a:off x="594360" y="4709160"/>
            <a:ext cx="548640" cy="548640"/>
          </a:xfrm>
          <a:prstGeom prst="ellipse">
            <a:avLst/>
          </a:prstGeom>
          <a:solidFill>
            <a:schemeClr val="accent3"/>
          </a:solidFill>
          <a:ln/>
        </p:spPr>
      </p:sp>
      <p:sp>
        <p:nvSpPr>
          <p:cNvPr id="17" name="Non promis a"/>
          <p:cNvSpPr/>
          <p:nvPr/>
        </p:nvSpPr>
        <p:spPr>
          <a:xfrm>
            <a:off x="758952" y="4873752"/>
            <a:ext cx="219456" cy="219456"/>
          </a:xfrm>
          <a:prstGeom prst="line">
            <a:avLst/>
          </a:prstGeom>
          <a:noFill/>
          <a:ln w="38100">
            <a:solidFill>
              <a:schemeClr val="bg1"/>
            </a:solidFill>
            <a:prstDash val="solid"/>
          </a:ln>
        </p:spPr>
      </p:sp>
      <p:sp>
        <p:nvSpPr>
          <p:cNvPr id="18" name="Non promis b"/>
          <p:cNvSpPr/>
          <p:nvPr/>
        </p:nvSpPr>
        <p:spPr>
          <a:xfrm flipH="1">
            <a:off x="758952" y="4873752"/>
            <a:ext cx="219456" cy="219456"/>
          </a:xfrm>
          <a:prstGeom prst="line">
            <a:avLst/>
          </a:prstGeom>
          <a:noFill/>
          <a:ln w="38100">
            <a:solidFill>
              <a:schemeClr val="bg1"/>
            </a:solidFill>
            <a:prstDash val="solid"/>
          </a:ln>
        </p:spPr>
      </p:sp>
      <p:sp>
        <p:nvSpPr>
          <p:cNvPr id="19" name="Promis"/>
          <p:cNvSpPr/>
          <p:nvPr/>
        </p:nvSpPr>
        <p:spPr>
          <a:xfrm>
            <a:off x="6931152" y="4617720"/>
            <a:ext cx="4709160" cy="731520"/>
          </a:xfrm>
          <a:prstGeom prst="roundRect">
            <a:avLst>
              <a:gd name="adj" fmla="val 10000"/>
            </a:avLst>
          </a:prstGeom>
          <a:solidFill>
            <a:schemeClr val="accent1"/>
          </a:solidFill>
          <a:ln/>
        </p:spPr>
        <p:txBody>
          <a:bodyPr wrap="square" lIns="1524" tIns="1524" rIns="1524" bIns="1524" rtlCol="0" anchor="ctr"/>
          <a:lstStyle/>
          <a:p>
            <a:pPr algn="ctr" indent="0" marL="0">
              <a:buNone/>
            </a:pPr>
            <a:r>
              <a:rPr lang="en-US" sz="1600" b="1" dirty="0">
                <a:solidFill>
                  <a:schemeClr val="tx1"/>
                </a:solidFill>
              </a:rPr>
              <a:t>Il promet le calme dans l'épreuve, et une fin</a:t>
            </a:r>
            <a:endParaRPr lang="en-US" sz="1600" dirty="0"/>
          </a:p>
        </p:txBody>
      </p:sp>
      <p:sp>
        <p:nvSpPr>
          <p:cNvPr id="20" name="Promis disque"/>
          <p:cNvSpPr/>
          <p:nvPr/>
        </p:nvSpPr>
        <p:spPr>
          <a:xfrm>
            <a:off x="6245352" y="4709160"/>
            <a:ext cx="548640" cy="548640"/>
          </a:xfrm>
          <a:prstGeom prst="ellipse">
            <a:avLst/>
          </a:prstGeom>
          <a:solidFill>
            <a:schemeClr val="accent1"/>
          </a:solidFill>
          <a:ln/>
        </p:spPr>
      </p:sp>
      <p:sp>
        <p:nvSpPr>
          <p:cNvPr id="21" name="Promis trait"/>
          <p:cNvSpPr/>
          <p:nvPr/>
        </p:nvSpPr>
        <p:spPr>
          <a:xfrm>
            <a:off x="6355080" y="4846320"/>
            <a:ext cx="329184" cy="274320"/>
          </a:xfrm>
          <a:custGeom>
            <a:avLst/>
            <a:gdLst/>
            <a:ahLst/>
            <a:cxnLst/>
            <a:rect l="l" t="t" r="r" b="b"/>
            <a:pathLst>
              <a:path w="329184" h="274320">
                <a:moveTo>
                  <a:pt x="0" y="153619"/>
                </a:moveTo>
                <a:lnTo>
                  <a:pt x="109728" y="263347"/>
                </a:lnTo>
                <a:lnTo>
                  <a:pt x="329184" y="0"/>
                </a:lnTo>
              </a:path>
            </a:pathLst>
          </a:custGeom>
          <a:ln w="38100">
            <a:solidFill>
              <a:schemeClr val="tx1"/>
            </a:solidFill>
            <a:prstDash val="solid"/>
          </a:ln>
        </p:spPr>
      </p:sp>
      <p:sp>
        <p:nvSpPr>
          <p:cNvPr id="22" name="Rapprochement"/>
          <p:cNvSpPr/>
          <p:nvPr/>
        </p:nvSpPr>
        <p:spPr>
          <a:xfrm>
            <a:off x="548640" y="5486400"/>
            <a:ext cx="11091672" cy="749808"/>
          </a:xfrm>
          <a:prstGeom prst="roundRect">
            <a:avLst>
              <a:gd name="adj" fmla="val 9756"/>
            </a:avLst>
          </a:prstGeom>
          <a:solidFill>
            <a:schemeClr val="tx2"/>
          </a:solidFill>
          <a:ln/>
        </p:spPr>
      </p:sp>
      <p:sp>
        <p:nvSpPr>
          <p:cNvPr id="23" name="Text 21"/>
          <p:cNvSpPr txBox="1"/>
          <p:nvPr/>
        </p:nvSpPr>
        <p:spPr>
          <a:xfrm>
            <a:off x="777240" y="5486400"/>
            <a:ext cx="10652760" cy="749808"/>
          </a:xfrm>
          <a:prstGeom prst="rect">
            <a:avLst/>
          </a:prstGeom>
          <a:noFill/>
          <a:ln/>
        </p:spPr>
        <p:txBody>
          <a:bodyPr wrap="square" lIns="0" tIns="0" rIns="0" bIns="0" rtlCol="0" anchor="ctr"/>
          <a:lstStyle/>
          <a:p>
            <a:pPr algn="ctr" indent="0" marL="0">
              <a:buNone/>
            </a:pPr>
            <a:r>
              <a:rPr lang="en-US" sz="1500" i="1" dirty="0">
                <a:solidFill>
                  <a:schemeClr val="bg1"/>
                </a:solidFill>
              </a:rPr>
              <a:t>Rapprochement propre à ce plan : le même mot hébreu (ʿad) ouvre « Jusqu'à quand » (94.3) et « Jusqu'à ce que » (94.13). La question ne reçoit pas de date; elle reçoit une borne.</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0058400" cy="320040"/>
          </a:xfrm>
          <a:prstGeom prst="rect">
            <a:avLst/>
          </a:prstGeom>
          <a:noFill/>
          <a:ln/>
        </p:spPr>
        <p:txBody>
          <a:bodyPr wrap="square" lIns="0" tIns="0" rIns="0" bIns="0" rtlCol="0"/>
          <a:lstStyle/>
          <a:p>
            <a:pPr indent="0" marL="0">
              <a:buNone/>
            </a:pPr>
            <a:r>
              <a:rPr lang="en-US" sz="1300" b="1" spc="100" kern="0" dirty="0">
                <a:solidFill>
                  <a:schemeClr val="accent2"/>
                </a:solidFill>
              </a:rPr>
              <a:t>III · Le Dieu qui instruit dans l'attente · 94.14-15</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 Son peuple », « son héritage »</a:t>
            </a:r>
            <a:endParaRPr lang="en-US" sz="3000" dirty="0"/>
          </a:p>
        </p:txBody>
      </p:sp>
      <p:sp>
        <p:nvSpPr>
          <p:cNvPr id="4" name="Plainte"/>
          <p:cNvSpPr/>
          <p:nvPr/>
        </p:nvSpPr>
        <p:spPr>
          <a:xfrm>
            <a:off x="548640" y="1645920"/>
            <a:ext cx="5029200" cy="1508760"/>
          </a:xfrm>
          <a:prstGeom prst="roundRect">
            <a:avLst>
              <a:gd name="adj" fmla="val 4848"/>
            </a:avLst>
          </a:prstGeom>
          <a:solidFill>
            <a:schemeClr val="tx2"/>
          </a:solidFill>
          <a:ln/>
        </p:spPr>
      </p:sp>
      <p:sp>
        <p:nvSpPr>
          <p:cNvPr id="5" name="Text 3"/>
          <p:cNvSpPr txBox="1"/>
          <p:nvPr/>
        </p:nvSpPr>
        <p:spPr>
          <a:xfrm>
            <a:off x="777240" y="1737360"/>
            <a:ext cx="4572000" cy="274320"/>
          </a:xfrm>
          <a:prstGeom prst="rect">
            <a:avLst/>
          </a:prstGeom>
          <a:noFill/>
          <a:ln/>
        </p:spPr>
        <p:txBody>
          <a:bodyPr wrap="square" lIns="0" tIns="0" rIns="0" bIns="0" rtlCol="0" anchor="t"/>
          <a:lstStyle/>
          <a:p>
            <a:pPr indent="0" marL="0">
              <a:buNone/>
            </a:pPr>
            <a:r>
              <a:rPr lang="en-US" sz="1300" b="1" dirty="0">
                <a:solidFill>
                  <a:schemeClr val="accent2"/>
                </a:solidFill>
              </a:rPr>
              <a:t>94.5 · la plainte</a:t>
            </a:r>
            <a:endParaRPr lang="en-US" sz="1300" dirty="0"/>
          </a:p>
        </p:txBody>
      </p:sp>
      <p:sp>
        <p:nvSpPr>
          <p:cNvPr id="6" name="Text 4"/>
          <p:cNvSpPr txBox="1"/>
          <p:nvPr/>
        </p:nvSpPr>
        <p:spPr>
          <a:xfrm>
            <a:off x="777240" y="2057400"/>
            <a:ext cx="4572000" cy="1005840"/>
          </a:xfrm>
          <a:prstGeom prst="rect">
            <a:avLst/>
          </a:prstGeom>
          <a:noFill/>
          <a:ln/>
        </p:spPr>
        <p:txBody>
          <a:bodyPr wrap="square" lIns="0" tIns="0" rIns="0" bIns="0" rtlCol="0" anchor="t"/>
          <a:lstStyle/>
          <a:p>
            <a:pPr indent="0" marL="0">
              <a:buNone/>
            </a:pPr>
            <a:r>
              <a:rPr lang="en-US" sz="1800" i="1" dirty="0">
                <a:solidFill>
                  <a:schemeClr val="bg1"/>
                </a:solidFill>
                <a:latin typeface="Cambria" pitchFamily="34" charset="0"/>
                <a:ea typeface="Cambria" pitchFamily="34" charset="-122"/>
                <a:cs typeface="Cambria" pitchFamily="34" charset="-120"/>
              </a:rPr>
              <a:t>« Eternel! ils écrasent ton peuple, Ils oppriment ton héritage »</a:t>
            </a:r>
            <a:endParaRPr lang="en-US" sz="1800" dirty="0"/>
          </a:p>
        </p:txBody>
      </p:sp>
      <p:sp>
        <p:nvSpPr>
          <p:cNvPr id="7" name="Réponse"/>
          <p:cNvSpPr/>
          <p:nvPr/>
        </p:nvSpPr>
        <p:spPr>
          <a:xfrm>
            <a:off x="5669280" y="2423160"/>
            <a:ext cx="868680" cy="0"/>
          </a:xfrm>
          <a:prstGeom prst="line">
            <a:avLst/>
          </a:prstGeom>
          <a:noFill/>
          <a:ln w="28575">
            <a:solidFill>
              <a:schemeClr val="accent1"/>
            </a:solidFill>
            <a:prstDash val="solid"/>
            <a:tailEnd type="triangle"/>
          </a:ln>
        </p:spPr>
      </p:sp>
      <p:sp>
        <p:nvSpPr>
          <p:cNvPr id="8" name="Text 6"/>
          <p:cNvSpPr txBox="1"/>
          <p:nvPr/>
        </p:nvSpPr>
        <p:spPr>
          <a:xfrm>
            <a:off x="5577840" y="2084832"/>
            <a:ext cx="1051560" cy="274320"/>
          </a:xfrm>
          <a:prstGeom prst="rect">
            <a:avLst/>
          </a:prstGeom>
          <a:noFill/>
          <a:ln/>
        </p:spPr>
        <p:txBody>
          <a:bodyPr wrap="square" lIns="0" tIns="0" rIns="0" bIns="0" rtlCol="0" anchor="t"/>
          <a:lstStyle/>
          <a:p>
            <a:pPr algn="ctr" indent="0" marL="0">
              <a:buNone/>
            </a:pPr>
            <a:r>
              <a:rPr lang="en-US" sz="1400" i="1" dirty="0">
                <a:solidFill>
                  <a:schemeClr val="accent2"/>
                </a:solidFill>
              </a:rPr>
              <a:t>répond</a:t>
            </a:r>
            <a:endParaRPr lang="en-US" sz="1400" dirty="0"/>
          </a:p>
        </p:txBody>
      </p:sp>
      <p:sp>
        <p:nvSpPr>
          <p:cNvPr id="9" name="Réponse"/>
          <p:cNvSpPr/>
          <p:nvPr/>
        </p:nvSpPr>
        <p:spPr>
          <a:xfrm>
            <a:off x="6611112" y="1645920"/>
            <a:ext cx="5029200" cy="1508760"/>
          </a:xfrm>
          <a:prstGeom prst="roundRect">
            <a:avLst>
              <a:gd name="adj" fmla="val 4848"/>
            </a:avLst>
          </a:prstGeom>
          <a:solidFill>
            <a:schemeClr val="accent3"/>
          </a:solidFill>
          <a:ln/>
        </p:spPr>
      </p:sp>
      <p:sp>
        <p:nvSpPr>
          <p:cNvPr id="10" name="Text 8"/>
          <p:cNvSpPr txBox="1"/>
          <p:nvPr/>
        </p:nvSpPr>
        <p:spPr>
          <a:xfrm>
            <a:off x="6839712" y="1737360"/>
            <a:ext cx="4572000" cy="274320"/>
          </a:xfrm>
          <a:prstGeom prst="rect">
            <a:avLst/>
          </a:prstGeom>
          <a:noFill/>
          <a:ln/>
        </p:spPr>
        <p:txBody>
          <a:bodyPr wrap="square" lIns="0" tIns="0" rIns="0" bIns="0" rtlCol="0" anchor="t"/>
          <a:lstStyle/>
          <a:p>
            <a:pPr indent="0" marL="0">
              <a:buNone/>
            </a:pPr>
            <a:r>
              <a:rPr lang="en-US" sz="1300" b="1" dirty="0">
                <a:solidFill>
                  <a:schemeClr val="accent5"/>
                </a:solidFill>
              </a:rPr>
              <a:t>94.14 · la réponse</a:t>
            </a:r>
            <a:endParaRPr lang="en-US" sz="1300" dirty="0"/>
          </a:p>
        </p:txBody>
      </p:sp>
      <p:sp>
        <p:nvSpPr>
          <p:cNvPr id="11" name="Text 9"/>
          <p:cNvSpPr txBox="1"/>
          <p:nvPr/>
        </p:nvSpPr>
        <p:spPr>
          <a:xfrm>
            <a:off x="6839712" y="2057400"/>
            <a:ext cx="4572000" cy="1005840"/>
          </a:xfrm>
          <a:prstGeom prst="rect">
            <a:avLst/>
          </a:prstGeom>
          <a:noFill/>
          <a:ln/>
        </p:spPr>
        <p:txBody>
          <a:bodyPr wrap="square" lIns="0" tIns="0" rIns="0" bIns="0" rtlCol="0" anchor="t"/>
          <a:lstStyle/>
          <a:p>
            <a:pPr indent="0" marL="0">
              <a:buNone/>
            </a:pPr>
            <a:r>
              <a:rPr lang="en-US" sz="1800" i="1" dirty="0">
                <a:solidFill>
                  <a:schemeClr val="bg1"/>
                </a:solidFill>
                <a:latin typeface="Cambria" pitchFamily="34" charset="0"/>
                <a:ea typeface="Cambria" pitchFamily="34" charset="-122"/>
                <a:cs typeface="Cambria" pitchFamily="34" charset="-120"/>
              </a:rPr>
              <a:t>« Car l'Eternel ne délaisse pas son peuple, Il n'abandonne pas son héritage »</a:t>
            </a:r>
            <a:endParaRPr lang="en-US" sz="1800" dirty="0"/>
          </a:p>
        </p:txBody>
      </p:sp>
      <p:sp>
        <p:nvSpPr>
          <p:cNvPr id="12" name="Héritage"/>
          <p:cNvSpPr/>
          <p:nvPr/>
        </p:nvSpPr>
        <p:spPr>
          <a:xfrm>
            <a:off x="2194560" y="3291840"/>
            <a:ext cx="7772400" cy="457200"/>
          </a:xfrm>
          <a:prstGeom prst="roundRect">
            <a:avLst>
              <a:gd name="adj" fmla="val 50000"/>
            </a:avLst>
          </a:prstGeom>
          <a:solidFill>
            <a:schemeClr val="tx1"/>
          </a:solidFill>
          <a:ln w="15875">
            <a:solidFill>
              <a:schemeClr val="accent2"/>
            </a:solidFill>
            <a:prstDash val="dash"/>
          </a:ln>
        </p:spPr>
        <p:txBody>
          <a:bodyPr wrap="square" lIns="1524" tIns="1524" rIns="1524" bIns="1524" rtlCol="0" anchor="ctr"/>
          <a:lstStyle/>
          <a:p>
            <a:pPr algn="ctr" indent="0" marL="0">
              <a:buNone/>
            </a:pPr>
            <a:r>
              <a:rPr lang="en-US" sz="1400" dirty="0">
                <a:solidFill>
                  <a:schemeClr val="accent2"/>
                </a:solidFill>
              </a:rPr>
              <a:t>naḥălāh, « héritage » : BDB le range sous Israël, propriété de l'Éternel</a:t>
            </a:r>
            <a:endParaRPr lang="en-US" sz="1400" dirty="0"/>
          </a:p>
        </p:txBody>
      </p:sp>
      <p:sp>
        <p:nvSpPr>
          <p:cNvPr id="13" name="Chaîne 1"/>
          <p:cNvSpPr/>
          <p:nvPr/>
        </p:nvSpPr>
        <p:spPr>
          <a:xfrm>
            <a:off x="548640" y="3931920"/>
            <a:ext cx="2560320" cy="1691640"/>
          </a:xfrm>
          <a:prstGeom prst="roundRect">
            <a:avLst>
              <a:gd name="adj" fmla="val 4324"/>
            </a:avLst>
          </a:prstGeom>
          <a:solidFill>
            <a:schemeClr val="accent4"/>
          </a:solidFill>
          <a:ln w="12700">
            <a:solidFill>
              <a:schemeClr val="accent6"/>
            </a:solidFill>
            <a:prstDash val="solid"/>
          </a:ln>
        </p:spPr>
      </p:sp>
      <p:sp>
        <p:nvSpPr>
          <p:cNvPr id="14" name="Text 12"/>
          <p:cNvSpPr txBox="1"/>
          <p:nvPr/>
        </p:nvSpPr>
        <p:spPr>
          <a:xfrm>
            <a:off x="685800" y="4005072"/>
            <a:ext cx="2331720" cy="274320"/>
          </a:xfrm>
          <a:prstGeom prst="rect">
            <a:avLst/>
          </a:prstGeom>
          <a:noFill/>
          <a:ln/>
        </p:spPr>
        <p:txBody>
          <a:bodyPr wrap="square" lIns="0" tIns="0" rIns="0" bIns="0" rtlCol="0" anchor="t"/>
          <a:lstStyle/>
          <a:p>
            <a:pPr indent="0" marL="0">
              <a:buNone/>
            </a:pPr>
            <a:r>
              <a:rPr lang="en-US" sz="1300" b="1" dirty="0">
                <a:solidFill>
                  <a:schemeClr val="accent2"/>
                </a:solidFill>
              </a:rPr>
              <a:t>L'alliance · Genèse 15.18</a:t>
            </a:r>
            <a:endParaRPr lang="en-US" sz="1300" dirty="0"/>
          </a:p>
        </p:txBody>
      </p:sp>
      <p:sp>
        <p:nvSpPr>
          <p:cNvPr id="15" name="Text 13"/>
          <p:cNvSpPr txBox="1"/>
          <p:nvPr/>
        </p:nvSpPr>
        <p:spPr>
          <a:xfrm>
            <a:off x="685800" y="4315968"/>
            <a:ext cx="2331720" cy="1280160"/>
          </a:xfrm>
          <a:prstGeom prst="rect">
            <a:avLst/>
          </a:prstGeom>
          <a:noFill/>
          <a:ln/>
        </p:spPr>
        <p:txBody>
          <a:bodyPr wrap="square" lIns="0" tIns="0" rIns="0" bIns="0" rtlCol="0" anchor="t"/>
          <a:lstStyle/>
          <a:p>
            <a:pPr indent="0" marL="0">
              <a:buNone/>
            </a:pPr>
            <a:r>
              <a:rPr lang="en-US" sz="1400" i="1" dirty="0">
                <a:solidFill>
                  <a:schemeClr val="bg1"/>
                </a:solidFill>
              </a:rPr>
              <a:t>« En ce jour-là, l'Eternel fit alliance avec Abram »</a:t>
            </a:r>
            <a:endParaRPr lang="en-US" sz="1400" dirty="0"/>
          </a:p>
        </p:txBody>
      </p:sp>
      <p:sp>
        <p:nvSpPr>
          <p:cNvPr id="16" name="Chevron 1"/>
          <p:cNvSpPr/>
          <p:nvPr/>
        </p:nvSpPr>
        <p:spPr>
          <a:xfrm>
            <a:off x="3136392" y="4572000"/>
            <a:ext cx="219456" cy="365760"/>
          </a:xfrm>
          <a:prstGeom prst="chevron">
            <a:avLst/>
          </a:prstGeom>
          <a:solidFill>
            <a:schemeClr val="accent2"/>
          </a:solidFill>
          <a:ln/>
        </p:spPr>
      </p:sp>
      <p:sp>
        <p:nvSpPr>
          <p:cNvPr id="17" name="Chaîne 2"/>
          <p:cNvSpPr/>
          <p:nvPr/>
        </p:nvSpPr>
        <p:spPr>
          <a:xfrm>
            <a:off x="3392424" y="3931920"/>
            <a:ext cx="2560320" cy="1691640"/>
          </a:xfrm>
          <a:prstGeom prst="roundRect">
            <a:avLst>
              <a:gd name="adj" fmla="val 4324"/>
            </a:avLst>
          </a:prstGeom>
          <a:solidFill>
            <a:schemeClr val="accent4"/>
          </a:solidFill>
          <a:ln w="12700">
            <a:solidFill>
              <a:schemeClr val="accent6"/>
            </a:solidFill>
            <a:prstDash val="solid"/>
          </a:ln>
        </p:spPr>
      </p:sp>
      <p:sp>
        <p:nvSpPr>
          <p:cNvPr id="18" name="Text 16"/>
          <p:cNvSpPr txBox="1"/>
          <p:nvPr/>
        </p:nvSpPr>
        <p:spPr>
          <a:xfrm>
            <a:off x="3529584" y="4005072"/>
            <a:ext cx="2331720" cy="274320"/>
          </a:xfrm>
          <a:prstGeom prst="rect">
            <a:avLst/>
          </a:prstGeom>
          <a:noFill/>
          <a:ln/>
        </p:spPr>
        <p:txBody>
          <a:bodyPr wrap="square" lIns="0" tIns="0" rIns="0" bIns="0" rtlCol="0" anchor="t"/>
          <a:lstStyle/>
          <a:p>
            <a:pPr indent="0" marL="0">
              <a:buNone/>
            </a:pPr>
            <a:r>
              <a:rPr lang="en-US" sz="1300" b="1" dirty="0">
                <a:solidFill>
                  <a:schemeClr val="accent2"/>
                </a:solidFill>
              </a:rPr>
              <a:t>L'amour · Michée 7.18</a:t>
            </a:r>
            <a:endParaRPr lang="en-US" sz="1300" dirty="0"/>
          </a:p>
        </p:txBody>
      </p:sp>
      <p:sp>
        <p:nvSpPr>
          <p:cNvPr id="19" name="Text 17"/>
          <p:cNvSpPr txBox="1"/>
          <p:nvPr/>
        </p:nvSpPr>
        <p:spPr>
          <a:xfrm>
            <a:off x="3529584" y="4315968"/>
            <a:ext cx="2331720" cy="1280160"/>
          </a:xfrm>
          <a:prstGeom prst="rect">
            <a:avLst/>
          </a:prstGeom>
          <a:noFill/>
          <a:ln/>
        </p:spPr>
        <p:txBody>
          <a:bodyPr wrap="square" lIns="0" tIns="0" rIns="0" bIns="0" rtlCol="0" anchor="t"/>
          <a:lstStyle/>
          <a:p>
            <a:pPr indent="0" marL="0">
              <a:buNone/>
            </a:pPr>
            <a:r>
              <a:rPr lang="en-US" sz="1400" i="1" dirty="0">
                <a:solidFill>
                  <a:schemeClr val="bg1"/>
                </a:solidFill>
              </a:rPr>
              <a:t>« Car il prend plaisir à la miséricorde »</a:t>
            </a:r>
            <a:endParaRPr lang="en-US" sz="1400" dirty="0"/>
          </a:p>
        </p:txBody>
      </p:sp>
      <p:sp>
        <p:nvSpPr>
          <p:cNvPr id="20" name="Chevron 2"/>
          <p:cNvSpPr/>
          <p:nvPr/>
        </p:nvSpPr>
        <p:spPr>
          <a:xfrm>
            <a:off x="5980176" y="4572000"/>
            <a:ext cx="219456" cy="365760"/>
          </a:xfrm>
          <a:prstGeom prst="chevron">
            <a:avLst/>
          </a:prstGeom>
          <a:solidFill>
            <a:schemeClr val="accent2"/>
          </a:solidFill>
          <a:ln/>
        </p:spPr>
      </p:sp>
      <p:sp>
        <p:nvSpPr>
          <p:cNvPr id="21" name="Chaîne 3"/>
          <p:cNvSpPr/>
          <p:nvPr/>
        </p:nvSpPr>
        <p:spPr>
          <a:xfrm>
            <a:off x="6236208" y="3931920"/>
            <a:ext cx="2560320" cy="1691640"/>
          </a:xfrm>
          <a:prstGeom prst="roundRect">
            <a:avLst>
              <a:gd name="adj" fmla="val 4324"/>
            </a:avLst>
          </a:prstGeom>
          <a:solidFill>
            <a:schemeClr val="accent1"/>
          </a:solidFill>
          <a:ln/>
        </p:spPr>
      </p:sp>
      <p:sp>
        <p:nvSpPr>
          <p:cNvPr id="22" name="Text 20"/>
          <p:cNvSpPr txBox="1"/>
          <p:nvPr/>
        </p:nvSpPr>
        <p:spPr>
          <a:xfrm>
            <a:off x="6373368" y="4005072"/>
            <a:ext cx="2331720" cy="274320"/>
          </a:xfrm>
          <a:prstGeom prst="rect">
            <a:avLst/>
          </a:prstGeom>
          <a:noFill/>
          <a:ln/>
        </p:spPr>
        <p:txBody>
          <a:bodyPr wrap="square" lIns="0" tIns="0" rIns="0" bIns="0" rtlCol="0" anchor="t"/>
          <a:lstStyle/>
          <a:p>
            <a:pPr indent="0" marL="0">
              <a:buNone/>
            </a:pPr>
            <a:r>
              <a:rPr lang="en-US" sz="1300" b="1" dirty="0">
                <a:solidFill>
                  <a:schemeClr val="tx1"/>
                </a:solidFill>
              </a:rPr>
              <a:t>Le verset · Psaume 94.14</a:t>
            </a:r>
            <a:endParaRPr lang="en-US" sz="1300" dirty="0"/>
          </a:p>
        </p:txBody>
      </p:sp>
      <p:sp>
        <p:nvSpPr>
          <p:cNvPr id="23" name="Text 21"/>
          <p:cNvSpPr txBox="1"/>
          <p:nvPr/>
        </p:nvSpPr>
        <p:spPr>
          <a:xfrm>
            <a:off x="6373368" y="4315968"/>
            <a:ext cx="2331720" cy="1280160"/>
          </a:xfrm>
          <a:prstGeom prst="rect">
            <a:avLst/>
          </a:prstGeom>
          <a:noFill/>
          <a:ln/>
        </p:spPr>
        <p:txBody>
          <a:bodyPr wrap="square" lIns="0" tIns="0" rIns="0" bIns="0" rtlCol="0" anchor="t"/>
          <a:lstStyle/>
          <a:p>
            <a:pPr indent="0" marL="0">
              <a:buNone/>
            </a:pPr>
            <a:r>
              <a:rPr lang="en-US" sz="1400" b="1" dirty="0">
                <a:solidFill>
                  <a:schemeClr val="tx1"/>
                </a:solidFill>
              </a:rPr>
              <a:t>Le fondement doctrinal des Psaumes 93 à 100 (note de MacArthur)</a:t>
            </a:r>
            <a:endParaRPr lang="en-US" sz="1400" dirty="0"/>
          </a:p>
        </p:txBody>
      </p:sp>
      <p:sp>
        <p:nvSpPr>
          <p:cNvPr id="24" name="Chevron 3"/>
          <p:cNvSpPr/>
          <p:nvPr/>
        </p:nvSpPr>
        <p:spPr>
          <a:xfrm>
            <a:off x="8823960" y="4572000"/>
            <a:ext cx="219456" cy="365760"/>
          </a:xfrm>
          <a:prstGeom prst="chevron">
            <a:avLst/>
          </a:prstGeom>
          <a:solidFill>
            <a:schemeClr val="accent2"/>
          </a:solidFill>
          <a:ln/>
        </p:spPr>
      </p:sp>
      <p:sp>
        <p:nvSpPr>
          <p:cNvPr id="25" name="Chaîne 4"/>
          <p:cNvSpPr/>
          <p:nvPr/>
        </p:nvSpPr>
        <p:spPr>
          <a:xfrm>
            <a:off x="9079992" y="3931920"/>
            <a:ext cx="2560320" cy="1691640"/>
          </a:xfrm>
          <a:prstGeom prst="roundRect">
            <a:avLst>
              <a:gd name="adj" fmla="val 4324"/>
            </a:avLst>
          </a:prstGeom>
          <a:solidFill>
            <a:schemeClr val="accent3"/>
          </a:solidFill>
          <a:ln/>
        </p:spPr>
      </p:sp>
      <p:sp>
        <p:nvSpPr>
          <p:cNvPr id="26" name="Text 24"/>
          <p:cNvSpPr txBox="1"/>
          <p:nvPr/>
        </p:nvSpPr>
        <p:spPr>
          <a:xfrm>
            <a:off x="9217152" y="4005072"/>
            <a:ext cx="2331720" cy="274320"/>
          </a:xfrm>
          <a:prstGeom prst="rect">
            <a:avLst/>
          </a:prstGeom>
          <a:noFill/>
          <a:ln/>
        </p:spPr>
        <p:txBody>
          <a:bodyPr wrap="square" lIns="0" tIns="0" rIns="0" bIns="0" rtlCol="0" anchor="t"/>
          <a:lstStyle/>
          <a:p>
            <a:pPr indent="0" marL="0">
              <a:buNone/>
            </a:pPr>
            <a:r>
              <a:rPr lang="en-US" sz="1300" b="1" dirty="0">
                <a:solidFill>
                  <a:schemeClr val="accent2"/>
                </a:solidFill>
              </a:rPr>
              <a:t>Paul · Romains 11.2, 26</a:t>
            </a:r>
            <a:endParaRPr lang="en-US" sz="1300" dirty="0"/>
          </a:p>
        </p:txBody>
      </p:sp>
      <p:sp>
        <p:nvSpPr>
          <p:cNvPr id="27" name="Text 25"/>
          <p:cNvSpPr txBox="1"/>
          <p:nvPr/>
        </p:nvSpPr>
        <p:spPr>
          <a:xfrm>
            <a:off x="9217152" y="4315968"/>
            <a:ext cx="2331720" cy="1280160"/>
          </a:xfrm>
          <a:prstGeom prst="rect">
            <a:avLst/>
          </a:prstGeom>
          <a:noFill/>
          <a:ln/>
        </p:spPr>
        <p:txBody>
          <a:bodyPr wrap="square" lIns="0" tIns="0" rIns="0" bIns="0" rtlCol="0" anchor="t"/>
          <a:lstStyle/>
          <a:p>
            <a:pPr indent="0" marL="0">
              <a:buNone/>
            </a:pPr>
            <a:r>
              <a:rPr lang="en-US" sz="1400" i="1" dirty="0">
                <a:solidFill>
                  <a:schemeClr val="bg1"/>
                </a:solidFill>
              </a:rPr>
              <a:t>« Dieu n'a point rejeté son peuple, qu'il a connu d'avance » · « Et ainsi tout Israël sera sauvé »</a:t>
            </a:r>
            <a:endParaRPr lang="en-US" sz="1400" dirty="0"/>
          </a:p>
        </p:txBody>
      </p:sp>
      <p:sp>
        <p:nvSpPr>
          <p:cNvPr id="28" name="Text 26"/>
          <p:cNvSpPr txBox="1"/>
          <p:nvPr/>
        </p:nvSpPr>
        <p:spPr>
          <a:xfrm>
            <a:off x="548640" y="5760720"/>
            <a:ext cx="11091672" cy="502920"/>
          </a:xfrm>
          <a:prstGeom prst="rect">
            <a:avLst/>
          </a:prstGeom>
          <a:noFill/>
          <a:ln/>
        </p:spPr>
        <p:txBody>
          <a:bodyPr wrap="square" lIns="0" tIns="0" rIns="0" bIns="0" rtlCol="0" anchor="t"/>
          <a:lstStyle/>
          <a:p>
            <a:pPr algn="ctr" indent="0" marL="0">
              <a:buNone/>
            </a:pPr>
            <a:r>
              <a:rPr lang="en-US" sz="1400" i="1" dirty="0">
                <a:solidFill>
                  <a:schemeClr val="accent5"/>
                </a:solidFill>
              </a:rPr>
              <a:t>« L'engagement de Dieu envers son peuple, Israël, est indéfectible; il repose sur l'alliance conclue avec lui et sur son amour éternel » (note de MacArthur sur 94.14)</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0058400" cy="320040"/>
          </a:xfrm>
          <a:prstGeom prst="rect">
            <a:avLst/>
          </a:prstGeom>
          <a:noFill/>
          <a:ln/>
        </p:spPr>
        <p:txBody>
          <a:bodyPr wrap="square" lIns="0" tIns="0" rIns="0" bIns="0" rtlCol="0"/>
          <a:lstStyle/>
          <a:p>
            <a:pPr indent="0" marL="0">
              <a:buNone/>
            </a:pPr>
            <a:r>
              <a:rPr lang="en-US" sz="1300" b="1" spc="100" kern="0" dirty="0">
                <a:solidFill>
                  <a:schemeClr val="accent2"/>
                </a:solidFill>
              </a:rPr>
              <a:t>III · Le Dieu qui instruit dans l'attente · 94.14</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Du sens à l'application, sans substitution</a:t>
            </a:r>
            <a:endParaRPr lang="en-US" sz="3000" dirty="0"/>
          </a:p>
        </p:txBody>
      </p:sp>
      <p:sp>
        <p:nvSpPr>
          <p:cNvPr id="4" name="Étape 1"/>
          <p:cNvSpPr/>
          <p:nvPr/>
        </p:nvSpPr>
        <p:spPr>
          <a:xfrm>
            <a:off x="548640" y="1691640"/>
            <a:ext cx="3520440" cy="2377440"/>
          </a:xfrm>
          <a:prstGeom prst="roundRect">
            <a:avLst>
              <a:gd name="adj" fmla="val 3077"/>
            </a:avLst>
          </a:prstGeom>
          <a:solidFill>
            <a:schemeClr val="tx2"/>
          </a:solidFill>
          <a:ln/>
        </p:spPr>
      </p:sp>
      <p:sp>
        <p:nvSpPr>
          <p:cNvPr id="5" name="Pastille 1"/>
          <p:cNvSpPr/>
          <p:nvPr/>
        </p:nvSpPr>
        <p:spPr>
          <a:xfrm>
            <a:off x="777240" y="18745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Text 4"/>
          <p:cNvSpPr txBox="1"/>
          <p:nvPr/>
        </p:nvSpPr>
        <p:spPr>
          <a:xfrm>
            <a:off x="1463040" y="1874520"/>
            <a:ext cx="2377440" cy="50292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Sens</a:t>
            </a:r>
            <a:endParaRPr lang="en-US" sz="2400" dirty="0"/>
          </a:p>
        </p:txBody>
      </p:sp>
      <p:sp>
        <p:nvSpPr>
          <p:cNvPr id="7" name="Text 5"/>
          <p:cNvSpPr txBox="1"/>
          <p:nvPr/>
        </p:nvSpPr>
        <p:spPr>
          <a:xfrm>
            <a:off x="777240" y="2560320"/>
            <a:ext cx="3108960" cy="1463040"/>
          </a:xfrm>
          <a:prstGeom prst="rect">
            <a:avLst/>
          </a:prstGeom>
          <a:noFill/>
          <a:ln/>
        </p:spPr>
        <p:txBody>
          <a:bodyPr wrap="square" lIns="0" tIns="0" rIns="0" bIns="0" rtlCol="0" anchor="t"/>
          <a:lstStyle/>
          <a:p>
            <a:pPr indent="0" marL="0">
              <a:buNone/>
            </a:pPr>
            <a:r>
              <a:rPr lang="en-US" sz="1600" dirty="0">
                <a:solidFill>
                  <a:schemeClr val="bg1"/>
                </a:solidFill>
              </a:rPr>
              <a:t>Israël, propriété de l'Éternel, n'est pas abandonné; Paul y rattache le salut à venir d'Israël (Romains 11.1, 26).</a:t>
            </a:r>
            <a:endParaRPr lang="en-US" sz="1600" dirty="0"/>
          </a:p>
        </p:txBody>
      </p:sp>
      <p:sp>
        <p:nvSpPr>
          <p:cNvPr id="8" name="Chevron 1"/>
          <p:cNvSpPr/>
          <p:nvPr/>
        </p:nvSpPr>
        <p:spPr>
          <a:xfrm>
            <a:off x="4096512" y="2697480"/>
            <a:ext cx="228600" cy="457200"/>
          </a:xfrm>
          <a:prstGeom prst="chevron">
            <a:avLst/>
          </a:prstGeom>
          <a:solidFill>
            <a:schemeClr val="accent2"/>
          </a:solidFill>
          <a:ln/>
        </p:spPr>
      </p:sp>
      <p:sp>
        <p:nvSpPr>
          <p:cNvPr id="9" name="Étape 2"/>
          <p:cNvSpPr/>
          <p:nvPr/>
        </p:nvSpPr>
        <p:spPr>
          <a:xfrm>
            <a:off x="4343400" y="1691640"/>
            <a:ext cx="3520440" cy="2377440"/>
          </a:xfrm>
          <a:prstGeom prst="roundRect">
            <a:avLst>
              <a:gd name="adj" fmla="val 3077"/>
            </a:avLst>
          </a:prstGeom>
          <a:solidFill>
            <a:schemeClr val="accent3"/>
          </a:solidFill>
          <a:ln/>
        </p:spPr>
      </p:sp>
      <p:sp>
        <p:nvSpPr>
          <p:cNvPr id="10" name="Pastille 2"/>
          <p:cNvSpPr/>
          <p:nvPr/>
        </p:nvSpPr>
        <p:spPr>
          <a:xfrm>
            <a:off x="4572000" y="18745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1" name="Text 9"/>
          <p:cNvSpPr txBox="1"/>
          <p:nvPr/>
        </p:nvSpPr>
        <p:spPr>
          <a:xfrm>
            <a:off x="5257800" y="1874520"/>
            <a:ext cx="2377440" cy="50292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Principe</a:t>
            </a:r>
            <a:endParaRPr lang="en-US" sz="2400" dirty="0"/>
          </a:p>
        </p:txBody>
      </p:sp>
      <p:sp>
        <p:nvSpPr>
          <p:cNvPr id="12" name="Text 10"/>
          <p:cNvSpPr txBox="1"/>
          <p:nvPr/>
        </p:nvSpPr>
        <p:spPr>
          <a:xfrm>
            <a:off x="4572000" y="2560320"/>
            <a:ext cx="3108960" cy="1463040"/>
          </a:xfrm>
          <a:prstGeom prst="rect">
            <a:avLst/>
          </a:prstGeom>
          <a:noFill/>
          <a:ln/>
        </p:spPr>
        <p:txBody>
          <a:bodyPr wrap="square" lIns="0" tIns="0" rIns="0" bIns="0" rtlCol="0" anchor="t"/>
          <a:lstStyle/>
          <a:p>
            <a:pPr indent="0" marL="0">
              <a:buNone/>
            </a:pPr>
            <a:r>
              <a:rPr lang="en-US" sz="1600" dirty="0">
                <a:solidFill>
                  <a:schemeClr val="bg1"/>
                </a:solidFill>
              </a:rPr>
              <a:t>Dieu n'abandonne pas ce qui lui appartient, et dans l'attente il forme les siens par sa Parole.</a:t>
            </a:r>
            <a:endParaRPr lang="en-US" sz="1600" dirty="0"/>
          </a:p>
        </p:txBody>
      </p:sp>
      <p:sp>
        <p:nvSpPr>
          <p:cNvPr id="13" name="Chevron 2"/>
          <p:cNvSpPr/>
          <p:nvPr/>
        </p:nvSpPr>
        <p:spPr>
          <a:xfrm>
            <a:off x="7891272" y="2697480"/>
            <a:ext cx="228600" cy="457200"/>
          </a:xfrm>
          <a:prstGeom prst="chevron">
            <a:avLst/>
          </a:prstGeom>
          <a:solidFill>
            <a:schemeClr val="accent2"/>
          </a:solidFill>
          <a:ln/>
        </p:spPr>
      </p:sp>
      <p:sp>
        <p:nvSpPr>
          <p:cNvPr id="14" name="Étape 3"/>
          <p:cNvSpPr/>
          <p:nvPr/>
        </p:nvSpPr>
        <p:spPr>
          <a:xfrm>
            <a:off x="8138160" y="1691640"/>
            <a:ext cx="3520440" cy="2377440"/>
          </a:xfrm>
          <a:prstGeom prst="roundRect">
            <a:avLst>
              <a:gd name="adj" fmla="val 3077"/>
            </a:avLst>
          </a:prstGeom>
          <a:solidFill>
            <a:schemeClr val="accent1"/>
          </a:solidFill>
          <a:ln/>
        </p:spPr>
      </p:sp>
      <p:sp>
        <p:nvSpPr>
          <p:cNvPr id="15" name="Pastille 3"/>
          <p:cNvSpPr/>
          <p:nvPr/>
        </p:nvSpPr>
        <p:spPr>
          <a:xfrm>
            <a:off x="8366760" y="1874520"/>
            <a:ext cx="502920" cy="502920"/>
          </a:xfrm>
          <a:prstGeom prst="ellipse">
            <a:avLst/>
          </a:prstGeom>
          <a:solidFill>
            <a:schemeClr val="tx1"/>
          </a:solidFill>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16" name="Text 14"/>
          <p:cNvSpPr txBox="1"/>
          <p:nvPr/>
        </p:nvSpPr>
        <p:spPr>
          <a:xfrm>
            <a:off x="9052560" y="1874520"/>
            <a:ext cx="2377440" cy="50292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Application</a:t>
            </a:r>
            <a:endParaRPr lang="en-US" sz="2400" dirty="0"/>
          </a:p>
        </p:txBody>
      </p:sp>
      <p:sp>
        <p:nvSpPr>
          <p:cNvPr id="17" name="Text 15"/>
          <p:cNvSpPr txBox="1"/>
          <p:nvPr/>
        </p:nvSpPr>
        <p:spPr>
          <a:xfrm>
            <a:off x="8366760" y="2560320"/>
            <a:ext cx="3108960" cy="1463040"/>
          </a:xfrm>
          <a:prstGeom prst="rect">
            <a:avLst/>
          </a:prstGeom>
          <a:noFill/>
          <a:ln/>
        </p:spPr>
        <p:txBody>
          <a:bodyPr wrap="square" lIns="0" tIns="0" rIns="0" bIns="0" rtlCol="0" anchor="t"/>
          <a:lstStyle/>
          <a:p>
            <a:pPr indent="0" marL="0">
              <a:buNone/>
            </a:pPr>
            <a:r>
              <a:rPr lang="en-US" sz="1600" dirty="0">
                <a:solidFill>
                  <a:schemeClr val="tx1"/>
                </a:solidFill>
              </a:rPr>
              <a:t>L'assemblée en reçoit le principe : elle apprend qui est Dieu et s'appuie en Christ sur ce Dieu fidèle.</a:t>
            </a:r>
            <a:endParaRPr lang="en-US" sz="1600" dirty="0"/>
          </a:p>
        </p:txBody>
      </p:sp>
      <p:sp>
        <p:nvSpPr>
          <p:cNvPr id="18" name="Substitution disque"/>
          <p:cNvSpPr/>
          <p:nvPr/>
        </p:nvSpPr>
        <p:spPr>
          <a:xfrm>
            <a:off x="548640" y="4343400"/>
            <a:ext cx="548640" cy="548640"/>
          </a:xfrm>
          <a:prstGeom prst="ellipse">
            <a:avLst/>
          </a:prstGeom>
          <a:solidFill>
            <a:schemeClr val="accent3"/>
          </a:solidFill>
          <a:ln/>
        </p:spPr>
      </p:sp>
      <p:sp>
        <p:nvSpPr>
          <p:cNvPr id="19" name="Substitution a"/>
          <p:cNvSpPr/>
          <p:nvPr/>
        </p:nvSpPr>
        <p:spPr>
          <a:xfrm>
            <a:off x="713232" y="4507992"/>
            <a:ext cx="219456" cy="219456"/>
          </a:xfrm>
          <a:prstGeom prst="line">
            <a:avLst/>
          </a:prstGeom>
          <a:noFill/>
          <a:ln w="38100">
            <a:solidFill>
              <a:schemeClr val="bg1"/>
            </a:solidFill>
            <a:prstDash val="solid"/>
          </a:ln>
        </p:spPr>
      </p:sp>
      <p:sp>
        <p:nvSpPr>
          <p:cNvPr id="20" name="Substitution b"/>
          <p:cNvSpPr/>
          <p:nvPr/>
        </p:nvSpPr>
        <p:spPr>
          <a:xfrm flipH="1">
            <a:off x="713232" y="4507992"/>
            <a:ext cx="219456" cy="219456"/>
          </a:xfrm>
          <a:prstGeom prst="line">
            <a:avLst/>
          </a:prstGeom>
          <a:noFill/>
          <a:ln w="38100">
            <a:solidFill>
              <a:schemeClr val="bg1"/>
            </a:solidFill>
            <a:prstDash val="solid"/>
          </a:ln>
        </p:spPr>
      </p:sp>
      <p:sp>
        <p:nvSpPr>
          <p:cNvPr id="21" name="Text 19"/>
          <p:cNvSpPr txBox="1"/>
          <p:nvPr/>
        </p:nvSpPr>
        <p:spPr>
          <a:xfrm>
            <a:off x="1280160" y="4297680"/>
            <a:ext cx="10332720" cy="640080"/>
          </a:xfrm>
          <a:prstGeom prst="rect">
            <a:avLst/>
          </a:prstGeom>
          <a:noFill/>
          <a:ln/>
        </p:spPr>
        <p:txBody>
          <a:bodyPr wrap="square" lIns="0" tIns="0" rIns="0" bIns="0" rtlCol="0" anchor="ctr"/>
          <a:lstStyle/>
          <a:p>
            <a:pPr indent="0" marL="0">
              <a:buNone/>
            </a:pPr>
            <a:r>
              <a:rPr lang="en-US" sz="2100" b="1" dirty="0">
                <a:solidFill>
                  <a:schemeClr val="bg1"/>
                </a:solidFill>
                <a:latin typeface="Cambria" pitchFamily="34" charset="0"/>
                <a:ea typeface="Cambria" pitchFamily="34" charset="-122"/>
                <a:cs typeface="Cambria" pitchFamily="34" charset="-120"/>
              </a:rPr>
              <a:t>Pas de substitution : l'Église ne prend pas la place d'Israël dans cette promesse.</a:t>
            </a:r>
            <a:endParaRPr lang="en-US" sz="2100" dirty="0"/>
          </a:p>
        </p:txBody>
      </p:sp>
      <p:sp>
        <p:nvSpPr>
          <p:cNvPr id="22" name="Concrètement"/>
          <p:cNvSpPr/>
          <p:nvPr/>
        </p:nvSpPr>
        <p:spPr>
          <a:xfrm>
            <a:off x="548640" y="5120640"/>
            <a:ext cx="11091672" cy="1097280"/>
          </a:xfrm>
          <a:prstGeom prst="roundRect">
            <a:avLst>
              <a:gd name="adj" fmla="val 6667"/>
            </a:avLst>
          </a:prstGeom>
          <a:solidFill>
            <a:schemeClr val="tx2"/>
          </a:solidFill>
          <a:ln/>
        </p:spPr>
      </p:sp>
      <p:sp>
        <p:nvSpPr>
          <p:cNvPr id="23" name="Text 21"/>
          <p:cNvSpPr txBox="1"/>
          <p:nvPr/>
        </p:nvSpPr>
        <p:spPr>
          <a:xfrm>
            <a:off x="777240" y="5175504"/>
            <a:ext cx="2743200" cy="274320"/>
          </a:xfrm>
          <a:prstGeom prst="rect">
            <a:avLst/>
          </a:prstGeom>
          <a:noFill/>
          <a:ln/>
        </p:spPr>
        <p:txBody>
          <a:bodyPr wrap="square" lIns="0" tIns="0" rIns="0" bIns="0" rtlCol="0" anchor="t"/>
          <a:lstStyle/>
          <a:p>
            <a:pPr indent="0" marL="0">
              <a:buNone/>
            </a:pPr>
            <a:r>
              <a:rPr lang="en-US" sz="1400" b="1" dirty="0">
                <a:solidFill>
                  <a:schemeClr val="accent2"/>
                </a:solidFill>
              </a:rPr>
              <a:t>Concrètement</a:t>
            </a:r>
            <a:endParaRPr lang="en-US" sz="1400" dirty="0"/>
          </a:p>
        </p:txBody>
      </p:sp>
      <p:sp>
        <p:nvSpPr>
          <p:cNvPr id="24" name="Text 22"/>
          <p:cNvSpPr txBox="1"/>
          <p:nvPr/>
        </p:nvSpPr>
        <p:spPr>
          <a:xfrm>
            <a:off x="777240" y="5486400"/>
            <a:ext cx="3383280" cy="685800"/>
          </a:xfrm>
          <a:prstGeom prst="rect">
            <a:avLst/>
          </a:prstGeom>
          <a:noFill/>
          <a:ln/>
        </p:spPr>
        <p:txBody>
          <a:bodyPr wrap="square" lIns="0" tIns="0" rIns="0" bIns="0" rtlCol="0" anchor="t"/>
          <a:lstStyle/>
          <a:p>
            <a:pPr indent="0" marL="0">
              <a:buNone/>
            </a:pPr>
            <a:r>
              <a:rPr lang="en-US" sz="1400" dirty="0">
                <a:solidFill>
                  <a:schemeClr val="bg1"/>
                </a:solidFill>
              </a:rPr>
              <a:t>Ouvrir l'Écriture précisément les jours où l'on voudrait la fermer.</a:t>
            </a:r>
            <a:endParaRPr lang="en-US" sz="1400" dirty="0"/>
          </a:p>
        </p:txBody>
      </p:sp>
      <p:sp>
        <p:nvSpPr>
          <p:cNvPr id="25" name="Text 23"/>
          <p:cNvSpPr txBox="1"/>
          <p:nvPr/>
        </p:nvSpPr>
        <p:spPr>
          <a:xfrm>
            <a:off x="4389120" y="5486400"/>
            <a:ext cx="3383280" cy="685800"/>
          </a:xfrm>
          <a:prstGeom prst="rect">
            <a:avLst/>
          </a:prstGeom>
          <a:noFill/>
          <a:ln/>
        </p:spPr>
        <p:txBody>
          <a:bodyPr wrap="square" lIns="0" tIns="0" rIns="0" bIns="0" rtlCol="0" anchor="t"/>
          <a:lstStyle/>
          <a:p>
            <a:pPr indent="0" marL="0">
              <a:buNone/>
            </a:pPr>
            <a:r>
              <a:rPr lang="en-US" sz="1400" dirty="0">
                <a:solidFill>
                  <a:schemeClr val="bg1"/>
                </a:solidFill>
              </a:rPr>
              <a:t>Ne pas se promettre la fin de l'épreuve pour demain : le calme « jusqu'à ce que ».</a:t>
            </a:r>
            <a:endParaRPr lang="en-US" sz="1400" dirty="0"/>
          </a:p>
        </p:txBody>
      </p:sp>
      <p:sp>
        <p:nvSpPr>
          <p:cNvPr id="26" name="Text 24"/>
          <p:cNvSpPr txBox="1"/>
          <p:nvPr/>
        </p:nvSpPr>
        <p:spPr>
          <a:xfrm>
            <a:off x="8001000" y="5486400"/>
            <a:ext cx="3383280" cy="685800"/>
          </a:xfrm>
          <a:prstGeom prst="rect">
            <a:avLst/>
          </a:prstGeom>
          <a:noFill/>
          <a:ln/>
        </p:spPr>
        <p:txBody>
          <a:bodyPr wrap="square" lIns="0" tIns="0" rIns="0" bIns="0" rtlCol="0" anchor="t"/>
          <a:lstStyle/>
          <a:p>
            <a:pPr indent="0" marL="0">
              <a:buNone/>
            </a:pPr>
            <a:r>
              <a:rPr lang="en-US" sz="1400" dirty="0">
                <a:solidFill>
                  <a:schemeClr val="bg1"/>
                </a:solidFill>
              </a:rPr>
              <a:t>Recevoir le calme « par ta loi » : l'Esprit l'applique, le croyant ne le fabrique pas.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Rocher section IV grand"/>
          <p:cNvSpPr/>
          <p:nvPr/>
        </p:nvSpPr>
        <p:spPr>
          <a:xfrm>
            <a:off x="7772400" y="2373782"/>
            <a:ext cx="2688336" cy="2381098"/>
          </a:xfrm>
          <a:prstGeom prst="triangle">
            <a:avLst/>
          </a:prstGeom>
          <a:solidFill>
            <a:schemeClr val="accent3"/>
          </a:solidFill>
          <a:ln/>
        </p:spPr>
      </p:sp>
      <p:sp>
        <p:nvSpPr>
          <p:cNvPr id="3" name="Rocher section IV petit"/>
          <p:cNvSpPr/>
          <p:nvPr/>
        </p:nvSpPr>
        <p:spPr>
          <a:xfrm>
            <a:off x="9500616" y="3141878"/>
            <a:ext cx="2112264" cy="1613002"/>
          </a:xfrm>
          <a:prstGeom prst="triangle">
            <a:avLst/>
          </a:prstGeom>
          <a:solidFill>
            <a:schemeClr val="accent1"/>
          </a:solidFill>
          <a:ln/>
        </p:spPr>
      </p:sp>
      <p:sp>
        <p:nvSpPr>
          <p:cNvPr id="4" name="Text 0"/>
          <p:cNvSpPr/>
          <p:nvPr>
            <p:ph idx="100" type="body" hasCustomPrompt="1"/>
          </p:nvPr>
        </p:nvSpPr>
        <p:spPr>
          <a:xfrm>
            <a:off x="731520" y="914400"/>
            <a:ext cx="2743200" cy="1005840"/>
          </a:xfrm>
          <a:prstGeom prst="rect">
            <a:avLst/>
          </a:prstGeom>
          <a:noFill/>
          <a:ln/>
        </p:spPr>
        <p:txBody>
          <a:bodyPr wrap="square" lIns="0" tIns="0" rIns="0" bIns="0" rtlCol="0"/>
          <a:lstStyle/>
          <a:p>
            <a:pPr indent="0" marL="0">
              <a:buNone/>
            </a:pPr>
            <a:r>
              <a:rPr lang="en-US" sz="6600" b="1" dirty="0">
                <a:solidFill>
                  <a:schemeClr val="accent1"/>
                </a:solidFill>
                <a:latin typeface="Cambria" pitchFamily="34" charset="0"/>
                <a:ea typeface="Cambria" pitchFamily="34" charset="-122"/>
                <a:cs typeface="Cambria" pitchFamily="34" charset="-120"/>
              </a:rPr>
              <a:t>IV</a:t>
            </a:r>
            <a:endParaRPr lang="en-US" sz="6600" dirty="0"/>
          </a:p>
        </p:txBody>
      </p:sp>
      <p:sp>
        <p:nvSpPr>
          <p:cNvPr id="5" name="Text 0"/>
          <p:cNvSpPr/>
          <p:nvPr>
            <p:ph idx="101" type="title" hasCustomPrompt="1"/>
          </p:nvPr>
        </p:nvSpPr>
        <p:spPr>
          <a:xfrm>
            <a:off x="731520" y="2011680"/>
            <a:ext cx="6400800" cy="146304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Le Dieu qui soutient et qui rendra</a:t>
            </a:r>
            <a:endParaRPr lang="en-US" sz="4000" dirty="0"/>
          </a:p>
        </p:txBody>
      </p:sp>
      <p:sp>
        <p:nvSpPr>
          <p:cNvPr id="6" name="Text 0"/>
          <p:cNvSpPr/>
          <p:nvPr>
            <p:ph idx="102" type="body" hasCustomPrompt="1"/>
          </p:nvPr>
        </p:nvSpPr>
        <p:spPr>
          <a:xfrm>
            <a:off x="731520" y="3657600"/>
            <a:ext cx="6400800" cy="1463040"/>
          </a:xfrm>
          <a:prstGeom prst="rect">
            <a:avLst/>
          </a:prstGeom>
          <a:noFill/>
          <a:ln/>
        </p:spPr>
        <p:txBody>
          <a:bodyPr wrap="square" lIns="0" tIns="0" rIns="0" bIns="0" rtlCol="0" anchor="t"/>
          <a:lstStyle/>
          <a:p>
            <a:pPr indent="0" marL="0">
              <a:buNone/>
            </a:pPr>
            <a:r>
              <a:rPr lang="en-US" sz="2200" i="1" dirty="0">
                <a:solidFill>
                  <a:schemeClr val="bg1"/>
                </a:solidFill>
                <a:latin typeface="Cambria" pitchFamily="34" charset="0"/>
                <a:ea typeface="Cambria" pitchFamily="34" charset="-122"/>
                <a:cs typeface="Cambria" pitchFamily="34" charset="-120"/>
              </a:rPr>
              <a:t>Quand mon pied chancelle, sa bonté me soutient; et le juge aura le dernier mot.</a:t>
            </a:r>
            <a:endParaRPr lang="en-US" sz="2200" dirty="0"/>
          </a:p>
        </p:txBody>
      </p:sp>
      <p:sp>
        <p:nvSpPr>
          <p:cNvPr id="7" name="Text 0"/>
          <p:cNvSpPr/>
          <p:nvPr>
            <p:ph idx="103" type="body" hasCustomPrompt="1"/>
          </p:nvPr>
        </p:nvSpPr>
        <p:spPr>
          <a:xfrm>
            <a:off x="731520" y="5349240"/>
            <a:ext cx="6400800" cy="411480"/>
          </a:xfrm>
          <a:prstGeom prst="rect">
            <a:avLst/>
          </a:prstGeom>
          <a:noFill/>
          <a:ln/>
        </p:spPr>
        <p:txBody>
          <a:bodyPr wrap="square" lIns="0" tIns="0" rIns="0" bIns="0" rtlCol="0"/>
          <a:lstStyle/>
          <a:p>
            <a:pPr indent="0" marL="0">
              <a:buNone/>
            </a:pPr>
            <a:r>
              <a:rPr lang="en-US" sz="1600" dirty="0">
                <a:solidFill>
                  <a:schemeClr val="accent2"/>
                </a:solidFill>
              </a:rPr>
              <a:t>Psaume 94.16-23 · 10 min</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0058400" cy="320040"/>
          </a:xfrm>
          <a:prstGeom prst="rect">
            <a:avLst/>
          </a:prstGeom>
          <a:noFill/>
          <a:ln/>
        </p:spPr>
        <p:txBody>
          <a:bodyPr wrap="square" lIns="0" tIns="0" rIns="0" bIns="0" rtlCol="0"/>
          <a:lstStyle/>
          <a:p>
            <a:pPr indent="0" marL="0">
              <a:buNone/>
            </a:pPr>
            <a:r>
              <a:rPr lang="en-US" sz="1300" b="1" spc="100" kern="0" dirty="0">
                <a:solidFill>
                  <a:schemeClr val="accent2"/>
                </a:solidFill>
              </a:rPr>
              <a:t>IV · Le Dieu qui soutient et qui rendra · 94.16-17</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Sans l'Éternel, la demeure du silence</a:t>
            </a:r>
            <a:endParaRPr lang="en-US" sz="3000" dirty="0"/>
          </a:p>
        </p:txBody>
      </p:sp>
      <p:sp>
        <p:nvSpPr>
          <p:cNvPr id="4" name="Questions"/>
          <p:cNvSpPr/>
          <p:nvPr/>
        </p:nvSpPr>
        <p:spPr>
          <a:xfrm>
            <a:off x="548640" y="1600200"/>
            <a:ext cx="11091672" cy="777240"/>
          </a:xfrm>
          <a:prstGeom prst="roundRect">
            <a:avLst>
              <a:gd name="adj" fmla="val 9412"/>
            </a:avLst>
          </a:prstGeom>
          <a:solidFill>
            <a:schemeClr val="tx2"/>
          </a:solidFill>
          <a:ln/>
        </p:spPr>
      </p:sp>
      <p:sp>
        <p:nvSpPr>
          <p:cNvPr id="5" name="Text 3"/>
          <p:cNvSpPr txBox="1"/>
          <p:nvPr/>
        </p:nvSpPr>
        <p:spPr>
          <a:xfrm>
            <a:off x="777240" y="1600200"/>
            <a:ext cx="10652760" cy="777240"/>
          </a:xfrm>
          <a:prstGeom prst="rect">
            <a:avLst/>
          </a:prstGeom>
          <a:noFill/>
          <a:ln/>
        </p:spPr>
        <p:txBody>
          <a:bodyPr wrap="square" lIns="0" tIns="0" rIns="0" bIns="0" rtlCol="0" anchor="ctr"/>
          <a:lstStyle/>
          <a:p>
            <a:pPr algn="ctr" indent="0" marL="0">
              <a:buNone/>
            </a:pPr>
            <a:r>
              <a:rPr lang="en-US" sz="2000" i="1" dirty="0">
                <a:solidFill>
                  <a:schemeClr val="bg1"/>
                </a:solidFill>
                <a:latin typeface="Cambria" pitchFamily="34" charset="0"/>
                <a:ea typeface="Cambria" pitchFamily="34" charset="-122"/>
                <a:cs typeface="Cambria" pitchFamily="34" charset="-120"/>
              </a:rPr>
              <a:t>« Qui se lèvera pour moi contre les méchants? Qui me soutiendra contre ceux qui font le mal? » (94.16)</a:t>
            </a:r>
            <a:endParaRPr lang="en-US" sz="2000" dirty="0"/>
          </a:p>
        </p:txBody>
      </p:sp>
      <p:sp>
        <p:nvSpPr>
          <p:cNvPr id="6" name="Condition"/>
          <p:cNvSpPr/>
          <p:nvPr/>
        </p:nvSpPr>
        <p:spPr>
          <a:xfrm>
            <a:off x="3566160" y="2697480"/>
            <a:ext cx="5029200" cy="777240"/>
          </a:xfrm>
          <a:prstGeom prst="roundRect">
            <a:avLst>
              <a:gd name="adj" fmla="val 9412"/>
            </a:avLst>
          </a:prstGeom>
          <a:solidFill>
            <a:schemeClr val="accent1"/>
          </a:solidFill>
          <a:ln/>
        </p:spPr>
        <p:txBody>
          <a:bodyPr wrap="square" lIns="1524" tIns="1524" rIns="1524" bIns="1524" rtlCol="0" anchor="ctr"/>
          <a:lstStyle/>
          <a:p>
            <a:pPr algn="ctr" indent="0" marL="0">
              <a:buNone/>
            </a:pPr>
            <a:r>
              <a:rPr lang="en-US" sz="1800" b="1" dirty="0">
                <a:solidFill>
                  <a:schemeClr val="tx1"/>
                </a:solidFill>
              </a:rPr>
              <a:t>« Si l'Eternel n'était pas mon secours » (94.17)</a:t>
            </a:r>
            <a:endParaRPr lang="en-US" sz="1800" dirty="0"/>
          </a:p>
        </p:txBody>
      </p:sp>
      <p:sp>
        <p:nvSpPr>
          <p:cNvPr id="7" name="Text 5"/>
          <p:cNvSpPr txBox="1"/>
          <p:nvPr/>
        </p:nvSpPr>
        <p:spPr>
          <a:xfrm>
            <a:off x="8778240" y="2743200"/>
            <a:ext cx="2834640" cy="685800"/>
          </a:xfrm>
          <a:prstGeom prst="rect">
            <a:avLst/>
          </a:prstGeom>
          <a:noFill/>
          <a:ln/>
        </p:spPr>
        <p:txBody>
          <a:bodyPr wrap="square" lIns="0" tIns="0" rIns="0" bIns="0" rtlCol="0" anchor="ctr"/>
          <a:lstStyle/>
          <a:p>
            <a:pPr indent="0" marL="0">
              <a:buNone/>
            </a:pPr>
            <a:r>
              <a:rPr lang="en-US" sz="1400" i="1" dirty="0">
                <a:solidFill>
                  <a:schemeClr val="accent2"/>
                </a:solidFill>
              </a:rPr>
              <a:t>condition irréelle (lûlê et le parfait)</a:t>
            </a:r>
            <a:endParaRPr lang="en-US" sz="1400" dirty="0"/>
          </a:p>
        </p:txBody>
      </p:sp>
      <p:sp>
        <p:nvSpPr>
          <p:cNvPr id="8" name="Sans le secours"/>
          <p:cNvSpPr/>
          <p:nvPr/>
        </p:nvSpPr>
        <p:spPr>
          <a:xfrm flipH="1">
            <a:off x="3154680" y="3474720"/>
            <a:ext cx="1783080" cy="640080"/>
          </a:xfrm>
          <a:prstGeom prst="line">
            <a:avLst/>
          </a:prstGeom>
          <a:noFill/>
          <a:ln w="28575">
            <a:solidFill>
              <a:schemeClr val="accent6"/>
            </a:solidFill>
            <a:prstDash val="solid"/>
            <a:tailEnd type="triangle"/>
          </a:ln>
        </p:spPr>
      </p:sp>
      <p:sp>
        <p:nvSpPr>
          <p:cNvPr id="9" name="Avec le secours"/>
          <p:cNvSpPr/>
          <p:nvPr/>
        </p:nvSpPr>
        <p:spPr>
          <a:xfrm>
            <a:off x="7223760" y="3474720"/>
            <a:ext cx="1828800" cy="640080"/>
          </a:xfrm>
          <a:prstGeom prst="line">
            <a:avLst/>
          </a:prstGeom>
          <a:noFill/>
          <a:ln w="28575">
            <a:solidFill>
              <a:schemeClr val="accent1"/>
            </a:solidFill>
            <a:prstDash val="solid"/>
            <a:tailEnd type="triangle"/>
          </a:ln>
        </p:spPr>
      </p:sp>
      <p:sp>
        <p:nvSpPr>
          <p:cNvPr id="10" name="Le silence"/>
          <p:cNvSpPr/>
          <p:nvPr/>
        </p:nvSpPr>
        <p:spPr>
          <a:xfrm>
            <a:off x="548640" y="4114800"/>
            <a:ext cx="5212080" cy="2057400"/>
          </a:xfrm>
          <a:prstGeom prst="roundRect">
            <a:avLst>
              <a:gd name="adj" fmla="val 3556"/>
            </a:avLst>
          </a:prstGeom>
          <a:solidFill>
            <a:schemeClr val="tx1"/>
          </a:solidFill>
          <a:ln w="19050">
            <a:solidFill>
              <a:schemeClr val="accent6"/>
            </a:solidFill>
            <a:prstDash val="solid"/>
          </a:ln>
        </p:spPr>
      </p:sp>
      <p:sp>
        <p:nvSpPr>
          <p:cNvPr id="11" name="Text 9"/>
          <p:cNvSpPr txBox="1"/>
          <p:nvPr/>
        </p:nvSpPr>
        <p:spPr>
          <a:xfrm>
            <a:off x="777240" y="4206240"/>
            <a:ext cx="4754880" cy="411480"/>
          </a:xfrm>
          <a:prstGeom prst="rect">
            <a:avLst/>
          </a:prstGeom>
          <a:noFill/>
          <a:ln/>
        </p:spPr>
        <p:txBody>
          <a:bodyPr wrap="square" lIns="0" tIns="0" rIns="0" bIns="0" rtlCol="0" anchor="t"/>
          <a:lstStyle/>
          <a:p>
            <a:pPr indent="0" marL="0">
              <a:buNone/>
            </a:pPr>
            <a:r>
              <a:rPr lang="en-US" sz="1900" b="1" dirty="0">
                <a:solidFill>
                  <a:schemeClr val="accent2"/>
                </a:solidFill>
                <a:latin typeface="Cambria" pitchFamily="34" charset="0"/>
                <a:ea typeface="Cambria" pitchFamily="34" charset="-122"/>
                <a:cs typeface="Cambria" pitchFamily="34" charset="-120"/>
              </a:rPr>
              <a:t>Sans lui : « la demeure du silence »</a:t>
            </a:r>
            <a:endParaRPr lang="en-US" sz="1900" dirty="0"/>
          </a:p>
        </p:txBody>
      </p:sp>
      <p:sp>
        <p:nvSpPr>
          <p:cNvPr id="12" name="Text 10"/>
          <p:cNvSpPr txBox="1"/>
          <p:nvPr/>
        </p:nvSpPr>
        <p:spPr>
          <a:xfrm>
            <a:off x="777240" y="4681728"/>
            <a:ext cx="4754880" cy="685800"/>
          </a:xfrm>
          <a:prstGeom prst="rect">
            <a:avLst/>
          </a:prstGeom>
          <a:noFill/>
          <a:ln/>
        </p:spPr>
        <p:txBody>
          <a:bodyPr wrap="square" lIns="0" tIns="0" rIns="0" bIns="0" rtlCol="0" anchor="t"/>
          <a:lstStyle/>
          <a:p>
            <a:pPr indent="0" marL="0">
              <a:buNone/>
            </a:pPr>
            <a:r>
              <a:rPr lang="en-US" sz="1500" i="1" dirty="0">
                <a:solidFill>
                  <a:schemeClr val="bg1"/>
                </a:solidFill>
              </a:rPr>
              <a:t>« Le «silence» désigne ici le séjour des morts (cf. 31.18) »</a:t>
            </a:r>
            <a:endParaRPr lang="en-US" sz="1500" dirty="0"/>
          </a:p>
        </p:txBody>
      </p:sp>
      <p:sp>
        <p:nvSpPr>
          <p:cNvPr id="13" name="Text 11"/>
          <p:cNvSpPr txBox="1"/>
          <p:nvPr/>
        </p:nvSpPr>
        <p:spPr>
          <a:xfrm>
            <a:off x="777240" y="5394960"/>
            <a:ext cx="4754880" cy="685800"/>
          </a:xfrm>
          <a:prstGeom prst="rect">
            <a:avLst/>
          </a:prstGeom>
          <a:noFill/>
          <a:ln/>
        </p:spPr>
        <p:txBody>
          <a:bodyPr wrap="square" lIns="0" tIns="0" rIns="0" bIns="0" rtlCol="0" anchor="t"/>
          <a:lstStyle/>
          <a:p>
            <a:pPr indent="0" marL="0">
              <a:buNone/>
            </a:pPr>
            <a:r>
              <a:rPr lang="en-US" sz="1400" dirty="0">
                <a:solidFill>
                  <a:schemeClr val="bg2"/>
                </a:solidFill>
              </a:rPr>
              <a:t>Psaume 31.18 : « Qu'ils descendent en silence au séjour des morts! »</a:t>
            </a:r>
            <a:endParaRPr lang="en-US" sz="1400" dirty="0"/>
          </a:p>
        </p:txBody>
      </p:sp>
      <p:sp>
        <p:nvSpPr>
          <p:cNvPr id="14" name="Le secours"/>
          <p:cNvSpPr/>
          <p:nvPr/>
        </p:nvSpPr>
        <p:spPr>
          <a:xfrm>
            <a:off x="6428232" y="4114800"/>
            <a:ext cx="5212080" cy="2057400"/>
          </a:xfrm>
          <a:prstGeom prst="roundRect">
            <a:avLst>
              <a:gd name="adj" fmla="val 3556"/>
            </a:avLst>
          </a:prstGeom>
          <a:solidFill>
            <a:schemeClr val="accent3"/>
          </a:solidFill>
          <a:ln/>
        </p:spPr>
      </p:sp>
      <p:sp>
        <p:nvSpPr>
          <p:cNvPr id="15" name="Text 13"/>
          <p:cNvSpPr txBox="1"/>
          <p:nvPr/>
        </p:nvSpPr>
        <p:spPr>
          <a:xfrm>
            <a:off x="6656832" y="4206240"/>
            <a:ext cx="4754880" cy="411480"/>
          </a:xfrm>
          <a:prstGeom prst="rect">
            <a:avLst/>
          </a:prstGeom>
          <a:noFill/>
          <a:ln/>
        </p:spPr>
        <p:txBody>
          <a:bodyPr wrap="square" lIns="0" tIns="0" rIns="0" bIns="0" rtlCol="0" anchor="t"/>
          <a:lstStyle/>
          <a:p>
            <a:pPr indent="0" marL="0">
              <a:buNone/>
            </a:pPr>
            <a:r>
              <a:rPr lang="en-US" sz="1900" b="1" dirty="0">
                <a:solidFill>
                  <a:schemeClr val="accent5"/>
                </a:solidFill>
                <a:latin typeface="Cambria" pitchFamily="34" charset="0"/>
                <a:ea typeface="Cambria" pitchFamily="34" charset="-122"/>
                <a:cs typeface="Cambria" pitchFamily="34" charset="-120"/>
              </a:rPr>
              <a:t>Avec lui : l'Éternel est mon secours</a:t>
            </a:r>
            <a:endParaRPr lang="en-US" sz="1900" dirty="0"/>
          </a:p>
        </p:txBody>
      </p:sp>
      <p:sp>
        <p:nvSpPr>
          <p:cNvPr id="16" name="Text 14"/>
          <p:cNvSpPr txBox="1"/>
          <p:nvPr/>
        </p:nvSpPr>
        <p:spPr>
          <a:xfrm>
            <a:off x="6656832" y="4681728"/>
            <a:ext cx="4754880" cy="914400"/>
          </a:xfrm>
          <a:prstGeom prst="rect">
            <a:avLst/>
          </a:prstGeom>
          <a:noFill/>
          <a:ln/>
        </p:spPr>
        <p:txBody>
          <a:bodyPr wrap="square" lIns="0" tIns="0" rIns="0" bIns="0" rtlCol="0" anchor="t"/>
          <a:lstStyle/>
          <a:p>
            <a:pPr indent="0" marL="0">
              <a:buNone/>
            </a:pPr>
            <a:r>
              <a:rPr lang="en-US" sz="1500" dirty="0">
                <a:solidFill>
                  <a:schemeClr val="bg1"/>
                </a:solidFill>
              </a:rPr>
              <a:t>Le double « qui? » n'a pas de réponse humaine; la réponse est au verset 17 : l'Éternel est le secours du psalmiste.</a:t>
            </a:r>
            <a:endParaRPr lang="en-US" sz="1500" dirty="0"/>
          </a:p>
        </p:txBody>
      </p:sp>
      <p:sp>
        <p:nvSpPr>
          <p:cNvPr id="17" name="Text 15"/>
          <p:cNvSpPr txBox="1"/>
          <p:nvPr/>
        </p:nvSpPr>
        <p:spPr>
          <a:xfrm>
            <a:off x="6656832" y="5806440"/>
            <a:ext cx="4754880" cy="274320"/>
          </a:xfrm>
          <a:prstGeom prst="rect">
            <a:avLst/>
          </a:prstGeom>
          <a:noFill/>
          <a:ln/>
        </p:spPr>
        <p:txBody>
          <a:bodyPr wrap="square" lIns="0" tIns="0" rIns="0" bIns="0" rtlCol="0" anchor="t"/>
          <a:lstStyle/>
          <a:p>
            <a:pPr indent="0" marL="0">
              <a:buNone/>
            </a:pPr>
            <a:r>
              <a:rPr lang="en-US" sz="1200" dirty="0">
                <a:solidFill>
                  <a:schemeClr val="accent5"/>
                </a:solidFill>
              </a:rPr>
              <a:t>Note de MacArthur sur 94.17 · BDB : dûmāh = le šĕʾôl</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0058400" cy="320040"/>
          </a:xfrm>
          <a:prstGeom prst="rect">
            <a:avLst/>
          </a:prstGeom>
          <a:noFill/>
          <a:ln/>
        </p:spPr>
        <p:txBody>
          <a:bodyPr wrap="square" lIns="0" tIns="0" rIns="0" bIns="0" rtlCol="0"/>
          <a:lstStyle/>
          <a:p>
            <a:pPr indent="0" marL="0">
              <a:buNone/>
            </a:pPr>
            <a:r>
              <a:rPr lang="en-US" sz="1300" b="1" spc="100" kern="0" dirty="0">
                <a:solidFill>
                  <a:schemeClr val="accent2"/>
                </a:solidFill>
              </a:rPr>
              <a:t>IV · Le Dieu qui soutient et qui rendra · 94.18-19</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Le pied qui chancelle, l'âme consolée</a:t>
            </a:r>
            <a:endParaRPr lang="en-US" sz="3000" dirty="0"/>
          </a:p>
        </p:txBody>
      </p:sp>
      <p:sp>
        <p:nvSpPr>
          <p:cNvPr id="4" name="Le pied"/>
          <p:cNvSpPr/>
          <p:nvPr/>
        </p:nvSpPr>
        <p:spPr>
          <a:xfrm>
            <a:off x="548640" y="1645920"/>
            <a:ext cx="5760720" cy="4526280"/>
          </a:xfrm>
          <a:prstGeom prst="roundRect">
            <a:avLst>
              <a:gd name="adj" fmla="val 1616"/>
            </a:avLst>
          </a:prstGeom>
          <a:solidFill>
            <a:schemeClr val="tx2"/>
          </a:solidFill>
          <a:ln/>
        </p:spPr>
      </p:sp>
      <p:sp>
        <p:nvSpPr>
          <p:cNvPr id="5" name="Pente"/>
          <p:cNvSpPr/>
          <p:nvPr/>
        </p:nvSpPr>
        <p:spPr>
          <a:xfrm>
            <a:off x="914400" y="2377440"/>
            <a:ext cx="4937760" cy="2057400"/>
          </a:xfrm>
          <a:prstGeom prst="line">
            <a:avLst/>
          </a:prstGeom>
          <a:noFill/>
          <a:ln w="50800">
            <a:solidFill>
              <a:schemeClr val="accent6"/>
            </a:solidFill>
            <a:prstDash val="solid"/>
          </a:ln>
        </p:spPr>
      </p:sp>
      <p:sp>
        <p:nvSpPr>
          <p:cNvPr id="6" name="Pied"/>
          <p:cNvSpPr/>
          <p:nvPr/>
        </p:nvSpPr>
        <p:spPr>
          <a:xfrm rot="1320000">
            <a:off x="2377440" y="2743200"/>
            <a:ext cx="731520" cy="365760"/>
          </a:xfrm>
          <a:prstGeom prst="roundRect">
            <a:avLst>
              <a:gd name="adj" fmla="val 25000"/>
            </a:avLst>
          </a:prstGeom>
          <a:solidFill>
            <a:schemeClr val="bg1"/>
          </a:solidFill>
          <a:ln/>
        </p:spPr>
      </p:sp>
      <p:sp>
        <p:nvSpPr>
          <p:cNvPr id="7" name="Glissade"/>
          <p:cNvSpPr/>
          <p:nvPr/>
        </p:nvSpPr>
        <p:spPr>
          <a:xfrm>
            <a:off x="3291840" y="3063240"/>
            <a:ext cx="1920240" cy="777240"/>
          </a:xfrm>
          <a:prstGeom prst="line">
            <a:avLst/>
          </a:prstGeom>
          <a:noFill/>
          <a:ln w="31750">
            <a:solidFill>
              <a:schemeClr val="accent3"/>
            </a:solidFill>
            <a:prstDash val="dash"/>
            <a:tailEnd type="triangle"/>
          </a:ln>
        </p:spPr>
      </p:sp>
      <p:sp>
        <p:nvSpPr>
          <p:cNvPr id="8" name="Sol"/>
          <p:cNvSpPr/>
          <p:nvPr/>
        </p:nvSpPr>
        <p:spPr>
          <a:xfrm>
            <a:off x="914400" y="5029200"/>
            <a:ext cx="4937760" cy="73152"/>
          </a:xfrm>
          <a:prstGeom prst="rect">
            <a:avLst/>
          </a:prstGeom>
          <a:solidFill>
            <a:schemeClr val="accent6"/>
          </a:solidFill>
          <a:ln/>
        </p:spPr>
      </p:sp>
      <p:sp>
        <p:nvSpPr>
          <p:cNvPr id="9" name="Appui"/>
          <p:cNvSpPr/>
          <p:nvPr/>
        </p:nvSpPr>
        <p:spPr>
          <a:xfrm flipV="1">
            <a:off x="2743200" y="3291840"/>
            <a:ext cx="0" cy="1737360"/>
          </a:xfrm>
          <a:prstGeom prst="line">
            <a:avLst/>
          </a:prstGeom>
          <a:noFill/>
          <a:ln w="88900">
            <a:solidFill>
              <a:schemeClr val="accent1"/>
            </a:solidFill>
            <a:prstDash val="solid"/>
          </a:ln>
        </p:spPr>
      </p:sp>
      <p:sp>
        <p:nvSpPr>
          <p:cNvPr id="10" name="Text 8"/>
          <p:cNvSpPr txBox="1"/>
          <p:nvPr/>
        </p:nvSpPr>
        <p:spPr>
          <a:xfrm>
            <a:off x="3291840" y="2423160"/>
            <a:ext cx="2651760" cy="320040"/>
          </a:xfrm>
          <a:prstGeom prst="rect">
            <a:avLst/>
          </a:prstGeom>
          <a:noFill/>
          <a:ln/>
        </p:spPr>
        <p:txBody>
          <a:bodyPr wrap="square" lIns="0" tIns="0" rIns="0" bIns="0" rtlCol="0" anchor="t"/>
          <a:lstStyle/>
          <a:p>
            <a:pPr indent="0" marL="0">
              <a:buNone/>
            </a:pPr>
            <a:r>
              <a:rPr lang="en-US" sz="1500" b="1" dirty="0">
                <a:solidFill>
                  <a:schemeClr val="accent2"/>
                </a:solidFill>
              </a:rPr>
              <a:t>« Mon pied chancelle! »</a:t>
            </a:r>
            <a:endParaRPr lang="en-US" sz="1500" dirty="0"/>
          </a:p>
        </p:txBody>
      </p:sp>
      <p:sp>
        <p:nvSpPr>
          <p:cNvPr id="11" name="Text 9"/>
          <p:cNvSpPr txBox="1"/>
          <p:nvPr/>
        </p:nvSpPr>
        <p:spPr>
          <a:xfrm>
            <a:off x="731520" y="3931920"/>
            <a:ext cx="1920240" cy="960120"/>
          </a:xfrm>
          <a:prstGeom prst="rect">
            <a:avLst/>
          </a:prstGeom>
          <a:noFill/>
          <a:ln/>
        </p:spPr>
        <p:txBody>
          <a:bodyPr wrap="square" lIns="0" tIns="0" rIns="0" bIns="0" rtlCol="0" anchor="t"/>
          <a:lstStyle/>
          <a:p>
            <a:pPr algn="r" indent="0" marL="0">
              <a:buNone/>
            </a:pPr>
            <a:r>
              <a:rPr lang="en-US" sz="1500" b="1" dirty="0">
                <a:solidFill>
                  <a:schemeClr val="accent1"/>
                </a:solidFill>
              </a:rPr>
              <a:t>« Ta bonté, ô Eternel! me sert d'appui »</a:t>
            </a:r>
            <a:endParaRPr lang="en-US" sz="1500" dirty="0"/>
          </a:p>
        </p:txBody>
      </p:sp>
      <p:sp>
        <p:nvSpPr>
          <p:cNvPr id="12" name="Text 10"/>
          <p:cNvSpPr txBox="1"/>
          <p:nvPr/>
        </p:nvSpPr>
        <p:spPr>
          <a:xfrm>
            <a:off x="777240" y="5257800"/>
            <a:ext cx="5303520" cy="822960"/>
          </a:xfrm>
          <a:prstGeom prst="rect">
            <a:avLst/>
          </a:prstGeom>
          <a:noFill/>
          <a:ln/>
        </p:spPr>
        <p:txBody>
          <a:bodyPr wrap="square" lIns="0" tIns="0" rIns="0" bIns="0" rtlCol="0" anchor="t"/>
          <a:lstStyle/>
          <a:p>
            <a:pPr indent="0" marL="0">
              <a:buNone/>
            </a:pPr>
            <a:r>
              <a:rPr lang="en-US" sz="1400" dirty="0">
                <a:solidFill>
                  <a:schemeClr val="bg2"/>
                </a:solidFill>
              </a:rPr>
              <a:t>Deutéronome 32.35 : le pied des ennemis chancellera. Ici, c'est le pied du juste, et la bonté de Dieu le soutient.</a:t>
            </a:r>
            <a:endParaRPr lang="en-US" sz="1400" dirty="0"/>
          </a:p>
        </p:txBody>
      </p:sp>
      <p:sp>
        <p:nvSpPr>
          <p:cNvPr id="13" name="Les pensées"/>
          <p:cNvSpPr/>
          <p:nvPr/>
        </p:nvSpPr>
        <p:spPr>
          <a:xfrm>
            <a:off x="6537960" y="1645920"/>
            <a:ext cx="5102352" cy="4526280"/>
          </a:xfrm>
          <a:prstGeom prst="roundRect">
            <a:avLst>
              <a:gd name="adj" fmla="val 1616"/>
            </a:avLst>
          </a:prstGeom>
          <a:solidFill>
            <a:schemeClr val="tx2"/>
          </a:solidFill>
          <a:ln/>
        </p:spPr>
      </p:sp>
      <p:sp>
        <p:nvSpPr>
          <p:cNvPr id="14" name="Pensée 1"/>
          <p:cNvSpPr/>
          <p:nvPr/>
        </p:nvSpPr>
        <p:spPr>
          <a:xfrm>
            <a:off x="7040880" y="2286000"/>
            <a:ext cx="201168" cy="201168"/>
          </a:xfrm>
          <a:prstGeom prst="ellipse">
            <a:avLst/>
          </a:prstGeom>
          <a:solidFill>
            <a:schemeClr val="accent3"/>
          </a:solidFill>
          <a:ln/>
        </p:spPr>
      </p:sp>
      <p:sp>
        <p:nvSpPr>
          <p:cNvPr id="15" name="Pensée 2"/>
          <p:cNvSpPr/>
          <p:nvPr/>
        </p:nvSpPr>
        <p:spPr>
          <a:xfrm>
            <a:off x="7498080" y="2103120"/>
            <a:ext cx="201168" cy="201168"/>
          </a:xfrm>
          <a:prstGeom prst="ellipse">
            <a:avLst/>
          </a:prstGeom>
          <a:solidFill>
            <a:schemeClr val="accent6"/>
          </a:solidFill>
          <a:ln/>
        </p:spPr>
      </p:sp>
      <p:sp>
        <p:nvSpPr>
          <p:cNvPr id="16" name="Pensée 3"/>
          <p:cNvSpPr/>
          <p:nvPr/>
        </p:nvSpPr>
        <p:spPr>
          <a:xfrm>
            <a:off x="7955280" y="2468880"/>
            <a:ext cx="201168" cy="201168"/>
          </a:xfrm>
          <a:prstGeom prst="ellipse">
            <a:avLst/>
          </a:prstGeom>
          <a:solidFill>
            <a:schemeClr val="accent6"/>
          </a:solidFill>
          <a:ln/>
        </p:spPr>
      </p:sp>
      <p:sp>
        <p:nvSpPr>
          <p:cNvPr id="17" name="Pensée 4"/>
          <p:cNvSpPr/>
          <p:nvPr/>
        </p:nvSpPr>
        <p:spPr>
          <a:xfrm>
            <a:off x="7315200" y="2697480"/>
            <a:ext cx="201168" cy="201168"/>
          </a:xfrm>
          <a:prstGeom prst="ellipse">
            <a:avLst/>
          </a:prstGeom>
          <a:solidFill>
            <a:schemeClr val="accent3"/>
          </a:solidFill>
          <a:ln/>
        </p:spPr>
      </p:sp>
      <p:sp>
        <p:nvSpPr>
          <p:cNvPr id="18" name="Pensée 5"/>
          <p:cNvSpPr/>
          <p:nvPr/>
        </p:nvSpPr>
        <p:spPr>
          <a:xfrm>
            <a:off x="7772400" y="2926080"/>
            <a:ext cx="201168" cy="201168"/>
          </a:xfrm>
          <a:prstGeom prst="ellipse">
            <a:avLst/>
          </a:prstGeom>
          <a:solidFill>
            <a:schemeClr val="accent6"/>
          </a:solidFill>
          <a:ln/>
        </p:spPr>
      </p:sp>
      <p:sp>
        <p:nvSpPr>
          <p:cNvPr id="19" name="Pensée 6"/>
          <p:cNvSpPr/>
          <p:nvPr/>
        </p:nvSpPr>
        <p:spPr>
          <a:xfrm>
            <a:off x="8321040" y="2194560"/>
            <a:ext cx="201168" cy="201168"/>
          </a:xfrm>
          <a:prstGeom prst="ellipse">
            <a:avLst/>
          </a:prstGeom>
          <a:solidFill>
            <a:schemeClr val="accent6"/>
          </a:solidFill>
          <a:ln/>
        </p:spPr>
      </p:sp>
      <p:sp>
        <p:nvSpPr>
          <p:cNvPr id="20" name="Pensée 7"/>
          <p:cNvSpPr/>
          <p:nvPr/>
        </p:nvSpPr>
        <p:spPr>
          <a:xfrm>
            <a:off x="6949440" y="3017520"/>
            <a:ext cx="201168" cy="201168"/>
          </a:xfrm>
          <a:prstGeom prst="ellipse">
            <a:avLst/>
          </a:prstGeom>
          <a:solidFill>
            <a:schemeClr val="accent3"/>
          </a:solidFill>
          <a:ln/>
        </p:spPr>
      </p:sp>
      <p:sp>
        <p:nvSpPr>
          <p:cNvPr id="21" name="Pensée 8"/>
          <p:cNvSpPr/>
          <p:nvPr/>
        </p:nvSpPr>
        <p:spPr>
          <a:xfrm>
            <a:off x="8412480" y="2743200"/>
            <a:ext cx="201168" cy="201168"/>
          </a:xfrm>
          <a:prstGeom prst="ellipse">
            <a:avLst/>
          </a:prstGeom>
          <a:solidFill>
            <a:schemeClr val="accent6"/>
          </a:solidFill>
          <a:ln/>
        </p:spPr>
      </p:sp>
      <p:sp>
        <p:nvSpPr>
          <p:cNvPr id="22" name="Pensée 9"/>
          <p:cNvSpPr/>
          <p:nvPr/>
        </p:nvSpPr>
        <p:spPr>
          <a:xfrm>
            <a:off x="7406640" y="3291840"/>
            <a:ext cx="201168" cy="201168"/>
          </a:xfrm>
          <a:prstGeom prst="ellipse">
            <a:avLst/>
          </a:prstGeom>
          <a:solidFill>
            <a:schemeClr val="accent6"/>
          </a:solidFill>
          <a:ln/>
        </p:spPr>
      </p:sp>
      <p:sp>
        <p:nvSpPr>
          <p:cNvPr id="23" name="Pensée 10"/>
          <p:cNvSpPr/>
          <p:nvPr/>
        </p:nvSpPr>
        <p:spPr>
          <a:xfrm>
            <a:off x="8046720" y="3337560"/>
            <a:ext cx="201168" cy="201168"/>
          </a:xfrm>
          <a:prstGeom prst="ellipse">
            <a:avLst/>
          </a:prstGeom>
          <a:solidFill>
            <a:schemeClr val="accent3"/>
          </a:solidFill>
          <a:ln/>
        </p:spPr>
      </p:sp>
      <p:sp>
        <p:nvSpPr>
          <p:cNvPr id="24" name="Pensée 11"/>
          <p:cNvSpPr/>
          <p:nvPr/>
        </p:nvSpPr>
        <p:spPr>
          <a:xfrm>
            <a:off x="7086600" y="3657600"/>
            <a:ext cx="201168" cy="201168"/>
          </a:xfrm>
          <a:prstGeom prst="ellipse">
            <a:avLst/>
          </a:prstGeom>
          <a:solidFill>
            <a:schemeClr val="accent6"/>
          </a:solidFill>
          <a:ln/>
        </p:spPr>
      </p:sp>
      <p:sp>
        <p:nvSpPr>
          <p:cNvPr id="25" name="Pensée 12"/>
          <p:cNvSpPr/>
          <p:nvPr/>
        </p:nvSpPr>
        <p:spPr>
          <a:xfrm>
            <a:off x="8503920" y="3200400"/>
            <a:ext cx="201168" cy="201168"/>
          </a:xfrm>
          <a:prstGeom prst="ellipse">
            <a:avLst/>
          </a:prstGeom>
          <a:solidFill>
            <a:schemeClr val="accent6"/>
          </a:solidFill>
          <a:ln/>
        </p:spPr>
      </p:sp>
      <p:sp>
        <p:nvSpPr>
          <p:cNvPr id="26" name="Pensée 13"/>
          <p:cNvSpPr/>
          <p:nvPr/>
        </p:nvSpPr>
        <p:spPr>
          <a:xfrm>
            <a:off x="7680960" y="3703320"/>
            <a:ext cx="201168" cy="201168"/>
          </a:xfrm>
          <a:prstGeom prst="ellipse">
            <a:avLst/>
          </a:prstGeom>
          <a:solidFill>
            <a:schemeClr val="accent3"/>
          </a:solidFill>
          <a:ln/>
        </p:spPr>
      </p:sp>
      <p:sp>
        <p:nvSpPr>
          <p:cNvPr id="27" name="Pensée 14"/>
          <p:cNvSpPr/>
          <p:nvPr/>
        </p:nvSpPr>
        <p:spPr>
          <a:xfrm>
            <a:off x="8275320" y="3657600"/>
            <a:ext cx="201168" cy="201168"/>
          </a:xfrm>
          <a:prstGeom prst="ellipse">
            <a:avLst/>
          </a:prstGeom>
          <a:solidFill>
            <a:schemeClr val="accent6"/>
          </a:solidFill>
          <a:ln/>
        </p:spPr>
      </p:sp>
      <p:sp>
        <p:nvSpPr>
          <p:cNvPr id="28" name="Text 26"/>
          <p:cNvSpPr txBox="1"/>
          <p:nvPr/>
        </p:nvSpPr>
        <p:spPr>
          <a:xfrm>
            <a:off x="6720840" y="3840480"/>
            <a:ext cx="2011680" cy="502920"/>
          </a:xfrm>
          <a:prstGeom prst="rect">
            <a:avLst/>
          </a:prstGeom>
          <a:noFill/>
          <a:ln/>
        </p:spPr>
        <p:txBody>
          <a:bodyPr wrap="square" lIns="0" tIns="0" rIns="0" bIns="0" rtlCol="0" anchor="t"/>
          <a:lstStyle/>
          <a:p>
            <a:pPr algn="ctr" indent="0" marL="0">
              <a:buNone/>
            </a:pPr>
            <a:r>
              <a:rPr lang="en-US" sz="1300" i="1" dirty="0">
                <a:solidFill>
                  <a:schemeClr val="bg2"/>
                </a:solidFill>
              </a:rPr>
              <a:t>les pensées s'agitent en foule</a:t>
            </a:r>
            <a:endParaRPr lang="en-US" sz="1300" dirty="0"/>
          </a:p>
        </p:txBody>
      </p:sp>
      <p:sp>
        <p:nvSpPr>
          <p:cNvPr id="29" name="Halo externe"/>
          <p:cNvSpPr/>
          <p:nvPr/>
        </p:nvSpPr>
        <p:spPr>
          <a:xfrm>
            <a:off x="9006840" y="1783080"/>
            <a:ext cx="2514600" cy="2514600"/>
          </a:xfrm>
          <a:prstGeom prst="ellipse">
            <a:avLst/>
          </a:prstGeom>
          <a:noFill/>
          <a:ln w="12700">
            <a:solidFill>
              <a:schemeClr val="accent6"/>
            </a:solidFill>
            <a:prstDash val="solid"/>
          </a:ln>
        </p:spPr>
      </p:sp>
      <p:sp>
        <p:nvSpPr>
          <p:cNvPr id="30" name="Consolations"/>
          <p:cNvSpPr/>
          <p:nvPr/>
        </p:nvSpPr>
        <p:spPr>
          <a:xfrm>
            <a:off x="9235440" y="2011680"/>
            <a:ext cx="2057400" cy="205740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Tes consolations</a:t>
            </a:r>
            <a:endParaRPr lang="en-US" sz="1500" dirty="0"/>
          </a:p>
        </p:txBody>
      </p:sp>
      <p:sp>
        <p:nvSpPr>
          <p:cNvPr id="31" name="Réjouissent"/>
          <p:cNvSpPr/>
          <p:nvPr/>
        </p:nvSpPr>
        <p:spPr>
          <a:xfrm flipH="1">
            <a:off x="8641080" y="3035808"/>
            <a:ext cx="365760" cy="0"/>
          </a:xfrm>
          <a:prstGeom prst="line">
            <a:avLst/>
          </a:prstGeom>
          <a:noFill/>
          <a:ln w="28575">
            <a:solidFill>
              <a:schemeClr val="accent2"/>
            </a:solidFill>
            <a:prstDash val="solid"/>
            <a:tailEnd type="triangle"/>
          </a:ln>
        </p:spPr>
      </p:sp>
      <p:sp>
        <p:nvSpPr>
          <p:cNvPr id="32" name="Text 30"/>
          <p:cNvSpPr txBox="1"/>
          <p:nvPr/>
        </p:nvSpPr>
        <p:spPr>
          <a:xfrm>
            <a:off x="6766560" y="4526280"/>
            <a:ext cx="4663440" cy="914400"/>
          </a:xfrm>
          <a:prstGeom prst="rect">
            <a:avLst/>
          </a:prstGeom>
          <a:noFill/>
          <a:ln/>
        </p:spPr>
        <p:txBody>
          <a:bodyPr wrap="square" lIns="0" tIns="0" rIns="0" bIns="0" rtlCol="0" anchor="t"/>
          <a:lstStyle/>
          <a:p>
            <a:pPr indent="0" marL="0">
              <a:buNone/>
            </a:pPr>
            <a:r>
              <a:rPr lang="en-US" sz="1500" i="1" dirty="0">
                <a:solidFill>
                  <a:schemeClr val="bg1"/>
                </a:solidFill>
              </a:rPr>
              <a:t>« Quand les pensées s'agitent en foule au-dedans de moi, Tes consolations réjouissent mon âme » (94.19)</a:t>
            </a:r>
            <a:endParaRPr lang="en-US" sz="1500" dirty="0"/>
          </a:p>
        </p:txBody>
      </p:sp>
      <p:sp>
        <p:nvSpPr>
          <p:cNvPr id="33" name="Text 31"/>
          <p:cNvSpPr txBox="1"/>
          <p:nvPr/>
        </p:nvSpPr>
        <p:spPr>
          <a:xfrm>
            <a:off x="6766560" y="5532120"/>
            <a:ext cx="4663440" cy="548640"/>
          </a:xfrm>
          <a:prstGeom prst="rect">
            <a:avLst/>
          </a:prstGeom>
          <a:noFill/>
          <a:ln/>
        </p:spPr>
        <p:txBody>
          <a:bodyPr wrap="square" lIns="0" tIns="0" rIns="0" bIns="0" rtlCol="0" anchor="t"/>
          <a:lstStyle/>
          <a:p>
            <a:pPr indent="0" marL="0">
              <a:buNone/>
            </a:pPr>
            <a:r>
              <a:rPr lang="en-US" sz="1400" b="1" dirty="0">
                <a:solidFill>
                  <a:schemeClr val="accent2"/>
                </a:solidFill>
              </a:rPr>
              <a:t>Le réconfort vient de Dieu, non de la stabilité du psalmiste.</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0058400" cy="320040"/>
          </a:xfrm>
          <a:prstGeom prst="rect">
            <a:avLst/>
          </a:prstGeom>
          <a:noFill/>
          <a:ln/>
        </p:spPr>
        <p:txBody>
          <a:bodyPr wrap="square" lIns="0" tIns="0" rIns="0" bIns="0" rtlCol="0"/>
          <a:lstStyle/>
          <a:p>
            <a:pPr indent="0" marL="0">
              <a:buNone/>
            </a:pPr>
            <a:r>
              <a:rPr lang="en-US" sz="1300" b="1" spc="100" kern="0" dirty="0">
                <a:solidFill>
                  <a:schemeClr val="accent2"/>
                </a:solidFill>
              </a:rPr>
              <a:t>IV · Le Dieu qui soutient et qui rendra · 94.20-21</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Le trône des ruines</a:t>
            </a:r>
            <a:endParaRPr lang="en-US" sz="3000" dirty="0"/>
          </a:p>
        </p:txBody>
      </p:sp>
      <p:sp>
        <p:nvSpPr>
          <p:cNvPr id="4" name="Loi A"/>
          <p:cNvSpPr/>
          <p:nvPr/>
        </p:nvSpPr>
        <p:spPr>
          <a:xfrm>
            <a:off x="548640" y="1691640"/>
            <a:ext cx="2011680" cy="914400"/>
          </a:xfrm>
          <a:prstGeom prst="roundRect">
            <a:avLst>
              <a:gd name="adj" fmla="val 8000"/>
            </a:avLst>
          </a:prstGeom>
          <a:solidFill>
            <a:schemeClr val="accent4"/>
          </a:solidFill>
          <a:ln w="12700">
            <a:solidFill>
              <a:schemeClr val="accent6"/>
            </a:solidFill>
          </a:ln>
        </p:spPr>
        <p:txBody>
          <a:bodyPr wrap="square" lIns="1524" tIns="1524" rIns="1524" bIns="1524"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La loi</a:t>
            </a:r>
            <a:endParaRPr lang="en-US" sz="2000" dirty="0"/>
          </a:p>
        </p:txBody>
      </p:sp>
      <p:sp>
        <p:nvSpPr>
          <p:cNvPr id="5" name="Rôle de la loi"/>
          <p:cNvSpPr/>
          <p:nvPr/>
        </p:nvSpPr>
        <p:spPr>
          <a:xfrm>
            <a:off x="2651760" y="2148840"/>
            <a:ext cx="365760" cy="0"/>
          </a:xfrm>
          <a:prstGeom prst="line">
            <a:avLst/>
          </a:prstGeom>
          <a:noFill/>
          <a:ln w="28575">
            <a:solidFill>
              <a:schemeClr val="accent1"/>
            </a:solidFill>
            <a:prstDash val="solid"/>
            <a:tailEnd type="triangle"/>
          </a:ln>
        </p:spPr>
      </p:sp>
      <p:sp>
        <p:nvSpPr>
          <p:cNvPr id="6" name="Le bien"/>
          <p:cNvSpPr/>
          <p:nvPr/>
        </p:nvSpPr>
        <p:spPr>
          <a:xfrm>
            <a:off x="3108960" y="1691640"/>
            <a:ext cx="4800600" cy="914400"/>
          </a:xfrm>
          <a:prstGeom prst="roundRect">
            <a:avLst>
              <a:gd name="adj" fmla="val 8000"/>
            </a:avLst>
          </a:prstGeom>
          <a:solidFill>
            <a:schemeClr val="accent1"/>
          </a:solidFill>
          <a:ln/>
        </p:spPr>
        <p:txBody>
          <a:bodyPr wrap="square" lIns="1524" tIns="1524" rIns="1524" bIns="1524" rtlCol="0" anchor="ctr"/>
          <a:lstStyle/>
          <a:p>
            <a:pPr algn="ctr" indent="0" marL="0">
              <a:buNone/>
            </a:pPr>
            <a:r>
              <a:rPr lang="en-US" sz="2000" b="1" dirty="0">
                <a:solidFill>
                  <a:schemeClr val="tx1"/>
                </a:solidFill>
              </a:rPr>
              <a:t>Faire régner le bien</a:t>
            </a:r>
            <a:endParaRPr lang="en-US" sz="2000" dirty="0"/>
          </a:p>
        </p:txBody>
      </p:sp>
      <p:sp>
        <p:nvSpPr>
          <p:cNvPr id="7" name="Loi B"/>
          <p:cNvSpPr/>
          <p:nvPr/>
        </p:nvSpPr>
        <p:spPr>
          <a:xfrm>
            <a:off x="548640" y="2880360"/>
            <a:ext cx="2011680" cy="914400"/>
          </a:xfrm>
          <a:prstGeom prst="roundRect">
            <a:avLst>
              <a:gd name="adj" fmla="val 8000"/>
            </a:avLst>
          </a:prstGeom>
          <a:solidFill>
            <a:schemeClr val="accent4"/>
          </a:solidFill>
          <a:ln w="12700">
            <a:solidFill>
              <a:schemeClr val="accent6"/>
            </a:solidFill>
          </a:ln>
        </p:spPr>
        <p:txBody>
          <a:bodyPr wrap="square" lIns="1524" tIns="1524" rIns="1524" bIns="1524"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La loi</a:t>
            </a:r>
            <a:endParaRPr lang="en-US" sz="2000" dirty="0"/>
          </a:p>
        </p:txBody>
      </p:sp>
      <p:sp>
        <p:nvSpPr>
          <p:cNvPr id="8" name="Loi détournée"/>
          <p:cNvSpPr/>
          <p:nvPr/>
        </p:nvSpPr>
        <p:spPr>
          <a:xfrm>
            <a:off x="2651760" y="3337560"/>
            <a:ext cx="365760" cy="0"/>
          </a:xfrm>
          <a:prstGeom prst="line">
            <a:avLst/>
          </a:prstGeom>
          <a:noFill/>
          <a:ln w="28575">
            <a:solidFill>
              <a:schemeClr val="accent3"/>
            </a:solidFill>
            <a:prstDash val="solid"/>
            <a:tailEnd type="triangle"/>
          </a:ln>
        </p:spPr>
      </p:sp>
      <p:sp>
        <p:nvSpPr>
          <p:cNvPr id="9" name="Trône"/>
          <p:cNvSpPr/>
          <p:nvPr/>
        </p:nvSpPr>
        <p:spPr>
          <a:xfrm>
            <a:off x="3108960" y="2880360"/>
            <a:ext cx="2240280" cy="914400"/>
          </a:xfrm>
          <a:prstGeom prst="roundRect">
            <a:avLst>
              <a:gd name="adj" fmla="val 8000"/>
            </a:avLst>
          </a:prstGeom>
          <a:solidFill>
            <a:schemeClr val="accent3"/>
          </a:solidFill>
          <a:ln/>
        </p:spPr>
        <p:txBody>
          <a:bodyPr wrap="square" lIns="1524" tIns="1524" rIns="1524" bIns="1524" rtlCol="0" anchor="ctr"/>
          <a:lstStyle/>
          <a:p>
            <a:pPr algn="ctr" indent="0" marL="0">
              <a:buNone/>
            </a:pPr>
            <a:r>
              <a:rPr lang="en-US" sz="1700" b="1" dirty="0">
                <a:solidFill>
                  <a:schemeClr val="bg1"/>
                </a:solidFill>
              </a:rPr>
              <a:t>Le trône des ruines</a:t>
            </a:r>
            <a:endParaRPr lang="en-US" sz="1700" dirty="0"/>
          </a:p>
        </p:txBody>
      </p:sp>
      <p:sp>
        <p:nvSpPr>
          <p:cNvPr id="10" name="Vers l'injustice"/>
          <p:cNvSpPr/>
          <p:nvPr/>
        </p:nvSpPr>
        <p:spPr>
          <a:xfrm>
            <a:off x="5394960" y="3337560"/>
            <a:ext cx="365760" cy="0"/>
          </a:xfrm>
          <a:prstGeom prst="line">
            <a:avLst/>
          </a:prstGeom>
          <a:noFill/>
          <a:ln w="28575">
            <a:solidFill>
              <a:schemeClr val="accent3"/>
            </a:solidFill>
            <a:prstDash val="solid"/>
            <a:tailEnd type="triangle"/>
          </a:ln>
        </p:spPr>
      </p:sp>
      <p:sp>
        <p:nvSpPr>
          <p:cNvPr id="11" name="Injustice"/>
          <p:cNvSpPr/>
          <p:nvPr/>
        </p:nvSpPr>
        <p:spPr>
          <a:xfrm>
            <a:off x="5852160" y="2880360"/>
            <a:ext cx="2057400" cy="914400"/>
          </a:xfrm>
          <a:prstGeom prst="roundRect">
            <a:avLst>
              <a:gd name="adj" fmla="val 8000"/>
            </a:avLst>
          </a:prstGeom>
          <a:solidFill>
            <a:schemeClr val="tx1"/>
          </a:solidFill>
          <a:ln w="19050">
            <a:solidFill>
              <a:schemeClr val="accent2"/>
            </a:solidFill>
          </a:ln>
        </p:spPr>
        <p:txBody>
          <a:bodyPr wrap="square" lIns="1524" tIns="1524" rIns="1524" bIns="1524" rtlCol="0" anchor="ctr"/>
          <a:lstStyle/>
          <a:p>
            <a:pPr algn="ctr" indent="0" marL="0">
              <a:buNone/>
            </a:pPr>
            <a:r>
              <a:rPr lang="en-US" sz="1600" b="1" dirty="0">
                <a:solidFill>
                  <a:schemeClr val="bg1"/>
                </a:solidFill>
              </a:rPr>
              <a:t>Un instrument d'injustice</a:t>
            </a:r>
            <a:endParaRPr lang="en-US" sz="1600" dirty="0"/>
          </a:p>
        </p:txBody>
      </p:sp>
      <p:sp>
        <p:nvSpPr>
          <p:cNvPr id="12" name="Dieu"/>
          <p:cNvSpPr/>
          <p:nvPr/>
        </p:nvSpPr>
        <p:spPr>
          <a:xfrm>
            <a:off x="548640" y="4069080"/>
            <a:ext cx="2011680" cy="914400"/>
          </a:xfrm>
          <a:prstGeom prst="roundRect">
            <a:avLst>
              <a:gd name="adj" fmla="val 8000"/>
            </a:avLst>
          </a:prstGeom>
          <a:solidFill>
            <a:schemeClr val="accent1"/>
          </a:solidFill>
          <a:ln/>
        </p:spPr>
        <p:txBody>
          <a:bodyPr wrap="square" lIns="1524" tIns="1524" rIns="1524" bIns="1524"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Dieu</a:t>
            </a:r>
            <a:endParaRPr lang="en-US" sz="2200" dirty="0"/>
          </a:p>
        </p:txBody>
      </p:sp>
      <p:sp>
        <p:nvSpPr>
          <p:cNvPr id="13" name="Alliance refusée disque"/>
          <p:cNvSpPr/>
          <p:nvPr/>
        </p:nvSpPr>
        <p:spPr>
          <a:xfrm>
            <a:off x="3108960" y="4251960"/>
            <a:ext cx="548640" cy="548640"/>
          </a:xfrm>
          <a:prstGeom prst="ellipse">
            <a:avLst/>
          </a:prstGeom>
          <a:solidFill>
            <a:schemeClr val="accent3"/>
          </a:solidFill>
          <a:ln/>
        </p:spPr>
      </p:sp>
      <p:sp>
        <p:nvSpPr>
          <p:cNvPr id="14" name="Alliance refusée a"/>
          <p:cNvSpPr/>
          <p:nvPr/>
        </p:nvSpPr>
        <p:spPr>
          <a:xfrm>
            <a:off x="3273552" y="4416552"/>
            <a:ext cx="219456" cy="219456"/>
          </a:xfrm>
          <a:prstGeom prst="line">
            <a:avLst/>
          </a:prstGeom>
          <a:noFill/>
          <a:ln w="38100">
            <a:solidFill>
              <a:schemeClr val="bg1"/>
            </a:solidFill>
            <a:prstDash val="solid"/>
          </a:ln>
        </p:spPr>
      </p:sp>
      <p:sp>
        <p:nvSpPr>
          <p:cNvPr id="15" name="Alliance refusée b"/>
          <p:cNvSpPr/>
          <p:nvPr/>
        </p:nvSpPr>
        <p:spPr>
          <a:xfrm flipH="1">
            <a:off x="3273552" y="4416552"/>
            <a:ext cx="219456" cy="219456"/>
          </a:xfrm>
          <a:prstGeom prst="line">
            <a:avLst/>
          </a:prstGeom>
          <a:noFill/>
          <a:ln w="38100">
            <a:solidFill>
              <a:schemeClr val="bg1"/>
            </a:solidFill>
            <a:prstDash val="solid"/>
          </a:ln>
        </p:spPr>
      </p:sp>
      <p:sp>
        <p:nvSpPr>
          <p:cNvPr id="16" name="Text 14"/>
          <p:cNvSpPr txBox="1"/>
          <p:nvPr/>
        </p:nvSpPr>
        <p:spPr>
          <a:xfrm>
            <a:off x="3749040" y="4251960"/>
            <a:ext cx="1280160" cy="548640"/>
          </a:xfrm>
          <a:prstGeom prst="rect">
            <a:avLst/>
          </a:prstGeom>
          <a:noFill/>
          <a:ln/>
        </p:spPr>
        <p:txBody>
          <a:bodyPr wrap="square" lIns="0" tIns="0" rIns="0" bIns="0" rtlCol="0" anchor="ctr"/>
          <a:lstStyle/>
          <a:p>
            <a:pPr indent="0" marL="0">
              <a:buNone/>
            </a:pPr>
            <a:r>
              <a:rPr lang="en-US" sz="2000" b="1" dirty="0">
                <a:solidFill>
                  <a:schemeClr val="accent2"/>
                </a:solidFill>
              </a:rPr>
              <a:t>allié ?</a:t>
            </a:r>
            <a:endParaRPr lang="en-US" sz="2000" dirty="0"/>
          </a:p>
        </p:txBody>
      </p:sp>
      <p:sp>
        <p:nvSpPr>
          <p:cNvPr id="17" name="Ce tribunal"/>
          <p:cNvSpPr/>
          <p:nvPr/>
        </p:nvSpPr>
        <p:spPr>
          <a:xfrm>
            <a:off x="5852160" y="4069080"/>
            <a:ext cx="2057400" cy="914400"/>
          </a:xfrm>
          <a:prstGeom prst="roundRect">
            <a:avLst>
              <a:gd name="adj" fmla="val 8000"/>
            </a:avLst>
          </a:prstGeom>
          <a:solidFill>
            <a:schemeClr val="accent3"/>
          </a:solidFill>
          <a:ln/>
        </p:spPr>
        <p:txBody>
          <a:bodyPr wrap="square" lIns="1524" tIns="1524" rIns="1524" bIns="1524" rtlCol="0" anchor="ctr"/>
          <a:lstStyle/>
          <a:p>
            <a:pPr algn="ctr" indent="0" marL="0">
              <a:buNone/>
            </a:pPr>
            <a:r>
              <a:rPr lang="en-US" sz="1800" b="1" dirty="0">
                <a:solidFill>
                  <a:schemeClr val="bg1"/>
                </a:solidFill>
              </a:rPr>
              <a:t>ce tribunal</a:t>
            </a:r>
            <a:endParaRPr lang="en-US" sz="1800" dirty="0"/>
          </a:p>
        </p:txBody>
      </p:sp>
      <p:sp>
        <p:nvSpPr>
          <p:cNvPr id="18" name="Lien 1"/>
          <p:cNvSpPr/>
          <p:nvPr/>
        </p:nvSpPr>
        <p:spPr>
          <a:xfrm>
            <a:off x="2651760" y="4526280"/>
            <a:ext cx="365760" cy="0"/>
          </a:xfrm>
          <a:prstGeom prst="line">
            <a:avLst/>
          </a:prstGeom>
          <a:noFill/>
          <a:ln w="28575">
            <a:solidFill>
              <a:schemeClr val="accent1"/>
            </a:solidFill>
            <a:prstDash val="dash"/>
          </a:ln>
        </p:spPr>
      </p:sp>
      <p:sp>
        <p:nvSpPr>
          <p:cNvPr id="19" name="Lien 2"/>
          <p:cNvSpPr/>
          <p:nvPr/>
        </p:nvSpPr>
        <p:spPr>
          <a:xfrm>
            <a:off x="5029200" y="4526280"/>
            <a:ext cx="731520" cy="0"/>
          </a:xfrm>
          <a:prstGeom prst="line">
            <a:avLst/>
          </a:prstGeom>
          <a:noFill/>
          <a:ln w="28575">
            <a:solidFill>
              <a:schemeClr val="accent1"/>
            </a:solidFill>
            <a:prstDash val="dash"/>
          </a:ln>
        </p:spPr>
      </p:sp>
      <p:sp>
        <p:nvSpPr>
          <p:cNvPr id="20" name="Text 18"/>
          <p:cNvSpPr txBox="1"/>
          <p:nvPr/>
        </p:nvSpPr>
        <p:spPr>
          <a:xfrm>
            <a:off x="548640" y="5257800"/>
            <a:ext cx="7360920" cy="868680"/>
          </a:xfrm>
          <a:prstGeom prst="rect">
            <a:avLst/>
          </a:prstGeom>
          <a:noFill/>
          <a:ln/>
        </p:spPr>
        <p:txBody>
          <a:bodyPr wrap="square" lIns="0" tIns="0" rIns="0" bIns="0" rtlCol="0" anchor="t"/>
          <a:lstStyle/>
          <a:p>
            <a:pPr indent="0" marL="0">
              <a:buNone/>
            </a:pPr>
            <a:r>
              <a:rPr lang="en-US" sz="1600" i="1" dirty="0">
                <a:solidFill>
                  <a:schemeClr val="bg1"/>
                </a:solidFill>
              </a:rPr>
              <a:t>« Les méchants te feraient-ils siéger sur leur trône, Eux qui forment des desseins iniques en dépit de la loi? » (94.20)</a:t>
            </a:r>
            <a:endParaRPr lang="en-US" sz="1600" dirty="0"/>
          </a:p>
        </p:txBody>
      </p:sp>
      <p:sp>
        <p:nvSpPr>
          <p:cNvPr id="21" name="Note sur 94.20"/>
          <p:cNvSpPr/>
          <p:nvPr/>
        </p:nvSpPr>
        <p:spPr>
          <a:xfrm>
            <a:off x="8183880" y="1691640"/>
            <a:ext cx="3456432" cy="2468880"/>
          </a:xfrm>
          <a:prstGeom prst="roundRect">
            <a:avLst>
              <a:gd name="adj" fmla="val 2963"/>
            </a:avLst>
          </a:prstGeom>
          <a:solidFill>
            <a:schemeClr val="tx2"/>
          </a:solidFill>
          <a:ln/>
        </p:spPr>
      </p:sp>
      <p:sp>
        <p:nvSpPr>
          <p:cNvPr id="22" name="Text 20"/>
          <p:cNvSpPr txBox="1"/>
          <p:nvPr/>
        </p:nvSpPr>
        <p:spPr>
          <a:xfrm>
            <a:off x="8366760" y="1783080"/>
            <a:ext cx="3108960" cy="274320"/>
          </a:xfrm>
          <a:prstGeom prst="rect">
            <a:avLst/>
          </a:prstGeom>
          <a:noFill/>
          <a:ln/>
        </p:spPr>
        <p:txBody>
          <a:bodyPr wrap="square" lIns="0" tIns="0" rIns="0" bIns="0" rtlCol="0" anchor="t"/>
          <a:lstStyle/>
          <a:p>
            <a:pPr indent="0" marL="0">
              <a:buNone/>
            </a:pPr>
            <a:r>
              <a:rPr lang="en-US" sz="1300" b="1" dirty="0">
                <a:solidFill>
                  <a:schemeClr val="accent2"/>
                </a:solidFill>
              </a:rPr>
              <a:t>La note de MacArthur (94.20)</a:t>
            </a:r>
            <a:endParaRPr lang="en-US" sz="1300" dirty="0"/>
          </a:p>
        </p:txBody>
      </p:sp>
      <p:sp>
        <p:nvSpPr>
          <p:cNvPr id="23" name="Text 21"/>
          <p:cNvSpPr txBox="1"/>
          <p:nvPr/>
        </p:nvSpPr>
        <p:spPr>
          <a:xfrm>
            <a:off x="8366760" y="2103120"/>
            <a:ext cx="3108960" cy="2011680"/>
          </a:xfrm>
          <a:prstGeom prst="rect">
            <a:avLst/>
          </a:prstGeom>
          <a:noFill/>
          <a:ln/>
        </p:spPr>
        <p:txBody>
          <a:bodyPr wrap="square" lIns="0" tIns="0" rIns="0" bIns="0" rtlCol="0" anchor="t"/>
          <a:lstStyle/>
          <a:p>
            <a:pPr indent="0" marL="0">
              <a:buNone/>
            </a:pPr>
            <a:r>
              <a:rPr lang="en-US" sz="1400" i="1" dirty="0">
                <a:solidFill>
                  <a:schemeClr val="bg1"/>
                </a:solidFill>
              </a:rPr>
              <a:t>« Allusion à des juges ou des dirigeants corrompus »</a:t>
            </a:r>
            <a:endParaRPr lang="en-US" sz="1400" dirty="0"/>
          </a:p>
          <a:p>
            <a:pPr indent="0" marL="0">
              <a:buNone/>
            </a:pPr>
            <a:r>
              <a:rPr lang="en-US" sz="1400" i="1" dirty="0">
                <a:solidFill>
                  <a:schemeClr val="bg1"/>
                </a:solidFill>
              </a:rPr>
              <a:t>« en faisant de la loi un instrument d'injustice au lieu de l'utiliser pour faire régner le bien »</a:t>
            </a:r>
            <a:endParaRPr lang="en-US" sz="1400" dirty="0"/>
          </a:p>
        </p:txBody>
      </p:sp>
      <p:sp>
        <p:nvSpPr>
          <p:cNvPr id="24" name="Verdict"/>
          <p:cNvSpPr/>
          <p:nvPr/>
        </p:nvSpPr>
        <p:spPr>
          <a:xfrm>
            <a:off x="8183880" y="4297680"/>
            <a:ext cx="3456432" cy="1874520"/>
          </a:xfrm>
          <a:prstGeom prst="roundRect">
            <a:avLst>
              <a:gd name="adj" fmla="val 3902"/>
            </a:avLst>
          </a:prstGeom>
          <a:solidFill>
            <a:schemeClr val="accent3"/>
          </a:solidFill>
          <a:ln/>
        </p:spPr>
      </p:sp>
      <p:sp>
        <p:nvSpPr>
          <p:cNvPr id="25" name="Text 23"/>
          <p:cNvSpPr txBox="1"/>
          <p:nvPr/>
        </p:nvSpPr>
        <p:spPr>
          <a:xfrm>
            <a:off x="8366760" y="4389120"/>
            <a:ext cx="3108960" cy="274320"/>
          </a:xfrm>
          <a:prstGeom prst="rect">
            <a:avLst/>
          </a:prstGeom>
          <a:noFill/>
          <a:ln/>
        </p:spPr>
        <p:txBody>
          <a:bodyPr wrap="square" lIns="0" tIns="0" rIns="0" bIns="0" rtlCol="0" anchor="t"/>
          <a:lstStyle/>
          <a:p>
            <a:pPr indent="0" marL="0">
              <a:buNone/>
            </a:pPr>
            <a:r>
              <a:rPr lang="en-US" sz="1300" b="1" dirty="0">
                <a:solidFill>
                  <a:schemeClr val="accent5"/>
                </a:solidFill>
              </a:rPr>
              <a:t>Le verdict (94.21 · texte seul)</a:t>
            </a:r>
            <a:endParaRPr lang="en-US" sz="1300" dirty="0"/>
          </a:p>
        </p:txBody>
      </p:sp>
      <p:sp>
        <p:nvSpPr>
          <p:cNvPr id="26" name="Text 24"/>
          <p:cNvSpPr txBox="1"/>
          <p:nvPr/>
        </p:nvSpPr>
        <p:spPr>
          <a:xfrm>
            <a:off x="8366760" y="4709160"/>
            <a:ext cx="3108960" cy="1371600"/>
          </a:xfrm>
          <a:prstGeom prst="rect">
            <a:avLst/>
          </a:prstGeom>
          <a:noFill/>
          <a:ln/>
        </p:spPr>
        <p:txBody>
          <a:bodyPr wrap="square" lIns="0" tIns="0" rIns="0" bIns="0" rtlCol="0" anchor="t"/>
          <a:lstStyle/>
          <a:p>
            <a:pPr indent="0" marL="0">
              <a:buNone/>
            </a:pPr>
            <a:r>
              <a:rPr lang="en-US" sz="1400" i="1" dirty="0">
                <a:solidFill>
                  <a:schemeClr val="bg1"/>
                </a:solidFill>
              </a:rPr>
              <a:t>« Ils se rassemblent contre la vie du juste, Et ils condamnent le sang innocent »</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0058400" cy="320040"/>
          </a:xfrm>
          <a:prstGeom prst="rect">
            <a:avLst/>
          </a:prstGeom>
          <a:noFill/>
          <a:ln/>
        </p:spPr>
        <p:txBody>
          <a:bodyPr wrap="square" lIns="0" tIns="0" rIns="0" bIns="0" rtlCol="0"/>
          <a:lstStyle/>
          <a:p>
            <a:pPr indent="0" marL="0">
              <a:buNone/>
            </a:pPr>
            <a:r>
              <a:rPr lang="en-US" sz="1300" b="1" spc="100" kern="0" dirty="0">
                <a:solidFill>
                  <a:schemeClr val="accent2"/>
                </a:solidFill>
              </a:rPr>
              <a:t>IV · Le Dieu qui soutient et qui rendra · 94.2, 22-23</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Ce que le psalmiste demande, le juge le fait</a:t>
            </a:r>
            <a:endParaRPr lang="en-US" sz="3000" dirty="0"/>
          </a:p>
        </p:txBody>
      </p:sp>
      <p:sp>
        <p:nvSpPr>
          <p:cNvPr id="4" name="Demande"/>
          <p:cNvSpPr/>
          <p:nvPr/>
        </p:nvSpPr>
        <p:spPr>
          <a:xfrm>
            <a:off x="548640" y="1691640"/>
            <a:ext cx="3291840" cy="1417320"/>
          </a:xfrm>
          <a:prstGeom prst="roundRect">
            <a:avLst>
              <a:gd name="adj" fmla="val 5161"/>
            </a:avLst>
          </a:prstGeom>
          <a:solidFill>
            <a:schemeClr val="accent4"/>
          </a:solidFill>
          <a:ln w="19050">
            <a:solidFill>
              <a:schemeClr val="accent2"/>
            </a:solidFill>
            <a:prstDash val="solid"/>
          </a:ln>
        </p:spPr>
      </p:sp>
      <p:sp>
        <p:nvSpPr>
          <p:cNvPr id="5" name="Text 3"/>
          <p:cNvSpPr txBox="1"/>
          <p:nvPr/>
        </p:nvSpPr>
        <p:spPr>
          <a:xfrm>
            <a:off x="777240" y="1783080"/>
            <a:ext cx="2834640" cy="274320"/>
          </a:xfrm>
          <a:prstGeom prst="rect">
            <a:avLst/>
          </a:prstGeom>
          <a:noFill/>
          <a:ln/>
        </p:spPr>
        <p:txBody>
          <a:bodyPr wrap="square" lIns="0" tIns="0" rIns="0" bIns="0" rtlCol="0" anchor="t"/>
          <a:lstStyle/>
          <a:p>
            <a:pPr indent="0" marL="0">
              <a:buNone/>
            </a:pPr>
            <a:r>
              <a:rPr lang="en-US" sz="1300" b="1" dirty="0">
                <a:solidFill>
                  <a:schemeClr val="accent2"/>
                </a:solidFill>
              </a:rPr>
              <a:t>94.2 · la demande</a:t>
            </a:r>
            <a:endParaRPr lang="en-US" sz="1300" dirty="0"/>
          </a:p>
        </p:txBody>
      </p:sp>
      <p:sp>
        <p:nvSpPr>
          <p:cNvPr id="6" name="Text 4"/>
          <p:cNvSpPr txBox="1"/>
          <p:nvPr/>
        </p:nvSpPr>
        <p:spPr>
          <a:xfrm>
            <a:off x="777240" y="2103120"/>
            <a:ext cx="2834640" cy="54864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 Rends »</a:t>
            </a:r>
            <a:endParaRPr lang="en-US" sz="3000" dirty="0"/>
          </a:p>
        </p:txBody>
      </p:sp>
      <p:sp>
        <p:nvSpPr>
          <p:cNvPr id="7" name="Text 5"/>
          <p:cNvSpPr txBox="1"/>
          <p:nvPr/>
        </p:nvSpPr>
        <p:spPr>
          <a:xfrm>
            <a:off x="777240" y="2697480"/>
            <a:ext cx="2834640" cy="274320"/>
          </a:xfrm>
          <a:prstGeom prst="rect">
            <a:avLst/>
          </a:prstGeom>
          <a:noFill/>
          <a:ln/>
        </p:spPr>
        <p:txBody>
          <a:bodyPr wrap="square" lIns="0" tIns="0" rIns="0" bIns="0" rtlCol="0" anchor="t"/>
          <a:lstStyle/>
          <a:p>
            <a:pPr indent="0" marL="0">
              <a:buNone/>
            </a:pPr>
            <a:r>
              <a:rPr lang="en-US" sz="1400" i="1" dirty="0">
                <a:solidFill>
                  <a:schemeClr val="accent5"/>
                </a:solidFill>
              </a:rPr>
              <a:t>hāšēb : hiphil de šûb</a:t>
            </a:r>
            <a:endParaRPr lang="en-US" sz="1400" dirty="0"/>
          </a:p>
        </p:txBody>
      </p:sp>
      <p:sp>
        <p:nvSpPr>
          <p:cNvPr id="8" name="Vers le juge"/>
          <p:cNvSpPr/>
          <p:nvPr/>
        </p:nvSpPr>
        <p:spPr>
          <a:xfrm>
            <a:off x="3886200" y="2395728"/>
            <a:ext cx="521208" cy="0"/>
          </a:xfrm>
          <a:prstGeom prst="line">
            <a:avLst/>
          </a:prstGeom>
          <a:noFill/>
          <a:ln w="28575">
            <a:solidFill>
              <a:schemeClr val="accent1"/>
            </a:solidFill>
            <a:prstDash val="solid"/>
            <a:tailEnd type="triangle"/>
          </a:ln>
        </p:spPr>
      </p:sp>
      <p:sp>
        <p:nvSpPr>
          <p:cNvPr id="9" name="Juge"/>
          <p:cNvSpPr/>
          <p:nvPr/>
        </p:nvSpPr>
        <p:spPr>
          <a:xfrm>
            <a:off x="4453128" y="1691640"/>
            <a:ext cx="3291840" cy="1417320"/>
          </a:xfrm>
          <a:prstGeom prst="roundRect">
            <a:avLst>
              <a:gd name="adj" fmla="val 5161"/>
            </a:avLst>
          </a:prstGeom>
          <a:solidFill>
            <a:schemeClr val="accent1"/>
          </a:solidFill>
          <a:ln/>
        </p:spPr>
        <p:txBody>
          <a:bodyPr wrap="square" lIns="1524" tIns="1524" rIns="1524" bIns="1524" rtlCol="0" anchor="ctr"/>
          <a:lstStyle/>
          <a:p>
            <a:pPr algn="ctr" indent="0" marL="0">
              <a:buNone/>
            </a:pPr>
            <a:r>
              <a:rPr lang="en-US" sz="2400" b="1" dirty="0">
                <a:solidFill>
                  <a:schemeClr val="tx1"/>
                </a:solidFill>
                <a:latin typeface="Cambria" pitchFamily="34" charset="0"/>
                <a:ea typeface="Cambria" pitchFamily="34" charset="-122"/>
                <a:cs typeface="Cambria" pitchFamily="34" charset="-120"/>
              </a:rPr>
              <a:t>Le juge de la terre</a:t>
            </a:r>
            <a:endParaRPr lang="en-US" sz="2400" dirty="0"/>
          </a:p>
        </p:txBody>
      </p:sp>
      <p:sp>
        <p:nvSpPr>
          <p:cNvPr id="10" name="Vers la réponse"/>
          <p:cNvSpPr/>
          <p:nvPr/>
        </p:nvSpPr>
        <p:spPr>
          <a:xfrm>
            <a:off x="7790688" y="2395728"/>
            <a:ext cx="512064" cy="0"/>
          </a:xfrm>
          <a:prstGeom prst="line">
            <a:avLst/>
          </a:prstGeom>
          <a:noFill/>
          <a:ln w="28575">
            <a:solidFill>
              <a:schemeClr val="accent1"/>
            </a:solidFill>
            <a:prstDash val="solid"/>
            <a:tailEnd type="triangle"/>
          </a:ln>
        </p:spPr>
      </p:sp>
      <p:sp>
        <p:nvSpPr>
          <p:cNvPr id="11" name="Réponse"/>
          <p:cNvSpPr/>
          <p:nvPr/>
        </p:nvSpPr>
        <p:spPr>
          <a:xfrm>
            <a:off x="8348472" y="1691640"/>
            <a:ext cx="3291840" cy="1417320"/>
          </a:xfrm>
          <a:prstGeom prst="roundRect">
            <a:avLst>
              <a:gd name="adj" fmla="val 5161"/>
            </a:avLst>
          </a:prstGeom>
          <a:solidFill>
            <a:schemeClr val="accent3"/>
          </a:solidFill>
          <a:ln/>
        </p:spPr>
      </p:sp>
      <p:sp>
        <p:nvSpPr>
          <p:cNvPr id="12" name="Text 10"/>
          <p:cNvSpPr txBox="1"/>
          <p:nvPr/>
        </p:nvSpPr>
        <p:spPr>
          <a:xfrm>
            <a:off x="8577072" y="1783080"/>
            <a:ext cx="2834640" cy="274320"/>
          </a:xfrm>
          <a:prstGeom prst="rect">
            <a:avLst/>
          </a:prstGeom>
          <a:noFill/>
          <a:ln/>
        </p:spPr>
        <p:txBody>
          <a:bodyPr wrap="square" lIns="0" tIns="0" rIns="0" bIns="0" rtlCol="0" anchor="t"/>
          <a:lstStyle/>
          <a:p>
            <a:pPr indent="0" marL="0">
              <a:buNone/>
            </a:pPr>
            <a:r>
              <a:rPr lang="en-US" sz="1300" b="1" dirty="0">
                <a:solidFill>
                  <a:schemeClr val="accent5"/>
                </a:solidFill>
              </a:rPr>
              <a:t>94.23 · la réponse</a:t>
            </a:r>
            <a:endParaRPr lang="en-US" sz="1300" dirty="0"/>
          </a:p>
        </p:txBody>
      </p:sp>
      <p:sp>
        <p:nvSpPr>
          <p:cNvPr id="13" name="Text 11"/>
          <p:cNvSpPr txBox="1"/>
          <p:nvPr/>
        </p:nvSpPr>
        <p:spPr>
          <a:xfrm>
            <a:off x="8577072" y="2103120"/>
            <a:ext cx="2926080" cy="548640"/>
          </a:xfrm>
          <a:prstGeom prst="rect">
            <a:avLst/>
          </a:prstGeom>
          <a:noFill/>
          <a:ln/>
        </p:spPr>
        <p:txBody>
          <a:bodyPr wrap="square" lIns="0" tIns="0" rIns="0" bIns="0" rtlCol="0" anchor="t"/>
          <a:lstStyle/>
          <a:p>
            <a:pPr indent="0" marL="0">
              <a:buNone/>
            </a:pPr>
            <a:r>
              <a:rPr lang="en-US" sz="2500" b="1" dirty="0">
                <a:solidFill>
                  <a:schemeClr val="bg1"/>
                </a:solidFill>
                <a:latin typeface="Cambria" pitchFamily="34" charset="0"/>
                <a:ea typeface="Cambria" pitchFamily="34" charset="-122"/>
                <a:cs typeface="Cambria" pitchFamily="34" charset="-120"/>
              </a:rPr>
              <a:t>« Il fera retomber »</a:t>
            </a:r>
            <a:endParaRPr lang="en-US" sz="2500" dirty="0"/>
          </a:p>
        </p:txBody>
      </p:sp>
      <p:sp>
        <p:nvSpPr>
          <p:cNvPr id="14" name="Text 12"/>
          <p:cNvSpPr txBox="1"/>
          <p:nvPr/>
        </p:nvSpPr>
        <p:spPr>
          <a:xfrm>
            <a:off x="8577072" y="2697480"/>
            <a:ext cx="2834640" cy="274320"/>
          </a:xfrm>
          <a:prstGeom prst="rect">
            <a:avLst/>
          </a:prstGeom>
          <a:noFill/>
          <a:ln/>
        </p:spPr>
        <p:txBody>
          <a:bodyPr wrap="square" lIns="0" tIns="0" rIns="0" bIns="0" rtlCol="0" anchor="t"/>
          <a:lstStyle/>
          <a:p>
            <a:pPr indent="0" marL="0">
              <a:buNone/>
            </a:pPr>
            <a:r>
              <a:rPr lang="en-US" sz="1400" i="1" dirty="0">
                <a:solidFill>
                  <a:schemeClr val="accent5"/>
                </a:solidFill>
              </a:rPr>
              <a:t>wayyāšeb : hiphil de šûb</a:t>
            </a:r>
            <a:endParaRPr lang="en-US" sz="1400" dirty="0"/>
          </a:p>
        </p:txBody>
      </p:sp>
      <p:sp>
        <p:nvSpPr>
          <p:cNvPr id="15" name="Boucle du verbe šûb"/>
          <p:cNvSpPr/>
          <p:nvPr/>
        </p:nvSpPr>
        <p:spPr>
          <a:xfrm>
            <a:off x="2194560" y="3200400"/>
            <a:ext cx="7799832" cy="1371600"/>
          </a:xfrm>
          <a:custGeom>
            <a:avLst/>
            <a:gdLst/>
            <a:ahLst/>
            <a:cxnLst/>
            <a:rect l="l" t="t" r="r" b="b"/>
            <a:pathLst>
              <a:path w="7799832" h="1371600">
                <a:moveTo>
                  <a:pt x="0" y="0"/>
                </a:moveTo>
                <a:quadBezTo>
                  <a:pt x="3899916" y="1371600"/>
                  <a:pt x="7799832" y="0"/>
                </a:quadBezTo>
              </a:path>
            </a:pathLst>
          </a:custGeom>
          <a:ln w="25400">
            <a:solidFill>
              <a:schemeClr val="accent2"/>
            </a:solidFill>
            <a:prstDash val="solid"/>
            <a:tailEnd type="triangle"/>
          </a:ln>
        </p:spPr>
      </p:sp>
      <p:sp>
        <p:nvSpPr>
          <p:cNvPr id="16" name="Text 14"/>
          <p:cNvSpPr txBox="1"/>
          <p:nvPr/>
        </p:nvSpPr>
        <p:spPr>
          <a:xfrm>
            <a:off x="3291840" y="3977640"/>
            <a:ext cx="6766560" cy="411480"/>
          </a:xfrm>
          <a:prstGeom prst="rect">
            <a:avLst/>
          </a:prstGeom>
          <a:noFill/>
          <a:ln/>
        </p:spPr>
        <p:txBody>
          <a:bodyPr wrap="square" lIns="0" tIns="0" rIns="0" bIns="0" rtlCol="0" anchor="t"/>
          <a:lstStyle/>
          <a:p>
            <a:pPr algn="ctr" indent="0" marL="0">
              <a:buNone/>
            </a:pPr>
            <a:r>
              <a:rPr lang="en-US" sz="2000" i="1" dirty="0">
                <a:solidFill>
                  <a:schemeClr val="accent2"/>
                </a:solidFill>
                <a:latin typeface="Cambria" pitchFamily="34" charset="0"/>
                <a:ea typeface="Cambria" pitchFamily="34" charset="-122"/>
                <a:cs typeface="Cambria" pitchFamily="34" charset="-120"/>
              </a:rPr>
              <a:t>Le même verbe ouvre et ferme le psaume</a:t>
            </a:r>
            <a:endParaRPr lang="en-US" sz="2000" dirty="0"/>
          </a:p>
        </p:txBody>
      </p:sp>
      <p:sp>
        <p:nvSpPr>
          <p:cNvPr id="17" name="Appui 1"/>
          <p:cNvSpPr/>
          <p:nvPr/>
        </p:nvSpPr>
        <p:spPr>
          <a:xfrm>
            <a:off x="548640" y="4617720"/>
            <a:ext cx="3593592" cy="1600200"/>
          </a:xfrm>
          <a:prstGeom prst="roundRect">
            <a:avLst>
              <a:gd name="adj" fmla="val 4571"/>
            </a:avLst>
          </a:prstGeom>
          <a:solidFill>
            <a:schemeClr val="accent4"/>
          </a:solidFill>
          <a:ln w="12700">
            <a:solidFill>
              <a:schemeClr val="accent6"/>
            </a:solidFill>
            <a:prstDash val="solid"/>
          </a:ln>
        </p:spPr>
      </p:sp>
      <p:sp>
        <p:nvSpPr>
          <p:cNvPr id="18" name="Text 16"/>
          <p:cNvSpPr txBox="1"/>
          <p:nvPr/>
        </p:nvSpPr>
        <p:spPr>
          <a:xfrm>
            <a:off x="731520" y="4681728"/>
            <a:ext cx="3246120" cy="274320"/>
          </a:xfrm>
          <a:prstGeom prst="rect">
            <a:avLst/>
          </a:prstGeom>
          <a:noFill/>
          <a:ln/>
        </p:spPr>
        <p:txBody>
          <a:bodyPr wrap="square" lIns="0" tIns="0" rIns="0" bIns="0" rtlCol="0" anchor="t"/>
          <a:lstStyle/>
          <a:p>
            <a:pPr indent="0" marL="0">
              <a:buNone/>
            </a:pPr>
            <a:r>
              <a:rPr lang="en-US" sz="1300" b="1" dirty="0">
                <a:solidFill>
                  <a:schemeClr val="accent2"/>
                </a:solidFill>
              </a:rPr>
              <a:t>Proportion</a:t>
            </a:r>
            <a:endParaRPr lang="en-US" sz="1300" dirty="0"/>
          </a:p>
        </p:txBody>
      </p:sp>
      <p:sp>
        <p:nvSpPr>
          <p:cNvPr id="19" name="Text 17"/>
          <p:cNvSpPr txBox="1"/>
          <p:nvPr/>
        </p:nvSpPr>
        <p:spPr>
          <a:xfrm>
            <a:off x="731520" y="4983480"/>
            <a:ext cx="3246120" cy="1188720"/>
          </a:xfrm>
          <a:prstGeom prst="rect">
            <a:avLst/>
          </a:prstGeom>
          <a:noFill/>
          <a:ln/>
        </p:spPr>
        <p:txBody>
          <a:bodyPr wrap="square" lIns="0" tIns="0" rIns="0" bIns="0" rtlCol="0" anchor="t"/>
          <a:lstStyle/>
          <a:p>
            <a:pPr indent="0" marL="0">
              <a:buNone/>
            </a:pPr>
            <a:r>
              <a:rPr lang="en-US" sz="1400" i="1" dirty="0">
                <a:solidFill>
                  <a:schemeClr val="bg1"/>
                </a:solidFill>
              </a:rPr>
              <a:t>« Il fera retomber sur eux leur iniquité » : leur iniquité, pas davantage.</a:t>
            </a:r>
            <a:endParaRPr lang="en-US" sz="1400" dirty="0"/>
          </a:p>
        </p:txBody>
      </p:sp>
      <p:sp>
        <p:nvSpPr>
          <p:cNvPr id="20" name="Appui 2"/>
          <p:cNvSpPr/>
          <p:nvPr/>
        </p:nvSpPr>
        <p:spPr>
          <a:xfrm>
            <a:off x="4297680" y="4617720"/>
            <a:ext cx="3593592" cy="1600200"/>
          </a:xfrm>
          <a:prstGeom prst="roundRect">
            <a:avLst>
              <a:gd name="adj" fmla="val 4571"/>
            </a:avLst>
          </a:prstGeom>
          <a:solidFill>
            <a:schemeClr val="accent4"/>
          </a:solidFill>
          <a:ln w="12700">
            <a:solidFill>
              <a:schemeClr val="accent6"/>
            </a:solidFill>
            <a:prstDash val="solid"/>
          </a:ln>
        </p:spPr>
      </p:sp>
      <p:sp>
        <p:nvSpPr>
          <p:cNvPr id="21" name="Text 19"/>
          <p:cNvSpPr txBox="1"/>
          <p:nvPr/>
        </p:nvSpPr>
        <p:spPr>
          <a:xfrm>
            <a:off x="4480560" y="4681728"/>
            <a:ext cx="3246120" cy="274320"/>
          </a:xfrm>
          <a:prstGeom prst="rect">
            <a:avLst/>
          </a:prstGeom>
          <a:noFill/>
          <a:ln/>
        </p:spPr>
        <p:txBody>
          <a:bodyPr wrap="square" lIns="0" tIns="0" rIns="0" bIns="0" rtlCol="0" anchor="t"/>
          <a:lstStyle/>
          <a:p>
            <a:pPr indent="0" marL="0">
              <a:buNone/>
            </a:pPr>
            <a:r>
              <a:rPr lang="en-US" sz="1300" b="1" dirty="0">
                <a:solidFill>
                  <a:schemeClr val="accent2"/>
                </a:solidFill>
              </a:rPr>
              <a:t>Lecture de MacArthur (94.23)</a:t>
            </a:r>
            <a:endParaRPr lang="en-US" sz="1300" dirty="0"/>
          </a:p>
        </p:txBody>
      </p:sp>
      <p:sp>
        <p:nvSpPr>
          <p:cNvPr id="22" name="Text 20"/>
          <p:cNvSpPr txBox="1"/>
          <p:nvPr/>
        </p:nvSpPr>
        <p:spPr>
          <a:xfrm>
            <a:off x="4480560" y="4983480"/>
            <a:ext cx="3246120" cy="1188720"/>
          </a:xfrm>
          <a:prstGeom prst="rect">
            <a:avLst/>
          </a:prstGeom>
          <a:noFill/>
          <a:ln/>
        </p:spPr>
        <p:txBody>
          <a:bodyPr wrap="square" lIns="0" tIns="0" rIns="0" bIns="0" rtlCol="0" anchor="t"/>
          <a:lstStyle/>
          <a:p>
            <a:pPr indent="0" marL="0">
              <a:buNone/>
            </a:pPr>
            <a:r>
              <a:rPr lang="en-US" sz="1400" i="1" dirty="0">
                <a:solidFill>
                  <a:schemeClr val="bg1"/>
                </a:solidFill>
              </a:rPr>
              <a:t>« Décrit la destruction qui frappera les méchants alors même qu'ils sont en train de pécher ». « Par » ou « dans » : décision d'interprétation.</a:t>
            </a:r>
            <a:endParaRPr lang="en-US" sz="1400" dirty="0"/>
          </a:p>
        </p:txBody>
      </p:sp>
      <p:sp>
        <p:nvSpPr>
          <p:cNvPr id="23" name="Appui 3"/>
          <p:cNvSpPr/>
          <p:nvPr/>
        </p:nvSpPr>
        <p:spPr>
          <a:xfrm>
            <a:off x="8046720" y="4617720"/>
            <a:ext cx="3593592" cy="1600200"/>
          </a:xfrm>
          <a:prstGeom prst="roundRect">
            <a:avLst>
              <a:gd name="adj" fmla="val 4571"/>
            </a:avLst>
          </a:prstGeom>
          <a:solidFill>
            <a:schemeClr val="accent3"/>
          </a:solidFill>
          <a:ln/>
        </p:spPr>
      </p:sp>
      <p:sp>
        <p:nvSpPr>
          <p:cNvPr id="24" name="Text 22"/>
          <p:cNvSpPr txBox="1"/>
          <p:nvPr/>
        </p:nvSpPr>
        <p:spPr>
          <a:xfrm>
            <a:off x="8229600" y="4681728"/>
            <a:ext cx="3246120" cy="274320"/>
          </a:xfrm>
          <a:prstGeom prst="rect">
            <a:avLst/>
          </a:prstGeom>
          <a:noFill/>
          <a:ln/>
        </p:spPr>
        <p:txBody>
          <a:bodyPr wrap="square" lIns="0" tIns="0" rIns="0" bIns="0" rtlCol="0" anchor="t"/>
          <a:lstStyle/>
          <a:p>
            <a:pPr indent="0" marL="0">
              <a:buNone/>
            </a:pPr>
            <a:r>
              <a:rPr lang="en-US" sz="1300" b="1" dirty="0">
                <a:solidFill>
                  <a:schemeClr val="accent5"/>
                </a:solidFill>
              </a:rPr>
              <a:t>De « mon Dieu » à « notre Dieu »</a:t>
            </a:r>
            <a:endParaRPr lang="en-US" sz="1300" dirty="0"/>
          </a:p>
        </p:txBody>
      </p:sp>
      <p:sp>
        <p:nvSpPr>
          <p:cNvPr id="25" name="Text 23"/>
          <p:cNvSpPr txBox="1"/>
          <p:nvPr/>
        </p:nvSpPr>
        <p:spPr>
          <a:xfrm>
            <a:off x="8229600" y="4983480"/>
            <a:ext cx="3246120" cy="1188720"/>
          </a:xfrm>
          <a:prstGeom prst="rect">
            <a:avLst/>
          </a:prstGeom>
          <a:noFill/>
          <a:ln/>
        </p:spPr>
        <p:txBody>
          <a:bodyPr wrap="square" lIns="0" tIns="0" rIns="0" bIns="0" rtlCol="0" anchor="t"/>
          <a:lstStyle/>
          <a:p>
            <a:pPr indent="0" marL="0">
              <a:buNone/>
            </a:pPr>
            <a:r>
              <a:rPr lang="en-US" sz="1400" i="1" dirty="0">
                <a:solidFill>
                  <a:schemeClr val="bg1"/>
                </a:solidFill>
              </a:rPr>
              <a:t>« Mon Dieu est le rocher de mon refuge » (94.22) devient « L'Eternel, notre Dieu » (94.23).</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0058400" cy="320040"/>
          </a:xfrm>
          <a:prstGeom prst="rect">
            <a:avLst/>
          </a:prstGeom>
          <a:noFill/>
          <a:ln/>
        </p:spPr>
        <p:txBody>
          <a:bodyPr wrap="square" lIns="0" tIns="0" rIns="0" bIns="0" rtlCol="0"/>
          <a:lstStyle/>
          <a:p>
            <a:pPr indent="0" marL="0">
              <a:buNone/>
            </a:pPr>
            <a:r>
              <a:rPr lang="en-US" sz="1300" b="1" spc="100" kern="0" dirty="0">
                <a:solidFill>
                  <a:schemeClr val="accent2"/>
                </a:solidFill>
              </a:rPr>
              <a:t>Synthèse</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Dieu voit, Dieu instruit, Dieu rendra</a:t>
            </a:r>
            <a:endParaRPr lang="en-US" sz="3000" dirty="0"/>
          </a:p>
        </p:txBody>
      </p:sp>
      <p:sp>
        <p:nvSpPr>
          <p:cNvPr id="4" name="Colonne 1"/>
          <p:cNvSpPr/>
          <p:nvPr/>
        </p:nvSpPr>
        <p:spPr>
          <a:xfrm>
            <a:off x="548640" y="1645920"/>
            <a:ext cx="3520440" cy="3749040"/>
          </a:xfrm>
          <a:prstGeom prst="roundRect">
            <a:avLst>
              <a:gd name="adj" fmla="val 2078"/>
            </a:avLst>
          </a:prstGeom>
          <a:solidFill>
            <a:schemeClr val="tx2"/>
          </a:solidFill>
          <a:ln/>
        </p:spPr>
      </p:sp>
      <p:sp>
        <p:nvSpPr>
          <p:cNvPr id="5" name="Œil synthèse contour"/>
          <p:cNvSpPr/>
          <p:nvPr/>
        </p:nvSpPr>
        <p:spPr>
          <a:xfrm>
            <a:off x="1257300" y="2217420"/>
            <a:ext cx="2103120" cy="1051560"/>
          </a:xfrm>
          <a:custGeom>
            <a:avLst/>
            <a:gdLst/>
            <a:ahLst/>
            <a:cxnLst/>
            <a:rect l="l" t="t" r="r" b="b"/>
            <a:pathLst>
              <a:path w="2103120" h="1051560">
                <a:moveTo>
                  <a:pt x="0" y="525780"/>
                </a:moveTo>
                <a:quadBezTo>
                  <a:pt x="1051560" y="-525780"/>
                  <a:pt x="2103120" y="525780"/>
                </a:quadBezTo>
                <a:quadBezTo>
                  <a:pt x="1051560" y="1577340"/>
                  <a:pt x="0" y="525780"/>
                </a:quadBezTo>
                <a:close/>
              </a:path>
            </a:pathLst>
          </a:custGeom>
          <a:solidFill>
            <a:schemeClr val="tx1"/>
          </a:solidFill>
          <a:ln w="31750">
            <a:solidFill>
              <a:schemeClr val="accent1"/>
            </a:solidFill>
            <a:prstDash val="solid"/>
          </a:ln>
        </p:spPr>
      </p:sp>
      <p:sp>
        <p:nvSpPr>
          <p:cNvPr id="6" name="Œil synthèse iris"/>
          <p:cNvSpPr/>
          <p:nvPr/>
        </p:nvSpPr>
        <p:spPr>
          <a:xfrm>
            <a:off x="1888236" y="2322576"/>
            <a:ext cx="841248" cy="841248"/>
          </a:xfrm>
          <a:prstGeom prst="ellipse">
            <a:avLst/>
          </a:prstGeom>
          <a:solidFill>
            <a:schemeClr val="accent1"/>
          </a:solidFill>
          <a:ln w="19050">
            <a:solidFill>
              <a:schemeClr val="accent3"/>
            </a:solidFill>
            <a:prstDash val="solid"/>
          </a:ln>
        </p:spPr>
      </p:sp>
      <p:sp>
        <p:nvSpPr>
          <p:cNvPr id="7" name="Œil synthèse pupille"/>
          <p:cNvSpPr/>
          <p:nvPr/>
        </p:nvSpPr>
        <p:spPr>
          <a:xfrm>
            <a:off x="2119579" y="2553919"/>
            <a:ext cx="378562" cy="378562"/>
          </a:xfrm>
          <a:prstGeom prst="ellipse">
            <a:avLst/>
          </a:prstGeom>
          <a:solidFill>
            <a:schemeClr val="tx1"/>
          </a:solidFill>
          <a:ln/>
        </p:spPr>
      </p:sp>
      <p:sp>
        <p:nvSpPr>
          <p:cNvPr id="8" name="Œil synthèse reflet"/>
          <p:cNvSpPr/>
          <p:nvPr/>
        </p:nvSpPr>
        <p:spPr>
          <a:xfrm>
            <a:off x="2365644" y="2572847"/>
            <a:ext cx="105997" cy="105997"/>
          </a:xfrm>
          <a:prstGeom prst="ellipse">
            <a:avLst/>
          </a:prstGeom>
          <a:solidFill>
            <a:schemeClr val="bg1"/>
          </a:solidFill>
          <a:ln/>
        </p:spPr>
      </p:sp>
      <p:sp>
        <p:nvSpPr>
          <p:cNvPr id="9" name="Text 7"/>
          <p:cNvSpPr txBox="1"/>
          <p:nvPr/>
        </p:nvSpPr>
        <p:spPr>
          <a:xfrm>
            <a:off x="731520" y="3840480"/>
            <a:ext cx="3154680" cy="548640"/>
          </a:xfrm>
          <a:prstGeom prst="rect">
            <a:avLst/>
          </a:prstGeom>
          <a:noFill/>
          <a:ln/>
        </p:spPr>
        <p:txBody>
          <a:bodyPr wrap="square" lIns="0" tIns="0" rIns="0" bIns="0" rtlCol="0" anchor="t"/>
          <a:lstStyle/>
          <a:p>
            <a:pPr algn="ctr" indent="0" marL="0">
              <a:buNone/>
            </a:pPr>
            <a:r>
              <a:rPr lang="en-US" sz="2800" b="1" dirty="0">
                <a:solidFill>
                  <a:schemeClr val="bg1"/>
                </a:solidFill>
                <a:latin typeface="Cambria" pitchFamily="34" charset="0"/>
                <a:ea typeface="Cambria" pitchFamily="34" charset="-122"/>
                <a:cs typeface="Cambria" pitchFamily="34" charset="-120"/>
              </a:rPr>
              <a:t>Dieu voit</a:t>
            </a:r>
            <a:endParaRPr lang="en-US" sz="2800" dirty="0"/>
          </a:p>
        </p:txBody>
      </p:sp>
      <p:sp>
        <p:nvSpPr>
          <p:cNvPr id="10" name="Text 8"/>
          <p:cNvSpPr txBox="1"/>
          <p:nvPr/>
        </p:nvSpPr>
        <p:spPr>
          <a:xfrm>
            <a:off x="777240" y="4434840"/>
            <a:ext cx="3063240" cy="640080"/>
          </a:xfrm>
          <a:prstGeom prst="rect">
            <a:avLst/>
          </a:prstGeom>
          <a:noFill/>
          <a:ln/>
        </p:spPr>
        <p:txBody>
          <a:bodyPr wrap="square" lIns="0" tIns="0" rIns="0" bIns="0" rtlCol="0" anchor="t"/>
          <a:lstStyle/>
          <a:p>
            <a:pPr algn="ctr" indent="0" marL="0">
              <a:buNone/>
            </a:pPr>
            <a:r>
              <a:rPr lang="en-US" sz="1400" i="1" dirty="0">
                <a:solidFill>
                  <a:schemeClr val="bg1"/>
                </a:solidFill>
              </a:rPr>
              <a:t>« Celui qui a formé l'œil ne verrait-il pas? »</a:t>
            </a:r>
            <a:endParaRPr lang="en-US" sz="1400" dirty="0"/>
          </a:p>
        </p:txBody>
      </p:sp>
      <p:sp>
        <p:nvSpPr>
          <p:cNvPr id="11" name="Text 9"/>
          <p:cNvSpPr txBox="1"/>
          <p:nvPr/>
        </p:nvSpPr>
        <p:spPr>
          <a:xfrm>
            <a:off x="731520" y="5074920"/>
            <a:ext cx="3154680" cy="274320"/>
          </a:xfrm>
          <a:prstGeom prst="rect">
            <a:avLst/>
          </a:prstGeom>
          <a:noFill/>
          <a:ln/>
        </p:spPr>
        <p:txBody>
          <a:bodyPr wrap="square" lIns="0" tIns="0" rIns="0" bIns="0" rtlCol="0" anchor="t"/>
          <a:lstStyle/>
          <a:p>
            <a:pPr algn="ctr" indent="0" marL="0">
              <a:buNone/>
            </a:pPr>
            <a:r>
              <a:rPr lang="en-US" sz="1300" b="1" dirty="0">
                <a:solidFill>
                  <a:schemeClr val="accent2"/>
                </a:solidFill>
              </a:rPr>
              <a:t>94.9</a:t>
            </a:r>
            <a:endParaRPr lang="en-US" sz="1300" dirty="0"/>
          </a:p>
        </p:txBody>
      </p:sp>
      <p:sp>
        <p:nvSpPr>
          <p:cNvPr id="12" name="Colonne 2"/>
          <p:cNvSpPr/>
          <p:nvPr/>
        </p:nvSpPr>
        <p:spPr>
          <a:xfrm>
            <a:off x="4343400" y="1645920"/>
            <a:ext cx="3520440" cy="3749040"/>
          </a:xfrm>
          <a:prstGeom prst="roundRect">
            <a:avLst>
              <a:gd name="adj" fmla="val 2078"/>
            </a:avLst>
          </a:prstGeom>
          <a:solidFill>
            <a:schemeClr val="tx2"/>
          </a:solidFill>
          <a:ln/>
        </p:spPr>
      </p:sp>
      <p:sp>
        <p:nvSpPr>
          <p:cNvPr id="13" name="Livre synthèse page gauche"/>
          <p:cNvSpPr/>
          <p:nvPr/>
        </p:nvSpPr>
        <p:spPr>
          <a:xfrm>
            <a:off x="5280660" y="2331720"/>
            <a:ext cx="795528" cy="1020470"/>
          </a:xfrm>
          <a:prstGeom prst="roundRect">
            <a:avLst>
              <a:gd name="adj" fmla="val 5747"/>
            </a:avLst>
          </a:prstGeom>
          <a:solidFill>
            <a:schemeClr val="bg1"/>
          </a:solidFill>
          <a:ln/>
        </p:spPr>
      </p:sp>
      <p:sp>
        <p:nvSpPr>
          <p:cNvPr id="14" name="Livre synthèse page droite"/>
          <p:cNvSpPr/>
          <p:nvPr/>
        </p:nvSpPr>
        <p:spPr>
          <a:xfrm>
            <a:off x="6131052" y="2331720"/>
            <a:ext cx="795528" cy="1020470"/>
          </a:xfrm>
          <a:prstGeom prst="roundRect">
            <a:avLst>
              <a:gd name="adj" fmla="val 5747"/>
            </a:avLst>
          </a:prstGeom>
          <a:solidFill>
            <a:schemeClr val="bg1"/>
          </a:solidFill>
          <a:ln/>
        </p:spPr>
      </p:sp>
      <p:sp>
        <p:nvSpPr>
          <p:cNvPr id="15" name="Livre synthèse ligne g1"/>
          <p:cNvSpPr/>
          <p:nvPr/>
        </p:nvSpPr>
        <p:spPr>
          <a:xfrm>
            <a:off x="5395874" y="2574689"/>
            <a:ext cx="559613" cy="0"/>
          </a:xfrm>
          <a:prstGeom prst="line">
            <a:avLst/>
          </a:prstGeom>
          <a:noFill/>
          <a:ln w="12700">
            <a:solidFill>
              <a:schemeClr val="accent6"/>
            </a:solidFill>
            <a:prstDash val="solid"/>
          </a:ln>
        </p:spPr>
      </p:sp>
      <p:sp>
        <p:nvSpPr>
          <p:cNvPr id="16" name="Livre synthèse ligne d1"/>
          <p:cNvSpPr/>
          <p:nvPr/>
        </p:nvSpPr>
        <p:spPr>
          <a:xfrm>
            <a:off x="6251753" y="2574689"/>
            <a:ext cx="559613" cy="0"/>
          </a:xfrm>
          <a:prstGeom prst="line">
            <a:avLst/>
          </a:prstGeom>
          <a:noFill/>
          <a:ln w="12700">
            <a:solidFill>
              <a:schemeClr val="accent6"/>
            </a:solidFill>
            <a:prstDash val="solid"/>
          </a:ln>
        </p:spPr>
      </p:sp>
      <p:sp>
        <p:nvSpPr>
          <p:cNvPr id="17" name="Livre synthèse ligne g2"/>
          <p:cNvSpPr/>
          <p:nvPr/>
        </p:nvSpPr>
        <p:spPr>
          <a:xfrm>
            <a:off x="5395874" y="2817658"/>
            <a:ext cx="559613" cy="0"/>
          </a:xfrm>
          <a:prstGeom prst="line">
            <a:avLst/>
          </a:prstGeom>
          <a:noFill/>
          <a:ln w="12700">
            <a:solidFill>
              <a:schemeClr val="accent6"/>
            </a:solidFill>
            <a:prstDash val="solid"/>
          </a:ln>
        </p:spPr>
      </p:sp>
      <p:sp>
        <p:nvSpPr>
          <p:cNvPr id="18" name="Livre synthèse ligne d2"/>
          <p:cNvSpPr/>
          <p:nvPr/>
        </p:nvSpPr>
        <p:spPr>
          <a:xfrm>
            <a:off x="6251753" y="2817658"/>
            <a:ext cx="559613" cy="0"/>
          </a:xfrm>
          <a:prstGeom prst="line">
            <a:avLst/>
          </a:prstGeom>
          <a:noFill/>
          <a:ln w="12700">
            <a:solidFill>
              <a:schemeClr val="accent6"/>
            </a:solidFill>
            <a:prstDash val="solid"/>
          </a:ln>
        </p:spPr>
      </p:sp>
      <p:sp>
        <p:nvSpPr>
          <p:cNvPr id="19" name="Livre synthèse ligne g3"/>
          <p:cNvSpPr/>
          <p:nvPr/>
        </p:nvSpPr>
        <p:spPr>
          <a:xfrm>
            <a:off x="5395874" y="3060627"/>
            <a:ext cx="559613" cy="0"/>
          </a:xfrm>
          <a:prstGeom prst="line">
            <a:avLst/>
          </a:prstGeom>
          <a:noFill/>
          <a:ln w="12700">
            <a:solidFill>
              <a:schemeClr val="accent6"/>
            </a:solidFill>
            <a:prstDash val="solid"/>
          </a:ln>
        </p:spPr>
      </p:sp>
      <p:sp>
        <p:nvSpPr>
          <p:cNvPr id="20" name="Livre synthèse ligne d3"/>
          <p:cNvSpPr/>
          <p:nvPr/>
        </p:nvSpPr>
        <p:spPr>
          <a:xfrm>
            <a:off x="6251753" y="3060627"/>
            <a:ext cx="559613" cy="0"/>
          </a:xfrm>
          <a:prstGeom prst="line">
            <a:avLst/>
          </a:prstGeom>
          <a:noFill/>
          <a:ln w="12700">
            <a:solidFill>
              <a:schemeClr val="accent6"/>
            </a:solidFill>
            <a:prstDash val="solid"/>
          </a:ln>
        </p:spPr>
      </p:sp>
      <p:sp>
        <p:nvSpPr>
          <p:cNvPr id="21" name="Livre synthèse reliure"/>
          <p:cNvSpPr/>
          <p:nvPr/>
        </p:nvSpPr>
        <p:spPr>
          <a:xfrm>
            <a:off x="6076188" y="2295144"/>
            <a:ext cx="54864" cy="1093622"/>
          </a:xfrm>
          <a:prstGeom prst="rect">
            <a:avLst/>
          </a:prstGeom>
          <a:solidFill>
            <a:schemeClr val="accent1"/>
          </a:solidFill>
          <a:ln/>
        </p:spPr>
      </p:sp>
      <p:sp>
        <p:nvSpPr>
          <p:cNvPr id="22" name="Text 20"/>
          <p:cNvSpPr txBox="1"/>
          <p:nvPr/>
        </p:nvSpPr>
        <p:spPr>
          <a:xfrm>
            <a:off x="4526280" y="3840480"/>
            <a:ext cx="3154680" cy="548640"/>
          </a:xfrm>
          <a:prstGeom prst="rect">
            <a:avLst/>
          </a:prstGeom>
          <a:noFill/>
          <a:ln/>
        </p:spPr>
        <p:txBody>
          <a:bodyPr wrap="square" lIns="0" tIns="0" rIns="0" bIns="0" rtlCol="0" anchor="t"/>
          <a:lstStyle/>
          <a:p>
            <a:pPr algn="ctr" indent="0" marL="0">
              <a:buNone/>
            </a:pPr>
            <a:r>
              <a:rPr lang="en-US" sz="2800" b="1" dirty="0">
                <a:solidFill>
                  <a:schemeClr val="bg1"/>
                </a:solidFill>
                <a:latin typeface="Cambria" pitchFamily="34" charset="0"/>
                <a:ea typeface="Cambria" pitchFamily="34" charset="-122"/>
                <a:cs typeface="Cambria" pitchFamily="34" charset="-120"/>
              </a:rPr>
              <a:t>Dieu instruit</a:t>
            </a:r>
            <a:endParaRPr lang="en-US" sz="2800" dirty="0"/>
          </a:p>
        </p:txBody>
      </p:sp>
      <p:sp>
        <p:nvSpPr>
          <p:cNvPr id="23" name="Text 21"/>
          <p:cNvSpPr txBox="1"/>
          <p:nvPr/>
        </p:nvSpPr>
        <p:spPr>
          <a:xfrm>
            <a:off x="4572000" y="4434840"/>
            <a:ext cx="3063240" cy="640080"/>
          </a:xfrm>
          <a:prstGeom prst="rect">
            <a:avLst/>
          </a:prstGeom>
          <a:noFill/>
          <a:ln/>
        </p:spPr>
        <p:txBody>
          <a:bodyPr wrap="square" lIns="0" tIns="0" rIns="0" bIns="0" rtlCol="0" anchor="t"/>
          <a:lstStyle/>
          <a:p>
            <a:pPr algn="ctr" indent="0" marL="0">
              <a:buNone/>
            </a:pPr>
            <a:r>
              <a:rPr lang="en-US" sz="1400" i="1" dirty="0">
                <a:solidFill>
                  <a:schemeClr val="bg1"/>
                </a:solidFill>
              </a:rPr>
              <a:t>« Et que tu instruis par ta loi »</a:t>
            </a:r>
            <a:endParaRPr lang="en-US" sz="1400" dirty="0"/>
          </a:p>
        </p:txBody>
      </p:sp>
      <p:sp>
        <p:nvSpPr>
          <p:cNvPr id="24" name="Text 22"/>
          <p:cNvSpPr txBox="1"/>
          <p:nvPr/>
        </p:nvSpPr>
        <p:spPr>
          <a:xfrm>
            <a:off x="4526280" y="5074920"/>
            <a:ext cx="3154680" cy="274320"/>
          </a:xfrm>
          <a:prstGeom prst="rect">
            <a:avLst/>
          </a:prstGeom>
          <a:noFill/>
          <a:ln/>
        </p:spPr>
        <p:txBody>
          <a:bodyPr wrap="square" lIns="0" tIns="0" rIns="0" bIns="0" rtlCol="0" anchor="t"/>
          <a:lstStyle/>
          <a:p>
            <a:pPr algn="ctr" indent="0" marL="0">
              <a:buNone/>
            </a:pPr>
            <a:r>
              <a:rPr lang="en-US" sz="1300" b="1" dirty="0">
                <a:solidFill>
                  <a:schemeClr val="accent2"/>
                </a:solidFill>
              </a:rPr>
              <a:t>94.12</a:t>
            </a:r>
            <a:endParaRPr lang="en-US" sz="1300" dirty="0"/>
          </a:p>
        </p:txBody>
      </p:sp>
      <p:sp>
        <p:nvSpPr>
          <p:cNvPr id="25" name="Colonne 3"/>
          <p:cNvSpPr/>
          <p:nvPr/>
        </p:nvSpPr>
        <p:spPr>
          <a:xfrm>
            <a:off x="8138160" y="1645920"/>
            <a:ext cx="3520440" cy="3749040"/>
          </a:xfrm>
          <a:prstGeom prst="roundRect">
            <a:avLst>
              <a:gd name="adj" fmla="val 2078"/>
            </a:avLst>
          </a:prstGeom>
          <a:solidFill>
            <a:schemeClr val="accent3"/>
          </a:solidFill>
          <a:ln/>
        </p:spPr>
      </p:sp>
      <p:sp>
        <p:nvSpPr>
          <p:cNvPr id="26" name="Balance synthèse mât"/>
          <p:cNvSpPr/>
          <p:nvPr/>
        </p:nvSpPr>
        <p:spPr>
          <a:xfrm>
            <a:off x="9843516" y="1965960"/>
            <a:ext cx="109728" cy="1349654"/>
          </a:xfrm>
          <a:prstGeom prst="rect">
            <a:avLst/>
          </a:prstGeom>
          <a:solidFill>
            <a:schemeClr val="bg1"/>
          </a:solidFill>
          <a:ln/>
        </p:spPr>
      </p:sp>
      <p:sp>
        <p:nvSpPr>
          <p:cNvPr id="27" name="Balance synthèse socle"/>
          <p:cNvSpPr/>
          <p:nvPr/>
        </p:nvSpPr>
        <p:spPr>
          <a:xfrm>
            <a:off x="9532620" y="3315614"/>
            <a:ext cx="731520" cy="237744"/>
          </a:xfrm>
          <a:prstGeom prst="trapezoid">
            <a:avLst/>
          </a:prstGeom>
          <a:solidFill>
            <a:schemeClr val="accent1"/>
          </a:solidFill>
          <a:ln/>
        </p:spPr>
      </p:sp>
      <p:sp>
        <p:nvSpPr>
          <p:cNvPr id="28" name="Balance synthèse fléau"/>
          <p:cNvSpPr/>
          <p:nvPr/>
        </p:nvSpPr>
        <p:spPr>
          <a:xfrm>
            <a:off x="8983980" y="1965960"/>
            <a:ext cx="1828800" cy="0"/>
          </a:xfrm>
          <a:prstGeom prst="line">
            <a:avLst/>
          </a:prstGeom>
          <a:noFill/>
          <a:ln w="63500">
            <a:solidFill>
              <a:schemeClr val="bg1"/>
            </a:solidFill>
            <a:prstDash val="solid"/>
          </a:ln>
        </p:spPr>
      </p:sp>
      <p:sp>
        <p:nvSpPr>
          <p:cNvPr id="29" name="Balance synthèse chaîne"/>
          <p:cNvSpPr/>
          <p:nvPr/>
        </p:nvSpPr>
        <p:spPr>
          <a:xfrm flipH="1">
            <a:off x="8673084" y="1965960"/>
            <a:ext cx="310896" cy="757123"/>
          </a:xfrm>
          <a:prstGeom prst="line">
            <a:avLst/>
          </a:prstGeom>
          <a:noFill/>
          <a:ln w="19050">
            <a:solidFill>
              <a:schemeClr val="accent6"/>
            </a:solidFill>
            <a:prstDash val="solid"/>
          </a:ln>
        </p:spPr>
      </p:sp>
      <p:sp>
        <p:nvSpPr>
          <p:cNvPr id="30" name="Balance synthèse chaîne"/>
          <p:cNvSpPr/>
          <p:nvPr/>
        </p:nvSpPr>
        <p:spPr>
          <a:xfrm>
            <a:off x="8983980" y="1965960"/>
            <a:ext cx="310896" cy="757123"/>
          </a:xfrm>
          <a:prstGeom prst="line">
            <a:avLst/>
          </a:prstGeom>
          <a:noFill/>
          <a:ln w="19050">
            <a:solidFill>
              <a:schemeClr val="accent6"/>
            </a:solidFill>
            <a:prstDash val="solid"/>
          </a:ln>
        </p:spPr>
      </p:sp>
      <p:sp>
        <p:nvSpPr>
          <p:cNvPr id="31" name="Balance synthèse plateau"/>
          <p:cNvSpPr/>
          <p:nvPr/>
        </p:nvSpPr>
        <p:spPr>
          <a:xfrm>
            <a:off x="8618220" y="2723083"/>
            <a:ext cx="731520" cy="384048"/>
          </a:xfrm>
          <a:custGeom>
            <a:avLst/>
            <a:gdLst/>
            <a:ahLst/>
            <a:cxnLst/>
            <a:rect l="l" t="t" r="r" b="b"/>
            <a:pathLst>
              <a:path w="731520" h="384048">
                <a:moveTo>
                  <a:pt x="0" y="0"/>
                </a:moveTo>
                <a:lnTo>
                  <a:pt x="731520" y="0"/>
                </a:lnTo>
                <a:quadBezTo>
                  <a:pt x="365760" y="768096"/>
                  <a:pt x="0" y="0"/>
                </a:quadBezTo>
                <a:close/>
              </a:path>
            </a:pathLst>
          </a:custGeom>
          <a:solidFill>
            <a:schemeClr val="accent1"/>
          </a:solidFill>
          <a:ln/>
        </p:spPr>
      </p:sp>
      <p:sp>
        <p:nvSpPr>
          <p:cNvPr id="32" name="Balance synthèse chaîne"/>
          <p:cNvSpPr/>
          <p:nvPr/>
        </p:nvSpPr>
        <p:spPr>
          <a:xfrm flipH="1">
            <a:off x="10501884" y="1965960"/>
            <a:ext cx="310896" cy="757123"/>
          </a:xfrm>
          <a:prstGeom prst="line">
            <a:avLst/>
          </a:prstGeom>
          <a:noFill/>
          <a:ln w="19050">
            <a:solidFill>
              <a:schemeClr val="accent6"/>
            </a:solidFill>
            <a:prstDash val="solid"/>
          </a:ln>
        </p:spPr>
      </p:sp>
      <p:sp>
        <p:nvSpPr>
          <p:cNvPr id="33" name="Balance synthèse chaîne"/>
          <p:cNvSpPr/>
          <p:nvPr/>
        </p:nvSpPr>
        <p:spPr>
          <a:xfrm>
            <a:off x="10812780" y="1965960"/>
            <a:ext cx="310896" cy="757123"/>
          </a:xfrm>
          <a:prstGeom prst="line">
            <a:avLst/>
          </a:prstGeom>
          <a:noFill/>
          <a:ln w="19050">
            <a:solidFill>
              <a:schemeClr val="accent6"/>
            </a:solidFill>
            <a:prstDash val="solid"/>
          </a:ln>
        </p:spPr>
      </p:sp>
      <p:sp>
        <p:nvSpPr>
          <p:cNvPr id="34" name="Balance synthèse plateau"/>
          <p:cNvSpPr/>
          <p:nvPr/>
        </p:nvSpPr>
        <p:spPr>
          <a:xfrm>
            <a:off x="10447020" y="2723083"/>
            <a:ext cx="731520" cy="384048"/>
          </a:xfrm>
          <a:custGeom>
            <a:avLst/>
            <a:gdLst/>
            <a:ahLst/>
            <a:cxnLst/>
            <a:rect l="l" t="t" r="r" b="b"/>
            <a:pathLst>
              <a:path w="731520" h="384048">
                <a:moveTo>
                  <a:pt x="0" y="0"/>
                </a:moveTo>
                <a:lnTo>
                  <a:pt x="731520" y="0"/>
                </a:lnTo>
                <a:quadBezTo>
                  <a:pt x="365760" y="768096"/>
                  <a:pt x="0" y="0"/>
                </a:quadBezTo>
                <a:close/>
              </a:path>
            </a:pathLst>
          </a:custGeom>
          <a:solidFill>
            <a:schemeClr val="accent1"/>
          </a:solidFill>
          <a:ln/>
        </p:spPr>
      </p:sp>
      <p:sp>
        <p:nvSpPr>
          <p:cNvPr id="35" name="Balance synthèse pivot"/>
          <p:cNvSpPr/>
          <p:nvPr/>
        </p:nvSpPr>
        <p:spPr>
          <a:xfrm>
            <a:off x="9761220" y="1828800"/>
            <a:ext cx="274320" cy="274320"/>
          </a:xfrm>
          <a:prstGeom prst="ellipse">
            <a:avLst/>
          </a:prstGeom>
          <a:solidFill>
            <a:schemeClr val="accent1"/>
          </a:solidFill>
          <a:ln w="12700">
            <a:solidFill>
              <a:schemeClr val="bg1"/>
            </a:solidFill>
            <a:prstDash val="solid"/>
          </a:ln>
        </p:spPr>
      </p:sp>
      <p:sp>
        <p:nvSpPr>
          <p:cNvPr id="36" name="Text 34"/>
          <p:cNvSpPr txBox="1"/>
          <p:nvPr/>
        </p:nvSpPr>
        <p:spPr>
          <a:xfrm>
            <a:off x="8321040" y="3840480"/>
            <a:ext cx="3154680" cy="548640"/>
          </a:xfrm>
          <a:prstGeom prst="rect">
            <a:avLst/>
          </a:prstGeom>
          <a:noFill/>
          <a:ln/>
        </p:spPr>
        <p:txBody>
          <a:bodyPr wrap="square" lIns="0" tIns="0" rIns="0" bIns="0" rtlCol="0" anchor="t"/>
          <a:lstStyle/>
          <a:p>
            <a:pPr algn="ctr" indent="0" marL="0">
              <a:buNone/>
            </a:pPr>
            <a:r>
              <a:rPr lang="en-US" sz="2800" b="1" dirty="0">
                <a:solidFill>
                  <a:schemeClr val="bg1"/>
                </a:solidFill>
                <a:latin typeface="Cambria" pitchFamily="34" charset="0"/>
                <a:ea typeface="Cambria" pitchFamily="34" charset="-122"/>
                <a:cs typeface="Cambria" pitchFamily="34" charset="-120"/>
              </a:rPr>
              <a:t>Dieu rendra</a:t>
            </a:r>
            <a:endParaRPr lang="en-US" sz="2800" dirty="0"/>
          </a:p>
        </p:txBody>
      </p:sp>
      <p:sp>
        <p:nvSpPr>
          <p:cNvPr id="37" name="Text 35"/>
          <p:cNvSpPr txBox="1"/>
          <p:nvPr/>
        </p:nvSpPr>
        <p:spPr>
          <a:xfrm>
            <a:off x="8366760" y="4434840"/>
            <a:ext cx="3063240" cy="640080"/>
          </a:xfrm>
          <a:prstGeom prst="rect">
            <a:avLst/>
          </a:prstGeom>
          <a:noFill/>
          <a:ln/>
        </p:spPr>
        <p:txBody>
          <a:bodyPr wrap="square" lIns="0" tIns="0" rIns="0" bIns="0" rtlCol="0" anchor="t"/>
          <a:lstStyle/>
          <a:p>
            <a:pPr algn="ctr" indent="0" marL="0">
              <a:buNone/>
            </a:pPr>
            <a:r>
              <a:rPr lang="en-US" sz="1400" i="1" dirty="0">
                <a:solidFill>
                  <a:schemeClr val="bg1"/>
                </a:solidFill>
              </a:rPr>
              <a:t>« Il fera retomber sur eux leur iniquité »</a:t>
            </a:r>
            <a:endParaRPr lang="en-US" sz="1400" dirty="0"/>
          </a:p>
        </p:txBody>
      </p:sp>
      <p:sp>
        <p:nvSpPr>
          <p:cNvPr id="38" name="Text 36"/>
          <p:cNvSpPr txBox="1"/>
          <p:nvPr/>
        </p:nvSpPr>
        <p:spPr>
          <a:xfrm>
            <a:off x="8321040" y="5074920"/>
            <a:ext cx="3154680" cy="274320"/>
          </a:xfrm>
          <a:prstGeom prst="rect">
            <a:avLst/>
          </a:prstGeom>
          <a:noFill/>
          <a:ln/>
        </p:spPr>
        <p:txBody>
          <a:bodyPr wrap="square" lIns="0" tIns="0" rIns="0" bIns="0" rtlCol="0" anchor="t"/>
          <a:lstStyle/>
          <a:p>
            <a:pPr algn="ctr" indent="0" marL="0">
              <a:buNone/>
            </a:pPr>
            <a:r>
              <a:rPr lang="en-US" sz="1300" b="1" dirty="0">
                <a:solidFill>
                  <a:schemeClr val="accent5"/>
                </a:solidFill>
              </a:rPr>
              <a:t>94.2 · 94.23</a:t>
            </a:r>
            <a:endParaRPr lang="en-US" sz="1300" dirty="0"/>
          </a:p>
        </p:txBody>
      </p:sp>
      <p:sp>
        <p:nvSpPr>
          <p:cNvPr id="39" name="Soutien"/>
          <p:cNvSpPr/>
          <p:nvPr/>
        </p:nvSpPr>
        <p:spPr>
          <a:xfrm>
            <a:off x="548640" y="5532120"/>
            <a:ext cx="11091672" cy="685800"/>
          </a:xfrm>
          <a:prstGeom prst="roundRect">
            <a:avLst>
              <a:gd name="adj" fmla="val 10667"/>
            </a:avLst>
          </a:prstGeom>
          <a:solidFill>
            <a:schemeClr val="tx2"/>
          </a:solidFill>
          <a:ln/>
        </p:spPr>
      </p:sp>
      <p:sp>
        <p:nvSpPr>
          <p:cNvPr id="40" name="Text 38"/>
          <p:cNvSpPr txBox="1"/>
          <p:nvPr/>
        </p:nvSpPr>
        <p:spPr>
          <a:xfrm>
            <a:off x="777240" y="5532120"/>
            <a:ext cx="10652760" cy="685800"/>
          </a:xfrm>
          <a:prstGeom prst="rect">
            <a:avLst/>
          </a:prstGeom>
          <a:noFill/>
          <a:ln/>
        </p:spPr>
        <p:txBody>
          <a:bodyPr wrap="square" lIns="0" tIns="0" rIns="0" bIns="0" rtlCol="0" anchor="ctr"/>
          <a:lstStyle/>
          <a:p>
            <a:pPr algn="ctr" indent="0" marL="0">
              <a:buNone/>
            </a:pPr>
            <a:r>
              <a:rPr lang="en-US" sz="1600" dirty="0">
                <a:solidFill>
                  <a:schemeClr val="bg1"/>
                </a:solidFill>
              </a:rPr>
              <a:t>Et il soutient celui qui chancelle : « Ta bonté, ô Eternel! me sert d'appui » (94.18) · Il n'abandonne pas « son peuple » (94.14)</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0058400" cy="320040"/>
          </a:xfrm>
          <a:prstGeom prst="rect">
            <a:avLst/>
          </a:prstGeom>
          <a:noFill/>
          <a:ln/>
        </p:spPr>
        <p:txBody>
          <a:bodyPr wrap="square" lIns="0" tIns="0" rIns="0" bIns="0" rtlCol="0"/>
          <a:lstStyle/>
          <a:p>
            <a:pPr indent="0" marL="0">
              <a:buNone/>
            </a:pPr>
            <a:r>
              <a:rPr lang="en-US" sz="1300" b="1" spc="100" kern="0" dirty="0">
                <a:solidFill>
                  <a:schemeClr val="accent2"/>
                </a:solidFill>
              </a:rPr>
              <a:t>Conclusion et appel</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Ce qu'il faut retenir</a:t>
            </a:r>
            <a:endParaRPr lang="en-US" sz="3000" dirty="0"/>
          </a:p>
        </p:txBody>
      </p:sp>
      <p:sp>
        <p:nvSpPr>
          <p:cNvPr id="4" name="Œil conclusion contour"/>
          <p:cNvSpPr/>
          <p:nvPr/>
        </p:nvSpPr>
        <p:spPr>
          <a:xfrm>
            <a:off x="640080" y="1897380"/>
            <a:ext cx="1554480" cy="777240"/>
          </a:xfrm>
          <a:custGeom>
            <a:avLst/>
            <a:gdLst/>
            <a:ahLst/>
            <a:cxnLst/>
            <a:rect l="l" t="t" r="r" b="b"/>
            <a:pathLst>
              <a:path w="1554480" h="777240">
                <a:moveTo>
                  <a:pt x="0" y="388620"/>
                </a:moveTo>
                <a:quadBezTo>
                  <a:pt x="777240" y="-388620"/>
                  <a:pt x="1554480" y="388620"/>
                </a:quadBezTo>
                <a:quadBezTo>
                  <a:pt x="777240" y="1165860"/>
                  <a:pt x="0" y="388620"/>
                </a:quadBezTo>
                <a:close/>
              </a:path>
            </a:pathLst>
          </a:custGeom>
          <a:solidFill>
            <a:schemeClr val="tx1"/>
          </a:solidFill>
          <a:ln w="31750">
            <a:solidFill>
              <a:schemeClr val="accent1"/>
            </a:solidFill>
            <a:prstDash val="solid"/>
          </a:ln>
        </p:spPr>
      </p:sp>
      <p:sp>
        <p:nvSpPr>
          <p:cNvPr id="5" name="Œil conclusion iris"/>
          <p:cNvSpPr/>
          <p:nvPr/>
        </p:nvSpPr>
        <p:spPr>
          <a:xfrm>
            <a:off x="1106424" y="1975104"/>
            <a:ext cx="621792" cy="621792"/>
          </a:xfrm>
          <a:prstGeom prst="ellipse">
            <a:avLst/>
          </a:prstGeom>
          <a:solidFill>
            <a:schemeClr val="accent1"/>
          </a:solidFill>
          <a:ln w="19050">
            <a:solidFill>
              <a:schemeClr val="accent3"/>
            </a:solidFill>
            <a:prstDash val="solid"/>
          </a:ln>
        </p:spPr>
      </p:sp>
      <p:sp>
        <p:nvSpPr>
          <p:cNvPr id="6" name="Œil conclusion pupille"/>
          <p:cNvSpPr/>
          <p:nvPr/>
        </p:nvSpPr>
        <p:spPr>
          <a:xfrm>
            <a:off x="1277417" y="2146097"/>
            <a:ext cx="279806" cy="279806"/>
          </a:xfrm>
          <a:prstGeom prst="ellipse">
            <a:avLst/>
          </a:prstGeom>
          <a:solidFill>
            <a:schemeClr val="tx1"/>
          </a:solidFill>
          <a:ln/>
        </p:spPr>
      </p:sp>
      <p:sp>
        <p:nvSpPr>
          <p:cNvPr id="7" name="Œil conclusion reflet"/>
          <p:cNvSpPr/>
          <p:nvPr/>
        </p:nvSpPr>
        <p:spPr>
          <a:xfrm>
            <a:off x="1459291" y="2160087"/>
            <a:ext cx="78346" cy="78346"/>
          </a:xfrm>
          <a:prstGeom prst="ellipse">
            <a:avLst/>
          </a:prstGeom>
          <a:solidFill>
            <a:schemeClr val="bg1"/>
          </a:solidFill>
          <a:ln/>
        </p:spPr>
      </p:sp>
      <p:sp>
        <p:nvSpPr>
          <p:cNvPr id="8" name="Balance conclusion mât"/>
          <p:cNvSpPr/>
          <p:nvPr/>
        </p:nvSpPr>
        <p:spPr>
          <a:xfrm>
            <a:off x="10643616" y="1691640"/>
            <a:ext cx="109728" cy="877275"/>
          </a:xfrm>
          <a:prstGeom prst="rect">
            <a:avLst/>
          </a:prstGeom>
          <a:solidFill>
            <a:schemeClr val="bg1"/>
          </a:solidFill>
          <a:ln/>
        </p:spPr>
      </p:sp>
      <p:sp>
        <p:nvSpPr>
          <p:cNvPr id="9" name="Balance conclusion socle"/>
          <p:cNvSpPr/>
          <p:nvPr/>
        </p:nvSpPr>
        <p:spPr>
          <a:xfrm>
            <a:off x="10460736" y="2568915"/>
            <a:ext cx="475488" cy="237744"/>
          </a:xfrm>
          <a:prstGeom prst="trapezoid">
            <a:avLst/>
          </a:prstGeom>
          <a:solidFill>
            <a:schemeClr val="accent1"/>
          </a:solidFill>
          <a:ln/>
        </p:spPr>
      </p:sp>
      <p:sp>
        <p:nvSpPr>
          <p:cNvPr id="10" name="Balance conclusion fléau"/>
          <p:cNvSpPr/>
          <p:nvPr/>
        </p:nvSpPr>
        <p:spPr>
          <a:xfrm>
            <a:off x="10104120" y="1691640"/>
            <a:ext cx="1188720" cy="0"/>
          </a:xfrm>
          <a:prstGeom prst="line">
            <a:avLst/>
          </a:prstGeom>
          <a:noFill/>
          <a:ln w="63500">
            <a:solidFill>
              <a:schemeClr val="bg1"/>
            </a:solidFill>
            <a:prstDash val="solid"/>
          </a:ln>
        </p:spPr>
      </p:sp>
      <p:sp>
        <p:nvSpPr>
          <p:cNvPr id="11" name="Balance conclusion chaîne"/>
          <p:cNvSpPr/>
          <p:nvPr/>
        </p:nvSpPr>
        <p:spPr>
          <a:xfrm flipH="1">
            <a:off x="9902038" y="1691640"/>
            <a:ext cx="202082" cy="492130"/>
          </a:xfrm>
          <a:prstGeom prst="line">
            <a:avLst/>
          </a:prstGeom>
          <a:noFill/>
          <a:ln w="19050">
            <a:solidFill>
              <a:schemeClr val="accent6"/>
            </a:solidFill>
            <a:prstDash val="solid"/>
          </a:ln>
        </p:spPr>
      </p:sp>
      <p:sp>
        <p:nvSpPr>
          <p:cNvPr id="12" name="Balance conclusion chaîne"/>
          <p:cNvSpPr/>
          <p:nvPr/>
        </p:nvSpPr>
        <p:spPr>
          <a:xfrm>
            <a:off x="10104120" y="1691640"/>
            <a:ext cx="202082" cy="492130"/>
          </a:xfrm>
          <a:prstGeom prst="line">
            <a:avLst/>
          </a:prstGeom>
          <a:noFill/>
          <a:ln w="19050">
            <a:solidFill>
              <a:schemeClr val="accent6"/>
            </a:solidFill>
            <a:prstDash val="solid"/>
          </a:ln>
        </p:spPr>
      </p:sp>
      <p:sp>
        <p:nvSpPr>
          <p:cNvPr id="13" name="Balance conclusion plateau"/>
          <p:cNvSpPr/>
          <p:nvPr/>
        </p:nvSpPr>
        <p:spPr>
          <a:xfrm>
            <a:off x="9866376" y="2183770"/>
            <a:ext cx="475488" cy="384048"/>
          </a:xfrm>
          <a:custGeom>
            <a:avLst/>
            <a:gdLst/>
            <a:ahLst/>
            <a:cxnLst/>
            <a:rect l="l" t="t" r="r" b="b"/>
            <a:pathLst>
              <a:path w="475488" h="384048">
                <a:moveTo>
                  <a:pt x="0" y="0"/>
                </a:moveTo>
                <a:lnTo>
                  <a:pt x="475488" y="0"/>
                </a:lnTo>
                <a:quadBezTo>
                  <a:pt x="237744" y="768096"/>
                  <a:pt x="0" y="0"/>
                </a:quadBezTo>
                <a:close/>
              </a:path>
            </a:pathLst>
          </a:custGeom>
          <a:solidFill>
            <a:schemeClr val="accent1"/>
          </a:solidFill>
          <a:ln/>
        </p:spPr>
      </p:sp>
      <p:sp>
        <p:nvSpPr>
          <p:cNvPr id="14" name="Balance conclusion chaîne"/>
          <p:cNvSpPr/>
          <p:nvPr/>
        </p:nvSpPr>
        <p:spPr>
          <a:xfrm flipH="1">
            <a:off x="11090758" y="1691640"/>
            <a:ext cx="202082" cy="492130"/>
          </a:xfrm>
          <a:prstGeom prst="line">
            <a:avLst/>
          </a:prstGeom>
          <a:noFill/>
          <a:ln w="19050">
            <a:solidFill>
              <a:schemeClr val="accent6"/>
            </a:solidFill>
            <a:prstDash val="solid"/>
          </a:ln>
        </p:spPr>
      </p:sp>
      <p:sp>
        <p:nvSpPr>
          <p:cNvPr id="15" name="Balance conclusion chaîne"/>
          <p:cNvSpPr/>
          <p:nvPr/>
        </p:nvSpPr>
        <p:spPr>
          <a:xfrm>
            <a:off x="11292840" y="1691640"/>
            <a:ext cx="202082" cy="492130"/>
          </a:xfrm>
          <a:prstGeom prst="line">
            <a:avLst/>
          </a:prstGeom>
          <a:noFill/>
          <a:ln w="19050">
            <a:solidFill>
              <a:schemeClr val="accent6"/>
            </a:solidFill>
            <a:prstDash val="solid"/>
          </a:ln>
        </p:spPr>
      </p:sp>
      <p:sp>
        <p:nvSpPr>
          <p:cNvPr id="16" name="Balance conclusion plateau"/>
          <p:cNvSpPr/>
          <p:nvPr/>
        </p:nvSpPr>
        <p:spPr>
          <a:xfrm>
            <a:off x="11055096" y="2183770"/>
            <a:ext cx="475488" cy="384048"/>
          </a:xfrm>
          <a:custGeom>
            <a:avLst/>
            <a:gdLst/>
            <a:ahLst/>
            <a:cxnLst/>
            <a:rect l="l" t="t" r="r" b="b"/>
            <a:pathLst>
              <a:path w="475488" h="384048">
                <a:moveTo>
                  <a:pt x="0" y="0"/>
                </a:moveTo>
                <a:lnTo>
                  <a:pt x="475488" y="0"/>
                </a:lnTo>
                <a:quadBezTo>
                  <a:pt x="237744" y="768096"/>
                  <a:pt x="0" y="0"/>
                </a:quadBezTo>
                <a:close/>
              </a:path>
            </a:pathLst>
          </a:custGeom>
          <a:solidFill>
            <a:schemeClr val="accent1"/>
          </a:solidFill>
          <a:ln/>
        </p:spPr>
      </p:sp>
      <p:sp>
        <p:nvSpPr>
          <p:cNvPr id="17" name="Balance conclusion pivot"/>
          <p:cNvSpPr/>
          <p:nvPr/>
        </p:nvSpPr>
        <p:spPr>
          <a:xfrm>
            <a:off x="10561320" y="1554480"/>
            <a:ext cx="274320" cy="274320"/>
          </a:xfrm>
          <a:prstGeom prst="ellipse">
            <a:avLst/>
          </a:prstGeom>
          <a:solidFill>
            <a:schemeClr val="accent1"/>
          </a:solidFill>
          <a:ln w="12700">
            <a:solidFill>
              <a:schemeClr val="bg1"/>
            </a:solidFill>
            <a:prstDash val="solid"/>
          </a:ln>
        </p:spPr>
      </p:sp>
      <p:sp>
        <p:nvSpPr>
          <p:cNvPr id="18" name="Text 16"/>
          <p:cNvSpPr txBox="1"/>
          <p:nvPr/>
        </p:nvSpPr>
        <p:spPr>
          <a:xfrm>
            <a:off x="2651760" y="1691640"/>
            <a:ext cx="6400800" cy="1280160"/>
          </a:xfrm>
          <a:prstGeom prst="rect">
            <a:avLst/>
          </a:prstGeom>
          <a:noFill/>
          <a:ln/>
        </p:spPr>
        <p:txBody>
          <a:bodyPr wrap="square" lIns="0" tIns="0" rIns="0" bIns="0" rtlCol="0" anchor="ctr"/>
          <a:lstStyle/>
          <a:p>
            <a:pPr algn="ctr" indent="0" marL="0">
              <a:buNone/>
            </a:pPr>
            <a:r>
              <a:rPr lang="en-US" sz="3800" b="1" dirty="0">
                <a:solidFill>
                  <a:schemeClr val="bg1"/>
                </a:solidFill>
                <a:latin typeface="Cambria" pitchFamily="34" charset="0"/>
                <a:ea typeface="Cambria" pitchFamily="34" charset="-122"/>
                <a:cs typeface="Cambria" pitchFamily="34" charset="-120"/>
              </a:rPr>
              <a:t>Dieu voit, Dieu instruit,</a:t>
            </a:r>
            <a:endParaRPr lang="en-US" sz="3800" dirty="0"/>
          </a:p>
          <a:p>
            <a:pPr algn="ctr" indent="0" marL="0">
              <a:buNone/>
            </a:pPr>
            <a:r>
              <a:rPr lang="en-US" sz="3800" b="1" dirty="0">
                <a:solidFill>
                  <a:schemeClr val="accent2"/>
                </a:solidFill>
                <a:latin typeface="Cambria" pitchFamily="34" charset="0"/>
                <a:ea typeface="Cambria" pitchFamily="34" charset="-122"/>
                <a:cs typeface="Cambria" pitchFamily="34" charset="-120"/>
              </a:rPr>
              <a:t>Dieu rendra.</a:t>
            </a:r>
            <a:endParaRPr lang="en-US" sz="3800" dirty="0"/>
          </a:p>
        </p:txBody>
      </p:sp>
      <p:sp>
        <p:nvSpPr>
          <p:cNvPr id="19" name="Appel À l'incroyant"/>
          <p:cNvSpPr/>
          <p:nvPr/>
        </p:nvSpPr>
        <p:spPr>
          <a:xfrm>
            <a:off x="548640" y="3200400"/>
            <a:ext cx="5422392" cy="3017520"/>
          </a:xfrm>
          <a:prstGeom prst="roundRect">
            <a:avLst>
              <a:gd name="adj" fmla="val 2424"/>
            </a:avLst>
          </a:prstGeom>
          <a:solidFill>
            <a:schemeClr val="tx2"/>
          </a:solidFill>
          <a:ln/>
        </p:spPr>
      </p:sp>
      <p:sp>
        <p:nvSpPr>
          <p:cNvPr id="20" name="Text 18"/>
          <p:cNvSpPr txBox="1"/>
          <p:nvPr/>
        </p:nvSpPr>
        <p:spPr>
          <a:xfrm>
            <a:off x="822960" y="3337560"/>
            <a:ext cx="4846320" cy="411480"/>
          </a:xfrm>
          <a:prstGeom prst="rect">
            <a:avLst/>
          </a:prstGeom>
          <a:noFill/>
          <a:ln/>
        </p:spPr>
        <p:txBody>
          <a:bodyPr wrap="square" lIns="0" tIns="0" rIns="0" bIns="0" rtlCol="0" anchor="t"/>
          <a:lstStyle/>
          <a:p>
            <a:pPr indent="0" marL="0">
              <a:buNone/>
            </a:pPr>
            <a:r>
              <a:rPr lang="en-US" sz="2100" b="1" dirty="0">
                <a:solidFill>
                  <a:schemeClr val="accent2"/>
                </a:solidFill>
              </a:rPr>
              <a:t>À l'incroyant</a:t>
            </a:r>
            <a:endParaRPr lang="en-US" sz="2100" dirty="0"/>
          </a:p>
        </p:txBody>
      </p:sp>
      <p:sp>
        <p:nvSpPr>
          <p:cNvPr id="21" name="Text 19"/>
          <p:cNvSpPr txBox="1"/>
          <p:nvPr/>
        </p:nvSpPr>
        <p:spPr>
          <a:xfrm>
            <a:off x="822960" y="3840480"/>
            <a:ext cx="4892040" cy="2286000"/>
          </a:xfrm>
          <a:prstGeom prst="rect">
            <a:avLst/>
          </a:prstGeom>
          <a:noFill/>
          <a:ln/>
        </p:spPr>
        <p:txBody>
          <a:bodyPr wrap="square" lIns="0" tIns="0" rIns="0" bIns="0" rtlCol="0" anchor="t"/>
          <a:lstStyle/>
          <a:p>
            <a:pPr indent="0" marL="0">
              <a:buNone/>
            </a:pPr>
            <a:r>
              <a:rPr lang="en-US" sz="1700" dirty="0">
                <a:solidFill>
                  <a:schemeClr val="bg1"/>
                </a:solidFill>
              </a:rPr>
              <a:t>Vous vivez peut-être comme si « L'Eternel ne regarde pas ». Celui qui a formé l'œil voit, et il connaît « les pensées de l'homme », les vôtres comprises. Mais le juge est aussi « ma retraite » : ce refuge, Dieu l'ouvre aujourd'hui en Christ à quiconque se repent et croit. « Insensés, quand serez-vous sages? » Aujourd'hui, devenez sage.</a:t>
            </a:r>
            <a:endParaRPr lang="en-US" sz="1700" dirty="0"/>
          </a:p>
        </p:txBody>
      </p:sp>
      <p:sp>
        <p:nvSpPr>
          <p:cNvPr id="22" name="Appel Au croyant"/>
          <p:cNvSpPr/>
          <p:nvPr/>
        </p:nvSpPr>
        <p:spPr>
          <a:xfrm>
            <a:off x="6217920" y="3200400"/>
            <a:ext cx="5422392" cy="3017520"/>
          </a:xfrm>
          <a:prstGeom prst="roundRect">
            <a:avLst>
              <a:gd name="adj" fmla="val 2424"/>
            </a:avLst>
          </a:prstGeom>
          <a:solidFill>
            <a:schemeClr val="tx2"/>
          </a:solidFill>
          <a:ln/>
        </p:spPr>
      </p:sp>
      <p:sp>
        <p:nvSpPr>
          <p:cNvPr id="23" name="Text 21"/>
          <p:cNvSpPr txBox="1"/>
          <p:nvPr/>
        </p:nvSpPr>
        <p:spPr>
          <a:xfrm>
            <a:off x="6492240" y="3337560"/>
            <a:ext cx="4846320" cy="411480"/>
          </a:xfrm>
          <a:prstGeom prst="rect">
            <a:avLst/>
          </a:prstGeom>
          <a:noFill/>
          <a:ln/>
        </p:spPr>
        <p:txBody>
          <a:bodyPr wrap="square" lIns="0" tIns="0" rIns="0" bIns="0" rtlCol="0" anchor="t"/>
          <a:lstStyle/>
          <a:p>
            <a:pPr indent="0" marL="0">
              <a:buNone/>
            </a:pPr>
            <a:r>
              <a:rPr lang="en-US" sz="2100" b="1" dirty="0">
                <a:solidFill>
                  <a:schemeClr val="accent2"/>
                </a:solidFill>
              </a:rPr>
              <a:t>Au croyant</a:t>
            </a:r>
            <a:endParaRPr lang="en-US" sz="2100" dirty="0"/>
          </a:p>
        </p:txBody>
      </p:sp>
      <p:sp>
        <p:nvSpPr>
          <p:cNvPr id="24" name="Text 22"/>
          <p:cNvSpPr txBox="1"/>
          <p:nvPr/>
        </p:nvSpPr>
        <p:spPr>
          <a:xfrm>
            <a:off x="6492240" y="3840480"/>
            <a:ext cx="4892040" cy="2286000"/>
          </a:xfrm>
          <a:prstGeom prst="rect">
            <a:avLst/>
          </a:prstGeom>
          <a:noFill/>
          <a:ln/>
        </p:spPr>
        <p:txBody>
          <a:bodyPr wrap="square" lIns="0" tIns="0" rIns="0" bIns="0" rtlCol="0" anchor="t"/>
          <a:lstStyle/>
          <a:p>
            <a:pPr indent="0" marL="0">
              <a:buNone/>
            </a:pPr>
            <a:r>
              <a:rPr lang="en-US" sz="1700" dirty="0">
                <a:solidFill>
                  <a:schemeClr val="bg1"/>
                </a:solidFill>
              </a:rPr>
              <a:t>Portez votre « Jusqu'à quand » à Dieu, non à la rancune; laissez-lui la rétribution. Ouvrez sa Parole dans les jours du malheur : c'est par elle qu'il donne le calme. Quand votre pied chancelle, ce n'est pas votre force qui vous tient, c'est sa bonté : vous êtes à lui, en Christ.</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Rocher de refuge grand"/>
          <p:cNvSpPr/>
          <p:nvPr/>
        </p:nvSpPr>
        <p:spPr>
          <a:xfrm>
            <a:off x="4178808" y="4476902"/>
            <a:ext cx="2688336" cy="2381098"/>
          </a:xfrm>
          <a:prstGeom prst="triangle">
            <a:avLst/>
          </a:prstGeom>
          <a:solidFill>
            <a:schemeClr val="accent3"/>
          </a:solidFill>
          <a:ln/>
        </p:spPr>
      </p:sp>
      <p:sp>
        <p:nvSpPr>
          <p:cNvPr id="3" name="Rocher de refuge petit"/>
          <p:cNvSpPr/>
          <p:nvPr/>
        </p:nvSpPr>
        <p:spPr>
          <a:xfrm>
            <a:off x="5907024" y="5244998"/>
            <a:ext cx="2112264" cy="1613002"/>
          </a:xfrm>
          <a:prstGeom prst="triangle">
            <a:avLst/>
          </a:prstGeom>
          <a:solidFill>
            <a:schemeClr val="accent1"/>
          </a:solidFill>
          <a:ln/>
        </p:spPr>
      </p:sp>
      <p:sp>
        <p:nvSpPr>
          <p:cNvPr id="4" name="Text 0"/>
          <p:cNvSpPr/>
          <p:nvPr>
            <p:ph idx="100" type="body" hasCustomPrompt="1"/>
          </p:nvPr>
        </p:nvSpPr>
        <p:spPr>
          <a:xfrm>
            <a:off x="1097280" y="914400"/>
            <a:ext cx="9966960" cy="2834640"/>
          </a:xfrm>
          <a:prstGeom prst="rect">
            <a:avLst/>
          </a:prstGeom>
          <a:noFill/>
          <a:ln/>
        </p:spPr>
        <p:txBody>
          <a:bodyPr wrap="square" lIns="0" tIns="0" rIns="0" bIns="0" rtlCol="0" anchor="ctr"/>
          <a:lstStyle/>
          <a:p>
            <a:pPr algn="ctr" indent="0" marL="0">
              <a:buNone/>
            </a:pPr>
            <a:r>
              <a:rPr lang="en-US" sz="3600" i="1" dirty="0">
                <a:solidFill>
                  <a:schemeClr val="bg1"/>
                </a:solidFill>
                <a:latin typeface="Cambria" pitchFamily="34" charset="0"/>
                <a:ea typeface="Cambria" pitchFamily="34" charset="-122"/>
                <a:cs typeface="Cambria" pitchFamily="34" charset="-120"/>
              </a:rPr>
              <a:t>« Mais l'Eternel est ma retraite,</a:t>
            </a:r>
            <a:endParaRPr lang="en-US" sz="3600" dirty="0"/>
          </a:p>
          <a:p>
            <a:pPr algn="ctr" indent="0" marL="0">
              <a:buNone/>
            </a:pPr>
            <a:r>
              <a:rPr lang="en-US" sz="3600" i="1" dirty="0">
                <a:solidFill>
                  <a:schemeClr val="bg1"/>
                </a:solidFill>
                <a:latin typeface="Cambria" pitchFamily="34" charset="0"/>
                <a:ea typeface="Cambria" pitchFamily="34" charset="-122"/>
                <a:cs typeface="Cambria" pitchFamily="34" charset="-120"/>
              </a:rPr>
              <a:t>Mon Dieu est le rocher de mon refuge. »</a:t>
            </a:r>
            <a:endParaRPr lang="en-US" sz="3600" dirty="0"/>
          </a:p>
        </p:txBody>
      </p:sp>
      <p:sp>
        <p:nvSpPr>
          <p:cNvPr id="5" name="Text 0"/>
          <p:cNvSpPr/>
          <p:nvPr>
            <p:ph idx="101" type="body" hasCustomPrompt="1"/>
          </p:nvPr>
        </p:nvSpPr>
        <p:spPr>
          <a:xfrm>
            <a:off x="1097280" y="3840480"/>
            <a:ext cx="9966960" cy="457200"/>
          </a:xfrm>
          <a:prstGeom prst="rect">
            <a:avLst/>
          </a:prstGeom>
          <a:noFill/>
          <a:ln/>
        </p:spPr>
        <p:txBody>
          <a:bodyPr wrap="square" lIns="0" tIns="0" rIns="0" bIns="0" rtlCol="0"/>
          <a:lstStyle/>
          <a:p>
            <a:pPr algn="ctr" indent="0" marL="0">
              <a:buNone/>
            </a:pPr>
            <a:r>
              <a:rPr lang="en-US" sz="1800" dirty="0">
                <a:solidFill>
                  <a:schemeClr val="accent2"/>
                </a:solidFill>
              </a:rPr>
              <a:t>Psaume 94.22</a:t>
            </a:r>
            <a:endParaRPr lang="en-US" sz="1800" dirty="0"/>
          </a:p>
        </p:txBody>
      </p:sp>
    </p:spTree>
  </p:cSld>
  <p:clrMapOvr>
    <a:masterClrMapping/>
  </p:clrMapOvr>
</p:sld>
</file>

<file path=ppt/theme/theme1.xml><?xml version="1.0" encoding="utf-8"?>
<a:theme xmlns:a="http://schemas.openxmlformats.org/drawingml/2006/main" name="Noir et orange brûlé">
  <a:themeElements>
    <a:clrScheme name="Noir et orange brûlé">
      <a:dk1>
        <a:srgbClr val="0E0D0C"/>
      </a:dk1>
      <a:lt1>
        <a:srgbClr val="F5EFE6"/>
      </a:lt1>
      <a:dk2>
        <a:srgbClr val="1F1C1A"/>
      </a:dk2>
      <a:lt2>
        <a:srgbClr val="A69C91"/>
      </a:lt2>
      <a:accent1>
        <a:srgbClr val="CC5500"/>
      </a:accent1>
      <a:accent2>
        <a:srgbClr val="E8833A"/>
      </a:accent2>
      <a:accent3>
        <a:srgbClr val="8A3A0E"/>
      </a:accent3>
      <a:accent4>
        <a:srgbClr val="2C2724"/>
      </a:accent4>
      <a:accent5>
        <a:srgbClr val="F4B783"/>
      </a:accent5>
      <a:accent6>
        <a:srgbClr val="5C534C"/>
      </a:accent6>
      <a:hlink>
        <a:srgbClr val="E8833A"/>
      </a:hlink>
      <a:folHlink>
        <a:srgbClr val="A69C91"/>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Psaume 94 : Jusqu'à quand? Le Dieu qui voit, qui instruit et qui rendra</dc:title>
  <dc:subject>PptxGenJS Presentation</dc:subject>
  <dc:creator>André-Guy Bruneau</dc:creator>
  <cp:lastModifiedBy>André-Guy Bruneau</cp:lastModifiedBy>
  <cp:revision>1</cp:revision>
  <dcterms:created xsi:type="dcterms:W3CDTF">2026-10-04T09:57:09Z</dcterms:created>
  <dcterms:modified xsi:type="dcterms:W3CDTF">2026-10-04T09:57:09Z</dcterms:modified>
</cp:coreProperties>
</file>